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3"/>
  </p:sldMasterIdLst>
  <p:notesMasterIdLst>
    <p:notesMasterId r:id="rId41"/>
  </p:notesMasterIdLst>
  <p:sldIdLst>
    <p:sldId id="256" r:id="rId4"/>
    <p:sldId id="257" r:id="rId5"/>
    <p:sldId id="259" r:id="rId6"/>
    <p:sldId id="287" r:id="rId7"/>
    <p:sldId id="289" r:id="rId8"/>
    <p:sldId id="290" r:id="rId9"/>
    <p:sldId id="294" r:id="rId10"/>
    <p:sldId id="337" r:id="rId11"/>
    <p:sldId id="291"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5" r:id="rId25"/>
    <p:sldId id="350" r:id="rId26"/>
    <p:sldId id="351" r:id="rId27"/>
    <p:sldId id="352" r:id="rId28"/>
    <p:sldId id="353" r:id="rId29"/>
    <p:sldId id="354" r:id="rId30"/>
    <p:sldId id="356" r:id="rId31"/>
    <p:sldId id="357" r:id="rId32"/>
    <p:sldId id="358" r:id="rId33"/>
    <p:sldId id="359" r:id="rId34"/>
    <p:sldId id="360" r:id="rId35"/>
    <p:sldId id="361" r:id="rId36"/>
    <p:sldId id="362" r:id="rId37"/>
    <p:sldId id="363" r:id="rId38"/>
    <p:sldId id="292" r:id="rId39"/>
    <p:sldId id="258"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DCE9"/>
    <a:srgbClr val="2F637E"/>
    <a:srgbClr val="93C3D3"/>
    <a:srgbClr val="11373F"/>
    <a:srgbClr val="000000"/>
    <a:srgbClr val="F88562"/>
    <a:srgbClr val="18A8BD"/>
    <a:srgbClr val="C2D8DC"/>
    <a:srgbClr val="FAAA6D"/>
    <a:srgbClr val="98B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0" d="100"/>
          <a:sy n="70" d="100"/>
        </p:scale>
        <p:origin x="273"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notesMaster" Target="notesMasters/notesMaster1.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A2CE56-FD20-4103-ADB9-B95BDA7852C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36526-45AC-413E-984C-CF37B41AA1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3" name="矩形 12"/>
          <p:cNvSpPr/>
          <p:nvPr userDrawn="1"/>
        </p:nvSpPr>
        <p:spPr>
          <a:xfrm>
            <a:off x="9884476" y="0"/>
            <a:ext cx="230752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2" name="图片 11"/>
          <p:cNvPicPr>
            <a:picLocks noChangeAspect="1"/>
          </p:cNvPicPr>
          <p:nvPr userDrawn="1"/>
        </p:nvPicPr>
        <p:blipFill rotWithShape="1">
          <a:blip r:embed="rId2">
            <a:extLst>
              <a:ext uri="{28A0092B-C50C-407E-A947-70E740481C1C}">
                <a14:useLocalDpi xmlns:a14="http://schemas.microsoft.com/office/drawing/2010/main" val="0"/>
              </a:ext>
            </a:extLst>
          </a:blip>
          <a:srcRect l="9954"/>
          <a:stretch>
            <a:fillRect/>
          </a:stretch>
        </p:blipFill>
        <p:spPr>
          <a:xfrm>
            <a:off x="3876" y="0"/>
            <a:ext cx="9880600" cy="6858000"/>
          </a:xfrm>
          <a:prstGeom prst="rect">
            <a:avLst/>
          </a:prstGeom>
        </p:spPr>
      </p:pic>
      <p:sp>
        <p:nvSpPr>
          <p:cNvPr id="2" name="标题 1"/>
          <p:cNvSpPr>
            <a:spLocks noGrp="1"/>
          </p:cNvSpPr>
          <p:nvPr>
            <p:ph type="title" hasCustomPrompt="1"/>
          </p:nvPr>
        </p:nvSpPr>
        <p:spPr>
          <a:xfrm>
            <a:off x="5626100" y="682176"/>
            <a:ext cx="6159500" cy="840230"/>
          </a:xfrm>
          <a:prstGeom prst="rect">
            <a:avLst/>
          </a:prstGeom>
        </p:spPr>
        <p:txBody>
          <a:bodyPr wrap="square">
            <a:spAutoFit/>
          </a:bodyPr>
          <a:lstStyle>
            <a:lvl1pPr algn="r">
              <a:defRPr sz="5400" b="1">
                <a:solidFill>
                  <a:schemeClr val="bg1"/>
                </a:solidFill>
              </a:defRPr>
            </a:lvl1pPr>
          </a:lstStyle>
          <a:p>
            <a:r>
              <a:rPr lang="zh-CN" altLang="en-US" dirty="0"/>
              <a:t>单击此处编辑标题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任意多边形 45"/>
          <p:cNvSpPr/>
          <p:nvPr/>
        </p:nvSpPr>
        <p:spPr bwMode="auto">
          <a:xfrm>
            <a:off x="0" y="3257866"/>
            <a:ext cx="4873175" cy="171134"/>
          </a:xfrm>
          <a:custGeom>
            <a:avLst/>
            <a:gdLst>
              <a:gd name="T0" fmla="*/ 0 w 1307927"/>
              <a:gd name="T1" fmla="*/ 0 h 101600"/>
              <a:gd name="T2" fmla="*/ 1223454 w 1307927"/>
              <a:gd name="T3" fmla="*/ 0 h 101600"/>
              <a:gd name="T4" fmla="*/ 1307927 w 1307927"/>
              <a:gd name="T5" fmla="*/ 101600 h 101600"/>
              <a:gd name="T6" fmla="*/ 0 w 1307927"/>
              <a:gd name="T7" fmla="*/ 101600 h 101600"/>
              <a:gd name="T8" fmla="*/ 0 w 1307927"/>
              <a:gd name="T9" fmla="*/ 0 h 101600"/>
              <a:gd name="T10" fmla="*/ 0 60000 65536"/>
              <a:gd name="T11" fmla="*/ 0 60000 65536"/>
              <a:gd name="T12" fmla="*/ 0 60000 65536"/>
              <a:gd name="T13" fmla="*/ 0 60000 65536"/>
              <a:gd name="T14" fmla="*/ 0 60000 65536"/>
              <a:gd name="T15" fmla="*/ 0 w 1307927"/>
              <a:gd name="T16" fmla="*/ 0 h 101600"/>
              <a:gd name="T17" fmla="*/ 1307927 w 1307927"/>
              <a:gd name="T18" fmla="*/ 101600 h 101600"/>
            </a:gdLst>
            <a:ahLst/>
            <a:cxnLst>
              <a:cxn ang="T10">
                <a:pos x="T0" y="T1"/>
              </a:cxn>
              <a:cxn ang="T11">
                <a:pos x="T2" y="T3"/>
              </a:cxn>
              <a:cxn ang="T12">
                <a:pos x="T4" y="T5"/>
              </a:cxn>
              <a:cxn ang="T13">
                <a:pos x="T6" y="T7"/>
              </a:cxn>
              <a:cxn ang="T14">
                <a:pos x="T8" y="T9"/>
              </a:cxn>
            </a:cxnLst>
            <a:rect l="T15" t="T16" r="T17" b="T18"/>
            <a:pathLst>
              <a:path w="1307927" h="101600">
                <a:moveTo>
                  <a:pt x="0" y="0"/>
                </a:moveTo>
                <a:lnTo>
                  <a:pt x="1223454" y="0"/>
                </a:lnTo>
                <a:lnTo>
                  <a:pt x="1307927" y="101600"/>
                </a:lnTo>
                <a:lnTo>
                  <a:pt x="0" y="101600"/>
                </a:lnTo>
                <a:lnTo>
                  <a:pt x="0" y="0"/>
                </a:lnTo>
                <a:close/>
              </a:path>
            </a:pathLst>
          </a:custGeom>
          <a:solidFill>
            <a:srgbClr val="FED1A9"/>
          </a:solidFill>
          <a:ln>
            <a:noFill/>
          </a:ln>
        </p:spPr>
        <p:txBody>
          <a:bodyPr anchor="ctr"/>
          <a:lstStyle/>
          <a:p>
            <a:endParaRPr lang="zh-CN" altLang="en-US"/>
          </a:p>
        </p:txBody>
      </p:sp>
      <p:sp>
        <p:nvSpPr>
          <p:cNvPr id="5" name="任意多边形 126"/>
          <p:cNvSpPr/>
          <p:nvPr/>
        </p:nvSpPr>
        <p:spPr bwMode="auto">
          <a:xfrm>
            <a:off x="4873175" y="3257866"/>
            <a:ext cx="7318825"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a:p>
        </p:txBody>
      </p:sp>
      <p:sp>
        <p:nvSpPr>
          <p:cNvPr id="15" name="文本占位符 14"/>
          <p:cNvSpPr>
            <a:spLocks noGrp="1"/>
          </p:cNvSpPr>
          <p:nvPr>
            <p:ph type="body" sz="quarter" idx="10" hasCustomPrompt="1"/>
          </p:nvPr>
        </p:nvSpPr>
        <p:spPr>
          <a:xfrm>
            <a:off x="2019301" y="2533966"/>
            <a:ext cx="2853874" cy="723900"/>
          </a:xfrm>
          <a:prstGeom prst="rect">
            <a:avLst/>
          </a:prstGeom>
        </p:spPr>
        <p:txBody>
          <a:bodyPr/>
          <a:lstStyle>
            <a:lvl1pPr marL="0" indent="0" algn="ctr">
              <a:buNone/>
              <a:defRPr sz="4400" b="1">
                <a:solidFill>
                  <a:srgbClr val="F88562"/>
                </a:solidFill>
                <a:latin typeface="+mj-ea"/>
                <a:ea typeface="+mj-ea"/>
              </a:defRPr>
            </a:lvl1pPr>
          </a:lstStyle>
          <a:p>
            <a:pPr lvl="0"/>
            <a:r>
              <a:rPr lang="zh-CN" altLang="en-US" dirty="0"/>
              <a:t>第一节</a:t>
            </a:r>
            <a:endParaRPr lang="zh-CN" altLang="en-US" dirty="0"/>
          </a:p>
        </p:txBody>
      </p:sp>
      <p:sp>
        <p:nvSpPr>
          <p:cNvPr id="16" name="文本占位符 14"/>
          <p:cNvSpPr>
            <a:spLocks noGrp="1"/>
          </p:cNvSpPr>
          <p:nvPr>
            <p:ph type="body" sz="quarter" idx="11" hasCustomPrompt="1"/>
          </p:nvPr>
        </p:nvSpPr>
        <p:spPr>
          <a:xfrm>
            <a:off x="4873175" y="2533966"/>
            <a:ext cx="4870897" cy="723900"/>
          </a:xfrm>
          <a:prstGeom prst="rect">
            <a:avLst/>
          </a:prstGeom>
        </p:spPr>
        <p:txBody>
          <a:bodyPr/>
          <a:lstStyle>
            <a:lvl1pPr marL="0" indent="0" algn="ctr">
              <a:buNone/>
              <a:defRPr sz="4400" b="1">
                <a:solidFill>
                  <a:srgbClr val="11373F"/>
                </a:solidFill>
                <a:latin typeface="+mj-ea"/>
                <a:ea typeface="+mj-ea"/>
              </a:defRPr>
            </a:lvl1pPr>
          </a:lstStyle>
          <a:p>
            <a:pPr lvl="0"/>
            <a:r>
              <a:rPr lang="zh-CN" altLang="en-US" dirty="0"/>
              <a:t>节标题</a:t>
            </a:r>
            <a:endParaRPr lang="zh-CN" altLang="en-US" dirty="0"/>
          </a:p>
        </p:txBody>
      </p:sp>
      <p:sp>
        <p:nvSpPr>
          <p:cNvPr id="18" name="文本占位符 17"/>
          <p:cNvSpPr>
            <a:spLocks noGrp="1"/>
          </p:cNvSpPr>
          <p:nvPr>
            <p:ph type="body" sz="quarter" idx="12" hasCustomPrompt="1"/>
          </p:nvPr>
        </p:nvSpPr>
        <p:spPr>
          <a:xfrm>
            <a:off x="5308600" y="3606800"/>
            <a:ext cx="4435472" cy="1854200"/>
          </a:xfrm>
          <a:prstGeom prst="rect">
            <a:avLst/>
          </a:prstGeom>
        </p:spPr>
        <p:txBody>
          <a:bodyPr/>
          <a:lstStyle>
            <a:lvl1pPr>
              <a:defRPr>
                <a:solidFill>
                  <a:srgbClr val="000000"/>
                </a:solidFill>
              </a:defRPr>
            </a:lvl1pPr>
          </a:lstStyle>
          <a:p>
            <a:pPr lvl="0"/>
            <a:r>
              <a:rPr lang="zh-CN" altLang="en-US" dirty="0"/>
              <a:t>第一条</a:t>
            </a:r>
            <a:endParaRPr lang="en-US" altLang="zh-CN" dirty="0"/>
          </a:p>
          <a:p>
            <a:pPr lvl="0"/>
            <a:r>
              <a:rPr lang="zh-CN" altLang="en-US" dirty="0"/>
              <a:t>第二条</a:t>
            </a:r>
            <a:endParaRPr lang="en-US" altLang="zh-CN" dirty="0"/>
          </a:p>
          <a:p>
            <a:pPr lvl="0"/>
            <a:r>
              <a:rPr lang="zh-CN" altLang="en-US" dirty="0"/>
              <a:t>第三条</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色盘">
    <p:spTree>
      <p:nvGrpSpPr>
        <p:cNvPr id="1" name=""/>
        <p:cNvGrpSpPr/>
        <p:nvPr/>
      </p:nvGrpSpPr>
      <p:grpSpPr>
        <a:xfrm>
          <a:off x="0" y="0"/>
          <a:ext cx="0" cy="0"/>
          <a:chOff x="0" y="0"/>
          <a:chExt cx="0" cy="0"/>
        </a:xfrm>
      </p:grpSpPr>
      <p:pic>
        <p:nvPicPr>
          <p:cNvPr id="3" name="Picture 2" descr="Procreate Color Palettes • Bardot Brush"/>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14846" y="1650206"/>
            <a:ext cx="5962308" cy="3557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241118"/>
            <a:ext cx="58398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右侧内容">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7973400" cy="701731"/>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7973400" cy="493584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8356600" y="360000"/>
            <a:ext cx="3655400" cy="5816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上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180000" y="1241118"/>
            <a:ext cx="11832000" cy="294829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178800" y="4368800"/>
            <a:ext cx="11833200" cy="18081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wrap="square">
            <a:spAutoFit/>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178800" y="1228417"/>
            <a:ext cx="5817187"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178800" y="1653149"/>
            <a:ext cx="5818776"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228417"/>
            <a:ext cx="5842588" cy="424732"/>
          </a:xfrm>
        </p:spPr>
        <p:txBody>
          <a:bodyPr wrap="square" anchor="b">
            <a:spAutoFit/>
          </a:bodyPr>
          <a:lstStyle>
            <a:lvl1pPr marL="0" indent="0">
              <a:buNone/>
              <a:defRPr sz="2400" b="1">
                <a:solidFill>
                  <a:srgbClr val="F8856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1653149"/>
            <a:ext cx="5841000" cy="453651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4592025" cy="702000"/>
          </a:xfrm>
        </p:spPr>
        <p:txBody>
          <a:bodyPr wrap="square" anchor="b">
            <a:noAutofit/>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965700" y="360000"/>
            <a:ext cx="7046300" cy="5862999"/>
          </a:xfrm>
        </p:spPr>
        <p:txBody>
          <a:bodyPr/>
          <a:lstStyle>
            <a:lvl1pPr>
              <a:defRPr sz="3200">
                <a:solidFill>
                  <a:srgbClr val="000000"/>
                </a:solidFill>
              </a:defRPr>
            </a:lvl1pPr>
            <a:lvl2pPr>
              <a:defRPr sz="2800">
                <a:solidFill>
                  <a:srgbClr val="000000"/>
                </a:solidFill>
              </a:defRPr>
            </a:lvl2pPr>
            <a:lvl3pPr>
              <a:defRPr sz="2400">
                <a:solidFill>
                  <a:srgbClr val="000000"/>
                </a:solidFill>
              </a:defRPr>
            </a:lvl3pPr>
            <a:lvl4pPr>
              <a:defRPr sz="2000">
                <a:solidFill>
                  <a:srgbClr val="000000"/>
                </a:solidFill>
              </a:defRPr>
            </a:lvl4pPr>
            <a:lvl5pPr>
              <a:defRPr sz="2000">
                <a:solidFill>
                  <a:srgbClr val="000000"/>
                </a:solidFill>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180000" y="1193800"/>
            <a:ext cx="4592025" cy="50291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6DE7E8-BD74-40B2-922D-194240FC5D5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80000" y="360000"/>
            <a:ext cx="11833200" cy="701731"/>
          </a:xfrm>
          <a:prstGeom prst="rect">
            <a:avLst/>
          </a:prstGeom>
        </p:spPr>
        <p:txBody>
          <a:bodyPr vert="horz" wrap="square" lIns="91440" tIns="45720" rIns="91440" bIns="45720" rtlCol="0" anchor="ctr">
            <a:sp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180000" y="1244600"/>
            <a:ext cx="11833200" cy="4932363"/>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27000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DE7E8-BD74-40B2-922D-194240FC5D5C}" type="slidenum">
              <a:rPr lang="zh-CN" altLang="en-US" smtClean="0"/>
            </a:fld>
            <a:endParaRPr lang="zh-CN" altLang="en-US"/>
          </a:p>
        </p:txBody>
      </p:sp>
      <p:sp>
        <p:nvSpPr>
          <p:cNvPr id="7" name="矩形 6"/>
          <p:cNvSpPr/>
          <p:nvPr userDrawn="1"/>
        </p:nvSpPr>
        <p:spPr>
          <a:xfrm>
            <a:off x="0" y="365126"/>
            <a:ext cx="180000" cy="696606"/>
          </a:xfrm>
          <a:prstGeom prst="rect">
            <a:avLst/>
          </a:prstGeom>
          <a:solidFill>
            <a:srgbClr val="F885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Lst>
  <p:hf hdr="0" ftr="0" dt="0"/>
  <p:txStyles>
    <p:titleStyle>
      <a:lvl1pPr algn="l" defTabSz="914400" rtl="0" eaLnBrk="1" latinLnBrk="0" hangingPunct="1">
        <a:lnSpc>
          <a:spcPct val="90000"/>
        </a:lnSpc>
        <a:spcBef>
          <a:spcPct val="0"/>
        </a:spcBef>
        <a:buNone/>
        <a:defRPr sz="4400" b="1" kern="1200">
          <a:solidFill>
            <a:srgbClr val="F8856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6.png"/><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8.jpeg"/><Relationship Id="rId1" Type="http://schemas.openxmlformats.org/officeDocument/2006/relationships/image" Target="../media/image27.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4.png"/><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7.png"/><Relationship Id="rId1" Type="http://schemas.openxmlformats.org/officeDocument/2006/relationships/image" Target="../media/image36.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3.png"/><Relationship Id="rId1"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5.png"/><Relationship Id="rId1" Type="http://schemas.openxmlformats.org/officeDocument/2006/relationships/image" Target="../media/image4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4294967295"/>
          </p:nvPr>
        </p:nvSpPr>
        <p:spPr>
          <a:xfrm>
            <a:off x="0" y="0"/>
            <a:ext cx="12192000" cy="6858000"/>
          </a:xfrm>
          <a:prstGeom prst="rect">
            <a:avLst/>
          </a:prstGeom>
        </p:spPr>
      </p:sp>
      <p:sp>
        <p:nvSpPr>
          <p:cNvPr id="3" name="标题 2"/>
          <p:cNvSpPr>
            <a:spLocks noGrp="1"/>
          </p:cNvSpPr>
          <p:nvPr>
            <p:ph type="title"/>
          </p:nvPr>
        </p:nvSpPr>
        <p:spPr>
          <a:xfrm>
            <a:off x="5626100" y="682176"/>
            <a:ext cx="6159500" cy="1586230"/>
          </a:xfrm>
        </p:spPr>
        <p:txBody>
          <a:bodyPr/>
          <a:lstStyle/>
          <a:p>
            <a:r>
              <a:rPr lang="zh-CN" altLang="en-US" dirty="0"/>
              <a:t>第</a:t>
            </a:r>
            <a:r>
              <a:rPr lang="en-US" altLang="zh-CN" dirty="0"/>
              <a:t>3</a:t>
            </a:r>
            <a:r>
              <a:rPr lang="zh-CN" altLang="en-US" dirty="0"/>
              <a:t>章 栈和队列</a:t>
            </a:r>
            <a:br>
              <a:rPr lang="zh-CN" altLang="en-US" b="0" dirty="0"/>
            </a:br>
            <a:endParaRPr lang="zh-CN" altLang="en-US" b="0" dirty="0"/>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80000" y="349840"/>
            <a:ext cx="11833200" cy="701731"/>
          </a:xfrm>
        </p:spPr>
        <p:txBody>
          <a:bodyPr/>
          <a:lstStyle/>
          <a:p>
            <a:r>
              <a:rPr lang="zh-CN" altLang="en-US" dirty="0"/>
              <a:t>目录</a:t>
            </a:r>
            <a:endParaRPr lang="zh-CN" altLang="en-US" dirty="0"/>
          </a:p>
        </p:txBody>
      </p:sp>
      <p:sp>
        <p:nvSpPr>
          <p:cNvPr id="17" name="灯片编号占位符 16"/>
          <p:cNvSpPr>
            <a:spLocks noGrp="1"/>
          </p:cNvSpPr>
          <p:nvPr>
            <p:ph type="sldNum" sz="quarter" idx="12"/>
          </p:nvPr>
        </p:nvSpPr>
        <p:spPr/>
        <p:txBody>
          <a:bodyPr/>
          <a:lstStyle/>
          <a:p>
            <a:fld id="{D96DE7E8-BD74-40B2-922D-194240FC5D5C}" type="slidenum">
              <a:rPr lang="zh-CN" altLang="en-US" smtClean="0"/>
            </a:fld>
            <a:endParaRPr lang="zh-CN" altLang="en-US" dirty="0"/>
          </a:p>
        </p:txBody>
      </p:sp>
      <p:grpSp>
        <p:nvGrpSpPr>
          <p:cNvPr id="10" name="组合 9"/>
          <p:cNvGrpSpPr/>
          <p:nvPr/>
        </p:nvGrpSpPr>
        <p:grpSpPr>
          <a:xfrm>
            <a:off x="6382499" y="136461"/>
            <a:ext cx="4871085" cy="755117"/>
            <a:chOff x="4873175" y="2673634"/>
            <a:chExt cx="4870897" cy="755366"/>
          </a:xfrm>
        </p:grpSpPr>
        <p:sp>
          <p:nvSpPr>
            <p:cNvPr id="7"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sz="1400"/>
            </a:p>
          </p:txBody>
        </p:sp>
        <p:sp>
          <p:nvSpPr>
            <p:cNvPr id="9" name="文本占位符 14"/>
            <p:cNvSpPr txBox="1"/>
            <p:nvPr/>
          </p:nvSpPr>
          <p:spPr>
            <a:xfrm>
              <a:off x="4873175" y="2673634"/>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栈的基本概念</a:t>
              </a:r>
              <a:endParaRPr lang="zh-CN" altLang="en-US" sz="2800" dirty="0">
                <a:sym typeface="+mn-ea"/>
              </a:endParaRPr>
            </a:p>
          </p:txBody>
        </p:sp>
      </p:grpSp>
      <p:grpSp>
        <p:nvGrpSpPr>
          <p:cNvPr id="11" name="组合 10"/>
          <p:cNvGrpSpPr/>
          <p:nvPr/>
        </p:nvGrpSpPr>
        <p:grpSpPr>
          <a:xfrm>
            <a:off x="6382499" y="950121"/>
            <a:ext cx="4932045" cy="754486"/>
            <a:chOff x="4812215" y="2674265"/>
            <a:chExt cx="4931857" cy="754735"/>
          </a:xfrm>
        </p:grpSpPr>
        <p:sp>
          <p:nvSpPr>
            <p:cNvPr id="1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sz="1400"/>
            </a:p>
          </p:txBody>
        </p:sp>
        <p:sp>
          <p:nvSpPr>
            <p:cNvPr id="13" name="文本占位符 14"/>
            <p:cNvSpPr txBox="1"/>
            <p:nvPr/>
          </p:nvSpPr>
          <p:spPr>
            <a:xfrm>
              <a:off x="4812215" y="2674265"/>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栈的抽象数据类型描述</a:t>
              </a:r>
              <a:endParaRPr lang="zh-CN" altLang="en-US" sz="2800" dirty="0">
                <a:sym typeface="+mn-ea"/>
              </a:endParaRPr>
            </a:p>
          </p:txBody>
        </p:sp>
      </p:grpSp>
      <p:grpSp>
        <p:nvGrpSpPr>
          <p:cNvPr id="14" name="组合 13"/>
          <p:cNvGrpSpPr/>
          <p:nvPr/>
        </p:nvGrpSpPr>
        <p:grpSpPr>
          <a:xfrm>
            <a:off x="6382499" y="1883599"/>
            <a:ext cx="4871085" cy="755120"/>
            <a:chOff x="4873175" y="2673631"/>
            <a:chExt cx="4870897" cy="755369"/>
          </a:xfrm>
        </p:grpSpPr>
        <p:sp>
          <p:nvSpPr>
            <p:cNvPr id="1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400"/>
            </a:p>
          </p:txBody>
        </p:sp>
        <p:sp>
          <p:nvSpPr>
            <p:cNvPr id="16" name="文本占位符 14"/>
            <p:cNvSpPr txBox="1"/>
            <p:nvPr/>
          </p:nvSpPr>
          <p:spPr>
            <a:xfrm>
              <a:off x="4873175" y="2673631"/>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顺序栈与链栈</a:t>
              </a:r>
              <a:endParaRPr lang="zh-CN" altLang="en-US" sz="2800" dirty="0">
                <a:sym typeface="+mn-ea"/>
              </a:endParaRPr>
            </a:p>
          </p:txBody>
        </p:sp>
      </p:grpSp>
      <p:grpSp>
        <p:nvGrpSpPr>
          <p:cNvPr id="19" name="组合 18"/>
          <p:cNvGrpSpPr/>
          <p:nvPr/>
        </p:nvGrpSpPr>
        <p:grpSpPr>
          <a:xfrm>
            <a:off x="6382499" y="2325601"/>
            <a:ext cx="4871085" cy="1383665"/>
            <a:chOff x="4873175" y="2242869"/>
            <a:chExt cx="4870897" cy="1383665"/>
          </a:xfrm>
        </p:grpSpPr>
        <p:sp>
          <p:nvSpPr>
            <p:cNvPr id="20"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400" dirty="0"/>
            </a:p>
          </p:txBody>
        </p:sp>
        <p:sp>
          <p:nvSpPr>
            <p:cNvPr id="21" name="文本占位符 14"/>
            <p:cNvSpPr txBox="1"/>
            <p:nvPr/>
          </p:nvSpPr>
          <p:spPr>
            <a:xfrm>
              <a:off x="4873175" y="2242869"/>
              <a:ext cx="4870897" cy="138366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2800" dirty="0"/>
            </a:p>
            <a:p>
              <a:r>
                <a:rPr lang="zh-CN" altLang="en-US" sz="2800" dirty="0">
                  <a:sym typeface="+mn-ea"/>
                </a:rPr>
                <a:t>队列的基本概念</a:t>
              </a:r>
              <a:endParaRPr lang="zh-CN" altLang="en-US" sz="2800" dirty="0">
                <a:sym typeface="+mn-ea"/>
              </a:endParaRPr>
            </a:p>
            <a:p>
              <a:endParaRPr lang="zh-CN" altLang="en-US" sz="2800" dirty="0"/>
            </a:p>
          </p:txBody>
        </p:sp>
      </p:grpSp>
      <p:grpSp>
        <p:nvGrpSpPr>
          <p:cNvPr id="22" name="组合 21"/>
          <p:cNvGrpSpPr/>
          <p:nvPr/>
        </p:nvGrpSpPr>
        <p:grpSpPr>
          <a:xfrm>
            <a:off x="6353924" y="3656025"/>
            <a:ext cx="4871085" cy="755119"/>
            <a:chOff x="4873175" y="2673632"/>
            <a:chExt cx="4870897" cy="755368"/>
          </a:xfrm>
        </p:grpSpPr>
        <p:sp>
          <p:nvSpPr>
            <p:cNvPr id="23"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sz="1400"/>
            </a:p>
          </p:txBody>
        </p:sp>
        <p:sp>
          <p:nvSpPr>
            <p:cNvPr id="24" name="文本占位符 14"/>
            <p:cNvSpPr txBox="1"/>
            <p:nvPr/>
          </p:nvSpPr>
          <p:spPr>
            <a:xfrm>
              <a:off x="4873175" y="2673632"/>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队列的抽象数据类型描述</a:t>
              </a:r>
              <a:endParaRPr lang="zh-CN" altLang="en-US" sz="2800" dirty="0">
                <a:sym typeface="+mn-ea"/>
              </a:endParaRPr>
            </a:p>
          </p:txBody>
        </p:sp>
      </p:grpSp>
      <p:grpSp>
        <p:nvGrpSpPr>
          <p:cNvPr id="3" name="组合 2"/>
          <p:cNvGrpSpPr/>
          <p:nvPr/>
        </p:nvGrpSpPr>
        <p:grpSpPr>
          <a:xfrm>
            <a:off x="6160584" y="4512119"/>
            <a:ext cx="5314912" cy="755052"/>
            <a:chOff x="4679842" y="2673699"/>
            <a:chExt cx="5314707" cy="755301"/>
          </a:xfrm>
        </p:grpSpPr>
        <p:sp>
          <p:nvSpPr>
            <p:cNvPr id="4"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sz="1400"/>
            </a:p>
          </p:txBody>
        </p:sp>
        <p:sp>
          <p:nvSpPr>
            <p:cNvPr id="6" name="文本占位符 14"/>
            <p:cNvSpPr txBox="1"/>
            <p:nvPr/>
          </p:nvSpPr>
          <p:spPr>
            <a:xfrm>
              <a:off x="4679842" y="2673699"/>
              <a:ext cx="5314707" cy="523392"/>
            </a:xfrm>
            <a:prstGeom prst="rect">
              <a:avLst/>
            </a:prstGeom>
          </p:spPr>
          <p:txBody>
            <a:bodyPr vert="horz" wrap="square"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顺序队列、链队列与优先级队列</a:t>
              </a:r>
              <a:endParaRPr lang="zh-CN" altLang="en-US" sz="2800" dirty="0">
                <a:sym typeface="+mn-ea"/>
              </a:endParaRPr>
            </a:p>
          </p:txBody>
        </p:sp>
      </p:grpSp>
      <p:pic>
        <p:nvPicPr>
          <p:cNvPr id="8" name="Picture 4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015" y="1754505"/>
            <a:ext cx="2590800"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组合 17"/>
          <p:cNvGrpSpPr/>
          <p:nvPr/>
        </p:nvGrpSpPr>
        <p:grpSpPr>
          <a:xfrm>
            <a:off x="3675494" y="136526"/>
            <a:ext cx="2267585" cy="755052"/>
            <a:chOff x="4873175" y="2673593"/>
            <a:chExt cx="4870897" cy="755407"/>
          </a:xfrm>
        </p:grpSpPr>
        <p:sp>
          <p:nvSpPr>
            <p:cNvPr id="2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11373F"/>
            </a:solidFill>
            <a:ln>
              <a:noFill/>
            </a:ln>
          </p:spPr>
          <p:txBody>
            <a:bodyPr anchor="ctr"/>
            <a:lstStyle/>
            <a:p>
              <a:endParaRPr lang="zh-CN" altLang="en-US" sz="1400"/>
            </a:p>
          </p:txBody>
        </p:sp>
        <p:sp>
          <p:nvSpPr>
            <p:cNvPr id="26"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第一节</a:t>
              </a:r>
              <a:endParaRPr lang="zh-CN" altLang="en-US" sz="2800" dirty="0">
                <a:sym typeface="+mn-ea"/>
              </a:endParaRPr>
            </a:p>
          </p:txBody>
        </p:sp>
      </p:grpSp>
      <p:grpSp>
        <p:nvGrpSpPr>
          <p:cNvPr id="27" name="组合 26"/>
          <p:cNvGrpSpPr/>
          <p:nvPr/>
        </p:nvGrpSpPr>
        <p:grpSpPr>
          <a:xfrm>
            <a:off x="3646919" y="950190"/>
            <a:ext cx="2296160" cy="754417"/>
            <a:chOff x="4812215" y="2674227"/>
            <a:chExt cx="4931857" cy="754773"/>
          </a:xfrm>
        </p:grpSpPr>
        <p:sp>
          <p:nvSpPr>
            <p:cNvPr id="29"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2F637E"/>
            </a:solidFill>
            <a:ln>
              <a:noFill/>
            </a:ln>
          </p:spPr>
          <p:txBody>
            <a:bodyPr anchor="ctr"/>
            <a:lstStyle/>
            <a:p>
              <a:endParaRPr lang="zh-CN" altLang="en-US" sz="1400"/>
            </a:p>
          </p:txBody>
        </p:sp>
        <p:sp>
          <p:nvSpPr>
            <p:cNvPr id="30" name="文本占位符 14"/>
            <p:cNvSpPr txBox="1"/>
            <p:nvPr/>
          </p:nvSpPr>
          <p:spPr>
            <a:xfrm>
              <a:off x="4812215" y="2674227"/>
              <a:ext cx="4870897" cy="522216"/>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第二节</a:t>
              </a:r>
              <a:endParaRPr lang="zh-CN" altLang="en-US" sz="2800" dirty="0">
                <a:sym typeface="+mn-ea"/>
              </a:endParaRPr>
            </a:p>
          </p:txBody>
        </p:sp>
      </p:grpSp>
      <p:grpSp>
        <p:nvGrpSpPr>
          <p:cNvPr id="31" name="组合 30"/>
          <p:cNvGrpSpPr/>
          <p:nvPr/>
        </p:nvGrpSpPr>
        <p:grpSpPr>
          <a:xfrm>
            <a:off x="3675494" y="1883667"/>
            <a:ext cx="2267585" cy="755052"/>
            <a:chOff x="4873175" y="2673593"/>
            <a:chExt cx="4870897" cy="755407"/>
          </a:xfrm>
        </p:grpSpPr>
        <p:sp>
          <p:nvSpPr>
            <p:cNvPr id="32"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400"/>
            </a:p>
          </p:txBody>
        </p:sp>
        <p:sp>
          <p:nvSpPr>
            <p:cNvPr id="33"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第三节</a:t>
              </a:r>
              <a:endParaRPr lang="zh-CN" altLang="en-US" sz="2800" dirty="0">
                <a:sym typeface="+mn-ea"/>
              </a:endParaRPr>
            </a:p>
          </p:txBody>
        </p:sp>
      </p:grpSp>
      <p:grpSp>
        <p:nvGrpSpPr>
          <p:cNvPr id="34" name="组合 33"/>
          <p:cNvGrpSpPr/>
          <p:nvPr/>
        </p:nvGrpSpPr>
        <p:grpSpPr>
          <a:xfrm>
            <a:off x="3675494" y="2325601"/>
            <a:ext cx="2267585" cy="1383665"/>
            <a:chOff x="4873175" y="2242870"/>
            <a:chExt cx="4870897" cy="1383665"/>
          </a:xfrm>
        </p:grpSpPr>
        <p:sp>
          <p:nvSpPr>
            <p:cNvPr id="35"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noFill/>
            </a:ln>
          </p:spPr>
          <p:txBody>
            <a:bodyPr anchor="ctr"/>
            <a:lstStyle/>
            <a:p>
              <a:endParaRPr lang="zh-CN" altLang="en-US" sz="1400" dirty="0"/>
            </a:p>
          </p:txBody>
        </p:sp>
        <p:sp>
          <p:nvSpPr>
            <p:cNvPr id="36" name="文本占位符 14"/>
            <p:cNvSpPr txBox="1"/>
            <p:nvPr/>
          </p:nvSpPr>
          <p:spPr>
            <a:xfrm>
              <a:off x="4873175" y="2242870"/>
              <a:ext cx="4870897" cy="138366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2800" dirty="0"/>
            </a:p>
            <a:p>
              <a:r>
                <a:rPr lang="zh-CN" altLang="en-US" sz="2800" dirty="0">
                  <a:sym typeface="+mn-ea"/>
                </a:rPr>
                <a:t>第四节</a:t>
              </a:r>
              <a:endParaRPr lang="zh-CN" altLang="en-US" sz="2800" dirty="0">
                <a:sym typeface="+mn-ea"/>
              </a:endParaRPr>
            </a:p>
            <a:p>
              <a:endParaRPr lang="zh-CN" altLang="en-US" sz="2800" dirty="0"/>
            </a:p>
          </p:txBody>
        </p:sp>
      </p:grpSp>
      <p:grpSp>
        <p:nvGrpSpPr>
          <p:cNvPr id="37" name="组合 36"/>
          <p:cNvGrpSpPr/>
          <p:nvPr/>
        </p:nvGrpSpPr>
        <p:grpSpPr>
          <a:xfrm>
            <a:off x="3646919" y="3656092"/>
            <a:ext cx="2267585" cy="755052"/>
            <a:chOff x="4873175" y="2673593"/>
            <a:chExt cx="4870897" cy="755407"/>
          </a:xfrm>
        </p:grpSpPr>
        <p:sp>
          <p:nvSpPr>
            <p:cNvPr id="38"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sz="1400"/>
            </a:p>
          </p:txBody>
        </p:sp>
        <p:sp>
          <p:nvSpPr>
            <p:cNvPr id="39"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第五节</a:t>
              </a:r>
              <a:endParaRPr lang="zh-CN" altLang="en-US" sz="2800" dirty="0">
                <a:sym typeface="+mn-ea"/>
              </a:endParaRPr>
            </a:p>
          </p:txBody>
        </p:sp>
      </p:grpSp>
      <p:grpSp>
        <p:nvGrpSpPr>
          <p:cNvPr id="40" name="组合 39"/>
          <p:cNvGrpSpPr/>
          <p:nvPr/>
        </p:nvGrpSpPr>
        <p:grpSpPr>
          <a:xfrm>
            <a:off x="3646919" y="4512119"/>
            <a:ext cx="2267585" cy="755052"/>
            <a:chOff x="4873175" y="2673593"/>
            <a:chExt cx="4870897" cy="755407"/>
          </a:xfrm>
        </p:grpSpPr>
        <p:sp>
          <p:nvSpPr>
            <p:cNvPr id="41"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sz="1400"/>
            </a:p>
          </p:txBody>
        </p:sp>
        <p:sp>
          <p:nvSpPr>
            <p:cNvPr id="42"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第六节</a:t>
              </a:r>
              <a:endParaRPr lang="zh-CN" altLang="en-US" sz="2800" dirty="0">
                <a:sym typeface="+mn-ea"/>
              </a:endParaRPr>
            </a:p>
          </p:txBody>
        </p:sp>
      </p:grpSp>
      <p:grpSp>
        <p:nvGrpSpPr>
          <p:cNvPr id="43" name="组合 42"/>
          <p:cNvGrpSpPr/>
          <p:nvPr/>
        </p:nvGrpSpPr>
        <p:grpSpPr>
          <a:xfrm>
            <a:off x="6382499" y="5382356"/>
            <a:ext cx="4871085" cy="755120"/>
            <a:chOff x="4873175" y="2673631"/>
            <a:chExt cx="4870897" cy="755369"/>
          </a:xfrm>
        </p:grpSpPr>
        <p:sp>
          <p:nvSpPr>
            <p:cNvPr id="44"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sz="1400"/>
            </a:p>
          </p:txBody>
        </p:sp>
        <p:sp>
          <p:nvSpPr>
            <p:cNvPr id="45" name="文本占位符 14"/>
            <p:cNvSpPr txBox="1"/>
            <p:nvPr/>
          </p:nvSpPr>
          <p:spPr>
            <a:xfrm>
              <a:off x="4873175" y="2673631"/>
              <a:ext cx="4870897" cy="522142"/>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栈和队列的比较</a:t>
              </a:r>
              <a:endParaRPr lang="zh-CN" altLang="en-US" sz="2800" dirty="0">
                <a:sym typeface="+mn-ea"/>
              </a:endParaRPr>
            </a:p>
          </p:txBody>
        </p:sp>
      </p:grpSp>
      <p:grpSp>
        <p:nvGrpSpPr>
          <p:cNvPr id="46" name="组合 45"/>
          <p:cNvGrpSpPr/>
          <p:nvPr/>
        </p:nvGrpSpPr>
        <p:grpSpPr>
          <a:xfrm>
            <a:off x="3675494" y="5382424"/>
            <a:ext cx="2267585" cy="755052"/>
            <a:chOff x="4873175" y="2673593"/>
            <a:chExt cx="4870897" cy="755407"/>
          </a:xfrm>
        </p:grpSpPr>
        <p:sp>
          <p:nvSpPr>
            <p:cNvPr id="47" name="任意多边形 126"/>
            <p:cNvSpPr/>
            <p:nvPr/>
          </p:nvSpPr>
          <p:spPr bwMode="auto">
            <a:xfrm>
              <a:off x="4873175" y="3257866"/>
              <a:ext cx="4870897" cy="171134"/>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8B7BB"/>
            </a:solidFill>
            <a:ln>
              <a:noFill/>
            </a:ln>
          </p:spPr>
          <p:txBody>
            <a:bodyPr anchor="ctr"/>
            <a:lstStyle/>
            <a:p>
              <a:endParaRPr lang="zh-CN" altLang="en-US" sz="1400"/>
            </a:p>
          </p:txBody>
        </p:sp>
        <p:sp>
          <p:nvSpPr>
            <p:cNvPr id="48" name="文本占位符 14"/>
            <p:cNvSpPr txBox="1"/>
            <p:nvPr/>
          </p:nvSpPr>
          <p:spPr>
            <a:xfrm>
              <a:off x="4873175" y="2673593"/>
              <a:ext cx="4870897" cy="522215"/>
            </a:xfrm>
            <a:prstGeom prst="rect">
              <a:avLst/>
            </a:prstGeom>
          </p:spPr>
          <p:txBody>
            <a:bodyPr vert="horz" lIns="91440" tIns="45720" rIns="91440" bIns="45720" rtlCol="0" anchor="ctr">
              <a:spAutoFit/>
            </a:bodyPr>
            <a:lstStyle>
              <a:defPPr>
                <a:defRPr lang="zh-CN"/>
              </a:defPPr>
              <a:lvl1pPr marL="0" indent="0" algn="ctr" defTabSz="914400" rtl="0" eaLnBrk="1" latinLnBrk="0" hangingPunct="1">
                <a:buNone/>
                <a:defRPr sz="4400" b="1" kern="1200">
                  <a:solidFill>
                    <a:srgbClr val="11373F"/>
                  </a:solidFill>
                  <a:latin typeface="+mj-ea"/>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ym typeface="+mn-ea"/>
                </a:rPr>
                <a:t>第七节</a:t>
              </a:r>
              <a:endParaRPr lang="zh-CN" altLang="en-US" sz="2800" dirty="0">
                <a:sym typeface="+mn-ea"/>
              </a:endParaRPr>
            </a:p>
          </p:txBody>
        </p:sp>
      </p:gr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t>栈的基本概念</a:t>
            </a:r>
            <a:endParaRPr lang="en-US" altLang="zh-CN"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2" name="任意多边形 126"/>
          <p:cNvSpPr/>
          <p:nvPr/>
        </p:nvSpPr>
        <p:spPr bwMode="auto">
          <a:xfrm>
            <a:off x="4950730" y="1137286"/>
            <a:ext cx="7062470" cy="154940"/>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93C3D3"/>
          </a:solidFill>
          <a:ln>
            <a:solidFill>
              <a:srgbClr val="93C3D3"/>
            </a:solidFill>
          </a:ln>
        </p:spPr>
        <p:txBody>
          <a:bodyPr anchor="ctr"/>
          <a:lstStyle/>
          <a:p>
            <a:endParaRPr lang="zh-CN" altLang="en-US" sz="1400" dirty="0"/>
          </a:p>
        </p:txBody>
      </p:sp>
      <p:sp>
        <p:nvSpPr>
          <p:cNvPr id="3" name="任意多边形 126"/>
          <p:cNvSpPr/>
          <p:nvPr/>
        </p:nvSpPr>
        <p:spPr bwMode="auto">
          <a:xfrm flipV="1">
            <a:off x="7618095" y="3729990"/>
            <a:ext cx="4594860" cy="188595"/>
          </a:xfrm>
          <a:custGeom>
            <a:avLst/>
            <a:gdLst>
              <a:gd name="T0" fmla="*/ 0 w 2891416"/>
              <a:gd name="T1" fmla="*/ 0 h 101600"/>
              <a:gd name="T2" fmla="*/ 2891416 w 2891416"/>
              <a:gd name="T3" fmla="*/ 0 h 101600"/>
              <a:gd name="T4" fmla="*/ 2891416 w 2891416"/>
              <a:gd name="T5" fmla="*/ 101600 h 101600"/>
              <a:gd name="T6" fmla="*/ 84473 w 2891416"/>
              <a:gd name="T7" fmla="*/ 101600 h 101600"/>
              <a:gd name="T8" fmla="*/ 0 w 2891416"/>
              <a:gd name="T9" fmla="*/ 0 h 101600"/>
              <a:gd name="T10" fmla="*/ 0 60000 65536"/>
              <a:gd name="T11" fmla="*/ 0 60000 65536"/>
              <a:gd name="T12" fmla="*/ 0 60000 65536"/>
              <a:gd name="T13" fmla="*/ 0 60000 65536"/>
              <a:gd name="T14" fmla="*/ 0 60000 65536"/>
              <a:gd name="T15" fmla="*/ 0 w 2891416"/>
              <a:gd name="T16" fmla="*/ 0 h 101600"/>
              <a:gd name="T17" fmla="*/ 2891416 w 2891416"/>
              <a:gd name="T18" fmla="*/ 101600 h 101600"/>
            </a:gdLst>
            <a:ahLst/>
            <a:cxnLst>
              <a:cxn ang="T10">
                <a:pos x="T0" y="T1"/>
              </a:cxn>
              <a:cxn ang="T11">
                <a:pos x="T2" y="T3"/>
              </a:cxn>
              <a:cxn ang="T12">
                <a:pos x="T4" y="T5"/>
              </a:cxn>
              <a:cxn ang="T13">
                <a:pos x="T6" y="T7"/>
              </a:cxn>
              <a:cxn ang="T14">
                <a:pos x="T8" y="T9"/>
              </a:cxn>
            </a:cxnLst>
            <a:rect l="T15" t="T16" r="T17" b="T18"/>
            <a:pathLst>
              <a:path w="2891416" h="101600">
                <a:moveTo>
                  <a:pt x="0" y="0"/>
                </a:moveTo>
                <a:lnTo>
                  <a:pt x="2891416" y="0"/>
                </a:lnTo>
                <a:lnTo>
                  <a:pt x="2891416" y="101600"/>
                </a:lnTo>
                <a:lnTo>
                  <a:pt x="84473" y="101600"/>
                </a:lnTo>
                <a:lnTo>
                  <a:pt x="0" y="0"/>
                </a:lnTo>
                <a:close/>
              </a:path>
            </a:pathLst>
          </a:custGeom>
          <a:solidFill>
            <a:srgbClr val="D5DCE9"/>
          </a:solidFill>
          <a:ln>
            <a:solidFill>
              <a:srgbClr val="D5DCE9"/>
            </a:solidFill>
          </a:ln>
        </p:spPr>
        <p:txBody>
          <a:bodyPr anchor="ctr"/>
          <a:lstStyle/>
          <a:p>
            <a:endParaRPr lang="zh-CN" altLang="en-US" sz="1400"/>
          </a:p>
        </p:txBody>
      </p:sp>
      <p:pic>
        <p:nvPicPr>
          <p:cNvPr id="24" name="图片 23"/>
          <p:cNvPicPr>
            <a:picLocks noChangeAspect="1"/>
          </p:cNvPicPr>
          <p:nvPr/>
        </p:nvPicPr>
        <p:blipFill>
          <a:blip r:embed="rId1"/>
          <a:srcRect r="9523"/>
          <a:stretch>
            <a:fillRect/>
          </a:stretch>
        </p:blipFill>
        <p:spPr>
          <a:xfrm>
            <a:off x="1261945" y="3230918"/>
            <a:ext cx="2648585" cy="3181350"/>
          </a:xfrm>
          <a:prstGeom prst="rect">
            <a:avLst/>
          </a:prstGeom>
        </p:spPr>
      </p:pic>
      <p:sp>
        <p:nvSpPr>
          <p:cNvPr id="33" name="矩形 32"/>
          <p:cNvSpPr/>
          <p:nvPr/>
        </p:nvSpPr>
        <p:spPr>
          <a:xfrm>
            <a:off x="2238233" y="1648566"/>
            <a:ext cx="9369187" cy="1479444"/>
          </a:xfrm>
          <a:prstGeom prst="rect">
            <a:avLst/>
          </a:prstGeom>
        </p:spPr>
        <p:txBody>
          <a:bodyPr wrap="square">
            <a:spAutoFit/>
          </a:bodyPr>
          <a:lstStyle/>
          <a:p>
            <a:pPr algn="ctr">
              <a:lnSpc>
                <a:spcPct val="130000"/>
              </a:lnSpc>
            </a:pPr>
            <a:r>
              <a:rPr lang="zh-CN" altLang="en-US" sz="2400" dirty="0">
                <a:solidFill>
                  <a:schemeClr val="tx1">
                    <a:lumMod val="75000"/>
                    <a:lumOff val="25000"/>
                  </a:schemeClr>
                </a:solidFill>
                <a:latin typeface="Arial" panose="020B0604020202020204" pitchFamily="34" charset="0"/>
              </a:rPr>
              <a:t>栈是一种特殊的线性表，其插入、删除操作只能在表的尾部进行。在栈中允许进行插入、删除操作的一端称为栈顶，另一端称为栈底。</a:t>
            </a:r>
            <a:endParaRPr lang="zh-CN" altLang="en-US" sz="2400" dirty="0">
              <a:solidFill>
                <a:schemeClr val="tx1">
                  <a:lumMod val="75000"/>
                  <a:lumOff val="25000"/>
                </a:schemeClr>
              </a:solidFill>
              <a:latin typeface="Arial" panose="020B0604020202020204" pitchFamily="34" charset="0"/>
            </a:endParaRPr>
          </a:p>
          <a:p>
            <a:pPr algn="ctr">
              <a:lnSpc>
                <a:spcPct val="130000"/>
              </a:lnSpc>
            </a:pPr>
            <a:r>
              <a:rPr lang="zh-CN" altLang="en-US" sz="2400" dirty="0">
                <a:solidFill>
                  <a:schemeClr val="tx1">
                    <a:lumMod val="75000"/>
                    <a:lumOff val="25000"/>
                  </a:schemeClr>
                </a:solidFill>
                <a:latin typeface="Arial" panose="020B0604020202020204" pitchFamily="34" charset="0"/>
              </a:rPr>
              <a:t>通常，栈的插入操作叫</a:t>
            </a:r>
            <a:r>
              <a:rPr lang="zh-CN" altLang="en-US" sz="2400" dirty="0">
                <a:solidFill>
                  <a:srgbClr val="FF0000"/>
                </a:solidFill>
                <a:latin typeface="Arial" panose="020B0604020202020204" pitchFamily="34" charset="0"/>
              </a:rPr>
              <a:t>入栈</a:t>
            </a:r>
            <a:r>
              <a:rPr lang="zh-CN" altLang="en-US" sz="2400" dirty="0">
                <a:solidFill>
                  <a:schemeClr val="tx1">
                    <a:lumMod val="75000"/>
                    <a:lumOff val="25000"/>
                  </a:schemeClr>
                </a:solidFill>
                <a:latin typeface="Arial" panose="020B0604020202020204" pitchFamily="34" charset="0"/>
              </a:rPr>
              <a:t>，栈的删除操作叫</a:t>
            </a:r>
            <a:r>
              <a:rPr lang="zh-CN" altLang="en-US" sz="2400" dirty="0">
                <a:solidFill>
                  <a:srgbClr val="FF0000"/>
                </a:solidFill>
                <a:latin typeface="Arial" panose="020B0604020202020204" pitchFamily="34" charset="0"/>
              </a:rPr>
              <a:t>出栈</a:t>
            </a:r>
            <a:r>
              <a:rPr lang="zh-CN" altLang="en-US" sz="2400" dirty="0">
                <a:solidFill>
                  <a:schemeClr val="tx1">
                    <a:lumMod val="75000"/>
                    <a:lumOff val="25000"/>
                  </a:schemeClr>
                </a:solidFill>
                <a:latin typeface="Arial" panose="020B0604020202020204" pitchFamily="34" charset="0"/>
              </a:rPr>
              <a:t>。</a:t>
            </a:r>
            <a:endParaRPr lang="zh-CN" altLang="en-US" sz="2400" dirty="0">
              <a:solidFill>
                <a:schemeClr val="tx1">
                  <a:lumMod val="75000"/>
                  <a:lumOff val="25000"/>
                </a:schemeClr>
              </a:solidFill>
              <a:latin typeface="Arial" panose="020B0604020202020204" pitchFamily="34" charset="0"/>
            </a:endParaRPr>
          </a:p>
        </p:txBody>
      </p:sp>
      <p:sp>
        <p:nvSpPr>
          <p:cNvPr id="35" name="矩形 34"/>
          <p:cNvSpPr/>
          <p:nvPr/>
        </p:nvSpPr>
        <p:spPr>
          <a:xfrm>
            <a:off x="4053095" y="4365095"/>
            <a:ext cx="8066405" cy="1291590"/>
          </a:xfrm>
          <a:prstGeom prst="rect">
            <a:avLst/>
          </a:prstGeom>
        </p:spPr>
        <p:txBody>
          <a:bodyPr wrap="square">
            <a:spAutoFit/>
          </a:bodyPr>
          <a:lstStyle/>
          <a:p>
            <a:pPr algn="ctr">
              <a:lnSpc>
                <a:spcPct val="130000"/>
              </a:lnSpc>
            </a:pPr>
            <a:r>
              <a:rPr lang="zh-CN" altLang="en-US" sz="2000" dirty="0">
                <a:solidFill>
                  <a:schemeClr val="tx1">
                    <a:lumMod val="75000"/>
                    <a:lumOff val="25000"/>
                  </a:schemeClr>
                </a:solidFill>
                <a:latin typeface="Arial" panose="020B0604020202020204" pitchFamily="34" charset="0"/>
              </a:rPr>
              <a:t>栈是一种特殊的线性表，其插入、删除操作只能在表的尾部进行。在栈中允许进行插入、删除操作的一端称为栈顶，另一端称为栈底。</a:t>
            </a:r>
            <a:endParaRPr lang="zh-CN" altLang="en-US" sz="2000" dirty="0">
              <a:solidFill>
                <a:schemeClr val="tx1">
                  <a:lumMod val="75000"/>
                  <a:lumOff val="25000"/>
                </a:schemeClr>
              </a:solidFill>
              <a:latin typeface="Arial" panose="020B0604020202020204" pitchFamily="34" charset="0"/>
            </a:endParaRPr>
          </a:p>
          <a:p>
            <a:pPr algn="ctr">
              <a:lnSpc>
                <a:spcPct val="130000"/>
              </a:lnSpc>
            </a:pPr>
            <a:r>
              <a:rPr lang="zh-CN" altLang="en-US" sz="2000" dirty="0">
                <a:solidFill>
                  <a:schemeClr val="tx1">
                    <a:lumMod val="75000"/>
                    <a:lumOff val="25000"/>
                  </a:schemeClr>
                </a:solidFill>
                <a:latin typeface="Arial" panose="020B0604020202020204" pitchFamily="34" charset="0"/>
              </a:rPr>
              <a:t>通常，栈的插入操作叫</a:t>
            </a:r>
            <a:r>
              <a:rPr lang="zh-CN" altLang="en-US" sz="2000" dirty="0">
                <a:solidFill>
                  <a:srgbClr val="FF0000"/>
                </a:solidFill>
                <a:latin typeface="Arial" panose="020B0604020202020204" pitchFamily="34" charset="0"/>
              </a:rPr>
              <a:t>入栈</a:t>
            </a:r>
            <a:r>
              <a:rPr lang="zh-CN" altLang="en-US" sz="2000" dirty="0">
                <a:solidFill>
                  <a:schemeClr val="tx1">
                    <a:lumMod val="75000"/>
                    <a:lumOff val="25000"/>
                  </a:schemeClr>
                </a:solidFill>
                <a:latin typeface="Arial" panose="020B0604020202020204" pitchFamily="34" charset="0"/>
              </a:rPr>
              <a:t>，栈的删除操作叫</a:t>
            </a:r>
            <a:r>
              <a:rPr lang="zh-CN" altLang="en-US" sz="2000" dirty="0">
                <a:solidFill>
                  <a:srgbClr val="FF0000"/>
                </a:solidFill>
                <a:latin typeface="Arial" panose="020B0604020202020204" pitchFamily="34" charset="0"/>
              </a:rPr>
              <a:t>出栈</a:t>
            </a:r>
            <a:r>
              <a:rPr lang="zh-CN" altLang="en-US" sz="2000" dirty="0">
                <a:solidFill>
                  <a:schemeClr val="tx1">
                    <a:lumMod val="75000"/>
                    <a:lumOff val="25000"/>
                  </a:schemeClr>
                </a:solidFill>
                <a:latin typeface="Arial" panose="020B0604020202020204" pitchFamily="34" charset="0"/>
              </a:rPr>
              <a:t>。</a:t>
            </a:r>
            <a:endParaRPr lang="zh-CN" altLang="en-US" sz="2000" dirty="0">
              <a:solidFill>
                <a:schemeClr val="tx1">
                  <a:lumMod val="75000"/>
                  <a:lumOff val="25000"/>
                </a:schemeClr>
              </a:solidFill>
              <a:latin typeface="Arial" panose="020B0604020202020204" pitchFamily="34" charset="0"/>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3652" y="422313"/>
            <a:ext cx="7973400" cy="700405"/>
          </a:xfrm>
        </p:spPr>
        <p:txBody>
          <a:bodyPr/>
          <a:lstStyle/>
          <a:p>
            <a:r>
              <a:rPr lang="zh-CN" altLang="en-US" dirty="0"/>
              <a:t>栈的抽象数据类型描述</a:t>
            </a:r>
            <a:endParaRPr lang="zh-CN" altLang="en-US" dirty="0"/>
          </a:p>
        </p:txBody>
      </p:sp>
      <p:sp>
        <p:nvSpPr>
          <p:cNvPr id="5" name="灯片编号占位符 4"/>
          <p:cNvSpPr>
            <a:spLocks noGrp="1"/>
          </p:cNvSpPr>
          <p:nvPr>
            <p:ph type="sldNum" sz="quarter" idx="12"/>
          </p:nvPr>
        </p:nvSpPr>
        <p:spPr>
          <a:xfrm>
            <a:off x="9376045" y="6357619"/>
            <a:ext cx="2743200" cy="365125"/>
          </a:xfrm>
        </p:spPr>
        <p:txBody>
          <a:bodyPr/>
          <a:lstStyle/>
          <a:p>
            <a:fld id="{D96DE7E8-BD74-40B2-922D-194240FC5D5C}" type="slidenum">
              <a:rPr lang="zh-CN" altLang="en-US" smtClean="0"/>
            </a:fld>
            <a:endParaRPr lang="zh-CN" altLang="en-US"/>
          </a:p>
        </p:txBody>
      </p:sp>
      <p:sp>
        <p:nvSpPr>
          <p:cNvPr id="93" name="矩形 92"/>
          <p:cNvSpPr/>
          <p:nvPr/>
        </p:nvSpPr>
        <p:spPr>
          <a:xfrm>
            <a:off x="927488" y="5177831"/>
            <a:ext cx="10482040" cy="1301703"/>
          </a:xfrm>
          <a:prstGeom prst="rect">
            <a:avLst/>
          </a:prstGeom>
        </p:spPr>
        <p:txBody>
          <a:bodyPr wrap="square">
            <a:spAutoFit/>
          </a:bodyPr>
          <a:lstStyle/>
          <a:p>
            <a:pPr algn="ctr">
              <a:lnSpc>
                <a:spcPct val="130000"/>
              </a:lnSpc>
            </a:pPr>
            <a:r>
              <a:rPr lang="zh-CN" altLang="en-US" sz="3200" dirty="0">
                <a:solidFill>
                  <a:schemeClr val="tx1">
                    <a:lumMod val="75000"/>
                    <a:lumOff val="25000"/>
                  </a:schemeClr>
                </a:solidFill>
                <a:latin typeface="Arial" panose="020B0604020202020204" pitchFamily="34" charset="0"/>
              </a:rPr>
              <a:t>栈中的数据元素和数据间的逻辑关系与线性表相同，是由n个具有相同数据类型的数据元素构成的有限序列</a:t>
            </a:r>
            <a:endParaRPr lang="zh-CN" altLang="en-US" sz="3200" dirty="0">
              <a:solidFill>
                <a:schemeClr val="tx1">
                  <a:lumMod val="75000"/>
                  <a:lumOff val="25000"/>
                </a:schemeClr>
              </a:solidFill>
              <a:latin typeface="Arial" panose="020B0604020202020204" pitchFamily="34" charset="0"/>
            </a:endParaRPr>
          </a:p>
        </p:txBody>
      </p:sp>
      <p:pic>
        <p:nvPicPr>
          <p:cNvPr id="94" name="图片 93"/>
          <p:cNvPicPr>
            <a:picLocks noChangeAspect="1"/>
          </p:cNvPicPr>
          <p:nvPr/>
        </p:nvPicPr>
        <p:blipFill>
          <a:blip r:embed="rId1"/>
          <a:srcRect l="11323" r="16116"/>
          <a:stretch>
            <a:fillRect/>
          </a:stretch>
        </p:blipFill>
        <p:spPr>
          <a:xfrm>
            <a:off x="401320" y="1190625"/>
            <a:ext cx="3316605" cy="3575050"/>
          </a:xfrm>
          <a:prstGeom prst="rect">
            <a:avLst/>
          </a:prstGeom>
        </p:spPr>
      </p:pic>
      <p:pic>
        <p:nvPicPr>
          <p:cNvPr id="95" name="图片 94"/>
          <p:cNvPicPr>
            <a:picLocks noChangeAspect="1"/>
          </p:cNvPicPr>
          <p:nvPr/>
        </p:nvPicPr>
        <p:blipFill>
          <a:blip r:embed="rId2"/>
          <a:srcRect l="18901" r="11984"/>
          <a:stretch>
            <a:fillRect/>
          </a:stretch>
        </p:blipFill>
        <p:spPr>
          <a:xfrm>
            <a:off x="4176214" y="1190625"/>
            <a:ext cx="3234709" cy="3808123"/>
          </a:xfrm>
          <a:prstGeom prst="rect">
            <a:avLst/>
          </a:prstGeom>
        </p:spPr>
      </p:pic>
      <p:pic>
        <p:nvPicPr>
          <p:cNvPr id="96" name="图片 95"/>
          <p:cNvPicPr>
            <a:picLocks noChangeAspect="1"/>
          </p:cNvPicPr>
          <p:nvPr/>
        </p:nvPicPr>
        <p:blipFill>
          <a:blip r:embed="rId3"/>
          <a:srcRect l="18889"/>
          <a:stretch>
            <a:fillRect/>
          </a:stretch>
        </p:blipFill>
        <p:spPr>
          <a:xfrm>
            <a:off x="7869212" y="1190625"/>
            <a:ext cx="3782098" cy="3870112"/>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9528" y="373444"/>
            <a:ext cx="7973400" cy="700405"/>
          </a:xfrm>
        </p:spPr>
        <p:txBody>
          <a:bodyPr/>
          <a:lstStyle/>
          <a:p>
            <a:r>
              <a:rPr lang="zh-CN" altLang="en-US" dirty="0"/>
              <a:t>栈的抽象数据类型描述</a:t>
            </a:r>
            <a:endParaRPr lang="zh-CN" altLang="en-US" dirty="0"/>
          </a:p>
        </p:txBody>
      </p:sp>
      <p:sp>
        <p:nvSpPr>
          <p:cNvPr id="5" name="灯片编号占位符 4"/>
          <p:cNvSpPr>
            <a:spLocks noGrp="1"/>
          </p:cNvSpPr>
          <p:nvPr>
            <p:ph type="sldNum" sz="quarter" idx="12"/>
          </p:nvPr>
        </p:nvSpPr>
        <p:spPr>
          <a:xfrm>
            <a:off x="9376045" y="6357619"/>
            <a:ext cx="2743200" cy="365125"/>
          </a:xfrm>
        </p:spPr>
        <p:txBody>
          <a:bodyPr/>
          <a:lstStyle/>
          <a:p>
            <a:fld id="{D96DE7E8-BD74-40B2-922D-194240FC5D5C}" type="slidenum">
              <a:rPr lang="zh-CN" altLang="en-US" smtClean="0"/>
            </a:fld>
            <a:endParaRPr lang="zh-CN" altLang="en-US" dirty="0"/>
          </a:p>
        </p:txBody>
      </p:sp>
      <p:cxnSp>
        <p:nvCxnSpPr>
          <p:cNvPr id="3" name="直接连接符 2"/>
          <p:cNvCxnSpPr>
            <a:cxnSpLocks noChangeAspect="1"/>
          </p:cNvCxnSpPr>
          <p:nvPr/>
        </p:nvCxnSpPr>
        <p:spPr>
          <a:xfrm>
            <a:off x="3424598" y="3520829"/>
            <a:ext cx="5829551"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a:cxnSpLocks noChangeAspect="1"/>
          </p:cNvCxnSpPr>
          <p:nvPr/>
        </p:nvCxnSpPr>
        <p:spPr>
          <a:xfrm>
            <a:off x="3445191" y="3520829"/>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noChangeAspect="1"/>
          </p:cNvCxnSpPr>
          <p:nvPr/>
        </p:nvCxnSpPr>
        <p:spPr>
          <a:xfrm>
            <a:off x="9254149" y="3520828"/>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连接符 9"/>
          <p:cNvCxnSpPr>
            <a:cxnSpLocks noChangeAspect="1"/>
          </p:cNvCxnSpPr>
          <p:nvPr/>
        </p:nvCxnSpPr>
        <p:spPr>
          <a:xfrm>
            <a:off x="6233885" y="2454098"/>
            <a:ext cx="0" cy="1053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spect="1"/>
          </p:cNvSpPr>
          <p:nvPr/>
        </p:nvSpPr>
        <p:spPr>
          <a:xfrm>
            <a:off x="962550" y="1533571"/>
            <a:ext cx="10266900" cy="1414781"/>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11" name="矩形 10"/>
          <p:cNvSpPr>
            <a:spLocks noChangeAspect="1"/>
          </p:cNvSpPr>
          <p:nvPr/>
        </p:nvSpPr>
        <p:spPr>
          <a:xfrm>
            <a:off x="1504320" y="4129483"/>
            <a:ext cx="3881741" cy="1321466"/>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32" name="Text Placeholder 33"/>
          <p:cNvSpPr txBox="1">
            <a:spLocks noChangeAspect="1"/>
          </p:cNvSpPr>
          <p:nvPr/>
        </p:nvSpPr>
        <p:spPr>
          <a:xfrm>
            <a:off x="1801500" y="4269818"/>
            <a:ext cx="3126969" cy="954107"/>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en-US" sz="2800" dirty="0">
                <a:solidFill>
                  <a:schemeClr val="bg1"/>
                </a:solidFill>
                <a:latin typeface="Arial" panose="020B0604020202020204" pitchFamily="34" charset="0"/>
              </a:rPr>
              <a:t>基于顺序存储的实现，为</a:t>
            </a:r>
            <a:r>
              <a:rPr lang="zh-CN" altLang="en-US" sz="2800" dirty="0">
                <a:solidFill>
                  <a:srgbClr val="FF0000"/>
                </a:solidFill>
                <a:latin typeface="Arial" panose="020B0604020202020204" pitchFamily="34" charset="0"/>
              </a:rPr>
              <a:t>顺序栈</a:t>
            </a:r>
            <a:endParaRPr lang="zh-CN" altLang="zh-CN" sz="2800" dirty="0">
              <a:solidFill>
                <a:schemeClr val="bg1"/>
              </a:solidFill>
              <a:latin typeface="+mn-lt"/>
              <a:ea typeface="+mn-ea"/>
              <a:cs typeface="+mn-ea"/>
              <a:sym typeface="+mn-ea"/>
            </a:endParaRPr>
          </a:p>
        </p:txBody>
      </p:sp>
      <p:sp>
        <p:nvSpPr>
          <p:cNvPr id="53" name="文本框 52"/>
          <p:cNvSpPr txBox="1">
            <a:spLocks noChangeAspect="1"/>
          </p:cNvSpPr>
          <p:nvPr/>
        </p:nvSpPr>
        <p:spPr>
          <a:xfrm>
            <a:off x="2256546" y="1534655"/>
            <a:ext cx="7813749" cy="1794530"/>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charset="-122"/>
                <a:ea typeface="微软雅黑" panose="020B0503020204020204" charset="-122"/>
              </a:defRPr>
            </a:lvl1pPr>
          </a:lstStyle>
          <a:p>
            <a:pPr algn="ctr">
              <a:lnSpc>
                <a:spcPct val="130000"/>
              </a:lnSpc>
            </a:pPr>
            <a:r>
              <a:rPr lang="zh-CN" altLang="en-US" sz="2000" dirty="0">
                <a:solidFill>
                  <a:schemeClr val="tx1">
                    <a:lumMod val="75000"/>
                    <a:lumOff val="25000"/>
                  </a:schemeClr>
                </a:solidFill>
                <a:latin typeface="Arial" panose="020B0604020202020204" pitchFamily="34" charset="0"/>
              </a:rPr>
              <a:t>栈的抽象数据Python抽象类包含了栈的主要基本操作，如果要使用这个类还需要具体的类来实现。</a:t>
            </a:r>
            <a:endParaRPr lang="en-US" altLang="zh-CN" sz="2000" dirty="0">
              <a:solidFill>
                <a:schemeClr val="tx1">
                  <a:lumMod val="75000"/>
                  <a:lumOff val="25000"/>
                </a:schemeClr>
              </a:solidFill>
              <a:latin typeface="Arial" panose="020B0604020202020204" pitchFamily="34" charset="0"/>
            </a:endParaRPr>
          </a:p>
          <a:p>
            <a:pPr>
              <a:lnSpc>
                <a:spcPct val="130000"/>
              </a:lnSpc>
            </a:pPr>
            <a:r>
              <a:rPr lang="zh-CN" altLang="en-US" sz="2000" dirty="0">
                <a:solidFill>
                  <a:schemeClr val="tx1">
                    <a:lumMod val="75000"/>
                    <a:lumOff val="25000"/>
                  </a:schemeClr>
                </a:solidFill>
                <a:latin typeface="Arial" panose="020B0604020202020204" pitchFamily="34" charset="0"/>
              </a:rPr>
              <a:t>栈的Python抽象类的实现方法主要有以下两种：</a:t>
            </a:r>
            <a:endParaRPr lang="zh-CN" altLang="en-US" sz="2000" dirty="0">
              <a:solidFill>
                <a:schemeClr val="tx1">
                  <a:lumMod val="75000"/>
                  <a:lumOff val="25000"/>
                </a:schemeClr>
              </a:solidFill>
              <a:latin typeface="Arial" panose="020B0604020202020204" pitchFamily="34" charset="0"/>
            </a:endParaRPr>
          </a:p>
          <a:p>
            <a:pPr algn="ctr">
              <a:lnSpc>
                <a:spcPct val="130000"/>
              </a:lnSpc>
            </a:pPr>
            <a:endParaRPr lang="zh-CN" altLang="en-US" sz="2800" dirty="0">
              <a:solidFill>
                <a:schemeClr val="tx1">
                  <a:lumMod val="75000"/>
                  <a:lumOff val="25000"/>
                </a:schemeClr>
              </a:solidFill>
              <a:latin typeface="Arial" panose="020B0604020202020204" pitchFamily="34" charset="0"/>
            </a:endParaRPr>
          </a:p>
        </p:txBody>
      </p:sp>
      <p:sp>
        <p:nvSpPr>
          <p:cNvPr id="69" name="矩形 68"/>
          <p:cNvSpPr>
            <a:spLocks noChangeAspect="1"/>
          </p:cNvSpPr>
          <p:nvPr/>
        </p:nvSpPr>
        <p:spPr>
          <a:xfrm>
            <a:off x="7205561" y="4129482"/>
            <a:ext cx="3881732" cy="1321463"/>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72" name="Text Placeholder 33"/>
          <p:cNvSpPr txBox="1">
            <a:spLocks noChangeAspect="1"/>
          </p:cNvSpPr>
          <p:nvPr/>
        </p:nvSpPr>
        <p:spPr>
          <a:xfrm>
            <a:off x="7553045" y="4321125"/>
            <a:ext cx="3059646" cy="954107"/>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en-US" sz="2800" dirty="0">
                <a:solidFill>
                  <a:schemeClr val="bg1"/>
                </a:solidFill>
                <a:latin typeface="Arial" panose="020B0604020202020204" pitchFamily="34" charset="0"/>
              </a:rPr>
              <a:t>基于链式存储的实现，为</a:t>
            </a:r>
            <a:r>
              <a:rPr lang="zh-CN" altLang="en-US" sz="2800" dirty="0">
                <a:solidFill>
                  <a:srgbClr val="FF0000"/>
                </a:solidFill>
                <a:latin typeface="Arial" panose="020B0604020202020204" pitchFamily="34" charset="0"/>
              </a:rPr>
              <a:t>链栈</a:t>
            </a:r>
            <a:endParaRPr lang="zh-CN" altLang="zh-CN" sz="2800" dirty="0">
              <a:solidFill>
                <a:schemeClr val="bg1"/>
              </a:solidFill>
              <a:latin typeface="+mn-lt"/>
              <a:ea typeface="+mn-ea"/>
              <a:cs typeface="+mn-ea"/>
              <a:sym typeface="+mn-ea"/>
            </a:endParaRPr>
          </a:p>
        </p:txBody>
      </p:sp>
    </p:spTree>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000"/>
            <a:ext cx="11833200" cy="701731"/>
          </a:xfrm>
        </p:spPr>
        <p:txBody>
          <a:bodyPr/>
          <a:lstStyle/>
          <a:p>
            <a:r>
              <a:rPr lang="zh-CN" altLang="en-US" dirty="0">
                <a:sym typeface="+mn-ea"/>
              </a:rPr>
              <a:t>顺序栈：</a:t>
            </a:r>
            <a:r>
              <a:rPr lang="en-US" altLang="zh-CN" sz="4400" dirty="0"/>
              <a:t>Python</a:t>
            </a:r>
            <a:r>
              <a:rPr lang="zh-CN" altLang="en-US" sz="4400" dirty="0"/>
              <a:t>描述</a:t>
            </a:r>
            <a:endParaRPr lang="zh-CN" altLang="en-US" dirty="0">
              <a:sym typeface="+mn-ea"/>
            </a:endParaRPr>
          </a:p>
        </p:txBody>
      </p:sp>
      <p:sp>
        <p:nvSpPr>
          <p:cNvPr id="183" name="矩形 182"/>
          <p:cNvSpPr/>
          <p:nvPr/>
        </p:nvSpPr>
        <p:spPr>
          <a:xfrm>
            <a:off x="882191" y="5325179"/>
            <a:ext cx="10442576" cy="848181"/>
          </a:xfrm>
          <a:prstGeom prst="rect">
            <a:avLst/>
          </a:prstGeom>
        </p:spPr>
        <p:txBody>
          <a:bodyPr wrap="square">
            <a:spAutoFit/>
          </a:bodyPr>
          <a:lstStyle/>
          <a:p>
            <a:pPr algn="ctr">
              <a:lnSpc>
                <a:spcPct val="130000"/>
              </a:lnSpc>
            </a:pPr>
            <a:r>
              <a:rPr lang="zh-CN" altLang="en-US" sz="2000" dirty="0">
                <a:solidFill>
                  <a:schemeClr val="tx1">
                    <a:lumMod val="75000"/>
                    <a:lumOff val="25000"/>
                  </a:schemeClr>
                </a:solidFill>
                <a:latin typeface="Arial" panose="020B0604020202020204" pitchFamily="34" charset="0"/>
              </a:rPr>
              <a:t>顺序栈用数组实现，因为入栈和出栈操作都是在栈顶进行，所以增加变量top来指示栈顶元素的位置，top指向栈顶元素存储位置的下一个存储单元的位置，空栈时top=0。</a:t>
            </a:r>
            <a:endParaRPr lang="zh-CN" altLang="en-US" sz="2000" dirty="0">
              <a:solidFill>
                <a:schemeClr val="tx1">
                  <a:lumMod val="75000"/>
                  <a:lumOff val="25000"/>
                </a:schemeClr>
              </a:solidFill>
              <a:latin typeface="Arial" panose="020B0604020202020204" pitchFamily="34" charset="0"/>
            </a:endParaRPr>
          </a:p>
        </p:txBody>
      </p:sp>
      <p:pic>
        <p:nvPicPr>
          <p:cNvPr id="184" name="图片 183"/>
          <p:cNvPicPr>
            <a:picLocks noChangeAspect="1"/>
          </p:cNvPicPr>
          <p:nvPr/>
        </p:nvPicPr>
        <p:blipFill>
          <a:blip r:embed="rId1"/>
          <a:stretch>
            <a:fillRect/>
          </a:stretch>
        </p:blipFill>
        <p:spPr>
          <a:xfrm>
            <a:off x="874711" y="1211193"/>
            <a:ext cx="5509260" cy="3883660"/>
          </a:xfrm>
          <a:prstGeom prst="rect">
            <a:avLst/>
          </a:prstGeom>
        </p:spPr>
      </p:pic>
      <p:pic>
        <p:nvPicPr>
          <p:cNvPr id="185" name="图片 184"/>
          <p:cNvPicPr>
            <a:picLocks noChangeAspect="1"/>
          </p:cNvPicPr>
          <p:nvPr/>
        </p:nvPicPr>
        <p:blipFill>
          <a:blip r:embed="rId2"/>
          <a:stretch>
            <a:fillRect/>
          </a:stretch>
        </p:blipFill>
        <p:spPr>
          <a:xfrm>
            <a:off x="6638467" y="1211193"/>
            <a:ext cx="4686300" cy="3883660"/>
          </a:xfrm>
          <a:prstGeom prst="rect">
            <a:avLst/>
          </a:prstGeom>
        </p:spPr>
      </p:pic>
    </p:spTree>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顺序栈的入栈操作</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025" name="任意多边形 1024"/>
          <p:cNvSpPr/>
          <p:nvPr/>
        </p:nvSpPr>
        <p:spPr>
          <a:xfrm>
            <a:off x="0" y="0"/>
            <a:ext cx="0" cy="0"/>
          </a:xfrm>
          <a:custGeom>
            <a:avLst/>
            <a:gdLst/>
            <a:ahLst/>
            <a:cxnLst/>
            <a:rect l="0" t="0" r="0" b="0"/>
            <a:pathLst/>
          </a:custGeom>
          <a:noFill/>
          <a:ln w="9525">
            <a:noFill/>
          </a:ln>
        </p:spPr>
      </p:sp>
      <p:sp>
        <p:nvSpPr>
          <p:cNvPr id="1026" name="任意多边形 1025"/>
          <p:cNvSpPr/>
          <p:nvPr/>
        </p:nvSpPr>
        <p:spPr>
          <a:xfrm>
            <a:off x="126999" y="126999"/>
            <a:ext cx="1" cy="1"/>
          </a:xfrm>
          <a:custGeom>
            <a:avLst/>
            <a:gdLst/>
            <a:ahLst/>
            <a:cxnLst/>
            <a:rect l="0" t="0" r="0" b="0"/>
            <a:pathLst/>
          </a:custGeom>
          <a:noFill/>
          <a:ln w="9525">
            <a:noFill/>
          </a:ln>
        </p:spPr>
      </p:sp>
      <p:sp>
        <p:nvSpPr>
          <p:cNvPr id="74" name="矩形 73"/>
          <p:cNvSpPr/>
          <p:nvPr/>
        </p:nvSpPr>
        <p:spPr>
          <a:xfrm>
            <a:off x="994410" y="1486535"/>
            <a:ext cx="4858385" cy="1529715"/>
          </a:xfrm>
          <a:prstGeom prst="rect">
            <a:avLst/>
          </a:prstGeom>
        </p:spPr>
        <p:txBody>
          <a:bodyPr wrap="square">
            <a:spAutoFit/>
          </a:bodyPr>
          <a:lstStyle/>
          <a:p>
            <a:pPr algn="ctr">
              <a:lnSpc>
                <a:spcPct val="130000"/>
              </a:lnSpc>
            </a:pPr>
            <a:r>
              <a:rPr lang="zh-CN" altLang="en-US" dirty="0">
                <a:solidFill>
                  <a:schemeClr val="tx1">
                    <a:lumMod val="75000"/>
                    <a:lumOff val="25000"/>
                  </a:schemeClr>
                </a:solidFill>
                <a:latin typeface="Arial" panose="020B0604020202020204" pitchFamily="34" charset="0"/>
              </a:rPr>
              <a:t>主要流程：</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(1) 判断顺序栈是否为满，若满则抛出异常。</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(2) 将x存入top所指的存储单元位置。</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(3) top加1。</a:t>
            </a:r>
            <a:endParaRPr lang="zh-CN" altLang="en-US" dirty="0">
              <a:solidFill>
                <a:schemeClr val="tx1">
                  <a:lumMod val="75000"/>
                  <a:lumOff val="25000"/>
                </a:schemeClr>
              </a:solidFill>
              <a:latin typeface="Arial" panose="020B0604020202020204" pitchFamily="34" charset="0"/>
            </a:endParaRPr>
          </a:p>
        </p:txBody>
      </p:sp>
      <p:pic>
        <p:nvPicPr>
          <p:cNvPr id="75" name="图片 7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096000" y="2134870"/>
            <a:ext cx="5055870" cy="3019425"/>
          </a:xfrm>
          <a:prstGeom prst="rect">
            <a:avLst/>
          </a:prstGeom>
          <a:noFill/>
          <a:ln>
            <a:noFill/>
          </a:ln>
        </p:spPr>
      </p:pic>
      <p:pic>
        <p:nvPicPr>
          <p:cNvPr id="76" name="图片 75"/>
          <p:cNvPicPr>
            <a:picLocks noChangeAspect="1"/>
          </p:cNvPicPr>
          <p:nvPr/>
        </p:nvPicPr>
        <p:blipFill>
          <a:blip r:embed="rId2"/>
          <a:stretch>
            <a:fillRect/>
          </a:stretch>
        </p:blipFill>
        <p:spPr>
          <a:xfrm>
            <a:off x="1167130" y="3316605"/>
            <a:ext cx="4512310" cy="1837690"/>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顺序栈的出栈操作</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025" name="任意多边形 1024"/>
          <p:cNvSpPr/>
          <p:nvPr/>
        </p:nvSpPr>
        <p:spPr>
          <a:xfrm>
            <a:off x="0" y="0"/>
            <a:ext cx="0" cy="0"/>
          </a:xfrm>
          <a:custGeom>
            <a:avLst/>
            <a:gdLst/>
            <a:ahLst/>
            <a:cxnLst/>
            <a:rect l="0" t="0" r="0" b="0"/>
            <a:pathLst/>
          </a:custGeom>
          <a:noFill/>
          <a:ln w="9525">
            <a:noFill/>
          </a:ln>
        </p:spPr>
      </p:sp>
      <p:sp>
        <p:nvSpPr>
          <p:cNvPr id="1026" name="任意多边形 1025"/>
          <p:cNvSpPr/>
          <p:nvPr/>
        </p:nvSpPr>
        <p:spPr>
          <a:xfrm>
            <a:off x="126999" y="126999"/>
            <a:ext cx="1" cy="1"/>
          </a:xfrm>
          <a:custGeom>
            <a:avLst/>
            <a:gdLst/>
            <a:ahLst/>
            <a:cxnLst/>
            <a:rect l="0" t="0" r="0" b="0"/>
            <a:pathLst/>
          </a:custGeom>
          <a:noFill/>
          <a:ln w="9525">
            <a:noFill/>
          </a:ln>
        </p:spPr>
      </p:sp>
      <p:sp>
        <p:nvSpPr>
          <p:cNvPr id="12" name="矩形 11"/>
          <p:cNvSpPr/>
          <p:nvPr/>
        </p:nvSpPr>
        <p:spPr>
          <a:xfrm>
            <a:off x="994410" y="1486535"/>
            <a:ext cx="4858385" cy="1529715"/>
          </a:xfrm>
          <a:prstGeom prst="rect">
            <a:avLst/>
          </a:prstGeom>
        </p:spPr>
        <p:txBody>
          <a:bodyPr wrap="square">
            <a:spAutoFit/>
          </a:bodyPr>
          <a:lstStyle/>
          <a:p>
            <a:pPr algn="ctr">
              <a:lnSpc>
                <a:spcPct val="130000"/>
              </a:lnSpc>
            </a:pPr>
            <a:r>
              <a:rPr lang="zh-CN" altLang="en-US" dirty="0">
                <a:solidFill>
                  <a:schemeClr val="tx1">
                    <a:lumMod val="75000"/>
                    <a:lumOff val="25000"/>
                  </a:schemeClr>
                </a:solidFill>
                <a:latin typeface="Arial" panose="020B0604020202020204" pitchFamily="34" charset="0"/>
              </a:rPr>
              <a:t>主要流程：</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(1) 判断顺序栈是否为空，若空则返回null。</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(2) top减1。</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(3) 返回top所指的栈顶元素的值。</a:t>
            </a:r>
            <a:endParaRPr lang="zh-CN" altLang="en-US" dirty="0">
              <a:solidFill>
                <a:schemeClr val="tx1">
                  <a:lumMod val="75000"/>
                  <a:lumOff val="25000"/>
                </a:schemeClr>
              </a:solidFill>
              <a:latin typeface="Arial" panose="020B0604020202020204" pitchFamily="34" charset="0"/>
            </a:endParaRPr>
          </a:p>
        </p:txBody>
      </p:sp>
      <p:pic>
        <p:nvPicPr>
          <p:cNvPr id="1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729436" y="2397760"/>
            <a:ext cx="3842385" cy="3073400"/>
          </a:xfrm>
          <a:prstGeom prst="rect">
            <a:avLst/>
          </a:prstGeom>
          <a:noFill/>
          <a:ln>
            <a:noFill/>
          </a:ln>
        </p:spPr>
      </p:pic>
      <p:pic>
        <p:nvPicPr>
          <p:cNvPr id="14" name="图片 13"/>
          <p:cNvPicPr>
            <a:picLocks noChangeAspect="1"/>
          </p:cNvPicPr>
          <p:nvPr/>
        </p:nvPicPr>
        <p:blipFill>
          <a:blip r:embed="rId2"/>
          <a:stretch>
            <a:fillRect/>
          </a:stretch>
        </p:blipFill>
        <p:spPr>
          <a:xfrm>
            <a:off x="1413510" y="3573145"/>
            <a:ext cx="4538980" cy="1898015"/>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例题</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1" name="矩形 10"/>
          <p:cNvSpPr/>
          <p:nvPr/>
        </p:nvSpPr>
        <p:spPr>
          <a:xfrm>
            <a:off x="832921" y="1814290"/>
            <a:ext cx="4858385" cy="491490"/>
          </a:xfrm>
          <a:prstGeom prst="rect">
            <a:avLst/>
          </a:prstGeom>
        </p:spPr>
        <p:txBody>
          <a:bodyPr wrap="square">
            <a:spAutoFit/>
          </a:bodyPr>
          <a:lstStyle/>
          <a:p>
            <a:pPr algn="ctr">
              <a:lnSpc>
                <a:spcPct val="130000"/>
              </a:lnSpc>
            </a:pPr>
            <a:r>
              <a:rPr lang="zh-CN" altLang="en-US" sz="2000" b="1" dirty="0">
                <a:solidFill>
                  <a:schemeClr val="tx1">
                    <a:lumMod val="75000"/>
                    <a:lumOff val="25000"/>
                  </a:schemeClr>
                </a:solidFill>
                <a:latin typeface="Arial" panose="020B0604020202020204" pitchFamily="34" charset="0"/>
              </a:rPr>
              <a:t>利用顺序栈实现括号匹配的语法检查。</a:t>
            </a:r>
            <a:endParaRPr lang="zh-CN" altLang="en-US" sz="2000" b="1" dirty="0">
              <a:solidFill>
                <a:schemeClr val="tx1">
                  <a:lumMod val="75000"/>
                  <a:lumOff val="25000"/>
                </a:schemeClr>
              </a:solidFill>
              <a:latin typeface="Arial" panose="020B0604020202020204" pitchFamily="34" charset="0"/>
            </a:endParaRPr>
          </a:p>
        </p:txBody>
      </p:sp>
      <p:sp>
        <p:nvSpPr>
          <p:cNvPr id="12" name="文本框 11"/>
          <p:cNvSpPr txBox="1"/>
          <p:nvPr/>
        </p:nvSpPr>
        <p:spPr>
          <a:xfrm>
            <a:off x="1128196" y="2671540"/>
            <a:ext cx="4210050" cy="1753235"/>
          </a:xfrm>
          <a:prstGeom prst="rect">
            <a:avLst/>
          </a:prstGeom>
          <a:noFill/>
        </p:spPr>
        <p:txBody>
          <a:bodyPr wrap="square" rtlCol="0">
            <a:spAutoFit/>
          </a:bodyPr>
          <a:lstStyle/>
          <a:p>
            <a:r>
              <a:rPr lang="zh-CN" altLang="en-US" dirty="0"/>
              <a:t>解： </a:t>
            </a:r>
            <a:endParaRPr lang="zh-CN" altLang="en-US" dirty="0"/>
          </a:p>
          <a:p>
            <a:r>
              <a:rPr lang="zh-CN" altLang="en-US" dirty="0"/>
              <a:t>括号匹配是指程序中出现的括号，左、右括号的个数是相同的，并且需要先左后右依次出现。括号是可以嵌套的，一个右括号与其前面最近的一个左括号匹配，使用栈保存多个嵌套的左括号。</a:t>
            </a:r>
            <a:endParaRPr lang="zh-CN" altLang="en-US" dirty="0"/>
          </a:p>
        </p:txBody>
      </p:sp>
      <p:pic>
        <p:nvPicPr>
          <p:cNvPr id="13" name="图片 12"/>
          <p:cNvPicPr>
            <a:picLocks noChangeAspect="1"/>
          </p:cNvPicPr>
          <p:nvPr/>
        </p:nvPicPr>
        <p:blipFill>
          <a:blip r:embed="rId1"/>
          <a:stretch>
            <a:fillRect/>
          </a:stretch>
        </p:blipFill>
        <p:spPr>
          <a:xfrm>
            <a:off x="5848985" y="929005"/>
            <a:ext cx="5008880" cy="4399915"/>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链栈</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7" name="文本框 6"/>
          <p:cNvSpPr txBox="1"/>
          <p:nvPr/>
        </p:nvSpPr>
        <p:spPr>
          <a:xfrm>
            <a:off x="2336800" y="1562735"/>
            <a:ext cx="6727825" cy="1198880"/>
          </a:xfrm>
          <a:prstGeom prst="rect">
            <a:avLst/>
          </a:prstGeom>
          <a:noFill/>
        </p:spPr>
        <p:txBody>
          <a:bodyPr wrap="square" rtlCol="0">
            <a:spAutoFit/>
          </a:bodyPr>
          <a:lstStyle/>
          <a:p>
            <a:r>
              <a:rPr lang="zh-CN" altLang="en-US"/>
              <a:t>采用链式存储结构的栈称为链栈，由于入栈和出栈只能在栈顶进行，不存在在栈的任意位置进行插入和删除的操作，所以不需要设置头结点，只需要将指针top指向栈顶元素结点，每个结点的指针域指向其后继结点即可。</a:t>
            </a:r>
            <a:endParaRPr lang="zh-CN" altLang="en-US"/>
          </a:p>
        </p:txBody>
      </p:sp>
      <p:pic>
        <p:nvPicPr>
          <p:cNvPr id="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336675" y="3451860"/>
            <a:ext cx="9147810" cy="1344930"/>
          </a:xfrm>
          <a:prstGeom prst="rect">
            <a:avLst/>
          </a:prstGeom>
          <a:noFill/>
          <a:ln>
            <a:noFill/>
          </a:ln>
        </p:spPr>
      </p:pic>
    </p:spTree>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链栈</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文本框 4"/>
          <p:cNvSpPr txBox="1"/>
          <p:nvPr/>
        </p:nvSpPr>
        <p:spPr>
          <a:xfrm>
            <a:off x="8790618" y="3062377"/>
            <a:ext cx="2743200" cy="646331"/>
          </a:xfrm>
          <a:prstGeom prst="rect">
            <a:avLst/>
          </a:prstGeom>
          <a:noFill/>
        </p:spPr>
        <p:txBody>
          <a:bodyPr wrap="square" rtlCol="0">
            <a:spAutoFit/>
          </a:bodyPr>
          <a:lstStyle/>
          <a:p>
            <a:r>
              <a:rPr lang="zh-CN" altLang="en-US" dirty="0"/>
              <a:t>实现IStack抽象类的链栈类的Python语言描述</a:t>
            </a:r>
            <a:endParaRPr lang="zh-CN" altLang="en-US" dirty="0"/>
          </a:p>
        </p:txBody>
      </p:sp>
      <p:pic>
        <p:nvPicPr>
          <p:cNvPr id="6" name="图片 5"/>
          <p:cNvPicPr>
            <a:picLocks noChangeAspect="1"/>
          </p:cNvPicPr>
          <p:nvPr/>
        </p:nvPicPr>
        <p:blipFill>
          <a:blip r:embed="rId1"/>
          <a:stretch>
            <a:fillRect/>
          </a:stretch>
        </p:blipFill>
        <p:spPr>
          <a:xfrm>
            <a:off x="1144175" y="1116638"/>
            <a:ext cx="3206115" cy="5184140"/>
          </a:xfrm>
          <a:prstGeom prst="rect">
            <a:avLst/>
          </a:prstGeom>
        </p:spPr>
      </p:pic>
      <p:pic>
        <p:nvPicPr>
          <p:cNvPr id="7" name="图片 6"/>
          <p:cNvPicPr>
            <a:picLocks noChangeAspect="1"/>
          </p:cNvPicPr>
          <p:nvPr/>
        </p:nvPicPr>
        <p:blipFill>
          <a:blip r:embed="rId2"/>
          <a:srcRect l="16854"/>
          <a:stretch>
            <a:fillRect/>
          </a:stretch>
        </p:blipFill>
        <p:spPr>
          <a:xfrm>
            <a:off x="4851839" y="1116638"/>
            <a:ext cx="3310552" cy="5184139"/>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链栈的入栈操作</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994410" y="1486535"/>
            <a:ext cx="4858385" cy="1529715"/>
          </a:xfrm>
          <a:prstGeom prst="rect">
            <a:avLst/>
          </a:prstGeom>
        </p:spPr>
        <p:txBody>
          <a:bodyPr wrap="square">
            <a:spAutoFit/>
          </a:bodyPr>
          <a:lstStyle/>
          <a:p>
            <a:pPr algn="ctr">
              <a:lnSpc>
                <a:spcPct val="130000"/>
              </a:lnSpc>
            </a:pPr>
            <a:r>
              <a:rPr lang="zh-CN" altLang="en-US" dirty="0">
                <a:solidFill>
                  <a:schemeClr val="tx1">
                    <a:lumMod val="75000"/>
                    <a:lumOff val="25000"/>
                  </a:schemeClr>
                </a:solidFill>
                <a:latin typeface="Arial" panose="020B0604020202020204" pitchFamily="34" charset="0"/>
              </a:rPr>
              <a:t>主要流程：</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(1) 构造数据值域为x的新结点。</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(2) 改变新结点和首结点的指针域，使新结点成为新的栈顶结点。</a:t>
            </a:r>
            <a:endParaRPr lang="zh-CN" altLang="en-US" dirty="0">
              <a:solidFill>
                <a:schemeClr val="tx1">
                  <a:lumMod val="75000"/>
                  <a:lumOff val="25000"/>
                </a:schemeClr>
              </a:solidFill>
              <a:latin typeface="Arial" panose="020B0604020202020204" pitchFamily="34" charset="0"/>
            </a:endParaRPr>
          </a:p>
        </p:txBody>
      </p:sp>
      <p:pic>
        <p:nvPicPr>
          <p:cNvPr id="6"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683385" y="3434715"/>
            <a:ext cx="8244840" cy="2189480"/>
          </a:xfrm>
          <a:prstGeom prst="rect">
            <a:avLst/>
          </a:prstGeom>
          <a:noFill/>
          <a:ln>
            <a:noFill/>
          </a:ln>
        </p:spPr>
      </p:pic>
      <p:pic>
        <p:nvPicPr>
          <p:cNvPr id="7" name="图片 6"/>
          <p:cNvPicPr>
            <a:picLocks noChangeAspect="1"/>
          </p:cNvPicPr>
          <p:nvPr/>
        </p:nvPicPr>
        <p:blipFill>
          <a:blip r:embed="rId2"/>
          <a:stretch>
            <a:fillRect/>
          </a:stretch>
        </p:blipFill>
        <p:spPr>
          <a:xfrm>
            <a:off x="6405245" y="1659255"/>
            <a:ext cx="3452495" cy="1356995"/>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链栈的出栈操作</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1137711" y="1861849"/>
            <a:ext cx="5410835" cy="1132682"/>
          </a:xfrm>
          <a:prstGeom prst="rect">
            <a:avLst/>
          </a:prstGeom>
        </p:spPr>
        <p:txBody>
          <a:bodyPr wrap="square">
            <a:spAutoFit/>
          </a:bodyPr>
          <a:lstStyle/>
          <a:p>
            <a:pPr algn="ctr">
              <a:lnSpc>
                <a:spcPct val="130000"/>
              </a:lnSpc>
            </a:pPr>
            <a:r>
              <a:rPr lang="zh-CN" altLang="en-US" dirty="0">
                <a:solidFill>
                  <a:schemeClr val="tx1">
                    <a:lumMod val="75000"/>
                    <a:lumOff val="25000"/>
                  </a:schemeClr>
                </a:solidFill>
                <a:latin typeface="Arial" panose="020B0604020202020204" pitchFamily="34" charset="0"/>
              </a:rPr>
              <a:t>主要流程：</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(1) 判断链栈是否为空，若空则返回null。</a:t>
            </a:r>
            <a:endParaRPr lang="zh-CN" altLang="en-US" dirty="0">
              <a:solidFill>
                <a:schemeClr val="tx1">
                  <a:lumMod val="75000"/>
                  <a:lumOff val="25000"/>
                </a:schemeClr>
              </a:solidFill>
              <a:latin typeface="Arial" panose="020B0604020202020204" pitchFamily="34" charset="0"/>
            </a:endParaRPr>
          </a:p>
          <a:p>
            <a:pPr>
              <a:lnSpc>
                <a:spcPct val="130000"/>
              </a:lnSpc>
            </a:pPr>
            <a:r>
              <a:rPr lang="zh-CN" altLang="en-US" dirty="0">
                <a:solidFill>
                  <a:schemeClr val="tx1">
                    <a:lumMod val="75000"/>
                    <a:lumOff val="25000"/>
                  </a:schemeClr>
                </a:solidFill>
                <a:latin typeface="Arial" panose="020B0604020202020204" pitchFamily="34" charset="0"/>
              </a:rPr>
              <a:t>(2) 修改top指针域的值，返回被删结点的数据域值。</a:t>
            </a:r>
            <a:endParaRPr lang="zh-CN" altLang="en-US" dirty="0">
              <a:solidFill>
                <a:schemeClr val="tx1">
                  <a:lumMod val="75000"/>
                  <a:lumOff val="25000"/>
                </a:schemeClr>
              </a:solidFill>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6985274" y="1321688"/>
            <a:ext cx="3895090" cy="2233930"/>
          </a:xfrm>
          <a:prstGeom prst="rect">
            <a:avLst/>
          </a:prstGeom>
        </p:spPr>
      </p:pic>
      <p:pic>
        <p:nvPicPr>
          <p:cNvPr id="7"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88552" y="3987051"/>
            <a:ext cx="9136380" cy="1498600"/>
          </a:xfrm>
          <a:prstGeom prst="rect">
            <a:avLst/>
          </a:prstGeom>
          <a:noFill/>
          <a:ln>
            <a:noFill/>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a:spLocks noChangeAspect="1"/>
          </p:cNvSpPr>
          <p:nvPr/>
        </p:nvSpPr>
        <p:spPr>
          <a:xfrm>
            <a:off x="1181899" y="2108730"/>
            <a:ext cx="9719020" cy="2226387"/>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1" name="文本框 10"/>
          <p:cNvSpPr txBox="1"/>
          <p:nvPr/>
        </p:nvSpPr>
        <p:spPr>
          <a:xfrm>
            <a:off x="2635439" y="2437093"/>
            <a:ext cx="6921121" cy="1569660"/>
          </a:xfrm>
          <a:prstGeom prst="rect">
            <a:avLst/>
          </a:prstGeom>
          <a:noFill/>
        </p:spPr>
        <p:txBody>
          <a:bodyPr wrap="square">
            <a:spAutoFit/>
          </a:bodyPr>
          <a:lstStyle/>
          <a:p>
            <a:r>
              <a:rPr lang="zh-CN" altLang="en-US" sz="3200" dirty="0"/>
              <a:t>分析可得，使用单链表实现栈，入栈和出栈操作的实现为单链表的头插入和头删除，时间复杂度为</a:t>
            </a:r>
            <a:r>
              <a:rPr lang="zh-CN" altLang="en-US" sz="3200" dirty="0">
                <a:solidFill>
                  <a:srgbClr val="FF0000"/>
                </a:solidFill>
              </a:rPr>
              <a:t>O(1)</a:t>
            </a:r>
            <a:r>
              <a:rPr lang="zh-CN" altLang="en-US" sz="3200" dirty="0"/>
              <a:t>。</a:t>
            </a:r>
            <a:endParaRPr lang="zh-CN" altLang="en-US" sz="3200" dirty="0"/>
          </a:p>
        </p:txBody>
      </p:sp>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例题</a:t>
            </a:r>
            <a:endParaRPr lang="zh-CN" altLang="en-US" dirty="0"/>
          </a:p>
        </p:txBody>
      </p:sp>
      <p:sp>
        <p:nvSpPr>
          <p:cNvPr id="4" name="灯片编号占位符 3"/>
          <p:cNvSpPr>
            <a:spLocks noGrp="1"/>
          </p:cNvSpPr>
          <p:nvPr>
            <p:ph type="sldNum" sz="quarter" idx="12"/>
          </p:nvPr>
        </p:nvSpPr>
        <p:spPr>
          <a:xfrm>
            <a:off x="9270000" y="6314774"/>
            <a:ext cx="2743200" cy="365125"/>
          </a:xfrm>
        </p:spPr>
        <p:txBody>
          <a:bodyPr/>
          <a:lstStyle/>
          <a:p>
            <a:fld id="{D96DE7E8-BD74-40B2-922D-194240FC5D5C}" type="slidenum">
              <a:rPr lang="zh-CN" altLang="en-US" smtClean="0"/>
            </a:fld>
            <a:endParaRPr lang="zh-CN" altLang="en-US" dirty="0"/>
          </a:p>
        </p:txBody>
      </p:sp>
      <p:sp>
        <p:nvSpPr>
          <p:cNvPr id="5" name="矩形 4"/>
          <p:cNvSpPr/>
          <p:nvPr/>
        </p:nvSpPr>
        <p:spPr>
          <a:xfrm>
            <a:off x="1542605" y="1425770"/>
            <a:ext cx="8863813" cy="848181"/>
          </a:xfrm>
          <a:prstGeom prst="rect">
            <a:avLst/>
          </a:prstGeom>
        </p:spPr>
        <p:txBody>
          <a:bodyPr wrap="square">
            <a:spAutoFit/>
          </a:bodyPr>
          <a:lstStyle/>
          <a:p>
            <a:pPr>
              <a:lnSpc>
                <a:spcPct val="130000"/>
              </a:lnSpc>
            </a:pPr>
            <a:r>
              <a:rPr lang="zh-CN" altLang="en-US" sz="2000" b="1" dirty="0">
                <a:solidFill>
                  <a:schemeClr val="tx1">
                    <a:lumMod val="75000"/>
                    <a:lumOff val="25000"/>
                  </a:schemeClr>
                </a:solidFill>
                <a:latin typeface="Arial" panose="020B0604020202020204" pitchFamily="34" charset="0"/>
              </a:rPr>
              <a:t>设有编号为1、2、3、4的4辆列车顺序进入一个栈式结构的车站，具体写出这4辆列车开出车站的所有可能的顺序。</a:t>
            </a:r>
            <a:endParaRPr lang="zh-CN" altLang="en-US" sz="2000" b="1" dirty="0">
              <a:solidFill>
                <a:schemeClr val="tx1">
                  <a:lumMod val="75000"/>
                  <a:lumOff val="25000"/>
                </a:schemeClr>
              </a:solidFill>
              <a:latin typeface="Arial" panose="020B0604020202020204" pitchFamily="34" charset="0"/>
            </a:endParaRPr>
          </a:p>
        </p:txBody>
      </p:sp>
      <p:sp>
        <p:nvSpPr>
          <p:cNvPr id="6" name="文本框 5"/>
          <p:cNvSpPr txBox="1"/>
          <p:nvPr/>
        </p:nvSpPr>
        <p:spPr>
          <a:xfrm>
            <a:off x="1940540" y="3245979"/>
            <a:ext cx="8807071" cy="1477328"/>
          </a:xfrm>
          <a:prstGeom prst="rect">
            <a:avLst/>
          </a:prstGeom>
          <a:noFill/>
        </p:spPr>
        <p:txBody>
          <a:bodyPr wrap="square" rtlCol="0">
            <a:spAutoFit/>
          </a:bodyPr>
          <a:lstStyle/>
          <a:p>
            <a:r>
              <a:rPr lang="zh-CN" altLang="en-US" dirty="0"/>
              <a:t>解： 至少有14种。</a:t>
            </a:r>
            <a:endParaRPr lang="zh-CN" altLang="en-US" dirty="0"/>
          </a:p>
          <a:p>
            <a:r>
              <a:rPr lang="zh-CN" altLang="en-US" dirty="0"/>
              <a:t>全进之后再出的情况只有1种： 4,3,2,1。</a:t>
            </a:r>
            <a:endParaRPr lang="zh-CN" altLang="en-US" dirty="0"/>
          </a:p>
          <a:p>
            <a:r>
              <a:rPr lang="zh-CN" altLang="en-US" dirty="0"/>
              <a:t>进3个之后再出的情况有3种： 3,4,2,1； 3,2,4,1； 3,2,1,4。</a:t>
            </a:r>
            <a:endParaRPr lang="zh-CN" altLang="en-US" dirty="0"/>
          </a:p>
          <a:p>
            <a:r>
              <a:rPr lang="zh-CN" altLang="en-US" dirty="0"/>
              <a:t>进两个之后再出的情况有5种： 2,4,3,1； 2,3,4,1； 2,1, 3,4； 2,1,4,3； 2,1,3,4。</a:t>
            </a:r>
            <a:endParaRPr lang="zh-CN" altLang="en-US" dirty="0"/>
          </a:p>
          <a:p>
            <a:r>
              <a:rPr lang="zh-CN" altLang="en-US" dirty="0"/>
              <a:t>进一个之后再出的情况有5种： 1,4,3,2； 1,3,2,4； 1,3,4,2； 1, 2,3,4； 1,2,4,3。</a:t>
            </a:r>
            <a:endParaRPr lang="zh-CN" altLang="en-US" dirty="0"/>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6"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例题</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2448858" y="1225927"/>
            <a:ext cx="7294283" cy="848181"/>
          </a:xfrm>
          <a:prstGeom prst="rect">
            <a:avLst/>
          </a:prstGeom>
        </p:spPr>
        <p:txBody>
          <a:bodyPr wrap="square">
            <a:spAutoFit/>
          </a:bodyPr>
          <a:lstStyle/>
          <a:p>
            <a:pPr>
              <a:lnSpc>
                <a:spcPct val="130000"/>
              </a:lnSpc>
            </a:pPr>
            <a:r>
              <a:rPr lang="zh-CN" altLang="en-US" sz="2000" b="1" dirty="0">
                <a:solidFill>
                  <a:schemeClr val="tx1">
                    <a:lumMod val="75000"/>
                    <a:lumOff val="25000"/>
                  </a:schemeClr>
                </a:solidFill>
                <a:latin typeface="Arial" panose="020B0604020202020204" pitchFamily="34" charset="0"/>
              </a:rPr>
              <a:t>在执行操作序列push(1)、push(2)、pop、push(5)、push(7)、pop、push(6)之后栈顶元素和栈底元素分别是什么？</a:t>
            </a:r>
            <a:endParaRPr lang="zh-CN" altLang="en-US" sz="2000" b="1" dirty="0">
              <a:solidFill>
                <a:schemeClr val="tx1">
                  <a:lumMod val="75000"/>
                  <a:lumOff val="25000"/>
                </a:schemeClr>
              </a:solidFill>
              <a:latin typeface="Arial" panose="020B0604020202020204" pitchFamily="34" charset="0"/>
            </a:endParaRPr>
          </a:p>
        </p:txBody>
      </p:sp>
      <p:sp>
        <p:nvSpPr>
          <p:cNvPr id="6" name="文本框 5"/>
          <p:cNvSpPr txBox="1"/>
          <p:nvPr/>
        </p:nvSpPr>
        <p:spPr>
          <a:xfrm>
            <a:off x="3832464" y="2508858"/>
            <a:ext cx="4210050" cy="368300"/>
          </a:xfrm>
          <a:prstGeom prst="rect">
            <a:avLst/>
          </a:prstGeom>
          <a:noFill/>
        </p:spPr>
        <p:txBody>
          <a:bodyPr wrap="square" rtlCol="0">
            <a:spAutoFit/>
          </a:bodyPr>
          <a:lstStyle/>
          <a:p>
            <a:r>
              <a:rPr lang="zh-CN" altLang="en-US" dirty="0"/>
              <a:t>解：操作序列的执行过程如图所示</a:t>
            </a:r>
            <a:endParaRPr lang="zh-CN" altLang="en-US" dirty="0"/>
          </a:p>
        </p:txBody>
      </p:sp>
      <p:pic>
        <p:nvPicPr>
          <p:cNvPr id="7"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616564" y="3084803"/>
            <a:ext cx="4171315" cy="2077720"/>
          </a:xfrm>
          <a:prstGeom prst="rect">
            <a:avLst/>
          </a:prstGeom>
          <a:noFill/>
          <a:ln>
            <a:noFill/>
          </a:ln>
        </p:spPr>
      </p:pic>
      <p:sp>
        <p:nvSpPr>
          <p:cNvPr id="8" name="文本框 7"/>
          <p:cNvSpPr txBox="1"/>
          <p:nvPr/>
        </p:nvSpPr>
        <p:spPr>
          <a:xfrm>
            <a:off x="3832464" y="5263773"/>
            <a:ext cx="4210050" cy="368300"/>
          </a:xfrm>
          <a:prstGeom prst="rect">
            <a:avLst/>
          </a:prstGeom>
          <a:noFill/>
        </p:spPr>
        <p:txBody>
          <a:bodyPr wrap="square" rtlCol="0">
            <a:spAutoFit/>
          </a:bodyPr>
          <a:lstStyle/>
          <a:p>
            <a:r>
              <a:rPr lang="zh-CN" altLang="en-US" dirty="0"/>
              <a:t>所以栈顶元素为6、栈底元素为1。</a:t>
            </a:r>
            <a:endParaRPr lang="zh-CN" altLang="en-US" dirty="0"/>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8" grpId="0"/>
      <p:bldP spid="8"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例题</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1044130" y="1127325"/>
            <a:ext cx="10262870" cy="1691640"/>
          </a:xfrm>
          <a:prstGeom prst="rect">
            <a:avLst/>
          </a:prstGeom>
        </p:spPr>
        <p:txBody>
          <a:bodyPr wrap="square">
            <a:spAutoFit/>
          </a:bodyPr>
          <a:lstStyle/>
          <a:p>
            <a:pPr algn="l">
              <a:lnSpc>
                <a:spcPct val="130000"/>
              </a:lnSpc>
            </a:pPr>
            <a:r>
              <a:rPr lang="zh-CN" altLang="en-US" sz="2000" b="1" dirty="0">
                <a:solidFill>
                  <a:schemeClr val="tx1">
                    <a:lumMod val="75000"/>
                    <a:lumOff val="25000"/>
                  </a:schemeClr>
                </a:solidFill>
                <a:latin typeface="Arial" panose="020B0604020202020204" pitchFamily="34" charset="0"/>
              </a:rPr>
              <a:t>编程实现汉诺塔问题的求解。假设有3个分别命名为x、y、z的塔座，在塔座x上插有n个直径和序号均为1、2、…、n的圆盘。要求将塔座x上的n个圆盘借助塔座y移动到塔座z上，仍按照相同的序号排列，并且每次只能移动一个圆盘，在任何时候都不能将一个较大的圆盘压在较小的圆盘之上。</a:t>
            </a:r>
            <a:endParaRPr lang="zh-CN" altLang="en-US" sz="2000" b="1" dirty="0">
              <a:solidFill>
                <a:schemeClr val="tx1">
                  <a:lumMod val="75000"/>
                  <a:lumOff val="25000"/>
                </a:schemeClr>
              </a:solidFill>
              <a:latin typeface="Arial" panose="020B0604020202020204" pitchFamily="34" charset="0"/>
            </a:endParaRPr>
          </a:p>
        </p:txBody>
      </p:sp>
      <p:sp>
        <p:nvSpPr>
          <p:cNvPr id="6" name="文本框 5"/>
          <p:cNvSpPr txBox="1"/>
          <p:nvPr/>
        </p:nvSpPr>
        <p:spPr>
          <a:xfrm>
            <a:off x="994410" y="3124200"/>
            <a:ext cx="4210050" cy="2306955"/>
          </a:xfrm>
          <a:prstGeom prst="rect">
            <a:avLst/>
          </a:prstGeom>
          <a:noFill/>
        </p:spPr>
        <p:txBody>
          <a:bodyPr wrap="square" rtlCol="0">
            <a:spAutoFit/>
          </a:bodyPr>
          <a:lstStyle/>
          <a:p>
            <a:r>
              <a:rPr lang="zh-CN" altLang="en-US" dirty="0"/>
              <a:t>解：分析问题可知，当n=1时只要将序号为1的圆盘从x直接移动到z即可； 当n&gt;1时则需要将序号小于n的n-1个圆盘移动到y上，再将序号为n的圆盘移动到z上，然后将y上的n-1个圆盘移动到z上。如何将n-1个圆盘移动到z上是一个和原问题相似的问题，只是规模变小，可以用同样的方法求解。代码如右：</a:t>
            </a:r>
            <a:endParaRPr lang="zh-CN" altLang="en-US" dirty="0"/>
          </a:p>
        </p:txBody>
      </p:sp>
      <p:pic>
        <p:nvPicPr>
          <p:cNvPr id="7" name="图片 6"/>
          <p:cNvPicPr>
            <a:picLocks noChangeAspect="1"/>
          </p:cNvPicPr>
          <p:nvPr/>
        </p:nvPicPr>
        <p:blipFill>
          <a:blip r:embed="rId1"/>
          <a:stretch>
            <a:fillRect/>
          </a:stretch>
        </p:blipFill>
        <p:spPr>
          <a:xfrm>
            <a:off x="5741793" y="2842895"/>
            <a:ext cx="5732780" cy="3307080"/>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队列的基本概念</a:t>
            </a:r>
            <a:endParaRPr lang="zh-CN" altLang="en-US" dirty="0"/>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1810670" y="1171248"/>
            <a:ext cx="8373745" cy="1691640"/>
          </a:xfrm>
          <a:prstGeom prst="rect">
            <a:avLst/>
          </a:prstGeom>
        </p:spPr>
        <p:txBody>
          <a:bodyPr wrap="square">
            <a:spAutoFit/>
          </a:bodyPr>
          <a:lstStyle/>
          <a:p>
            <a:pPr algn="l">
              <a:lnSpc>
                <a:spcPct val="130000"/>
              </a:lnSpc>
            </a:pPr>
            <a:r>
              <a:rPr lang="en-US" altLang="zh-CN" sz="2000" dirty="0">
                <a:solidFill>
                  <a:schemeClr val="tx1">
                    <a:lumMod val="75000"/>
                    <a:lumOff val="25000"/>
                  </a:schemeClr>
                </a:solidFill>
                <a:latin typeface="Arial" panose="020B0604020202020204" pitchFamily="34" charset="0"/>
              </a:rPr>
              <a:t>       </a:t>
            </a:r>
            <a:r>
              <a:rPr lang="zh-CN" altLang="en-US" sz="2000" dirty="0">
                <a:solidFill>
                  <a:schemeClr val="tx1">
                    <a:lumMod val="75000"/>
                    <a:lumOff val="25000"/>
                  </a:schemeClr>
                </a:solidFill>
                <a:latin typeface="Arial" panose="020B0604020202020204" pitchFamily="34" charset="0"/>
              </a:rPr>
              <a:t>队列是一种特殊的线性表，其插入操作只能在表的尾部进行，删除操作只能在表头进行。在队列中允许进行插入操作的一端称为队尾，允许进行删除操作的另一端称为队首。通常，队列的插入操作叫入队，队列的删除操作叫出队。没有数据元素的队列称为空队列。</a:t>
            </a:r>
            <a:endParaRPr lang="zh-CN" altLang="en-US" sz="2000" dirty="0">
              <a:solidFill>
                <a:schemeClr val="tx1">
                  <a:lumMod val="75000"/>
                  <a:lumOff val="25000"/>
                </a:schemeClr>
              </a:solidFill>
              <a:latin typeface="Arial" panose="020B0604020202020204" pitchFamily="34" charset="0"/>
            </a:endParaRPr>
          </a:p>
        </p:txBody>
      </p:sp>
      <p:pic>
        <p:nvPicPr>
          <p:cNvPr id="6" name="图片 5" descr="微信图片_20201207203952"/>
          <p:cNvPicPr>
            <a:picLocks noChangeAspect="1"/>
          </p:cNvPicPr>
          <p:nvPr/>
        </p:nvPicPr>
        <p:blipFill>
          <a:blip r:embed="rId1"/>
          <a:stretch>
            <a:fillRect/>
          </a:stretch>
        </p:blipFill>
        <p:spPr>
          <a:xfrm>
            <a:off x="2966085" y="2836545"/>
            <a:ext cx="5873750" cy="2425700"/>
          </a:xfrm>
          <a:prstGeom prst="rect">
            <a:avLst/>
          </a:prstGeom>
        </p:spPr>
      </p:pic>
      <p:sp>
        <p:nvSpPr>
          <p:cNvPr id="7" name="文本框 6"/>
          <p:cNvSpPr txBox="1"/>
          <p:nvPr/>
        </p:nvSpPr>
        <p:spPr>
          <a:xfrm>
            <a:off x="1811305" y="5320759"/>
            <a:ext cx="8373110" cy="922020"/>
          </a:xfrm>
          <a:prstGeom prst="rect">
            <a:avLst/>
          </a:prstGeom>
          <a:noFill/>
        </p:spPr>
        <p:txBody>
          <a:bodyPr wrap="square" rtlCol="0">
            <a:spAutoFit/>
          </a:bodyPr>
          <a:lstStyle/>
          <a:p>
            <a:r>
              <a:rPr lang="en-US" altLang="zh-CN" dirty="0">
                <a:solidFill>
                  <a:schemeClr val="tx1">
                    <a:lumMod val="75000"/>
                    <a:lumOff val="25000"/>
                  </a:schemeClr>
                </a:solidFill>
                <a:latin typeface="Arial" panose="020B0604020202020204" pitchFamily="34" charset="0"/>
                <a:sym typeface="+mn-ea"/>
              </a:rPr>
              <a:t>       </a:t>
            </a:r>
            <a:r>
              <a:rPr lang="zh-CN" altLang="en-US" dirty="0">
                <a:solidFill>
                  <a:schemeClr val="tx1">
                    <a:lumMod val="75000"/>
                    <a:lumOff val="25000"/>
                  </a:schemeClr>
                </a:solidFill>
                <a:latin typeface="Arial" panose="020B0604020202020204" pitchFamily="34" charset="0"/>
                <a:sym typeface="+mn-ea"/>
              </a:rPr>
              <a:t>由于插入和删除操作分别在队尾和队首进行，最先入队的元素总是最先出队，因此队列具有</a:t>
            </a:r>
            <a:r>
              <a:rPr lang="zh-CN" altLang="en-US" dirty="0">
                <a:solidFill>
                  <a:srgbClr val="FF0000"/>
                </a:solidFill>
                <a:latin typeface="Arial" panose="020B0604020202020204" pitchFamily="34" charset="0"/>
                <a:sym typeface="+mn-ea"/>
              </a:rPr>
              <a:t>先进先出</a:t>
            </a:r>
            <a:r>
              <a:rPr lang="zh-CN" altLang="en-US" dirty="0">
                <a:solidFill>
                  <a:schemeClr val="tx1">
                    <a:lumMod val="75000"/>
                    <a:lumOff val="25000"/>
                  </a:schemeClr>
                </a:solidFill>
                <a:latin typeface="Arial" panose="020B0604020202020204" pitchFamily="34" charset="0"/>
                <a:sym typeface="+mn-ea"/>
              </a:rPr>
              <a:t>的特点。</a:t>
            </a:r>
            <a:endParaRPr lang="zh-CN" altLang="en-US" dirty="0">
              <a:solidFill>
                <a:schemeClr val="tx1">
                  <a:lumMod val="75000"/>
                  <a:lumOff val="25000"/>
                </a:schemeClr>
              </a:solidFill>
              <a:latin typeface="Arial" panose="020B0604020202020204" pitchFamily="34" charset="0"/>
            </a:endParaRPr>
          </a:p>
          <a:p>
            <a:endParaRPr lang="zh-CN" altLang="en-US" dirty="0"/>
          </a:p>
        </p:txBody>
      </p:sp>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队列的抽象数据类型描述</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3454878" y="5091959"/>
            <a:ext cx="6169347" cy="772584"/>
          </a:xfrm>
          <a:prstGeom prst="rect">
            <a:avLst/>
          </a:prstGeom>
        </p:spPr>
        <p:txBody>
          <a:bodyPr wrap="square">
            <a:spAutoFit/>
          </a:bodyPr>
          <a:lstStyle/>
          <a:p>
            <a:pPr algn="ctr">
              <a:lnSpc>
                <a:spcPct val="130000"/>
              </a:lnSpc>
            </a:pPr>
            <a:r>
              <a:rPr lang="zh-CN" altLang="en-US" dirty="0">
                <a:solidFill>
                  <a:schemeClr val="tx1">
                    <a:lumMod val="75000"/>
                    <a:lumOff val="25000"/>
                  </a:schemeClr>
                </a:solidFill>
                <a:latin typeface="Arial" panose="020B0604020202020204" pitchFamily="34" charset="0"/>
              </a:rPr>
              <a:t>队列中的数据元素和数据间的逻辑关系与线性表相同，是由n个具有相同数据类型的数据元素构成的有限序列</a:t>
            </a:r>
            <a:endParaRPr lang="zh-CN" altLang="en-US" dirty="0">
              <a:solidFill>
                <a:schemeClr val="tx1">
                  <a:lumMod val="75000"/>
                  <a:lumOff val="25000"/>
                </a:schemeClr>
              </a:solidFill>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1941318" y="1345294"/>
            <a:ext cx="4459605" cy="3605530"/>
          </a:xfrm>
          <a:prstGeom prst="rect">
            <a:avLst/>
          </a:prstGeom>
        </p:spPr>
      </p:pic>
      <p:pic>
        <p:nvPicPr>
          <p:cNvPr id="7" name="图片 6"/>
          <p:cNvPicPr>
            <a:picLocks noChangeAspect="1"/>
          </p:cNvPicPr>
          <p:nvPr/>
        </p:nvPicPr>
        <p:blipFill>
          <a:blip r:embed="rId2"/>
          <a:stretch>
            <a:fillRect/>
          </a:stretch>
        </p:blipFill>
        <p:spPr>
          <a:xfrm>
            <a:off x="6792035" y="1334651"/>
            <a:ext cx="3839570" cy="3614634"/>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队列的抽象数据类型描述</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cxnSp>
        <p:nvCxnSpPr>
          <p:cNvPr id="5" name="直接连接符 4"/>
          <p:cNvCxnSpPr>
            <a:cxnSpLocks noChangeAspect="1"/>
          </p:cNvCxnSpPr>
          <p:nvPr/>
        </p:nvCxnSpPr>
        <p:spPr>
          <a:xfrm>
            <a:off x="3424598" y="3520829"/>
            <a:ext cx="5829551"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cxnSpLocks noChangeAspect="1"/>
          </p:cNvCxnSpPr>
          <p:nvPr/>
        </p:nvCxnSpPr>
        <p:spPr>
          <a:xfrm>
            <a:off x="3445191" y="3520829"/>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cxnSpLocks noChangeAspect="1"/>
          </p:cNvCxnSpPr>
          <p:nvPr/>
        </p:nvCxnSpPr>
        <p:spPr>
          <a:xfrm>
            <a:off x="9254149" y="3520828"/>
            <a:ext cx="0" cy="608654"/>
          </a:xfrm>
          <a:prstGeom prst="straightConnector1">
            <a:avLst/>
          </a:prstGeom>
          <a:ln>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连接符 7"/>
          <p:cNvCxnSpPr>
            <a:cxnSpLocks noChangeAspect="1"/>
          </p:cNvCxnSpPr>
          <p:nvPr/>
        </p:nvCxnSpPr>
        <p:spPr>
          <a:xfrm>
            <a:off x="6233885" y="2454098"/>
            <a:ext cx="0" cy="1053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a:spLocks noChangeAspect="1"/>
          </p:cNvSpPr>
          <p:nvPr/>
        </p:nvSpPr>
        <p:spPr>
          <a:xfrm>
            <a:off x="962550" y="1533571"/>
            <a:ext cx="10266900" cy="1414781"/>
          </a:xfrm>
          <a:prstGeom prst="rect">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10" name="矩形 9"/>
          <p:cNvSpPr>
            <a:spLocks noChangeAspect="1"/>
          </p:cNvSpPr>
          <p:nvPr/>
        </p:nvSpPr>
        <p:spPr>
          <a:xfrm>
            <a:off x="1504320" y="4129483"/>
            <a:ext cx="3881741" cy="1321466"/>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11" name="Text Placeholder 33"/>
          <p:cNvSpPr txBox="1">
            <a:spLocks noChangeAspect="1"/>
          </p:cNvSpPr>
          <p:nvPr/>
        </p:nvSpPr>
        <p:spPr>
          <a:xfrm>
            <a:off x="1801500" y="4269818"/>
            <a:ext cx="3126969" cy="954107"/>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en-US" sz="2800" dirty="0">
                <a:solidFill>
                  <a:schemeClr val="bg1"/>
                </a:solidFill>
                <a:latin typeface="Arial" panose="020B0604020202020204" pitchFamily="34" charset="0"/>
              </a:rPr>
              <a:t>基于顺序存储的实现，为</a:t>
            </a:r>
            <a:r>
              <a:rPr lang="zh-CN" altLang="en-US" sz="2800" dirty="0">
                <a:solidFill>
                  <a:srgbClr val="FF0000"/>
                </a:solidFill>
                <a:latin typeface="Arial" panose="020B0604020202020204" pitchFamily="34" charset="0"/>
              </a:rPr>
              <a:t>顺序队列</a:t>
            </a:r>
            <a:endParaRPr lang="zh-CN" altLang="zh-CN" sz="2800" dirty="0">
              <a:solidFill>
                <a:schemeClr val="bg1"/>
              </a:solidFill>
              <a:latin typeface="+mn-lt"/>
              <a:ea typeface="+mn-ea"/>
              <a:cs typeface="+mn-ea"/>
              <a:sym typeface="+mn-ea"/>
            </a:endParaRPr>
          </a:p>
        </p:txBody>
      </p:sp>
      <p:sp>
        <p:nvSpPr>
          <p:cNvPr id="12" name="文本框 11"/>
          <p:cNvSpPr txBox="1">
            <a:spLocks noChangeAspect="1"/>
          </p:cNvSpPr>
          <p:nvPr/>
        </p:nvSpPr>
        <p:spPr>
          <a:xfrm>
            <a:off x="2256546" y="1534655"/>
            <a:ext cx="7813749" cy="1253164"/>
          </a:xfrm>
          <a:prstGeom prst="rect">
            <a:avLst/>
          </a:prstGeom>
          <a:noFill/>
        </p:spPr>
        <p:txBody>
          <a:bodyPr wrap="square">
            <a:spAutoFit/>
          </a:bodyPr>
          <a:lstStyle>
            <a:defPPr>
              <a:defRPr lang="zh-CN"/>
            </a:defPPr>
            <a:lvl1pPr algn="ctr">
              <a:lnSpc>
                <a:spcPct val="150000"/>
              </a:lnSpc>
              <a:defRPr sz="1400">
                <a:gradFill>
                  <a:gsLst>
                    <a:gs pos="0">
                      <a:srgbClr val="08AEEA"/>
                    </a:gs>
                    <a:gs pos="100000">
                      <a:srgbClr val="2AF598"/>
                    </a:gs>
                  </a:gsLst>
                  <a:lin ang="2700000" scaled="0"/>
                </a:gradFill>
                <a:latin typeface="微软雅黑" panose="020B0503020204020204" charset="-122"/>
                <a:ea typeface="微软雅黑" panose="020B0503020204020204" charset="-122"/>
              </a:defRPr>
            </a:lvl1pPr>
          </a:lstStyle>
          <a:p>
            <a:pPr algn="ctr">
              <a:lnSpc>
                <a:spcPct val="130000"/>
              </a:lnSpc>
            </a:pPr>
            <a:r>
              <a:rPr lang="zh-CN" altLang="en-US" sz="2000" dirty="0">
                <a:solidFill>
                  <a:schemeClr val="tx1">
                    <a:lumMod val="75000"/>
                    <a:lumOff val="25000"/>
                  </a:schemeClr>
                </a:solidFill>
                <a:latin typeface="Arial" panose="020B0604020202020204" pitchFamily="34" charset="0"/>
              </a:rPr>
              <a:t>队列的抽象数据Python抽象类包含了队列的主要基本操作，如果要使用这个接口，还需要具体的类来实现。</a:t>
            </a:r>
            <a:endParaRPr lang="en-US" altLang="zh-CN" sz="2000" dirty="0">
              <a:solidFill>
                <a:schemeClr val="tx1">
                  <a:lumMod val="75000"/>
                  <a:lumOff val="25000"/>
                </a:schemeClr>
              </a:solidFill>
              <a:latin typeface="Arial" panose="020B0604020202020204" pitchFamily="34" charset="0"/>
            </a:endParaRPr>
          </a:p>
          <a:p>
            <a:pPr algn="ctr">
              <a:lnSpc>
                <a:spcPct val="130000"/>
              </a:lnSpc>
            </a:pPr>
            <a:r>
              <a:rPr lang="zh-CN" altLang="en-US" sz="2000" dirty="0">
                <a:solidFill>
                  <a:schemeClr val="tx1">
                    <a:lumMod val="75000"/>
                    <a:lumOff val="25000"/>
                  </a:schemeClr>
                </a:solidFill>
                <a:latin typeface="Arial" panose="020B0604020202020204" pitchFamily="34" charset="0"/>
              </a:rPr>
              <a:t>Python抽象类的实现方法主要有以下两种：</a:t>
            </a:r>
            <a:endParaRPr lang="zh-CN" altLang="en-US" sz="2800" dirty="0">
              <a:solidFill>
                <a:schemeClr val="tx1">
                  <a:lumMod val="75000"/>
                  <a:lumOff val="25000"/>
                </a:schemeClr>
              </a:solidFill>
              <a:latin typeface="Arial" panose="020B0604020202020204" pitchFamily="34" charset="0"/>
            </a:endParaRPr>
          </a:p>
        </p:txBody>
      </p:sp>
      <p:sp>
        <p:nvSpPr>
          <p:cNvPr id="13" name="矩形 12"/>
          <p:cNvSpPr>
            <a:spLocks noChangeAspect="1"/>
          </p:cNvSpPr>
          <p:nvPr/>
        </p:nvSpPr>
        <p:spPr>
          <a:xfrm>
            <a:off x="7205561" y="4129482"/>
            <a:ext cx="3881732" cy="1321463"/>
          </a:xfrm>
          <a:prstGeom prst="rect">
            <a:avLst/>
          </a:prstGeom>
          <a:solidFill>
            <a:schemeClr val="dk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a:solidFill>
                <a:prstClr val="white"/>
              </a:solidFill>
              <a:cs typeface="+mn-ea"/>
              <a:sym typeface="+mn-lt"/>
            </a:endParaRPr>
          </a:p>
        </p:txBody>
      </p:sp>
      <p:sp>
        <p:nvSpPr>
          <p:cNvPr id="14" name="Text Placeholder 33"/>
          <p:cNvSpPr txBox="1">
            <a:spLocks noChangeAspect="1"/>
          </p:cNvSpPr>
          <p:nvPr/>
        </p:nvSpPr>
        <p:spPr>
          <a:xfrm>
            <a:off x="7553045" y="4321125"/>
            <a:ext cx="3059646" cy="954107"/>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lgn="ctr"/>
            <a:r>
              <a:rPr lang="zh-CN" altLang="en-US" sz="2800" dirty="0">
                <a:solidFill>
                  <a:schemeClr val="bg1"/>
                </a:solidFill>
                <a:latin typeface="Arial" panose="020B0604020202020204" pitchFamily="34" charset="0"/>
              </a:rPr>
              <a:t>基于链式存储的实现，为</a:t>
            </a:r>
            <a:r>
              <a:rPr lang="zh-CN" altLang="en-US" sz="2800" dirty="0">
                <a:solidFill>
                  <a:srgbClr val="FF0000"/>
                </a:solidFill>
                <a:latin typeface="Arial" panose="020B0604020202020204" pitchFamily="34" charset="0"/>
              </a:rPr>
              <a:t>链队列</a:t>
            </a:r>
            <a:endParaRPr lang="zh-CN" altLang="zh-CN" sz="2800" dirty="0">
              <a:solidFill>
                <a:schemeClr val="bg1"/>
              </a:solidFill>
              <a:latin typeface="+mn-lt"/>
              <a:ea typeface="+mn-ea"/>
              <a:cs typeface="+mn-ea"/>
              <a:sym typeface="+mn-ea"/>
            </a:endParaRPr>
          </a:p>
        </p:txBody>
      </p:sp>
    </p:spTree>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顺序队列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9" name="矩形 8"/>
          <p:cNvSpPr/>
          <p:nvPr/>
        </p:nvSpPr>
        <p:spPr>
          <a:xfrm>
            <a:off x="1277322" y="4395470"/>
            <a:ext cx="9217806" cy="1479444"/>
          </a:xfrm>
          <a:prstGeom prst="rect">
            <a:avLst/>
          </a:prstGeom>
        </p:spPr>
        <p:txBody>
          <a:bodyPr wrap="square">
            <a:spAutoFit/>
          </a:bodyPr>
          <a:lstStyle/>
          <a:p>
            <a:pPr algn="ctr">
              <a:lnSpc>
                <a:spcPct val="130000"/>
              </a:lnSpc>
            </a:pPr>
            <a:r>
              <a:rPr lang="zh-CN" altLang="en-US" sz="2400" dirty="0">
                <a:solidFill>
                  <a:schemeClr val="tx1">
                    <a:lumMod val="75000"/>
                    <a:lumOff val="25000"/>
                  </a:schemeClr>
                </a:solidFill>
                <a:latin typeface="Arial" panose="020B0604020202020204" pitchFamily="34" charset="0"/>
              </a:rPr>
              <a:t>顺序队列的存储结构与顺序栈类似，可用数组实现，因为入队和出队操作分别在队尾和队首进行，所以增加变量front来指示队首元素的位置，rear指示队尾元素的下一个存储单元的位置。</a:t>
            </a:r>
            <a:endParaRPr lang="zh-CN" altLang="en-US" sz="2400" dirty="0">
              <a:solidFill>
                <a:schemeClr val="tx1">
                  <a:lumMod val="75000"/>
                  <a:lumOff val="25000"/>
                </a:schemeClr>
              </a:solidFill>
              <a:latin typeface="Arial" panose="020B0604020202020204" pitchFamily="34" charset="0"/>
            </a:endParaRPr>
          </a:p>
        </p:txBody>
      </p:sp>
      <p:pic>
        <p:nvPicPr>
          <p:cNvPr id="10" name="图片 9"/>
          <p:cNvPicPr/>
          <p:nvPr/>
        </p:nvPicPr>
        <p:blipFill>
          <a:blip r:embed="rId1"/>
          <a:stretch>
            <a:fillRect/>
          </a:stretch>
        </p:blipFill>
        <p:spPr>
          <a:xfrm>
            <a:off x="994410" y="1833880"/>
            <a:ext cx="4370070" cy="1661795"/>
          </a:xfrm>
          <a:prstGeom prst="rect">
            <a:avLst/>
          </a:prstGeom>
          <a:noFill/>
          <a:ln w="9525">
            <a:noFill/>
          </a:ln>
        </p:spPr>
      </p:pic>
      <p:sp>
        <p:nvSpPr>
          <p:cNvPr id="11" name="文本框 10"/>
          <p:cNvSpPr txBox="1"/>
          <p:nvPr/>
        </p:nvSpPr>
        <p:spPr>
          <a:xfrm>
            <a:off x="593252" y="3685205"/>
            <a:ext cx="4989167" cy="398780"/>
          </a:xfrm>
          <a:prstGeom prst="rect">
            <a:avLst/>
          </a:prstGeom>
          <a:noFill/>
          <a:ln w="9525">
            <a:noFill/>
          </a:ln>
        </p:spPr>
        <p:txBody>
          <a:bodyPr wrap="square">
            <a:spAutoFit/>
          </a:bodyPr>
          <a:lstStyle/>
          <a:p>
            <a:pPr indent="0" algn="ctr"/>
            <a:r>
              <a:rPr lang="zh-CN" sz="2000" b="0" dirty="0">
                <a:solidFill>
                  <a:srgbClr val="656565"/>
                </a:solidFill>
                <a:ea typeface="宋体" panose="02010600030101010101" pitchFamily="2" charset="-122"/>
                <a:cs typeface="Times New Roman" panose="02020603050405020304" charset="0"/>
              </a:rPr>
              <a:t>入队操作</a:t>
            </a:r>
            <a:endParaRPr lang="zh-CN" altLang="en-US" sz="2000" dirty="0"/>
          </a:p>
        </p:txBody>
      </p:sp>
      <p:pic>
        <p:nvPicPr>
          <p:cNvPr id="12" name="图片 11"/>
          <p:cNvPicPr/>
          <p:nvPr/>
        </p:nvPicPr>
        <p:blipFill>
          <a:blip r:embed="rId2"/>
          <a:stretch>
            <a:fillRect/>
          </a:stretch>
        </p:blipFill>
        <p:spPr>
          <a:xfrm>
            <a:off x="5744210" y="1737360"/>
            <a:ext cx="5017770" cy="1757680"/>
          </a:xfrm>
          <a:prstGeom prst="rect">
            <a:avLst/>
          </a:prstGeom>
          <a:noFill/>
          <a:ln w="9525">
            <a:noFill/>
          </a:ln>
        </p:spPr>
      </p:pic>
      <p:sp>
        <p:nvSpPr>
          <p:cNvPr id="13" name="文本框 12"/>
          <p:cNvSpPr txBox="1"/>
          <p:nvPr/>
        </p:nvSpPr>
        <p:spPr>
          <a:xfrm>
            <a:off x="5099523" y="3361990"/>
            <a:ext cx="6499225" cy="721995"/>
          </a:xfrm>
          <a:prstGeom prst="rect">
            <a:avLst/>
          </a:prstGeom>
          <a:noFill/>
          <a:ln w="9525">
            <a:noFill/>
          </a:ln>
        </p:spPr>
        <p:txBody>
          <a:bodyPr wrap="square">
            <a:spAutoFit/>
          </a:bodyPr>
          <a:lstStyle/>
          <a:p>
            <a:pPr indent="0" algn="ctr"/>
            <a:endParaRPr lang="en-US" sz="1050" b="0" dirty="0">
              <a:solidFill>
                <a:srgbClr val="656565"/>
              </a:solidFill>
              <a:latin typeface="等线" panose="02010600030101010101" charset="-122"/>
              <a:ea typeface="宋体" panose="02010600030101010101" pitchFamily="2" charset="-122"/>
              <a:cs typeface="Times New Roman" panose="02020603050405020304" charset="0"/>
            </a:endParaRPr>
          </a:p>
          <a:p>
            <a:pPr indent="0" algn="ctr"/>
            <a:r>
              <a:rPr lang="en-US" sz="1050" b="0" dirty="0">
                <a:solidFill>
                  <a:srgbClr val="656565"/>
                </a:solidFill>
                <a:latin typeface="等线" panose="02010600030101010101" charset="-122"/>
                <a:ea typeface="宋体" panose="02010600030101010101" pitchFamily="2" charset="-122"/>
                <a:cs typeface="Times New Roman" panose="02020603050405020304" charset="0"/>
              </a:rPr>
              <a:t> </a:t>
            </a:r>
            <a:endParaRPr lang="zh-CN" sz="1050" b="0" dirty="0">
              <a:solidFill>
                <a:srgbClr val="656565"/>
              </a:solidFill>
              <a:ea typeface="宋体" panose="02010600030101010101" pitchFamily="2" charset="-122"/>
            </a:endParaRPr>
          </a:p>
          <a:p>
            <a:pPr indent="0" algn="ctr"/>
            <a:r>
              <a:rPr lang="zh-CN" sz="2000" b="0" dirty="0">
                <a:solidFill>
                  <a:srgbClr val="656565"/>
                </a:solidFill>
                <a:ea typeface="宋体" panose="02010600030101010101" pitchFamily="2" charset="-122"/>
                <a:cs typeface="Times New Roman" panose="02020603050405020304" charset="0"/>
              </a:rPr>
              <a:t>出队操作</a:t>
            </a:r>
            <a:endParaRPr lang="zh-CN" altLang="en-US" sz="2000" b="0" dirty="0">
              <a:solidFill>
                <a:srgbClr val="656565"/>
              </a:solidFill>
              <a:ea typeface="宋体" panose="02010600030101010101" pitchFamily="2" charset="-122"/>
              <a:cs typeface="Times New Roman" panose="02020603050405020304" charset="0"/>
            </a:endParaRPr>
          </a:p>
        </p:txBody>
      </p:sp>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顺序队列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文本框 4"/>
          <p:cNvSpPr txBox="1"/>
          <p:nvPr/>
        </p:nvSpPr>
        <p:spPr>
          <a:xfrm>
            <a:off x="6096000" y="1061068"/>
            <a:ext cx="4925695" cy="461665"/>
          </a:xfrm>
          <a:prstGeom prst="rect">
            <a:avLst/>
          </a:prstGeom>
          <a:noFill/>
        </p:spPr>
        <p:txBody>
          <a:bodyPr wrap="square" rtlCol="0">
            <a:spAutoFit/>
          </a:bodyPr>
          <a:lstStyle/>
          <a:p>
            <a:r>
              <a:rPr lang="zh-CN" altLang="en-US" sz="2400" dirty="0"/>
              <a:t>顺序队列类的Python语言描述如下：</a:t>
            </a:r>
            <a:endParaRPr lang="zh-CN" altLang="en-US" sz="2400" dirty="0"/>
          </a:p>
        </p:txBody>
      </p:sp>
      <p:pic>
        <p:nvPicPr>
          <p:cNvPr id="6" name="图片 5"/>
          <p:cNvPicPr>
            <a:picLocks noChangeAspect="1"/>
          </p:cNvPicPr>
          <p:nvPr/>
        </p:nvPicPr>
        <p:blipFill>
          <a:blip r:embed="rId1"/>
          <a:stretch>
            <a:fillRect/>
          </a:stretch>
        </p:blipFill>
        <p:spPr>
          <a:xfrm>
            <a:off x="1293090" y="1528339"/>
            <a:ext cx="4450279" cy="4968998"/>
          </a:xfrm>
          <a:prstGeom prst="rect">
            <a:avLst/>
          </a:prstGeom>
        </p:spPr>
      </p:pic>
      <p:pic>
        <p:nvPicPr>
          <p:cNvPr id="7" name="图片 6"/>
          <p:cNvPicPr>
            <a:picLocks noChangeAspect="1"/>
          </p:cNvPicPr>
          <p:nvPr/>
        </p:nvPicPr>
        <p:blipFill>
          <a:blip r:embed="rId2"/>
          <a:stretch>
            <a:fillRect/>
          </a:stretch>
        </p:blipFill>
        <p:spPr>
          <a:xfrm>
            <a:off x="6257563" y="1985749"/>
            <a:ext cx="4316891" cy="4450173"/>
          </a:xfrm>
          <a:prstGeom prst="rect">
            <a:avLst/>
          </a:prstGeom>
        </p:spPr>
      </p:pic>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循环队列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14" name="矩形 13"/>
          <p:cNvSpPr/>
          <p:nvPr/>
        </p:nvSpPr>
        <p:spPr>
          <a:xfrm>
            <a:off x="874713" y="1239532"/>
            <a:ext cx="10442576" cy="450850"/>
          </a:xfrm>
          <a:prstGeom prst="rect">
            <a:avLst/>
          </a:prstGeom>
        </p:spPr>
        <p:txBody>
          <a:bodyPr wrap="square">
            <a:spAutoFit/>
          </a:bodyPr>
          <a:lstStyle/>
          <a:p>
            <a:pPr algn="ctr">
              <a:lnSpc>
                <a:spcPct val="130000"/>
              </a:lnSpc>
            </a:pPr>
            <a:r>
              <a:rPr lang="zh-CN" altLang="en-US" dirty="0">
                <a:solidFill>
                  <a:schemeClr val="tx1">
                    <a:lumMod val="75000"/>
                    <a:lumOff val="25000"/>
                  </a:schemeClr>
                </a:solidFill>
                <a:latin typeface="Arial" panose="020B0604020202020204" pitchFamily="34" charset="0"/>
              </a:rPr>
              <a:t>分析发现，顺序队列的多次入队和出队操作会造成有存储空间却不能进行入队操作的“假溢出”现象。</a:t>
            </a:r>
            <a:endParaRPr lang="zh-CN" altLang="en-US" dirty="0">
              <a:solidFill>
                <a:schemeClr val="tx1">
                  <a:lumMod val="75000"/>
                  <a:lumOff val="25000"/>
                </a:schemeClr>
              </a:solidFill>
              <a:latin typeface="Arial" panose="020B0604020202020204" pitchFamily="34" charset="0"/>
            </a:endParaRPr>
          </a:p>
        </p:txBody>
      </p:sp>
      <p:sp>
        <p:nvSpPr>
          <p:cNvPr id="15" name="文本框 14"/>
          <p:cNvSpPr txBox="1"/>
          <p:nvPr/>
        </p:nvSpPr>
        <p:spPr>
          <a:xfrm>
            <a:off x="2259330" y="3638550"/>
            <a:ext cx="6499225" cy="398780"/>
          </a:xfrm>
          <a:prstGeom prst="rect">
            <a:avLst/>
          </a:prstGeom>
          <a:noFill/>
          <a:ln w="9525">
            <a:noFill/>
          </a:ln>
        </p:spPr>
        <p:txBody>
          <a:bodyPr wrap="square">
            <a:spAutoFit/>
          </a:bodyPr>
          <a:lstStyle/>
          <a:p>
            <a:pPr indent="0" algn="ctr"/>
            <a:r>
              <a:rPr lang="zh-CN" altLang="en-US" sz="2000"/>
              <a:t>假溢出</a:t>
            </a:r>
            <a:endParaRPr lang="zh-CN" altLang="en-US" sz="2000"/>
          </a:p>
        </p:txBody>
      </p:sp>
      <p:pic>
        <p:nvPicPr>
          <p:cNvPr id="16" name="图片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386330" y="2188845"/>
            <a:ext cx="6612890" cy="1068705"/>
          </a:xfrm>
          <a:prstGeom prst="rect">
            <a:avLst/>
          </a:prstGeom>
          <a:noFill/>
          <a:ln>
            <a:noFill/>
          </a:ln>
        </p:spPr>
      </p:pic>
      <p:sp>
        <p:nvSpPr>
          <p:cNvPr id="17" name="文本框 16"/>
          <p:cNvSpPr txBox="1"/>
          <p:nvPr/>
        </p:nvSpPr>
        <p:spPr>
          <a:xfrm>
            <a:off x="1199515" y="4743450"/>
            <a:ext cx="10118090" cy="645160"/>
          </a:xfrm>
          <a:prstGeom prst="rect">
            <a:avLst/>
          </a:prstGeom>
          <a:noFill/>
        </p:spPr>
        <p:txBody>
          <a:bodyPr wrap="square" rtlCol="0">
            <a:spAutoFit/>
          </a:bodyPr>
          <a:lstStyle/>
          <a:p>
            <a:r>
              <a:rPr lang="zh-CN" altLang="en-US"/>
              <a:t>顺序队列之所以会出现“假溢出”现象是因为顺序队列的存储单元没有重复使用机制，为了解决顺序队列因数组下标越界而引起的“溢出”问题，可将顺序序列的首尾相连，形成循环顺序队列。</a:t>
            </a:r>
            <a:endParaRPr lang="zh-CN" altLang="en-US"/>
          </a:p>
        </p:txBody>
      </p:sp>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循环队列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文本框 4"/>
          <p:cNvSpPr txBox="1"/>
          <p:nvPr/>
        </p:nvSpPr>
        <p:spPr>
          <a:xfrm>
            <a:off x="930275" y="1196975"/>
            <a:ext cx="10118090" cy="368300"/>
          </a:xfrm>
          <a:prstGeom prst="rect">
            <a:avLst/>
          </a:prstGeom>
          <a:noFill/>
        </p:spPr>
        <p:txBody>
          <a:bodyPr wrap="square" rtlCol="0">
            <a:spAutoFit/>
          </a:bodyPr>
          <a:lstStyle/>
          <a:p>
            <a:r>
              <a:rPr lang="zh-CN" altLang="en-US">
                <a:sym typeface="+mn-ea"/>
              </a:rPr>
              <a:t>循环顺序队列进行入队和出队操作后的状态变化如图：</a:t>
            </a:r>
            <a:endParaRPr lang="zh-CN" altLang="en-US"/>
          </a:p>
        </p:txBody>
      </p:sp>
      <p:pic>
        <p:nvPicPr>
          <p:cNvPr id="6"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930275" y="1862455"/>
            <a:ext cx="4996815" cy="4302760"/>
          </a:xfrm>
          <a:prstGeom prst="rect">
            <a:avLst/>
          </a:prstGeom>
          <a:noFill/>
          <a:ln>
            <a:noFill/>
          </a:ln>
        </p:spPr>
      </p:pic>
      <p:sp>
        <p:nvSpPr>
          <p:cNvPr id="7" name="文本框 6"/>
          <p:cNvSpPr txBox="1"/>
          <p:nvPr/>
        </p:nvSpPr>
        <p:spPr>
          <a:xfrm>
            <a:off x="6865620" y="2437130"/>
            <a:ext cx="4107180" cy="1753235"/>
          </a:xfrm>
          <a:prstGeom prst="rect">
            <a:avLst/>
          </a:prstGeom>
          <a:noFill/>
        </p:spPr>
        <p:txBody>
          <a:bodyPr wrap="square" rtlCol="0">
            <a:spAutoFit/>
          </a:bodyPr>
          <a:lstStyle/>
          <a:p>
            <a:r>
              <a:rPr lang="zh-CN" altLang="en-US"/>
              <a:t>有新的问题产生——队空和队满的判定条件都变为front==rear，为了解决这一问题，可少利用一个存储单元，队列最多存放maxSize-1个数据元素，队空的判定条件为front==rear，队满的判定条件为front=(rear+1)%maxSize。</a:t>
            </a:r>
            <a:endParaRPr lang="zh-CN" altLang="en-US"/>
          </a:p>
        </p:txBody>
      </p:sp>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循环队列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6191219" y="580070"/>
            <a:ext cx="4426123" cy="1132682"/>
          </a:xfrm>
          <a:prstGeom prst="rect">
            <a:avLst/>
          </a:prstGeom>
        </p:spPr>
        <p:txBody>
          <a:bodyPr wrap="square">
            <a:spAutoFit/>
          </a:bodyPr>
          <a:lstStyle/>
          <a:p>
            <a:pPr algn="l">
              <a:lnSpc>
                <a:spcPct val="130000"/>
              </a:lnSpc>
            </a:pPr>
            <a:r>
              <a:rPr lang="zh-CN" altLang="en-US" dirty="0">
                <a:solidFill>
                  <a:schemeClr val="tx1">
                    <a:lumMod val="75000"/>
                    <a:lumOff val="25000"/>
                  </a:schemeClr>
                </a:solidFill>
                <a:latin typeface="Arial" panose="020B0604020202020204" pitchFamily="34" charset="0"/>
              </a:rPr>
              <a:t>循环顺序队列类和顺序队列类的Python语言描述相似，仅是指示变量front和rear的修改以及队满的判定条件发生了变化。</a:t>
            </a:r>
            <a:endParaRPr lang="zh-CN" altLang="en-US" dirty="0">
              <a:solidFill>
                <a:schemeClr val="tx1">
                  <a:lumMod val="75000"/>
                  <a:lumOff val="25000"/>
                </a:schemeClr>
              </a:solidFill>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937719" y="1146411"/>
            <a:ext cx="4728385" cy="5291853"/>
          </a:xfrm>
          <a:prstGeom prst="rect">
            <a:avLst/>
          </a:prstGeom>
        </p:spPr>
      </p:pic>
      <p:pic>
        <p:nvPicPr>
          <p:cNvPr id="7" name="图片 6"/>
          <p:cNvPicPr>
            <a:picLocks noChangeAspect="1"/>
          </p:cNvPicPr>
          <p:nvPr/>
        </p:nvPicPr>
        <p:blipFill>
          <a:blip r:embed="rId2"/>
          <a:stretch>
            <a:fillRect/>
          </a:stretch>
        </p:blipFill>
        <p:spPr>
          <a:xfrm>
            <a:off x="6516035" y="1907390"/>
            <a:ext cx="3781759" cy="4530875"/>
          </a:xfrm>
          <a:prstGeom prst="rect">
            <a:avLst/>
          </a:prstGeom>
        </p:spPr>
      </p:pic>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例题</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2344169" y="1572353"/>
            <a:ext cx="6925831" cy="772584"/>
          </a:xfrm>
          <a:prstGeom prst="rect">
            <a:avLst/>
          </a:prstGeom>
        </p:spPr>
        <p:txBody>
          <a:bodyPr wrap="square">
            <a:spAutoFit/>
          </a:bodyPr>
          <a:lstStyle/>
          <a:p>
            <a:pPr algn="ctr">
              <a:lnSpc>
                <a:spcPct val="130000"/>
              </a:lnSpc>
            </a:pPr>
            <a:r>
              <a:rPr lang="zh-CN" altLang="en-US" b="1" dirty="0">
                <a:solidFill>
                  <a:schemeClr val="tx1">
                    <a:lumMod val="75000"/>
                    <a:lumOff val="25000"/>
                  </a:schemeClr>
                </a:solidFill>
                <a:latin typeface="Arial" panose="020B0604020202020204" pitchFamily="34" charset="0"/>
              </a:rPr>
              <a:t>假定用于顺序存储一个队列的数组的长度为N，队首和队尾指针分别为front和rear，写出求此队列长度(即所含元素个数)的公式。</a:t>
            </a:r>
            <a:endParaRPr lang="zh-CN" altLang="en-US" b="1" dirty="0">
              <a:solidFill>
                <a:schemeClr val="tx1">
                  <a:lumMod val="75000"/>
                  <a:lumOff val="25000"/>
                </a:schemeClr>
              </a:solidFill>
              <a:latin typeface="Arial" panose="020B0604020202020204" pitchFamily="34" charset="0"/>
            </a:endParaRPr>
          </a:p>
        </p:txBody>
      </p:sp>
      <p:sp>
        <p:nvSpPr>
          <p:cNvPr id="6" name="文本框 5"/>
          <p:cNvSpPr txBox="1"/>
          <p:nvPr/>
        </p:nvSpPr>
        <p:spPr>
          <a:xfrm>
            <a:off x="2398760" y="3115339"/>
            <a:ext cx="7174552" cy="1477328"/>
          </a:xfrm>
          <a:prstGeom prst="rect">
            <a:avLst/>
          </a:prstGeom>
          <a:noFill/>
        </p:spPr>
        <p:txBody>
          <a:bodyPr wrap="square" rtlCol="0">
            <a:spAutoFit/>
          </a:bodyPr>
          <a:lstStyle/>
          <a:p>
            <a:r>
              <a:rPr lang="zh-CN" altLang="en-US" dirty="0"/>
              <a:t>解： 当rear大于等于front时队列长度为rear-front，也可以表示为(rear-front+N)%N； 当rear小于front时队列被分成两个部分，前部分在数组尾部，其元素个数为N-1-front，后部分在数组首部，其元素个数为rear+1，两者相加为rear-front+N。综上所述，在任何情况下队列长度的计算公式都为(rear-front+N)%N。</a:t>
            </a:r>
            <a:endParaRPr lang="zh-CN" altLang="en-US" dirty="0"/>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例题</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2336752" y="1148772"/>
            <a:ext cx="7905892" cy="1132682"/>
          </a:xfrm>
          <a:prstGeom prst="rect">
            <a:avLst/>
          </a:prstGeom>
        </p:spPr>
        <p:txBody>
          <a:bodyPr wrap="square">
            <a:spAutoFit/>
          </a:bodyPr>
          <a:lstStyle/>
          <a:p>
            <a:pPr algn="ctr">
              <a:lnSpc>
                <a:spcPct val="130000"/>
              </a:lnSpc>
            </a:pPr>
            <a:r>
              <a:rPr lang="zh-CN" altLang="en-US" b="1" dirty="0">
                <a:solidFill>
                  <a:schemeClr val="tx1">
                    <a:lumMod val="75000"/>
                    <a:lumOff val="25000"/>
                  </a:schemeClr>
                </a:solidFill>
                <a:latin typeface="Arial" panose="020B0604020202020204" pitchFamily="34" charset="0"/>
              </a:rPr>
              <a:t>在执行操作序列EnQueue(1)、EnQueue(3)、DeQueue、EnQueue(5)、EnQueue(7)、DeQueue、EnQueue(9)之后队首元素和队尾元素分别是什么？EnQueue(k)表示整数k入队，DeQueue表示队首元素出队。</a:t>
            </a:r>
            <a:endParaRPr lang="zh-CN" altLang="en-US" b="1" dirty="0">
              <a:solidFill>
                <a:schemeClr val="tx1">
                  <a:lumMod val="75000"/>
                  <a:lumOff val="25000"/>
                </a:schemeClr>
              </a:solidFill>
              <a:latin typeface="Arial" panose="020B0604020202020204" pitchFamily="34" charset="0"/>
            </a:endParaRPr>
          </a:p>
        </p:txBody>
      </p:sp>
      <p:sp>
        <p:nvSpPr>
          <p:cNvPr id="6" name="文本框 5"/>
          <p:cNvSpPr txBox="1"/>
          <p:nvPr/>
        </p:nvSpPr>
        <p:spPr>
          <a:xfrm>
            <a:off x="3938127" y="2503227"/>
            <a:ext cx="4210050" cy="337185"/>
          </a:xfrm>
          <a:prstGeom prst="rect">
            <a:avLst/>
          </a:prstGeom>
          <a:noFill/>
        </p:spPr>
        <p:txBody>
          <a:bodyPr wrap="square" rtlCol="0">
            <a:spAutoFit/>
          </a:bodyPr>
          <a:lstStyle/>
          <a:p>
            <a:r>
              <a:rPr lang="zh-CN" altLang="en-US" sz="1600" dirty="0"/>
              <a:t>解：操作序列的执行过程如图所示</a:t>
            </a:r>
            <a:endParaRPr lang="zh-CN" altLang="en-US" sz="1600" dirty="0"/>
          </a:p>
        </p:txBody>
      </p:sp>
      <p:sp>
        <p:nvSpPr>
          <p:cNvPr id="7" name="文本框 6"/>
          <p:cNvSpPr txBox="1"/>
          <p:nvPr/>
        </p:nvSpPr>
        <p:spPr>
          <a:xfrm>
            <a:off x="3938127" y="5525078"/>
            <a:ext cx="4210050" cy="368300"/>
          </a:xfrm>
          <a:prstGeom prst="rect">
            <a:avLst/>
          </a:prstGeom>
          <a:noFill/>
        </p:spPr>
        <p:txBody>
          <a:bodyPr wrap="square" rtlCol="0">
            <a:spAutoFit/>
          </a:bodyPr>
          <a:lstStyle/>
          <a:p>
            <a:r>
              <a:rPr lang="zh-CN" altLang="en-US" dirty="0"/>
              <a:t>所以队首元素为5，队尾元素为9。</a:t>
            </a:r>
            <a:endParaRPr lang="zh-CN" altLang="en-US" dirty="0"/>
          </a:p>
        </p:txBody>
      </p:sp>
      <p:pic>
        <p:nvPicPr>
          <p:cNvPr id="8" name="图片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920706" y="2951394"/>
            <a:ext cx="5981700" cy="2440305"/>
          </a:xfrm>
          <a:prstGeom prst="rect">
            <a:avLst/>
          </a:prstGeom>
          <a:noFill/>
          <a:ln>
            <a:noFill/>
          </a:ln>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6" grpId="1"/>
      <p:bldP spid="7" grpId="0"/>
      <p:bldP spid="7"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17170" y="887095"/>
            <a:ext cx="5537835" cy="3333115"/>
          </a:xfrm>
          <a:prstGeom prst="rect">
            <a:avLst/>
          </a:prstGeom>
          <a:noFill/>
          <a:ln>
            <a:noFill/>
          </a:ln>
        </p:spPr>
      </p:pic>
      <p:sp>
        <p:nvSpPr>
          <p:cNvPr id="2" name="标题 1"/>
          <p:cNvSpPr>
            <a:spLocks noGrp="1"/>
          </p:cNvSpPr>
          <p:nvPr>
            <p:ph type="title"/>
          </p:nvPr>
        </p:nvSpPr>
        <p:spPr>
          <a:xfrm>
            <a:off x="180000" y="360663"/>
            <a:ext cx="11833200" cy="700405"/>
          </a:xfrm>
        </p:spPr>
        <p:txBody>
          <a:bodyPr/>
          <a:lstStyle/>
          <a:p>
            <a:r>
              <a:rPr lang="zh-CN" altLang="en-US" dirty="0">
                <a:sym typeface="+mn-ea"/>
              </a:rPr>
              <a:t>链队列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7" name="矩形 6"/>
          <p:cNvSpPr/>
          <p:nvPr/>
        </p:nvSpPr>
        <p:spPr>
          <a:xfrm>
            <a:off x="874713" y="4827282"/>
            <a:ext cx="10442576" cy="1170305"/>
          </a:xfrm>
          <a:prstGeom prst="rect">
            <a:avLst/>
          </a:prstGeom>
        </p:spPr>
        <p:txBody>
          <a:bodyPr wrap="square">
            <a:spAutoFit/>
          </a:bodyPr>
          <a:lstStyle/>
          <a:p>
            <a:pPr algn="l">
              <a:lnSpc>
                <a:spcPct val="130000"/>
              </a:lnSpc>
            </a:pPr>
            <a:r>
              <a:rPr lang="zh-CN" altLang="en-US" dirty="0">
                <a:solidFill>
                  <a:schemeClr val="tx1">
                    <a:lumMod val="75000"/>
                    <a:lumOff val="25000"/>
                  </a:schemeClr>
                </a:solidFill>
                <a:latin typeface="Arial" panose="020B0604020202020204" pitchFamily="34" charset="0"/>
              </a:rPr>
              <a:t>链队列用单链表实现，由于入队和出队分别在队列的队尾和队首进行，不存在在队列的任意位置进行插入和删除的情况，所以不需要设置头结点，只需要将指针front和rear分别指向队首结点和队尾结点，每个结点的指针域指向其后继结点即可。</a:t>
            </a:r>
            <a:endParaRPr lang="zh-CN" altLang="en-US" dirty="0">
              <a:solidFill>
                <a:schemeClr val="tx1">
                  <a:lumMod val="75000"/>
                  <a:lumOff val="25000"/>
                </a:schemeClr>
              </a:solidFill>
              <a:latin typeface="Arial" panose="020B0604020202020204" pitchFamily="34" charset="0"/>
            </a:endParaRPr>
          </a:p>
        </p:txBody>
      </p:sp>
      <p:sp>
        <p:nvSpPr>
          <p:cNvPr id="8" name="文本框 7"/>
          <p:cNvSpPr txBox="1"/>
          <p:nvPr/>
        </p:nvSpPr>
        <p:spPr>
          <a:xfrm>
            <a:off x="-263525" y="4220210"/>
            <a:ext cx="6499225" cy="398780"/>
          </a:xfrm>
          <a:prstGeom prst="rect">
            <a:avLst/>
          </a:prstGeom>
          <a:noFill/>
          <a:ln w="9525">
            <a:noFill/>
          </a:ln>
        </p:spPr>
        <p:txBody>
          <a:bodyPr wrap="square">
            <a:spAutoFit/>
          </a:bodyPr>
          <a:lstStyle/>
          <a:p>
            <a:pPr indent="0" algn="ctr"/>
            <a:r>
              <a:rPr lang="zh-CN" sz="2000" b="0">
                <a:solidFill>
                  <a:srgbClr val="656565"/>
                </a:solidFill>
                <a:ea typeface="宋体" panose="02010600030101010101" pitchFamily="2" charset="-122"/>
                <a:cs typeface="Times New Roman" panose="02020603050405020304" charset="0"/>
              </a:rPr>
              <a:t>入队操作</a:t>
            </a:r>
            <a:endParaRPr lang="zh-CN" altLang="en-US" sz="2000"/>
          </a:p>
        </p:txBody>
      </p:sp>
      <p:sp>
        <p:nvSpPr>
          <p:cNvPr id="9" name="文本框 8"/>
          <p:cNvSpPr txBox="1"/>
          <p:nvPr/>
        </p:nvSpPr>
        <p:spPr>
          <a:xfrm>
            <a:off x="5092700" y="3896995"/>
            <a:ext cx="6499225" cy="721995"/>
          </a:xfrm>
          <a:prstGeom prst="rect">
            <a:avLst/>
          </a:prstGeom>
          <a:noFill/>
          <a:ln w="9525">
            <a:noFill/>
          </a:ln>
        </p:spPr>
        <p:txBody>
          <a:bodyPr wrap="square">
            <a:spAutoFit/>
          </a:bodyPr>
          <a:lstStyle/>
          <a:p>
            <a:pPr indent="0" algn="ctr"/>
            <a:endParaRPr lang="en-US" sz="1050" b="0">
              <a:solidFill>
                <a:srgbClr val="656565"/>
              </a:solidFill>
              <a:latin typeface="等线" panose="02010600030101010101" charset="-122"/>
              <a:ea typeface="宋体" panose="02010600030101010101" pitchFamily="2" charset="-122"/>
              <a:cs typeface="Times New Roman" panose="02020603050405020304" charset="0"/>
            </a:endParaRPr>
          </a:p>
          <a:p>
            <a:pPr indent="0" algn="ctr"/>
            <a:r>
              <a:rPr lang="en-US" sz="1050" b="0">
                <a:solidFill>
                  <a:srgbClr val="656565"/>
                </a:solidFill>
                <a:latin typeface="等线" panose="02010600030101010101" charset="-122"/>
                <a:ea typeface="宋体" panose="02010600030101010101" pitchFamily="2" charset="-122"/>
                <a:cs typeface="Times New Roman" panose="02020603050405020304" charset="0"/>
              </a:rPr>
              <a:t> </a:t>
            </a:r>
            <a:endParaRPr lang="zh-CN" sz="1050" b="0">
              <a:solidFill>
                <a:srgbClr val="656565"/>
              </a:solidFill>
              <a:ea typeface="宋体" panose="02010600030101010101" pitchFamily="2" charset="-122"/>
            </a:endParaRPr>
          </a:p>
          <a:p>
            <a:pPr indent="0" algn="ctr"/>
            <a:r>
              <a:rPr lang="zh-CN" sz="2000" b="0">
                <a:solidFill>
                  <a:srgbClr val="656565"/>
                </a:solidFill>
                <a:ea typeface="宋体" panose="02010600030101010101" pitchFamily="2" charset="-122"/>
                <a:cs typeface="Times New Roman" panose="02020603050405020304" charset="0"/>
              </a:rPr>
              <a:t>出队操作</a:t>
            </a:r>
            <a:endParaRPr lang="zh-CN" altLang="en-US" sz="2000" b="0">
              <a:solidFill>
                <a:srgbClr val="656565"/>
              </a:solidFill>
              <a:ea typeface="宋体" panose="02010600030101010101" pitchFamily="2" charset="-122"/>
              <a:cs typeface="Times New Roman" panose="02020603050405020304" charset="0"/>
            </a:endParaRPr>
          </a:p>
        </p:txBody>
      </p:sp>
      <p:pic>
        <p:nvPicPr>
          <p:cNvPr id="11" name="图片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854065" y="1016635"/>
            <a:ext cx="6217285" cy="2880360"/>
          </a:xfrm>
          <a:prstGeom prst="rect">
            <a:avLst/>
          </a:prstGeom>
          <a:noFill/>
          <a:ln>
            <a:noFill/>
          </a:ln>
        </p:spPr>
      </p:pic>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链队列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3733165" y="873125"/>
            <a:ext cx="3917950" cy="5441950"/>
          </a:xfrm>
          <a:prstGeom prst="rect">
            <a:avLst/>
          </a:prstGeom>
        </p:spPr>
      </p:pic>
      <p:pic>
        <p:nvPicPr>
          <p:cNvPr id="6" name="图片 5"/>
          <p:cNvPicPr>
            <a:picLocks noChangeAspect="1"/>
          </p:cNvPicPr>
          <p:nvPr/>
        </p:nvPicPr>
        <p:blipFill>
          <a:blip r:embed="rId2"/>
          <a:stretch>
            <a:fillRect/>
          </a:stretch>
        </p:blipFill>
        <p:spPr>
          <a:xfrm>
            <a:off x="7015480" y="697230"/>
            <a:ext cx="4990465" cy="3816350"/>
          </a:xfrm>
          <a:prstGeom prst="rect">
            <a:avLst/>
          </a:prstGeom>
        </p:spPr>
      </p:pic>
      <p:pic>
        <p:nvPicPr>
          <p:cNvPr id="7" name="图片 6"/>
          <p:cNvPicPr>
            <a:picLocks noChangeAspect="1"/>
          </p:cNvPicPr>
          <p:nvPr/>
        </p:nvPicPr>
        <p:blipFill>
          <a:blip r:embed="rId3"/>
          <a:stretch>
            <a:fillRect/>
          </a:stretch>
        </p:blipFill>
        <p:spPr>
          <a:xfrm>
            <a:off x="38100" y="1154430"/>
            <a:ext cx="3943350" cy="4549775"/>
          </a:xfrm>
          <a:prstGeom prst="rect">
            <a:avLst/>
          </a:prstGeom>
        </p:spPr>
      </p:pic>
      <p:sp>
        <p:nvSpPr>
          <p:cNvPr id="8" name="文本框 7"/>
          <p:cNvSpPr txBox="1"/>
          <p:nvPr/>
        </p:nvSpPr>
        <p:spPr>
          <a:xfrm>
            <a:off x="8328660" y="5174615"/>
            <a:ext cx="2759075" cy="706755"/>
          </a:xfrm>
          <a:prstGeom prst="rect">
            <a:avLst/>
          </a:prstGeom>
          <a:noFill/>
        </p:spPr>
        <p:txBody>
          <a:bodyPr wrap="square" rtlCol="0">
            <a:spAutoFit/>
          </a:bodyPr>
          <a:lstStyle/>
          <a:p>
            <a:r>
              <a:rPr lang="zh-CN" altLang="en-US" sz="2000"/>
              <a:t>利用Node类，链队列的Python语言描述如图。</a:t>
            </a:r>
            <a:endParaRPr lang="zh-CN" altLang="en-US" sz="2000"/>
          </a:p>
        </p:txBody>
      </p:sp>
    </p:spTree>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优先级队列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灯片编号占位符 3"/>
          <p:cNvSpPr txBox="1"/>
          <p:nvPr/>
        </p:nvSpPr>
        <p:spPr>
          <a:xfrm>
            <a:off x="9270000" y="6356349"/>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6DE7E8-BD74-40B2-922D-194240FC5D5C}" type="slidenum">
              <a:rPr lang="zh-CN" altLang="en-US" smtClean="0"/>
            </a:fld>
            <a:endParaRPr lang="zh-CN" altLang="en-US"/>
          </a:p>
        </p:txBody>
      </p:sp>
      <p:sp>
        <p:nvSpPr>
          <p:cNvPr id="9" name="Rectangle 5"/>
          <p:cNvSpPr>
            <a:spLocks noChangeArrowheads="1"/>
          </p:cNvSpPr>
          <p:nvPr/>
        </p:nvSpPr>
        <p:spPr bwMode="auto">
          <a:xfrm>
            <a:off x="690245" y="3735705"/>
            <a:ext cx="928370" cy="216852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0" name="Rectangle 6"/>
          <p:cNvSpPr>
            <a:spLocks noChangeArrowheads="1"/>
          </p:cNvSpPr>
          <p:nvPr/>
        </p:nvSpPr>
        <p:spPr bwMode="auto">
          <a:xfrm>
            <a:off x="1830070" y="2901950"/>
            <a:ext cx="927100" cy="3002280"/>
          </a:xfrm>
          <a:prstGeom prst="rect">
            <a:avLst/>
          </a:prstGeom>
          <a:gradFill>
            <a:gsLst>
              <a:gs pos="0">
                <a:srgbClr val="2C344B"/>
              </a:gs>
              <a:gs pos="100000">
                <a:srgbClr val="21273E"/>
              </a:gs>
            </a:gsLst>
          </a:gradFill>
          <a:ln w="28575">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1" name="Rectangle 8"/>
          <p:cNvSpPr>
            <a:spLocks noChangeArrowheads="1"/>
          </p:cNvSpPr>
          <p:nvPr/>
        </p:nvSpPr>
        <p:spPr bwMode="auto">
          <a:xfrm>
            <a:off x="2967990" y="2205355"/>
            <a:ext cx="927100" cy="369887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2" name="Oval 9"/>
          <p:cNvSpPr>
            <a:spLocks noChangeArrowheads="1"/>
          </p:cNvSpPr>
          <p:nvPr/>
        </p:nvSpPr>
        <p:spPr bwMode="auto">
          <a:xfrm>
            <a:off x="852170"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13" name="组合 12"/>
          <p:cNvGrpSpPr/>
          <p:nvPr/>
        </p:nvGrpSpPr>
        <p:grpSpPr>
          <a:xfrm>
            <a:off x="1029970" y="5737225"/>
            <a:ext cx="267970" cy="269875"/>
            <a:chOff x="1725613" y="5727700"/>
            <a:chExt cx="268287" cy="269875"/>
          </a:xfrm>
          <a:gradFill>
            <a:gsLst>
              <a:gs pos="0">
                <a:srgbClr val="2C344B"/>
              </a:gs>
              <a:gs pos="100000">
                <a:srgbClr val="21273E"/>
              </a:gs>
            </a:gsLst>
            <a:lin ang="0" scaled="0"/>
          </a:gradFill>
          <a:effectLst/>
        </p:grpSpPr>
        <p:sp>
          <p:nvSpPr>
            <p:cNvPr id="14"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5"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6"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7"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8"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19"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0"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21" name="Oval 17"/>
          <p:cNvSpPr>
            <a:spLocks noChangeArrowheads="1"/>
          </p:cNvSpPr>
          <p:nvPr/>
        </p:nvSpPr>
        <p:spPr bwMode="auto">
          <a:xfrm>
            <a:off x="1988820" y="5559425"/>
            <a:ext cx="625475"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22" name="Freeform 18"/>
          <p:cNvSpPr/>
          <p:nvPr/>
        </p:nvSpPr>
        <p:spPr bwMode="auto">
          <a:xfrm>
            <a:off x="2185670" y="5780405"/>
            <a:ext cx="228600" cy="210820"/>
          </a:xfrm>
          <a:custGeom>
            <a:avLst/>
            <a:gdLst>
              <a:gd name="T0" fmla="*/ 63 w 85"/>
              <a:gd name="T1" fmla="*/ 4 h 78"/>
              <a:gd name="T2" fmla="*/ 35 w 85"/>
              <a:gd name="T3" fmla="*/ 6 h 78"/>
              <a:gd name="T4" fmla="*/ 6 w 85"/>
              <a:gd name="T5" fmla="*/ 11 h 78"/>
              <a:gd name="T6" fmla="*/ 2 w 85"/>
              <a:gd name="T7" fmla="*/ 11 h 78"/>
              <a:gd name="T8" fmla="*/ 1 w 85"/>
              <a:gd name="T9" fmla="*/ 16 h 78"/>
              <a:gd name="T10" fmla="*/ 38 w 85"/>
              <a:gd name="T11" fmla="*/ 76 h 78"/>
              <a:gd name="T12" fmla="*/ 42 w 85"/>
              <a:gd name="T13" fmla="*/ 78 h 78"/>
              <a:gd name="T14" fmla="*/ 43 w 85"/>
              <a:gd name="T15" fmla="*/ 77 h 78"/>
              <a:gd name="T16" fmla="*/ 45 w 85"/>
              <a:gd name="T17" fmla="*/ 72 h 78"/>
              <a:gd name="T18" fmla="*/ 28 w 85"/>
              <a:gd name="T19" fmla="*/ 45 h 78"/>
              <a:gd name="T20" fmla="*/ 57 w 85"/>
              <a:gd name="T21" fmla="*/ 40 h 78"/>
              <a:gd name="T22" fmla="*/ 85 w 85"/>
              <a:gd name="T23" fmla="*/ 39 h 78"/>
              <a:gd name="T24" fmla="*/ 63 w 85"/>
              <a:gd name="T25" fmla="*/ 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8">
                <a:moveTo>
                  <a:pt x="63" y="4"/>
                </a:moveTo>
                <a:cubicBezTo>
                  <a:pt x="63" y="4"/>
                  <a:pt x="49" y="11"/>
                  <a:pt x="35" y="6"/>
                </a:cubicBezTo>
                <a:cubicBezTo>
                  <a:pt x="20" y="0"/>
                  <a:pt x="13" y="3"/>
                  <a:pt x="6" y="11"/>
                </a:cubicBezTo>
                <a:cubicBezTo>
                  <a:pt x="5" y="10"/>
                  <a:pt x="4" y="10"/>
                  <a:pt x="2" y="11"/>
                </a:cubicBezTo>
                <a:cubicBezTo>
                  <a:pt x="1" y="12"/>
                  <a:pt x="0" y="14"/>
                  <a:pt x="1" y="16"/>
                </a:cubicBezTo>
                <a:cubicBezTo>
                  <a:pt x="38" y="76"/>
                  <a:pt x="38" y="76"/>
                  <a:pt x="38" y="76"/>
                </a:cubicBezTo>
                <a:cubicBezTo>
                  <a:pt x="39" y="77"/>
                  <a:pt x="40" y="78"/>
                  <a:pt x="42" y="78"/>
                </a:cubicBezTo>
                <a:cubicBezTo>
                  <a:pt x="42" y="78"/>
                  <a:pt x="43" y="77"/>
                  <a:pt x="43" y="77"/>
                </a:cubicBezTo>
                <a:cubicBezTo>
                  <a:pt x="45" y="76"/>
                  <a:pt x="46" y="74"/>
                  <a:pt x="45" y="72"/>
                </a:cubicBezTo>
                <a:cubicBezTo>
                  <a:pt x="28" y="45"/>
                  <a:pt x="28" y="45"/>
                  <a:pt x="28" y="45"/>
                </a:cubicBezTo>
                <a:cubicBezTo>
                  <a:pt x="35" y="37"/>
                  <a:pt x="41" y="35"/>
                  <a:pt x="57" y="40"/>
                </a:cubicBezTo>
                <a:cubicBezTo>
                  <a:pt x="71" y="45"/>
                  <a:pt x="85" y="39"/>
                  <a:pt x="85" y="39"/>
                </a:cubicBezTo>
                <a:lnTo>
                  <a:pt x="63" y="4"/>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3" name="Oval 19"/>
          <p:cNvSpPr>
            <a:spLocks noChangeArrowheads="1"/>
          </p:cNvSpPr>
          <p:nvPr/>
        </p:nvSpPr>
        <p:spPr bwMode="auto">
          <a:xfrm>
            <a:off x="3123565" y="5559425"/>
            <a:ext cx="627380" cy="62547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sp>
        <p:nvSpPr>
          <p:cNvPr id="24" name="Freeform 20"/>
          <p:cNvSpPr/>
          <p:nvPr/>
        </p:nvSpPr>
        <p:spPr bwMode="auto">
          <a:xfrm>
            <a:off x="3304540" y="5745480"/>
            <a:ext cx="266700" cy="242570"/>
          </a:xfrm>
          <a:custGeom>
            <a:avLst/>
            <a:gdLst>
              <a:gd name="T0" fmla="*/ 82 w 168"/>
              <a:gd name="T1" fmla="*/ 0 h 153"/>
              <a:gd name="T2" fmla="*/ 106 w 168"/>
              <a:gd name="T3" fmla="*/ 59 h 153"/>
              <a:gd name="T4" fmla="*/ 168 w 168"/>
              <a:gd name="T5" fmla="*/ 59 h 153"/>
              <a:gd name="T6" fmla="*/ 114 w 168"/>
              <a:gd name="T7" fmla="*/ 95 h 153"/>
              <a:gd name="T8" fmla="*/ 136 w 168"/>
              <a:gd name="T9" fmla="*/ 153 h 153"/>
              <a:gd name="T10" fmla="*/ 82 w 168"/>
              <a:gd name="T11" fmla="*/ 119 h 153"/>
              <a:gd name="T12" fmla="*/ 33 w 168"/>
              <a:gd name="T13" fmla="*/ 153 h 153"/>
              <a:gd name="T14" fmla="*/ 49 w 168"/>
              <a:gd name="T15" fmla="*/ 95 h 153"/>
              <a:gd name="T16" fmla="*/ 0 w 168"/>
              <a:gd name="T17" fmla="*/ 59 h 153"/>
              <a:gd name="T18" fmla="*/ 63 w 168"/>
              <a:gd name="T19" fmla="*/ 59 h 153"/>
              <a:gd name="T20" fmla="*/ 82 w 168"/>
              <a:gd name="T2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153">
                <a:moveTo>
                  <a:pt x="82" y="0"/>
                </a:moveTo>
                <a:lnTo>
                  <a:pt x="106" y="59"/>
                </a:lnTo>
                <a:lnTo>
                  <a:pt x="168" y="59"/>
                </a:lnTo>
                <a:lnTo>
                  <a:pt x="114" y="95"/>
                </a:lnTo>
                <a:lnTo>
                  <a:pt x="136" y="153"/>
                </a:lnTo>
                <a:lnTo>
                  <a:pt x="82" y="119"/>
                </a:lnTo>
                <a:lnTo>
                  <a:pt x="33" y="153"/>
                </a:lnTo>
                <a:lnTo>
                  <a:pt x="49" y="95"/>
                </a:lnTo>
                <a:lnTo>
                  <a:pt x="0" y="59"/>
                </a:lnTo>
                <a:lnTo>
                  <a:pt x="63" y="59"/>
                </a:lnTo>
                <a:lnTo>
                  <a:pt x="82" y="0"/>
                </a:lnTo>
                <a:close/>
              </a:path>
            </a:pathLst>
          </a:custGeom>
          <a:gradFill>
            <a:gsLst>
              <a:gs pos="0">
                <a:srgbClr val="2C344B"/>
              </a:gs>
              <a:gs pos="100000">
                <a:srgbClr val="21273E"/>
              </a:gs>
            </a:gsLst>
            <a:lin ang="0" scaled="0"/>
          </a:gradFill>
          <a:ln>
            <a:noFill/>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nvGrpSpPr>
          <p:cNvPr id="25" name="组合 24"/>
          <p:cNvGrpSpPr/>
          <p:nvPr/>
        </p:nvGrpSpPr>
        <p:grpSpPr>
          <a:xfrm>
            <a:off x="732790" y="2643505"/>
            <a:ext cx="871855" cy="1031875"/>
            <a:chOff x="1428750" y="2633663"/>
            <a:chExt cx="871538" cy="1031874"/>
          </a:xfrm>
          <a:gradFill>
            <a:gsLst>
              <a:gs pos="0">
                <a:srgbClr val="2C344B"/>
              </a:gs>
              <a:gs pos="100000">
                <a:srgbClr val="21273E"/>
              </a:gs>
            </a:gsLst>
          </a:gradFill>
          <a:effectLst/>
        </p:grpSpPr>
        <p:sp>
          <p:nvSpPr>
            <p:cNvPr id="26" name="Freeform 27"/>
            <p:cNvSpPr/>
            <p:nvPr/>
          </p:nvSpPr>
          <p:spPr bwMode="auto">
            <a:xfrm>
              <a:off x="1895475" y="2633663"/>
              <a:ext cx="280987" cy="279400"/>
            </a:xfrm>
            <a:custGeom>
              <a:avLst/>
              <a:gdLst>
                <a:gd name="T0" fmla="*/ 99 w 104"/>
                <a:gd name="T1" fmla="*/ 44 h 104"/>
                <a:gd name="T2" fmla="*/ 60 w 104"/>
                <a:gd name="T3" fmla="*/ 100 h 104"/>
                <a:gd name="T4" fmla="*/ 4 w 104"/>
                <a:gd name="T5" fmla="*/ 60 h 104"/>
                <a:gd name="T6" fmla="*/ 44 w 104"/>
                <a:gd name="T7" fmla="*/ 4 h 104"/>
                <a:gd name="T8" fmla="*/ 99 w 104"/>
                <a:gd name="T9" fmla="*/ 44 h 104"/>
              </a:gdLst>
              <a:ahLst/>
              <a:cxnLst>
                <a:cxn ang="0">
                  <a:pos x="T0" y="T1"/>
                </a:cxn>
                <a:cxn ang="0">
                  <a:pos x="T2" y="T3"/>
                </a:cxn>
                <a:cxn ang="0">
                  <a:pos x="T4" y="T5"/>
                </a:cxn>
                <a:cxn ang="0">
                  <a:pos x="T6" y="T7"/>
                </a:cxn>
                <a:cxn ang="0">
                  <a:pos x="T8" y="T9"/>
                </a:cxn>
              </a:cxnLst>
              <a:rect l="0" t="0" r="r" b="b"/>
              <a:pathLst>
                <a:path w="104" h="104">
                  <a:moveTo>
                    <a:pt x="99" y="44"/>
                  </a:moveTo>
                  <a:cubicBezTo>
                    <a:pt x="104" y="70"/>
                    <a:pt x="86" y="95"/>
                    <a:pt x="60" y="100"/>
                  </a:cubicBezTo>
                  <a:cubicBezTo>
                    <a:pt x="34" y="104"/>
                    <a:pt x="9" y="87"/>
                    <a:pt x="4" y="60"/>
                  </a:cubicBezTo>
                  <a:cubicBezTo>
                    <a:pt x="0" y="34"/>
                    <a:pt x="17" y="9"/>
                    <a:pt x="44" y="4"/>
                  </a:cubicBezTo>
                  <a:cubicBezTo>
                    <a:pt x="70" y="0"/>
                    <a:pt x="95" y="17"/>
                    <a:pt x="99" y="44"/>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7" name="Freeform 28"/>
            <p:cNvSpPr/>
            <p:nvPr/>
          </p:nvSpPr>
          <p:spPr bwMode="auto">
            <a:xfrm>
              <a:off x="1966913" y="2965450"/>
              <a:ext cx="333375" cy="231775"/>
            </a:xfrm>
            <a:custGeom>
              <a:avLst/>
              <a:gdLst>
                <a:gd name="T0" fmla="*/ 97 w 124"/>
                <a:gd name="T1" fmla="*/ 28 h 86"/>
                <a:gd name="T2" fmla="*/ 35 w 124"/>
                <a:gd name="T3" fmla="*/ 38 h 86"/>
                <a:gd name="T4" fmla="*/ 14 w 124"/>
                <a:gd name="T5" fmla="*/ 0 h 86"/>
                <a:gd name="T6" fmla="*/ 12 w 124"/>
                <a:gd name="T7" fmla="*/ 44 h 86"/>
                <a:gd name="T8" fmla="*/ 0 w 124"/>
                <a:gd name="T9" fmla="*/ 67 h 86"/>
                <a:gd name="T10" fmla="*/ 4 w 124"/>
                <a:gd name="T11" fmla="*/ 74 h 86"/>
                <a:gd name="T12" fmla="*/ 28 w 124"/>
                <a:gd name="T13" fmla="*/ 85 h 86"/>
                <a:gd name="T14" fmla="*/ 104 w 124"/>
                <a:gd name="T15" fmla="*/ 71 h 86"/>
                <a:gd name="T16" fmla="*/ 122 w 124"/>
                <a:gd name="T17" fmla="*/ 46 h 86"/>
                <a:gd name="T18" fmla="*/ 97 w 124"/>
                <a:gd name="T19"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4" h="86">
                  <a:moveTo>
                    <a:pt x="97" y="28"/>
                  </a:moveTo>
                  <a:cubicBezTo>
                    <a:pt x="35" y="38"/>
                    <a:pt x="35" y="38"/>
                    <a:pt x="35" y="38"/>
                  </a:cubicBezTo>
                  <a:cubicBezTo>
                    <a:pt x="14" y="0"/>
                    <a:pt x="14" y="0"/>
                    <a:pt x="14" y="0"/>
                  </a:cubicBezTo>
                  <a:cubicBezTo>
                    <a:pt x="20" y="14"/>
                    <a:pt x="20" y="30"/>
                    <a:pt x="12" y="44"/>
                  </a:cubicBezTo>
                  <a:cubicBezTo>
                    <a:pt x="0" y="67"/>
                    <a:pt x="0" y="67"/>
                    <a:pt x="0" y="67"/>
                  </a:cubicBezTo>
                  <a:cubicBezTo>
                    <a:pt x="4" y="74"/>
                    <a:pt x="4" y="74"/>
                    <a:pt x="4" y="74"/>
                  </a:cubicBezTo>
                  <a:cubicBezTo>
                    <a:pt x="9" y="82"/>
                    <a:pt x="18" y="86"/>
                    <a:pt x="28" y="85"/>
                  </a:cubicBezTo>
                  <a:cubicBezTo>
                    <a:pt x="104" y="71"/>
                    <a:pt x="104" y="71"/>
                    <a:pt x="104" y="71"/>
                  </a:cubicBezTo>
                  <a:cubicBezTo>
                    <a:pt x="116" y="69"/>
                    <a:pt x="124" y="58"/>
                    <a:pt x="122" y="46"/>
                  </a:cubicBezTo>
                  <a:cubicBezTo>
                    <a:pt x="120" y="34"/>
                    <a:pt x="109" y="26"/>
                    <a:pt x="97" y="28"/>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8" name="Freeform 29"/>
            <p:cNvSpPr/>
            <p:nvPr/>
          </p:nvSpPr>
          <p:spPr bwMode="auto">
            <a:xfrm>
              <a:off x="1428750" y="2835275"/>
              <a:ext cx="592137" cy="736600"/>
            </a:xfrm>
            <a:custGeom>
              <a:avLst/>
              <a:gdLst>
                <a:gd name="T0" fmla="*/ 203 w 219"/>
                <a:gd name="T1" fmla="*/ 169 h 273"/>
                <a:gd name="T2" fmla="*/ 176 w 219"/>
                <a:gd name="T3" fmla="*/ 159 h 273"/>
                <a:gd name="T4" fmla="*/ 165 w 219"/>
                <a:gd name="T5" fmla="*/ 155 h 273"/>
                <a:gd name="T6" fmla="*/ 203 w 219"/>
                <a:gd name="T7" fmla="*/ 81 h 273"/>
                <a:gd name="T8" fmla="*/ 187 w 219"/>
                <a:gd name="T9" fmla="*/ 28 h 273"/>
                <a:gd name="T10" fmla="*/ 182 w 219"/>
                <a:gd name="T11" fmla="*/ 26 h 273"/>
                <a:gd name="T12" fmla="*/ 177 w 219"/>
                <a:gd name="T13" fmla="*/ 24 h 273"/>
                <a:gd name="T14" fmla="*/ 109 w 219"/>
                <a:gd name="T15" fmla="*/ 2 h 273"/>
                <a:gd name="T16" fmla="*/ 91 w 219"/>
                <a:gd name="T17" fmla="*/ 4 h 273"/>
                <a:gd name="T18" fmla="*/ 14 w 219"/>
                <a:gd name="T19" fmla="*/ 51 h 273"/>
                <a:gd name="T20" fmla="*/ 6 w 219"/>
                <a:gd name="T21" fmla="*/ 81 h 273"/>
                <a:gd name="T22" fmla="*/ 29 w 219"/>
                <a:gd name="T23" fmla="*/ 92 h 273"/>
                <a:gd name="T24" fmla="*/ 36 w 219"/>
                <a:gd name="T25" fmla="*/ 89 h 273"/>
                <a:gd name="T26" fmla="*/ 105 w 219"/>
                <a:gd name="T27" fmla="*/ 48 h 273"/>
                <a:gd name="T28" fmla="*/ 128 w 219"/>
                <a:gd name="T29" fmla="*/ 55 h 273"/>
                <a:gd name="T30" fmla="*/ 92 w 219"/>
                <a:gd name="T31" fmla="*/ 127 h 273"/>
                <a:gd name="T32" fmla="*/ 107 w 219"/>
                <a:gd name="T33" fmla="*/ 180 h 273"/>
                <a:gd name="T34" fmla="*/ 110 w 219"/>
                <a:gd name="T35" fmla="*/ 181 h 273"/>
                <a:gd name="T36" fmla="*/ 109 w 219"/>
                <a:gd name="T37" fmla="*/ 181 h 273"/>
                <a:gd name="T38" fmla="*/ 141 w 219"/>
                <a:gd name="T39" fmla="*/ 194 h 273"/>
                <a:gd name="T40" fmla="*/ 154 w 219"/>
                <a:gd name="T41" fmla="*/ 198 h 273"/>
                <a:gd name="T42" fmla="*/ 115 w 219"/>
                <a:gd name="T43" fmla="*/ 234 h 273"/>
                <a:gd name="T44" fmla="*/ 114 w 219"/>
                <a:gd name="T45" fmla="*/ 265 h 273"/>
                <a:gd name="T46" fmla="*/ 134 w 219"/>
                <a:gd name="T47" fmla="*/ 272 h 273"/>
                <a:gd name="T48" fmla="*/ 146 w 219"/>
                <a:gd name="T49" fmla="*/ 266 h 273"/>
                <a:gd name="T50" fmla="*/ 210 w 219"/>
                <a:gd name="T51" fmla="*/ 206 h 273"/>
                <a:gd name="T52" fmla="*/ 217 w 219"/>
                <a:gd name="T53" fmla="*/ 185 h 273"/>
                <a:gd name="T54" fmla="*/ 203 w 219"/>
                <a:gd name="T55" fmla="*/ 169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9" h="273">
                  <a:moveTo>
                    <a:pt x="203" y="169"/>
                  </a:moveTo>
                  <a:cubicBezTo>
                    <a:pt x="176" y="159"/>
                    <a:pt x="176" y="159"/>
                    <a:pt x="176" y="159"/>
                  </a:cubicBezTo>
                  <a:cubicBezTo>
                    <a:pt x="165" y="155"/>
                    <a:pt x="165" y="155"/>
                    <a:pt x="165" y="155"/>
                  </a:cubicBezTo>
                  <a:cubicBezTo>
                    <a:pt x="203" y="81"/>
                    <a:pt x="203" y="81"/>
                    <a:pt x="203" y="81"/>
                  </a:cubicBezTo>
                  <a:cubicBezTo>
                    <a:pt x="213" y="62"/>
                    <a:pt x="206" y="38"/>
                    <a:pt x="187" y="28"/>
                  </a:cubicBezTo>
                  <a:cubicBezTo>
                    <a:pt x="185" y="27"/>
                    <a:pt x="183" y="26"/>
                    <a:pt x="182" y="26"/>
                  </a:cubicBezTo>
                  <a:cubicBezTo>
                    <a:pt x="180" y="25"/>
                    <a:pt x="179" y="24"/>
                    <a:pt x="177" y="24"/>
                  </a:cubicBezTo>
                  <a:cubicBezTo>
                    <a:pt x="109" y="2"/>
                    <a:pt x="109" y="2"/>
                    <a:pt x="109" y="2"/>
                  </a:cubicBezTo>
                  <a:cubicBezTo>
                    <a:pt x="103" y="0"/>
                    <a:pt x="96" y="1"/>
                    <a:pt x="91" y="4"/>
                  </a:cubicBezTo>
                  <a:cubicBezTo>
                    <a:pt x="14" y="51"/>
                    <a:pt x="14" y="51"/>
                    <a:pt x="14" y="51"/>
                  </a:cubicBezTo>
                  <a:cubicBezTo>
                    <a:pt x="3" y="57"/>
                    <a:pt x="0" y="71"/>
                    <a:pt x="6" y="81"/>
                  </a:cubicBezTo>
                  <a:cubicBezTo>
                    <a:pt x="11" y="89"/>
                    <a:pt x="20" y="93"/>
                    <a:pt x="29" y="92"/>
                  </a:cubicBezTo>
                  <a:cubicBezTo>
                    <a:pt x="31" y="91"/>
                    <a:pt x="34" y="90"/>
                    <a:pt x="36" y="89"/>
                  </a:cubicBezTo>
                  <a:cubicBezTo>
                    <a:pt x="105" y="48"/>
                    <a:pt x="105" y="48"/>
                    <a:pt x="105" y="48"/>
                  </a:cubicBezTo>
                  <a:cubicBezTo>
                    <a:pt x="128" y="55"/>
                    <a:pt x="128" y="55"/>
                    <a:pt x="128" y="55"/>
                  </a:cubicBezTo>
                  <a:cubicBezTo>
                    <a:pt x="92" y="127"/>
                    <a:pt x="92" y="127"/>
                    <a:pt x="92" y="127"/>
                  </a:cubicBezTo>
                  <a:cubicBezTo>
                    <a:pt x="81" y="146"/>
                    <a:pt x="88" y="170"/>
                    <a:pt x="107" y="180"/>
                  </a:cubicBezTo>
                  <a:cubicBezTo>
                    <a:pt x="108" y="180"/>
                    <a:pt x="109" y="181"/>
                    <a:pt x="110" y="181"/>
                  </a:cubicBezTo>
                  <a:cubicBezTo>
                    <a:pt x="110" y="181"/>
                    <a:pt x="110" y="181"/>
                    <a:pt x="109" y="181"/>
                  </a:cubicBezTo>
                  <a:cubicBezTo>
                    <a:pt x="141" y="194"/>
                    <a:pt x="141" y="194"/>
                    <a:pt x="141" y="194"/>
                  </a:cubicBezTo>
                  <a:cubicBezTo>
                    <a:pt x="154" y="198"/>
                    <a:pt x="154" y="198"/>
                    <a:pt x="154" y="198"/>
                  </a:cubicBezTo>
                  <a:cubicBezTo>
                    <a:pt x="115" y="234"/>
                    <a:pt x="115" y="234"/>
                    <a:pt x="115" y="234"/>
                  </a:cubicBezTo>
                  <a:cubicBezTo>
                    <a:pt x="106" y="242"/>
                    <a:pt x="106" y="256"/>
                    <a:pt x="114" y="265"/>
                  </a:cubicBezTo>
                  <a:cubicBezTo>
                    <a:pt x="120" y="271"/>
                    <a:pt x="127" y="273"/>
                    <a:pt x="134" y="272"/>
                  </a:cubicBezTo>
                  <a:cubicBezTo>
                    <a:pt x="138" y="271"/>
                    <a:pt x="142" y="269"/>
                    <a:pt x="146" y="266"/>
                  </a:cubicBezTo>
                  <a:cubicBezTo>
                    <a:pt x="210" y="206"/>
                    <a:pt x="210" y="206"/>
                    <a:pt x="210" y="206"/>
                  </a:cubicBezTo>
                  <a:cubicBezTo>
                    <a:pt x="216" y="200"/>
                    <a:pt x="219" y="193"/>
                    <a:pt x="217" y="185"/>
                  </a:cubicBezTo>
                  <a:cubicBezTo>
                    <a:pt x="215" y="177"/>
                    <a:pt x="210" y="171"/>
                    <a:pt x="203" y="169"/>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29" name="Freeform 30"/>
            <p:cNvSpPr/>
            <p:nvPr/>
          </p:nvSpPr>
          <p:spPr bwMode="auto">
            <a:xfrm>
              <a:off x="1428750" y="3289300"/>
              <a:ext cx="315912" cy="376237"/>
            </a:xfrm>
            <a:custGeom>
              <a:avLst/>
              <a:gdLst>
                <a:gd name="T0" fmla="*/ 82 w 117"/>
                <a:gd name="T1" fmla="*/ 0 h 140"/>
                <a:gd name="T2" fmla="*/ 7 w 117"/>
                <a:gd name="T3" fmla="*/ 105 h 140"/>
                <a:gd name="T4" fmla="*/ 12 w 117"/>
                <a:gd name="T5" fmla="*/ 135 h 140"/>
                <a:gd name="T6" fmla="*/ 29 w 117"/>
                <a:gd name="T7" fmla="*/ 139 h 140"/>
                <a:gd name="T8" fmla="*/ 43 w 117"/>
                <a:gd name="T9" fmla="*/ 130 h 140"/>
                <a:gd name="T10" fmla="*/ 117 w 117"/>
                <a:gd name="T11" fmla="*/ 26 h 140"/>
                <a:gd name="T12" fmla="*/ 102 w 117"/>
                <a:gd name="T13" fmla="*/ 21 h 140"/>
                <a:gd name="T14" fmla="*/ 82 w 117"/>
                <a:gd name="T15" fmla="*/ 0 h 1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140">
                  <a:moveTo>
                    <a:pt x="82" y="0"/>
                  </a:moveTo>
                  <a:cubicBezTo>
                    <a:pt x="7" y="105"/>
                    <a:pt x="7" y="105"/>
                    <a:pt x="7" y="105"/>
                  </a:cubicBezTo>
                  <a:cubicBezTo>
                    <a:pt x="0" y="114"/>
                    <a:pt x="2" y="128"/>
                    <a:pt x="12" y="135"/>
                  </a:cubicBezTo>
                  <a:cubicBezTo>
                    <a:pt x="17" y="139"/>
                    <a:pt x="23" y="140"/>
                    <a:pt x="29" y="139"/>
                  </a:cubicBezTo>
                  <a:cubicBezTo>
                    <a:pt x="35" y="138"/>
                    <a:pt x="40" y="135"/>
                    <a:pt x="43" y="130"/>
                  </a:cubicBezTo>
                  <a:cubicBezTo>
                    <a:pt x="117" y="26"/>
                    <a:pt x="117" y="26"/>
                    <a:pt x="117" y="26"/>
                  </a:cubicBezTo>
                  <a:cubicBezTo>
                    <a:pt x="112" y="25"/>
                    <a:pt x="107" y="24"/>
                    <a:pt x="102" y="21"/>
                  </a:cubicBezTo>
                  <a:cubicBezTo>
                    <a:pt x="93" y="16"/>
                    <a:pt x="86" y="9"/>
                    <a:pt x="82" y="0"/>
                  </a:cubicBezTo>
                  <a:close/>
                </a:path>
              </a:pathLst>
            </a:custGeom>
            <a:grpFill/>
            <a:ln w="28575">
              <a:solidFill>
                <a:schemeClr val="bg1"/>
              </a:solidFill>
              <a:round/>
            </a:ln>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grpSp>
        <p:nvGrpSpPr>
          <p:cNvPr id="30" name="组合 29"/>
          <p:cNvGrpSpPr/>
          <p:nvPr/>
        </p:nvGrpSpPr>
        <p:grpSpPr>
          <a:xfrm>
            <a:off x="4145915" y="1635125"/>
            <a:ext cx="928370" cy="4601210"/>
            <a:chOff x="6467" y="2493"/>
            <a:chExt cx="1462" cy="7246"/>
          </a:xfrm>
        </p:grpSpPr>
        <p:sp>
          <p:nvSpPr>
            <p:cNvPr id="31" name="Rectangle 7"/>
            <p:cNvSpPr>
              <a:spLocks noChangeArrowheads="1"/>
            </p:cNvSpPr>
            <p:nvPr/>
          </p:nvSpPr>
          <p:spPr bwMode="auto">
            <a:xfrm>
              <a:off x="6467" y="2493"/>
              <a:ext cx="1462" cy="6805"/>
            </a:xfrm>
            <a:prstGeom prst="rect">
              <a:avLst/>
            </a:prstGeom>
            <a:gradFill>
              <a:gsLst>
                <a:gs pos="0">
                  <a:srgbClr val="2C344B"/>
                </a:gs>
                <a:gs pos="100000">
                  <a:srgbClr val="21273E"/>
                </a:gs>
              </a:gsLst>
            </a:gradFill>
            <a:ln w="28575">
              <a:noFill/>
              <a:round/>
            </a:ln>
            <a:effec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2" name="Oval 21"/>
            <p:cNvSpPr>
              <a:spLocks noChangeArrowheads="1"/>
            </p:cNvSpPr>
            <p:nvPr/>
          </p:nvSpPr>
          <p:spPr bwMode="auto">
            <a:xfrm>
              <a:off x="6709" y="8755"/>
              <a:ext cx="985" cy="985"/>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ea typeface="Adobe 黑体 Std R" panose="020B0400000000000000" charset="-122"/>
              </a:endParaRPr>
            </a:p>
          </p:txBody>
        </p:sp>
        <p:grpSp>
          <p:nvGrpSpPr>
            <p:cNvPr id="33" name="组合 32"/>
            <p:cNvGrpSpPr/>
            <p:nvPr/>
          </p:nvGrpSpPr>
          <p:grpSpPr>
            <a:xfrm>
              <a:off x="7019" y="9010"/>
              <a:ext cx="365" cy="365"/>
              <a:chOff x="5153025" y="5711825"/>
              <a:chExt cx="231775" cy="231775"/>
            </a:xfrm>
            <a:gradFill>
              <a:gsLst>
                <a:gs pos="0">
                  <a:srgbClr val="2C344B"/>
                </a:gs>
                <a:gs pos="100000">
                  <a:srgbClr val="21273E"/>
                </a:gs>
              </a:gsLst>
              <a:lin ang="0" scaled="0"/>
            </a:gradFill>
            <a:effectLst/>
          </p:grpSpPr>
          <p:sp>
            <p:nvSpPr>
              <p:cNvPr id="35" name="Freeform 22"/>
              <p:cNvSpPr>
                <a:spLocks noEditPoints="1"/>
              </p:cNvSpPr>
              <p:nvPr/>
            </p:nvSpPr>
            <p:spPr bwMode="auto">
              <a:xfrm>
                <a:off x="5214938" y="5711825"/>
                <a:ext cx="169862" cy="169862"/>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6" name="Freeform 23"/>
              <p:cNvSpPr/>
              <p:nvPr/>
            </p:nvSpPr>
            <p:spPr bwMode="auto">
              <a:xfrm>
                <a:off x="5153025" y="5778500"/>
                <a:ext cx="77787" cy="69850"/>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7" name="Freeform 24"/>
              <p:cNvSpPr/>
              <p:nvPr/>
            </p:nvSpPr>
            <p:spPr bwMode="auto">
              <a:xfrm>
                <a:off x="5246688" y="5865813"/>
                <a:ext cx="71437" cy="77787"/>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8" name="Freeform 25"/>
              <p:cNvSpPr/>
              <p:nvPr/>
            </p:nvSpPr>
            <p:spPr bwMode="auto">
              <a:xfrm>
                <a:off x="5214938" y="5843588"/>
                <a:ext cx="38100" cy="38100"/>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sp>
            <p:nvSpPr>
              <p:cNvPr id="39" name="Freeform 26"/>
              <p:cNvSpPr/>
              <p:nvPr/>
            </p:nvSpPr>
            <p:spPr bwMode="auto">
              <a:xfrm>
                <a:off x="5160963" y="5865813"/>
                <a:ext cx="76200" cy="74612"/>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400" dirty="0">
                  <a:solidFill>
                    <a:prstClr val="black"/>
                  </a:solidFill>
                  <a:ea typeface="Adobe 黑体 Std R" panose="020B0400000000000000" charset="-122"/>
                </a:endParaRPr>
              </a:p>
            </p:txBody>
          </p:sp>
        </p:grpSp>
        <p:sp>
          <p:nvSpPr>
            <p:cNvPr id="34" name="矩形 33"/>
            <p:cNvSpPr/>
            <p:nvPr/>
          </p:nvSpPr>
          <p:spPr>
            <a:xfrm rot="16200000">
              <a:off x="6166" y="4750"/>
              <a:ext cx="2136" cy="919"/>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Four</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sp>
        <p:nvSpPr>
          <p:cNvPr id="49" name="矩形 48"/>
          <p:cNvSpPr/>
          <p:nvPr/>
        </p:nvSpPr>
        <p:spPr>
          <a:xfrm rot="16200000">
            <a:off x="2595245" y="3451225"/>
            <a:ext cx="163957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Three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50" name="矩形 49"/>
          <p:cNvSpPr/>
          <p:nvPr/>
        </p:nvSpPr>
        <p:spPr>
          <a:xfrm rot="16200000">
            <a:off x="1614805" y="412178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  Two</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51" name="矩形 50"/>
          <p:cNvSpPr/>
          <p:nvPr/>
        </p:nvSpPr>
        <p:spPr>
          <a:xfrm rot="16200000">
            <a:off x="465455" y="4507865"/>
            <a:ext cx="1356360" cy="583565"/>
          </a:xfrm>
          <a:prstGeom prst="rect">
            <a:avLst/>
          </a:prstGeom>
          <a:effectLst/>
        </p:spPr>
        <p:txBody>
          <a:bodyPr wrap="square">
            <a:spAutoFit/>
          </a:bodyPr>
          <a:lstStyle/>
          <a:p>
            <a:r>
              <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rPr>
              <a:t>One</a:t>
            </a:r>
            <a:endParaRPr lang="en-US" altLang="zh-CN" sz="3200" b="1" dirty="0">
              <a:solidFill>
                <a:prstClr val="white"/>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79" name="矩形 78"/>
          <p:cNvSpPr/>
          <p:nvPr/>
        </p:nvSpPr>
        <p:spPr>
          <a:xfrm>
            <a:off x="5851391" y="1056907"/>
            <a:ext cx="5848034" cy="2212978"/>
          </a:xfrm>
          <a:prstGeom prst="rect">
            <a:avLst/>
          </a:prstGeom>
        </p:spPr>
        <p:txBody>
          <a:bodyPr wrap="square">
            <a:spAutoFit/>
          </a:bodyPr>
          <a:lstStyle/>
          <a:p>
            <a:pPr algn="l">
              <a:lnSpc>
                <a:spcPct val="130000"/>
              </a:lnSpc>
            </a:pPr>
            <a:r>
              <a:rPr lang="en-US" altLang="zh-CN" dirty="0">
                <a:solidFill>
                  <a:schemeClr val="tx1">
                    <a:lumMod val="75000"/>
                    <a:lumOff val="25000"/>
                  </a:schemeClr>
                </a:solidFill>
                <a:latin typeface="Arial" panose="020B0604020202020204" pitchFamily="34" charset="0"/>
              </a:rPr>
              <a:t>       </a:t>
            </a:r>
            <a:r>
              <a:rPr lang="zh-CN" altLang="en-US" dirty="0">
                <a:solidFill>
                  <a:schemeClr val="tx1">
                    <a:lumMod val="75000"/>
                    <a:lumOff val="25000"/>
                  </a:schemeClr>
                </a:solidFill>
                <a:latin typeface="Arial" panose="020B0604020202020204" pitchFamily="34" charset="0"/>
              </a:rPr>
              <a:t>有些应用中的排队等待问题仅按照“先来先服务”原则不能满足要求，还需要将任务的重要程度作为排队的依据。例如操作系统中的进程调度管理，每个进程都有一个优先级值表示进程的紧急程度，优先级高的进程先执行，同级进程按照先进先出原则排队等待，因此操作系统需要使用优先级队列来管理和调度进程。</a:t>
            </a:r>
            <a:endParaRPr lang="zh-CN" altLang="en-US" dirty="0">
              <a:solidFill>
                <a:schemeClr val="tx1">
                  <a:lumMod val="75000"/>
                  <a:lumOff val="25000"/>
                </a:schemeClr>
              </a:solidFill>
              <a:latin typeface="Arial" panose="020B0604020202020204" pitchFamily="34" charset="0"/>
            </a:endParaRPr>
          </a:p>
        </p:txBody>
      </p:sp>
      <p:sp>
        <p:nvSpPr>
          <p:cNvPr id="80" name="文本框 79"/>
          <p:cNvSpPr txBox="1"/>
          <p:nvPr/>
        </p:nvSpPr>
        <p:spPr>
          <a:xfrm>
            <a:off x="5851391" y="3504517"/>
            <a:ext cx="5709010" cy="1477328"/>
          </a:xfrm>
          <a:prstGeom prst="rect">
            <a:avLst/>
          </a:prstGeom>
          <a:noFill/>
        </p:spPr>
        <p:txBody>
          <a:bodyPr wrap="square" rtlCol="0">
            <a:spAutoFit/>
          </a:bodyPr>
          <a:lstStyle/>
          <a:p>
            <a:r>
              <a:rPr lang="en-US" altLang="zh-CN" dirty="0"/>
              <a:t>       </a:t>
            </a:r>
            <a:r>
              <a:rPr lang="zh-CN" altLang="en-US" dirty="0"/>
              <a:t>优先级队列是在普通队列的基础之上将队列中的数据元素按照关键字的值进行有序排列。优先级队列在队首进行删除操作，但为了保证队列的优先级顺序，插入操作不一定在队尾进行，而是按照优先级插入到队列的合适位置。</a:t>
            </a:r>
            <a:endParaRPr lang="zh-CN" altLang="en-US" dirty="0"/>
          </a:p>
        </p:txBody>
      </p:sp>
      <p:sp>
        <p:nvSpPr>
          <p:cNvPr id="81" name="文本框 80"/>
          <p:cNvSpPr txBox="1"/>
          <p:nvPr/>
        </p:nvSpPr>
        <p:spPr>
          <a:xfrm>
            <a:off x="5851391" y="5216477"/>
            <a:ext cx="5709010" cy="923330"/>
          </a:xfrm>
          <a:prstGeom prst="rect">
            <a:avLst/>
          </a:prstGeom>
          <a:noFill/>
        </p:spPr>
        <p:txBody>
          <a:bodyPr wrap="square" rtlCol="0">
            <a:spAutoFit/>
          </a:bodyPr>
          <a:lstStyle/>
          <a:p>
            <a:r>
              <a:rPr lang="en-US" altLang="zh-CN" dirty="0"/>
              <a:t>       </a:t>
            </a:r>
            <a:r>
              <a:rPr lang="zh-CN" altLang="en-US" dirty="0"/>
              <a:t>和其他数据结构类似，优先级队列也可以采用顺序和链式两种存储结构。但为了快速地访问优先级高的元素以及快速地插入数据元素，通常使用链式存储结构。</a:t>
            </a:r>
            <a:endParaRPr lang="zh-CN" altLang="en-US" dirty="0"/>
          </a:p>
        </p:txBody>
      </p:sp>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优先级队列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4275640" y="1239432"/>
            <a:ext cx="3073679" cy="448071"/>
          </a:xfrm>
          <a:prstGeom prst="rect">
            <a:avLst/>
          </a:prstGeom>
        </p:spPr>
        <p:txBody>
          <a:bodyPr wrap="square">
            <a:spAutoFit/>
          </a:bodyPr>
          <a:lstStyle/>
          <a:p>
            <a:pPr algn="l">
              <a:lnSpc>
                <a:spcPct val="130000"/>
              </a:lnSpc>
            </a:pPr>
            <a:r>
              <a:rPr lang="zh-CN" altLang="en-US" sz="2000" dirty="0">
                <a:solidFill>
                  <a:schemeClr val="tx1">
                    <a:lumMod val="75000"/>
                    <a:lumOff val="25000"/>
                  </a:schemeClr>
                </a:solidFill>
                <a:latin typeface="Arial" panose="020B0604020202020204" pitchFamily="34" charset="0"/>
              </a:rPr>
              <a:t>优先级队列结点类描述</a:t>
            </a:r>
            <a:endParaRPr lang="zh-CN" altLang="en-US" sz="2000" dirty="0">
              <a:solidFill>
                <a:schemeClr val="tx1">
                  <a:lumMod val="75000"/>
                  <a:lumOff val="25000"/>
                </a:schemeClr>
              </a:solidFill>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2129796" y="2137719"/>
            <a:ext cx="7365365" cy="1873885"/>
          </a:xfrm>
          <a:prstGeom prst="rect">
            <a:avLst/>
          </a:prstGeom>
        </p:spPr>
      </p:pic>
      <p:sp>
        <p:nvSpPr>
          <p:cNvPr id="7" name="文本框 6"/>
          <p:cNvSpPr txBox="1"/>
          <p:nvPr/>
        </p:nvSpPr>
        <p:spPr>
          <a:xfrm>
            <a:off x="3198349" y="4538816"/>
            <a:ext cx="5228258" cy="645160"/>
          </a:xfrm>
          <a:prstGeom prst="rect">
            <a:avLst/>
          </a:prstGeom>
          <a:noFill/>
        </p:spPr>
        <p:txBody>
          <a:bodyPr wrap="square" rtlCol="0">
            <a:spAutoFit/>
          </a:bodyPr>
          <a:lstStyle/>
          <a:p>
            <a:r>
              <a:rPr lang="zh-CN" altLang="en-US" dirty="0"/>
              <a:t>在此优先队级列中，数据元素的优先级别依据优先数的大小进行判定，即优先数越小优先级别越大。</a:t>
            </a:r>
            <a:endParaRPr lang="zh-CN" altLang="en-US" dirty="0"/>
          </a:p>
        </p:txBody>
      </p:sp>
    </p:spTree>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优先级队列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6644138" y="1796096"/>
            <a:ext cx="3869055" cy="4288790"/>
          </a:xfrm>
          <a:prstGeom prst="rect">
            <a:avLst/>
          </a:prstGeom>
        </p:spPr>
      </p:pic>
      <p:sp>
        <p:nvSpPr>
          <p:cNvPr id="9" name="矩形 8"/>
          <p:cNvSpPr/>
          <p:nvPr/>
        </p:nvSpPr>
        <p:spPr>
          <a:xfrm>
            <a:off x="4109232" y="1134539"/>
            <a:ext cx="3369741" cy="448071"/>
          </a:xfrm>
          <a:prstGeom prst="rect">
            <a:avLst/>
          </a:prstGeom>
        </p:spPr>
        <p:txBody>
          <a:bodyPr wrap="square">
            <a:spAutoFit/>
          </a:bodyPr>
          <a:lstStyle/>
          <a:p>
            <a:pPr algn="l">
              <a:lnSpc>
                <a:spcPct val="130000"/>
              </a:lnSpc>
            </a:pPr>
            <a:r>
              <a:rPr lang="zh-CN" altLang="en-US" sz="2000" dirty="0">
                <a:solidFill>
                  <a:schemeClr val="tx1">
                    <a:lumMod val="75000"/>
                    <a:lumOff val="25000"/>
                  </a:schemeClr>
                </a:solidFill>
                <a:latin typeface="Arial" panose="020B0604020202020204" pitchFamily="34" charset="0"/>
              </a:rPr>
              <a:t>优先级队列类的描述及实现</a:t>
            </a:r>
            <a:endParaRPr lang="zh-CN" altLang="en-US" sz="2000" dirty="0">
              <a:solidFill>
                <a:schemeClr val="tx1">
                  <a:lumMod val="75000"/>
                  <a:lumOff val="25000"/>
                </a:schemeClr>
              </a:solidFill>
              <a:latin typeface="Arial" panose="020B0604020202020204" pitchFamily="34" charset="0"/>
            </a:endParaRPr>
          </a:p>
        </p:txBody>
      </p:sp>
      <p:pic>
        <p:nvPicPr>
          <p:cNvPr id="10" name="图片 9"/>
          <p:cNvPicPr>
            <a:picLocks noChangeAspect="1"/>
          </p:cNvPicPr>
          <p:nvPr/>
        </p:nvPicPr>
        <p:blipFill>
          <a:blip r:embed="rId2"/>
          <a:stretch>
            <a:fillRect/>
          </a:stretch>
        </p:blipFill>
        <p:spPr>
          <a:xfrm>
            <a:off x="1089944" y="1935479"/>
            <a:ext cx="4566920" cy="4010025"/>
          </a:xfrm>
          <a:prstGeom prst="rect">
            <a:avLst/>
          </a:prstGeom>
        </p:spPr>
      </p:pic>
    </p:spTree>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优先级队列</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3817452" y="939267"/>
            <a:ext cx="4557096" cy="448071"/>
          </a:xfrm>
          <a:prstGeom prst="rect">
            <a:avLst/>
          </a:prstGeom>
        </p:spPr>
        <p:txBody>
          <a:bodyPr wrap="square">
            <a:spAutoFit/>
          </a:bodyPr>
          <a:lstStyle/>
          <a:p>
            <a:pPr algn="l">
              <a:lnSpc>
                <a:spcPct val="130000"/>
              </a:lnSpc>
            </a:pPr>
            <a:r>
              <a:rPr lang="zh-CN" altLang="en-US" sz="2000" dirty="0">
                <a:solidFill>
                  <a:schemeClr val="tx1">
                    <a:lumMod val="75000"/>
                    <a:lumOff val="25000"/>
                  </a:schemeClr>
                </a:solidFill>
                <a:latin typeface="Arial" panose="020B0604020202020204" pitchFamily="34" charset="0"/>
              </a:rPr>
              <a:t>（续）优先级队列类的描述及实现</a:t>
            </a:r>
            <a:endParaRPr lang="zh-CN" altLang="en-US" sz="2000" dirty="0">
              <a:solidFill>
                <a:schemeClr val="tx1">
                  <a:lumMod val="75000"/>
                  <a:lumOff val="25000"/>
                </a:schemeClr>
              </a:solidFill>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977718" y="1552530"/>
            <a:ext cx="4685506" cy="4600695"/>
          </a:xfrm>
          <a:prstGeom prst="rect">
            <a:avLst/>
          </a:prstGeom>
        </p:spPr>
      </p:pic>
      <p:pic>
        <p:nvPicPr>
          <p:cNvPr id="7" name="图片 6"/>
          <p:cNvPicPr>
            <a:picLocks noChangeAspect="1"/>
          </p:cNvPicPr>
          <p:nvPr/>
        </p:nvPicPr>
        <p:blipFill>
          <a:blip r:embed="rId2"/>
          <a:stretch>
            <a:fillRect/>
          </a:stretch>
        </p:blipFill>
        <p:spPr>
          <a:xfrm>
            <a:off x="6096000" y="1644155"/>
            <a:ext cx="6052052" cy="4509070"/>
          </a:xfrm>
          <a:prstGeom prst="rect">
            <a:avLst/>
          </a:prstGeom>
        </p:spPr>
      </p:pic>
    </p:spTree>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例题</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sp>
        <p:nvSpPr>
          <p:cNvPr id="5" name="矩形 4"/>
          <p:cNvSpPr/>
          <p:nvPr/>
        </p:nvSpPr>
        <p:spPr>
          <a:xfrm>
            <a:off x="901871" y="1317836"/>
            <a:ext cx="10262870" cy="891540"/>
          </a:xfrm>
          <a:prstGeom prst="rect">
            <a:avLst/>
          </a:prstGeom>
        </p:spPr>
        <p:txBody>
          <a:bodyPr wrap="square">
            <a:spAutoFit/>
          </a:bodyPr>
          <a:lstStyle/>
          <a:p>
            <a:pPr algn="l">
              <a:lnSpc>
                <a:spcPct val="130000"/>
              </a:lnSpc>
            </a:pPr>
            <a:r>
              <a:rPr lang="zh-CN" altLang="en-US" sz="2000" b="1" dirty="0">
                <a:solidFill>
                  <a:schemeClr val="tx1">
                    <a:lumMod val="75000"/>
                    <a:lumOff val="25000"/>
                  </a:schemeClr>
                </a:solidFill>
                <a:latin typeface="Arial" panose="020B0604020202020204" pitchFamily="34" charset="0"/>
              </a:rPr>
              <a:t>利用优先级队列模仿操作系统的进程管理问题，要求优先级高的进程先获得CPU，优先级相同的进程先到的先获得CPU。假设操作系统中的进程由进程号和进程优先级两部分组成。</a:t>
            </a:r>
            <a:endParaRPr lang="zh-CN" altLang="en-US" sz="2000" b="1" dirty="0">
              <a:solidFill>
                <a:schemeClr val="tx1">
                  <a:lumMod val="75000"/>
                  <a:lumOff val="25000"/>
                </a:schemeClr>
              </a:solidFill>
              <a:latin typeface="Arial" panose="020B0604020202020204" pitchFamily="34" charset="0"/>
            </a:endParaRPr>
          </a:p>
        </p:txBody>
      </p:sp>
      <p:pic>
        <p:nvPicPr>
          <p:cNvPr id="6" name="图片 5"/>
          <p:cNvPicPr>
            <a:picLocks noChangeAspect="1"/>
          </p:cNvPicPr>
          <p:nvPr/>
        </p:nvPicPr>
        <p:blipFill>
          <a:blip r:embed="rId1"/>
          <a:stretch>
            <a:fillRect/>
          </a:stretch>
        </p:blipFill>
        <p:spPr>
          <a:xfrm>
            <a:off x="3872401" y="2466145"/>
            <a:ext cx="4321810" cy="3583940"/>
          </a:xfrm>
          <a:prstGeom prst="rect">
            <a:avLst/>
          </a:prstGeom>
        </p:spPr>
      </p:pic>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ym typeface="+mn-ea"/>
              </a:rPr>
              <a:t>栈与队列的比较</a:t>
            </a:r>
            <a:endParaRPr lang="zh-CN" altLang="en-US" dirty="0">
              <a:sym typeface="+mn-ea"/>
            </a:endParaRPr>
          </a:p>
        </p:txBody>
      </p:sp>
      <p:sp>
        <p:nvSpPr>
          <p:cNvPr id="4" name="灯片编号占位符 3"/>
          <p:cNvSpPr>
            <a:spLocks noGrp="1"/>
          </p:cNvSpPr>
          <p:nvPr>
            <p:ph type="sldNum" sz="quarter" idx="12"/>
          </p:nvPr>
        </p:nvSpPr>
        <p:spPr/>
        <p:txBody>
          <a:bodyPr/>
          <a:lstStyle/>
          <a:p>
            <a:fld id="{D96DE7E8-BD74-40B2-922D-194240FC5D5C}" type="slidenum">
              <a:rPr lang="zh-CN" altLang="en-US" smtClean="0"/>
            </a:fld>
            <a:endParaRPr lang="zh-CN" altLang="en-US"/>
          </a:p>
        </p:txBody>
      </p:sp>
      <p:graphicFrame>
        <p:nvGraphicFramePr>
          <p:cNvPr id="8" name="表格 7"/>
          <p:cNvGraphicFramePr/>
          <p:nvPr>
            <p:custDataLst>
              <p:tags r:id="rId1"/>
            </p:custDataLst>
          </p:nvPr>
        </p:nvGraphicFramePr>
        <p:xfrm>
          <a:off x="2152959" y="1807527"/>
          <a:ext cx="8090535" cy="3242945"/>
        </p:xfrm>
        <a:graphic>
          <a:graphicData uri="http://schemas.openxmlformats.org/drawingml/2006/table">
            <a:tbl>
              <a:tblPr firstRow="1" bandRow="1">
                <a:tableStyleId>{5940675A-B579-460E-94D1-54222C63F5DA}</a:tableStyleId>
              </a:tblPr>
              <a:tblGrid>
                <a:gridCol w="1102360"/>
                <a:gridCol w="6988175"/>
              </a:tblGrid>
              <a:tr h="1945640">
                <a:tc>
                  <a:txBody>
                    <a:bodyPr/>
                    <a:lstStyle/>
                    <a:p>
                      <a:pPr indent="0" algn="ctr">
                        <a:buNone/>
                      </a:pPr>
                      <a:endParaRPr lang="en-US" sz="2000" b="0">
                        <a:solidFill>
                          <a:srgbClr val="656565"/>
                        </a:solidFill>
                        <a:latin typeface="等线" panose="02010600030101010101" charset="-122"/>
                        <a:ea typeface="等线" panose="02010600030101010101" charset="-122"/>
                        <a:cs typeface="等线" panose="02010600030101010101" charset="-122"/>
                      </a:endParaRPr>
                    </a:p>
                    <a:p>
                      <a:pPr indent="0" algn="ctr">
                        <a:buNone/>
                      </a:pPr>
                      <a:endParaRPr lang="en-US" sz="2000" b="0">
                        <a:solidFill>
                          <a:srgbClr val="656565"/>
                        </a:solidFill>
                        <a:latin typeface="等线" panose="02010600030101010101" charset="-122"/>
                        <a:ea typeface="等线" panose="02010600030101010101" charset="-122"/>
                        <a:cs typeface="等线" panose="02010600030101010101" charset="-122"/>
                      </a:endParaRPr>
                    </a:p>
                    <a:p>
                      <a:pPr indent="0" algn="ctr">
                        <a:buNone/>
                      </a:pPr>
                      <a:endParaRPr lang="en-US" sz="2000" b="0">
                        <a:solidFill>
                          <a:srgbClr val="656565"/>
                        </a:solidFill>
                        <a:latin typeface="等线" panose="02010600030101010101" charset="-122"/>
                        <a:ea typeface="等线" panose="02010600030101010101" charset="-122"/>
                        <a:cs typeface="等线" panose="02010600030101010101" charset="-122"/>
                      </a:endParaRPr>
                    </a:p>
                    <a:p>
                      <a:pPr indent="0" algn="ctr">
                        <a:buNone/>
                      </a:pPr>
                      <a:r>
                        <a:rPr lang="en-US" sz="2000" b="0">
                          <a:solidFill>
                            <a:srgbClr val="656565"/>
                          </a:solidFill>
                          <a:latin typeface="等线" panose="02010600030101010101" charset="-122"/>
                          <a:ea typeface="等线" panose="02010600030101010101" charset="-122"/>
                          <a:cs typeface="等线" panose="02010600030101010101" charset="-122"/>
                        </a:rPr>
                        <a:t>相同点</a:t>
                      </a:r>
                      <a:endParaRPr lang="en-US" altLang="en-US" sz="2000" b="0">
                        <a:solidFill>
                          <a:srgbClr val="656565"/>
                        </a:solidFill>
                        <a:latin typeface="等线" panose="02010600030101010101" charset="-122"/>
                        <a:ea typeface="等线" panose="02010600030101010101" charset="-122"/>
                        <a:cs typeface="等线" panose="0201060003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sz="2000" b="0" dirty="0">
                        <a:solidFill>
                          <a:srgbClr val="656565"/>
                        </a:solidFill>
                        <a:latin typeface="等线" panose="02010600030101010101" charset="-122"/>
                        <a:ea typeface="等线" panose="02010600030101010101" charset="-122"/>
                        <a:cs typeface="等线" panose="02010600030101010101" charset="-122"/>
                      </a:endParaRPr>
                    </a:p>
                    <a:p>
                      <a:pPr indent="0">
                        <a:buNone/>
                      </a:pPr>
                      <a:r>
                        <a:rPr lang="en-US" sz="2000" b="0" dirty="0">
                          <a:solidFill>
                            <a:srgbClr val="656565"/>
                          </a:solidFill>
                          <a:latin typeface="等线" panose="02010600030101010101" charset="-122"/>
                          <a:ea typeface="等线" panose="02010600030101010101" charset="-122"/>
                          <a:cs typeface="等线" panose="02010600030101010101" charset="-122"/>
                        </a:rPr>
                        <a:t>（1） </a:t>
                      </a:r>
                      <a:r>
                        <a:rPr lang="en-US" sz="2000" b="0" dirty="0" err="1">
                          <a:solidFill>
                            <a:srgbClr val="656565"/>
                          </a:solidFill>
                          <a:latin typeface="等线" panose="02010600030101010101" charset="-122"/>
                          <a:ea typeface="等线" panose="02010600030101010101" charset="-122"/>
                          <a:cs typeface="等线" panose="02010600030101010101" charset="-122"/>
                        </a:rPr>
                        <a:t>均为线性结构，数据元素间具有“一对一”的逻辑关系</a:t>
                      </a:r>
                      <a:r>
                        <a:rPr lang="en-US" sz="2000" b="0" dirty="0">
                          <a:solidFill>
                            <a:srgbClr val="656565"/>
                          </a:solidFill>
                          <a:latin typeface="等线" panose="02010600030101010101" charset="-122"/>
                          <a:ea typeface="等线" panose="02010600030101010101" charset="-122"/>
                          <a:cs typeface="等线" panose="02010600030101010101" charset="-122"/>
                        </a:rPr>
                        <a:t>； （2） </a:t>
                      </a:r>
                      <a:r>
                        <a:rPr lang="en-US" sz="2000" b="0" dirty="0" err="1">
                          <a:solidFill>
                            <a:srgbClr val="656565"/>
                          </a:solidFill>
                          <a:latin typeface="等线" panose="02010600030101010101" charset="-122"/>
                          <a:ea typeface="等线" panose="02010600030101010101" charset="-122"/>
                          <a:cs typeface="等线" panose="02010600030101010101" charset="-122"/>
                        </a:rPr>
                        <a:t>都有顺序存储和链式存储两种实现方式</a:t>
                      </a:r>
                      <a:r>
                        <a:rPr lang="en-US" sz="2000" b="0" dirty="0">
                          <a:solidFill>
                            <a:srgbClr val="656565"/>
                          </a:solidFill>
                          <a:latin typeface="等线" panose="02010600030101010101" charset="-122"/>
                          <a:ea typeface="等线" panose="02010600030101010101" charset="-122"/>
                          <a:cs typeface="等线" panose="02010600030101010101" charset="-122"/>
                        </a:rPr>
                        <a:t>； </a:t>
                      </a:r>
                      <a:endParaRPr lang="en-US" sz="2000" b="0" dirty="0">
                        <a:solidFill>
                          <a:srgbClr val="656565"/>
                        </a:solidFill>
                        <a:latin typeface="等线" panose="02010600030101010101" charset="-122"/>
                        <a:ea typeface="等线" panose="02010600030101010101" charset="-122"/>
                        <a:cs typeface="等线" panose="02010600030101010101" charset="-122"/>
                      </a:endParaRPr>
                    </a:p>
                    <a:p>
                      <a:pPr indent="0">
                        <a:buNone/>
                      </a:pPr>
                      <a:r>
                        <a:rPr lang="en-US" sz="2000" b="0" dirty="0">
                          <a:solidFill>
                            <a:srgbClr val="656565"/>
                          </a:solidFill>
                          <a:latin typeface="等线" panose="02010600030101010101" charset="-122"/>
                          <a:ea typeface="等线" panose="02010600030101010101" charset="-122"/>
                          <a:cs typeface="等线" panose="02010600030101010101" charset="-122"/>
                        </a:rPr>
                        <a:t>（3） </a:t>
                      </a:r>
                      <a:r>
                        <a:rPr lang="en-US" sz="2000" b="0" dirty="0" err="1">
                          <a:solidFill>
                            <a:srgbClr val="656565"/>
                          </a:solidFill>
                          <a:latin typeface="等线" panose="02010600030101010101" charset="-122"/>
                          <a:ea typeface="等线" panose="02010600030101010101" charset="-122"/>
                          <a:cs typeface="等线" panose="02010600030101010101" charset="-122"/>
                        </a:rPr>
                        <a:t>操作受限，插入操作均在表尾进行</a:t>
                      </a:r>
                      <a:r>
                        <a:rPr lang="en-US" sz="2000" b="0" dirty="0">
                          <a:solidFill>
                            <a:srgbClr val="656565"/>
                          </a:solidFill>
                          <a:latin typeface="等线" panose="02010600030101010101" charset="-122"/>
                          <a:ea typeface="等线" panose="02010600030101010101" charset="-122"/>
                          <a:cs typeface="等线" panose="02010600030101010101" charset="-122"/>
                        </a:rPr>
                        <a:t>(</a:t>
                      </a:r>
                      <a:r>
                        <a:rPr lang="en-US" sz="2000" b="0" dirty="0" err="1">
                          <a:solidFill>
                            <a:srgbClr val="656565"/>
                          </a:solidFill>
                          <a:latin typeface="等线" panose="02010600030101010101" charset="-122"/>
                          <a:ea typeface="等线" panose="02010600030101010101" charset="-122"/>
                          <a:cs typeface="等线" panose="02010600030101010101" charset="-122"/>
                        </a:rPr>
                        <a:t>优先级队列除外</a:t>
                      </a:r>
                      <a:r>
                        <a:rPr lang="en-US" sz="2000" b="0" dirty="0">
                          <a:solidFill>
                            <a:srgbClr val="656565"/>
                          </a:solidFill>
                          <a:latin typeface="等线" panose="02010600030101010101" charset="-122"/>
                          <a:ea typeface="等线" panose="02010600030101010101" charset="-122"/>
                          <a:cs typeface="等线" panose="02010600030101010101" charset="-122"/>
                        </a:rPr>
                        <a:t>)； （4） </a:t>
                      </a:r>
                      <a:r>
                        <a:rPr lang="en-US" sz="2000" b="0" dirty="0" err="1">
                          <a:solidFill>
                            <a:srgbClr val="656565"/>
                          </a:solidFill>
                          <a:latin typeface="等线" panose="02010600030101010101" charset="-122"/>
                          <a:ea typeface="等线" panose="02010600030101010101" charset="-122"/>
                          <a:cs typeface="等线" panose="02010600030101010101" charset="-122"/>
                        </a:rPr>
                        <a:t>插入与删除操作都具有常数时间</a:t>
                      </a:r>
                      <a:endParaRPr lang="en-US" altLang="en-US" sz="2000" b="0" dirty="0">
                        <a:solidFill>
                          <a:srgbClr val="656565"/>
                        </a:solidFill>
                        <a:latin typeface="等线" panose="02010600030101010101" charset="-122"/>
                        <a:ea typeface="等线" panose="02010600030101010101" charset="-122"/>
                        <a:cs typeface="等线" panose="0201060003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97305">
                <a:tc>
                  <a:txBody>
                    <a:bodyPr/>
                    <a:lstStyle/>
                    <a:p>
                      <a:pPr indent="0" algn="ctr">
                        <a:buNone/>
                      </a:pPr>
                      <a:endParaRPr lang="en-US" sz="2000" b="0">
                        <a:solidFill>
                          <a:srgbClr val="656565"/>
                        </a:solidFill>
                        <a:latin typeface="等线" panose="02010600030101010101" charset="-122"/>
                        <a:ea typeface="等线" panose="02010600030101010101" charset="-122"/>
                        <a:cs typeface="等线" panose="02010600030101010101" charset="-122"/>
                      </a:endParaRPr>
                    </a:p>
                    <a:p>
                      <a:pPr indent="0" algn="ctr">
                        <a:buNone/>
                      </a:pPr>
                      <a:r>
                        <a:rPr lang="en-US" sz="2000" b="0">
                          <a:solidFill>
                            <a:srgbClr val="656565"/>
                          </a:solidFill>
                          <a:latin typeface="等线" panose="02010600030101010101" charset="-122"/>
                          <a:ea typeface="等线" panose="02010600030101010101" charset="-122"/>
                          <a:cs typeface="等线" panose="02010600030101010101" charset="-122"/>
                        </a:rPr>
                        <a:t>不同点</a:t>
                      </a:r>
                      <a:endParaRPr lang="en-US" altLang="en-US" sz="2000" b="0">
                        <a:solidFill>
                          <a:srgbClr val="656565"/>
                        </a:solidFill>
                        <a:latin typeface="等线" panose="02010600030101010101" charset="-122"/>
                        <a:ea typeface="等线" panose="02010600030101010101" charset="-122"/>
                        <a:cs typeface="等线" panose="0201060003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sz="2000" b="0" dirty="0">
                        <a:solidFill>
                          <a:srgbClr val="656565"/>
                        </a:solidFill>
                        <a:latin typeface="等线" panose="02010600030101010101" charset="-122"/>
                        <a:ea typeface="等线" panose="02010600030101010101" charset="-122"/>
                        <a:cs typeface="等线" panose="02010600030101010101" charset="-122"/>
                      </a:endParaRPr>
                    </a:p>
                    <a:p>
                      <a:pPr indent="0">
                        <a:buNone/>
                      </a:pPr>
                      <a:r>
                        <a:rPr lang="en-US" sz="2000" b="0" dirty="0">
                          <a:solidFill>
                            <a:srgbClr val="656565"/>
                          </a:solidFill>
                          <a:latin typeface="等线" panose="02010600030101010101" charset="-122"/>
                          <a:ea typeface="等线" panose="02010600030101010101" charset="-122"/>
                          <a:cs typeface="等线" panose="02010600030101010101" charset="-122"/>
                        </a:rPr>
                        <a:t>（1） </a:t>
                      </a:r>
                      <a:r>
                        <a:rPr lang="en-US" sz="2000" b="0" dirty="0" err="1">
                          <a:solidFill>
                            <a:srgbClr val="656565"/>
                          </a:solidFill>
                          <a:latin typeface="等线" panose="02010600030101010101" charset="-122"/>
                          <a:ea typeface="等线" panose="02010600030101010101" charset="-122"/>
                          <a:cs typeface="等线" panose="02010600030101010101" charset="-122"/>
                        </a:rPr>
                        <a:t>栈删除操作在表尾进行，具有后进先出特性</a:t>
                      </a:r>
                      <a:r>
                        <a:rPr lang="en-US" sz="2000" b="0" dirty="0">
                          <a:solidFill>
                            <a:srgbClr val="656565"/>
                          </a:solidFill>
                          <a:latin typeface="等线" panose="02010600030101010101" charset="-122"/>
                          <a:ea typeface="等线" panose="02010600030101010101" charset="-122"/>
                          <a:cs typeface="等线" panose="02010600030101010101" charset="-122"/>
                        </a:rPr>
                        <a:t>； </a:t>
                      </a:r>
                      <a:r>
                        <a:rPr lang="en-US" sz="2000" b="0" dirty="0" err="1">
                          <a:solidFill>
                            <a:srgbClr val="656565"/>
                          </a:solidFill>
                          <a:latin typeface="等线" panose="02010600030101010101" charset="-122"/>
                          <a:ea typeface="等线" panose="02010600030101010101" charset="-122"/>
                          <a:cs typeface="等线" panose="02010600030101010101" charset="-122"/>
                        </a:rPr>
                        <a:t>队列的删除操作在表头进行，具有先进先出特性</a:t>
                      </a:r>
                      <a:r>
                        <a:rPr lang="en-US" sz="2000" b="0" dirty="0">
                          <a:solidFill>
                            <a:srgbClr val="656565"/>
                          </a:solidFill>
                          <a:latin typeface="等线" panose="02010600030101010101" charset="-122"/>
                          <a:ea typeface="等线" panose="02010600030101010101" charset="-122"/>
                          <a:cs typeface="等线" panose="02010600030101010101" charset="-122"/>
                        </a:rPr>
                        <a:t>。</a:t>
                      </a:r>
                      <a:endParaRPr lang="en-US" sz="2000" b="0" dirty="0">
                        <a:solidFill>
                          <a:srgbClr val="656565"/>
                        </a:solidFill>
                        <a:latin typeface="等线" panose="02010600030101010101" charset="-122"/>
                        <a:ea typeface="等线" panose="02010600030101010101" charset="-122"/>
                        <a:cs typeface="等线" panose="02010600030101010101" charset="-122"/>
                      </a:endParaRPr>
                    </a:p>
                    <a:p>
                      <a:pPr indent="0">
                        <a:buNone/>
                      </a:pPr>
                      <a:r>
                        <a:rPr lang="en-US" sz="2000" b="0" dirty="0">
                          <a:solidFill>
                            <a:srgbClr val="656565"/>
                          </a:solidFill>
                          <a:latin typeface="等线" panose="02010600030101010101" charset="-122"/>
                          <a:ea typeface="等线" panose="02010600030101010101" charset="-122"/>
                          <a:cs typeface="等线" panose="02010600030101010101" charset="-122"/>
                        </a:rPr>
                        <a:t>（2） </a:t>
                      </a:r>
                      <a:r>
                        <a:rPr lang="en-US" sz="2000" b="0" dirty="0" err="1">
                          <a:solidFill>
                            <a:srgbClr val="656565"/>
                          </a:solidFill>
                          <a:latin typeface="等线" panose="02010600030101010101" charset="-122"/>
                          <a:ea typeface="等线" panose="02010600030101010101" charset="-122"/>
                          <a:cs typeface="等线" panose="02010600030101010101" charset="-122"/>
                        </a:rPr>
                        <a:t>顺序栈可以实现多栈空间共享，而顺序队列则不同</a:t>
                      </a:r>
                      <a:endParaRPr lang="en-US" altLang="en-US" sz="2000" b="0" dirty="0">
                        <a:solidFill>
                          <a:srgbClr val="656565"/>
                        </a:solidFill>
                        <a:latin typeface="等线" panose="02010600030101010101" charset="-122"/>
                        <a:ea typeface="等线" panose="02010600030101010101" charset="-122"/>
                        <a:cs typeface="等线" panose="02010600030101010101"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000" y="360663"/>
            <a:ext cx="11833200" cy="700405"/>
          </a:xfrm>
        </p:spPr>
        <p:txBody>
          <a:bodyPr/>
          <a:lstStyle/>
          <a:p>
            <a:r>
              <a:rPr lang="zh-CN" altLang="en-US" dirty="0">
                <a:solidFill>
                  <a:schemeClr val="accent2"/>
                </a:solidFill>
                <a:sym typeface="+mn-ea"/>
              </a:rPr>
              <a:t>小结</a:t>
            </a:r>
            <a:endParaRPr lang="zh-CN" altLang="en-US" dirty="0"/>
          </a:p>
        </p:txBody>
      </p:sp>
      <p:sp>
        <p:nvSpPr>
          <p:cNvPr id="4" name="灯片编号占位符 3"/>
          <p:cNvSpPr>
            <a:spLocks noGrp="1"/>
          </p:cNvSpPr>
          <p:nvPr>
            <p:ph type="sldNum" sz="quarter" idx="12"/>
          </p:nvPr>
        </p:nvSpPr>
        <p:spPr>
          <a:xfrm>
            <a:off x="9270000" y="6365239"/>
            <a:ext cx="2743200" cy="365125"/>
          </a:xfrm>
        </p:spPr>
        <p:txBody>
          <a:bodyPr/>
          <a:lstStyle/>
          <a:p>
            <a:fld id="{D96DE7E8-BD74-40B2-922D-194240FC5D5C}" type="slidenum">
              <a:rPr lang="zh-CN" altLang="en-US" smtClean="0"/>
            </a:fld>
            <a:endParaRPr lang="zh-CN" altLang="en-US"/>
          </a:p>
        </p:txBody>
      </p:sp>
      <p:sp>
        <p:nvSpPr>
          <p:cNvPr id="13" name="Shape 539"/>
          <p:cNvSpPr/>
          <p:nvPr/>
        </p:nvSpPr>
        <p:spPr>
          <a:xfrm>
            <a:off x="7128510" y="887096"/>
            <a:ext cx="4083126" cy="153543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4" name="Shape 540"/>
          <p:cNvSpPr/>
          <p:nvPr/>
        </p:nvSpPr>
        <p:spPr>
          <a:xfrm>
            <a:off x="6741160" y="1939290"/>
            <a:ext cx="695960" cy="6451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6" name="Shape 542"/>
          <p:cNvSpPr/>
          <p:nvPr/>
        </p:nvSpPr>
        <p:spPr>
          <a:xfrm>
            <a:off x="548586" y="1215638"/>
            <a:ext cx="4613048" cy="153543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7" name="Shape 543"/>
          <p:cNvSpPr/>
          <p:nvPr/>
        </p:nvSpPr>
        <p:spPr>
          <a:xfrm>
            <a:off x="5062220" y="1939290"/>
            <a:ext cx="649605" cy="6451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19" name="Shape 545"/>
          <p:cNvSpPr/>
          <p:nvPr/>
        </p:nvSpPr>
        <p:spPr>
          <a:xfrm>
            <a:off x="7118985" y="4119880"/>
            <a:ext cx="4659033" cy="159853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0" name="Shape 546"/>
          <p:cNvSpPr/>
          <p:nvPr/>
        </p:nvSpPr>
        <p:spPr>
          <a:xfrm>
            <a:off x="6731635" y="3959225"/>
            <a:ext cx="695960" cy="6451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2" name="Shape 548"/>
          <p:cNvSpPr/>
          <p:nvPr/>
        </p:nvSpPr>
        <p:spPr>
          <a:xfrm>
            <a:off x="803540" y="3916877"/>
            <a:ext cx="4258680" cy="185928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lnTo>
                  <a:pt x="21600" y="21600"/>
                </a:lnTo>
                <a:cubicBezTo>
                  <a:pt x="21600" y="21600"/>
                  <a:pt x="0" y="21600"/>
                  <a:pt x="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23" name="Shape 549"/>
          <p:cNvSpPr/>
          <p:nvPr/>
        </p:nvSpPr>
        <p:spPr>
          <a:xfrm>
            <a:off x="5062220" y="3959225"/>
            <a:ext cx="649605" cy="64516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603"/>
                </a:lnTo>
                <a:lnTo>
                  <a:pt x="18808" y="0"/>
                </a:lnTo>
                <a:lnTo>
                  <a:pt x="0" y="5417"/>
                </a:lnTo>
                <a:cubicBezTo>
                  <a:pt x="0" y="5417"/>
                  <a:pt x="0" y="21600"/>
                  <a:pt x="0" y="21600"/>
                </a:cubicBezTo>
                <a:close/>
              </a:path>
            </a:pathLst>
          </a:custGeom>
          <a:solidFill>
            <a:schemeClr val="dk2">
              <a:lumMod val="100000"/>
            </a:schemeClr>
          </a:solidFill>
          <a:ln w="12700" cap="flat">
            <a:noFill/>
            <a:miter lim="400000"/>
          </a:ln>
          <a:effectLst/>
        </p:spPr>
        <p:txBody>
          <a:bodyPr wrap="square" lIns="38096" tIns="38096" rIns="38096" bIns="38096" numCol="1" anchor="ctr">
            <a:noAutofit/>
          </a:bodyPr>
          <a:lstStyle/>
          <a:p>
            <a:pPr algn="ctr">
              <a:lnSpc>
                <a:spcPct val="120000"/>
              </a:lnSpc>
              <a:spcBef>
                <a:spcPts val="3375"/>
              </a:spcBef>
            </a:pPr>
            <a:endParaRPr sz="2275" dirty="0">
              <a:solidFill>
                <a:srgbClr val="000000"/>
              </a:solidFill>
              <a:latin typeface="+mn-lt"/>
              <a:cs typeface="+mn-ea"/>
              <a:sym typeface="+mn-lt"/>
            </a:endParaRPr>
          </a:p>
        </p:txBody>
      </p:sp>
      <p:sp>
        <p:nvSpPr>
          <p:cNvPr id="25" name="Shape 562"/>
          <p:cNvSpPr/>
          <p:nvPr/>
        </p:nvSpPr>
        <p:spPr>
          <a:xfrm>
            <a:off x="1127125" y="3181985"/>
            <a:ext cx="24765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28" name="Shape 572"/>
          <p:cNvSpPr/>
          <p:nvPr/>
        </p:nvSpPr>
        <p:spPr>
          <a:xfrm>
            <a:off x="9476105" y="3185160"/>
            <a:ext cx="265430" cy="140335"/>
          </a:xfrm>
          <a:prstGeom prst="rect">
            <a:avLst/>
          </a:prstGeom>
          <a:solidFill>
            <a:schemeClr val="bg1"/>
          </a:solidFill>
          <a:ln w="12700" cap="flat">
            <a:noFill/>
            <a:miter lim="400000"/>
          </a:ln>
          <a:effectLst/>
        </p:spPr>
        <p:txBody>
          <a:bodyPr wrap="square" lIns="38096" tIns="38096" rIns="38096" bIns="38096" numCol="1" anchor="ctr">
            <a:noAutofit/>
          </a:bodyP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30" name="Shape 551"/>
          <p:cNvSpPr/>
          <p:nvPr/>
        </p:nvSpPr>
        <p:spPr>
          <a:xfrm>
            <a:off x="5228807" y="2269837"/>
            <a:ext cx="1997728" cy="199772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2"/>
          </a:solidFill>
          <a:ln w="12700">
            <a:miter lim="400000"/>
          </a:ln>
        </p:spPr>
        <p:txBody>
          <a:bodyPr lIns="38096" tIns="38096" rIns="38096" bIns="38096" anchor="ctr"/>
          <a:lstStyle/>
          <a:p>
            <a:pPr algn="ctr">
              <a:lnSpc>
                <a:spcPct val="120000"/>
              </a:lnSpc>
              <a:spcBef>
                <a:spcPts val="3375"/>
              </a:spcBef>
              <a:defRPr sz="2500">
                <a:latin typeface="Aller Light"/>
                <a:ea typeface="Aller Light"/>
                <a:cs typeface="Aller Light"/>
                <a:sym typeface="Aller Light"/>
              </a:defRPr>
            </a:pPr>
            <a:endParaRPr sz="2275" dirty="0">
              <a:solidFill>
                <a:srgbClr val="000000"/>
              </a:solidFill>
              <a:latin typeface="+mn-lt"/>
              <a:cs typeface="+mn-ea"/>
              <a:sym typeface="+mn-lt"/>
            </a:endParaRPr>
          </a:p>
        </p:txBody>
      </p:sp>
      <p:sp>
        <p:nvSpPr>
          <p:cNvPr id="45" name="椭圆 44"/>
          <p:cNvSpPr/>
          <p:nvPr/>
        </p:nvSpPr>
        <p:spPr>
          <a:xfrm>
            <a:off x="5363154" y="2422513"/>
            <a:ext cx="1728600" cy="1728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lnSpc>
                <a:spcPct val="120000"/>
              </a:lnSpc>
              <a:spcBef>
                <a:spcPct val="0"/>
              </a:spcBef>
              <a:spcAft>
                <a:spcPct val="0"/>
              </a:spcAft>
            </a:pPr>
            <a:r>
              <a:rPr lang="zh-CN" altLang="en-US" sz="4000" b="1" dirty="0">
                <a:solidFill>
                  <a:srgbClr val="FFFFFF"/>
                </a:solidFill>
                <a:cs typeface="+mn-ea"/>
                <a:sym typeface="+mn-lt"/>
              </a:rPr>
              <a:t>小结</a:t>
            </a:r>
            <a:endParaRPr lang="zh-CN" altLang="en-US" sz="2700" b="1" dirty="0">
              <a:solidFill>
                <a:srgbClr val="FFFFFF"/>
              </a:solidFill>
              <a:cs typeface="+mn-ea"/>
              <a:sym typeface="+mn-lt"/>
            </a:endParaRPr>
          </a:p>
        </p:txBody>
      </p:sp>
      <p:sp>
        <p:nvSpPr>
          <p:cNvPr id="46" name="Text Placeholder 33"/>
          <p:cNvSpPr txBox="1"/>
          <p:nvPr/>
        </p:nvSpPr>
        <p:spPr>
          <a:xfrm>
            <a:off x="958030" y="4107853"/>
            <a:ext cx="3949700" cy="1477328"/>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r>
              <a:rPr lang="en-US" altLang="zh-CN" sz="1800" dirty="0">
                <a:solidFill>
                  <a:schemeClr val="bg1"/>
                </a:solidFill>
                <a:latin typeface="+mn-lt"/>
                <a:ea typeface="+mn-ea"/>
                <a:cs typeface="+mn-ea"/>
                <a:sym typeface="+mn-lt"/>
              </a:rPr>
              <a:t>(2) </a:t>
            </a:r>
            <a:r>
              <a:rPr lang="zh-CN" altLang="en-US" sz="1800" dirty="0">
                <a:solidFill>
                  <a:schemeClr val="bg1"/>
                </a:solidFill>
                <a:latin typeface="+mn-lt"/>
                <a:ea typeface="+mn-ea"/>
                <a:cs typeface="+mn-ea"/>
                <a:sym typeface="+mn-lt"/>
              </a:rPr>
              <a:t>队列是一种特殊的线性表，它只允许在表头进行删除操作、在表尾进行插入操作，具有先进先出的特性，各种运算的时间复杂度为</a:t>
            </a:r>
            <a:r>
              <a:rPr lang="en-US" altLang="zh-CN" sz="1800" dirty="0">
                <a:solidFill>
                  <a:schemeClr val="bg1"/>
                </a:solidFill>
                <a:latin typeface="+mn-lt"/>
                <a:ea typeface="+mn-ea"/>
                <a:cs typeface="+mn-ea"/>
                <a:sym typeface="+mn-lt"/>
              </a:rPr>
              <a:t>O(1)</a:t>
            </a:r>
            <a:r>
              <a:rPr lang="zh-CN" altLang="en-US" sz="1800" dirty="0">
                <a:solidFill>
                  <a:schemeClr val="bg1"/>
                </a:solidFill>
                <a:latin typeface="+mn-lt"/>
                <a:ea typeface="+mn-ea"/>
                <a:cs typeface="+mn-ea"/>
                <a:sym typeface="+mn-lt"/>
              </a:rPr>
              <a:t>。队列采用顺序存储结构或者链式存储结构。</a:t>
            </a:r>
            <a:endParaRPr lang="zh-CN" altLang="en-US" sz="1800" dirty="0">
              <a:solidFill>
                <a:schemeClr val="bg1"/>
              </a:solidFill>
              <a:latin typeface="+mn-lt"/>
              <a:ea typeface="+mn-ea"/>
              <a:cs typeface="+mn-ea"/>
              <a:sym typeface="+mn-lt"/>
            </a:endParaRPr>
          </a:p>
        </p:txBody>
      </p:sp>
      <p:sp>
        <p:nvSpPr>
          <p:cNvPr id="50" name="Text Placeholder 33"/>
          <p:cNvSpPr txBox="1"/>
          <p:nvPr/>
        </p:nvSpPr>
        <p:spPr>
          <a:xfrm>
            <a:off x="2050415" y="3116580"/>
            <a:ext cx="2378075" cy="306705"/>
          </a:xfrm>
          <a:prstGeom prst="rect">
            <a:avLst/>
          </a:prstGeom>
          <a:noFill/>
        </p:spPr>
        <p:txBody>
          <a:bodyPr wrap="square" rtlCol="0">
            <a:spAutoFit/>
          </a:bodyPr>
          <a:lstStyle>
            <a:defPPr>
              <a:defRPr lang="en-US"/>
            </a:defPPr>
            <a:lvl1pPr defTabSz="1219200">
              <a:lnSpc>
                <a:spcPct val="100000"/>
              </a:lnSpc>
              <a:spcBef>
                <a:spcPct val="20000"/>
              </a:spcBef>
              <a:defRPr sz="2800" b="1">
                <a:solidFill>
                  <a:srgbClr val="54578E"/>
                </a:solidFill>
                <a:latin typeface="Arial" panose="020B0604020202020204" pitchFamily="34" charset="0"/>
                <a:ea typeface="微软雅黑" panose="020B0503020204020204" charset="-122"/>
              </a:defRPr>
            </a:lvl1pPr>
          </a:lstStyle>
          <a:p>
            <a:r>
              <a:rPr lang="zh-CN" altLang="en-US" sz="1400" dirty="0">
                <a:solidFill>
                  <a:schemeClr val="bg1"/>
                </a:solidFill>
                <a:latin typeface="+mn-lt"/>
                <a:ea typeface="+mn-ea"/>
                <a:cs typeface="+mn-ea"/>
                <a:sym typeface="+mn-lt"/>
              </a:rPr>
              <a:t>商业策略</a:t>
            </a:r>
            <a:endParaRPr lang="en-AU" altLang="zh-CN" sz="1400" dirty="0">
              <a:solidFill>
                <a:schemeClr val="bg1"/>
              </a:solidFill>
              <a:latin typeface="+mn-lt"/>
              <a:ea typeface="+mn-ea"/>
              <a:cs typeface="+mn-ea"/>
              <a:sym typeface="+mn-lt"/>
            </a:endParaRPr>
          </a:p>
        </p:txBody>
      </p:sp>
      <p:sp>
        <p:nvSpPr>
          <p:cNvPr id="32" name="文本框 31"/>
          <p:cNvSpPr txBox="1"/>
          <p:nvPr/>
        </p:nvSpPr>
        <p:spPr>
          <a:xfrm>
            <a:off x="647239" y="1236962"/>
            <a:ext cx="4434297" cy="1492781"/>
          </a:xfrm>
          <a:prstGeom prst="rect">
            <a:avLst/>
          </a:prstGeom>
          <a:noFill/>
        </p:spPr>
        <p:txBody>
          <a:bodyPr wrap="square">
            <a:spAutoFit/>
          </a:bodyPr>
          <a:lstStyle/>
          <a:p>
            <a:pPr algn="l">
              <a:lnSpc>
                <a:spcPct val="130000"/>
              </a:lnSpc>
            </a:pPr>
            <a:r>
              <a:rPr lang="zh-CN" altLang="en-US" sz="1800" dirty="0">
                <a:solidFill>
                  <a:schemeClr val="bg1"/>
                </a:solidFill>
                <a:latin typeface="Arial" panose="020B0604020202020204" pitchFamily="34" charset="0"/>
              </a:rPr>
              <a:t>(1) 栈是一种特殊的线性表，它只允许在栈顶进行插入和删除操作，具有后进先出的特性，各种运算的时间复杂度为O(1)。栈采用顺序存储结构或者链式存储结构。</a:t>
            </a:r>
            <a:endParaRPr lang="zh-CN" altLang="en-US" sz="1800" dirty="0">
              <a:solidFill>
                <a:schemeClr val="bg1"/>
              </a:solidFill>
              <a:latin typeface="Arial" panose="020B0604020202020204" pitchFamily="34" charset="0"/>
            </a:endParaRPr>
          </a:p>
        </p:txBody>
      </p:sp>
      <p:sp>
        <p:nvSpPr>
          <p:cNvPr id="34" name="文本框 33"/>
          <p:cNvSpPr txBox="1"/>
          <p:nvPr/>
        </p:nvSpPr>
        <p:spPr>
          <a:xfrm>
            <a:off x="7364673" y="1201209"/>
            <a:ext cx="3680670" cy="772584"/>
          </a:xfrm>
          <a:prstGeom prst="rect">
            <a:avLst/>
          </a:prstGeom>
          <a:noFill/>
        </p:spPr>
        <p:txBody>
          <a:bodyPr wrap="square">
            <a:spAutoFit/>
          </a:bodyPr>
          <a:lstStyle/>
          <a:p>
            <a:pPr algn="l">
              <a:lnSpc>
                <a:spcPct val="130000"/>
              </a:lnSpc>
            </a:pPr>
            <a:r>
              <a:rPr lang="zh-CN" altLang="en-US" sz="1800" dirty="0">
                <a:solidFill>
                  <a:schemeClr val="bg1"/>
                </a:solidFill>
                <a:latin typeface="Arial" panose="020B0604020202020204" pitchFamily="34" charset="0"/>
              </a:rPr>
              <a:t>(3) 循环队列是将顺序队列的首尾相连，解决“假溢出”现象的发生。</a:t>
            </a:r>
            <a:endParaRPr lang="zh-CN" altLang="en-US" sz="1800" dirty="0">
              <a:solidFill>
                <a:schemeClr val="bg1"/>
              </a:solidFill>
              <a:latin typeface="Arial" panose="020B0604020202020204" pitchFamily="34" charset="0"/>
            </a:endParaRPr>
          </a:p>
        </p:txBody>
      </p:sp>
      <p:sp>
        <p:nvSpPr>
          <p:cNvPr id="36" name="文本框 35"/>
          <p:cNvSpPr txBox="1"/>
          <p:nvPr/>
        </p:nvSpPr>
        <p:spPr>
          <a:xfrm>
            <a:off x="7253766" y="4151113"/>
            <a:ext cx="4439730" cy="1492781"/>
          </a:xfrm>
          <a:prstGeom prst="rect">
            <a:avLst/>
          </a:prstGeom>
          <a:noFill/>
        </p:spPr>
        <p:txBody>
          <a:bodyPr wrap="square">
            <a:spAutoFit/>
          </a:bodyPr>
          <a:lstStyle/>
          <a:p>
            <a:pPr algn="l">
              <a:lnSpc>
                <a:spcPct val="130000"/>
              </a:lnSpc>
            </a:pPr>
            <a:r>
              <a:rPr lang="zh-CN" altLang="en-US" sz="1800" dirty="0">
                <a:solidFill>
                  <a:schemeClr val="bg1"/>
                </a:solidFill>
                <a:latin typeface="Arial" panose="020B0604020202020204" pitchFamily="34" charset="0"/>
              </a:rPr>
              <a:t>(4) 优先级队列是在普通队列的基础之上将队列中的数据元素按照关键字的值进行有序排列。在表头进行删除操作，插入操作按照优先级插入到队列的合适位置。</a:t>
            </a:r>
            <a:endParaRPr lang="zh-CN" altLang="en-US" sz="1800" dirty="0">
              <a:solidFill>
                <a:schemeClr val="bg1"/>
              </a:solidFill>
              <a:latin typeface="Arial" panose="020B0604020202020204" pitchFamily="34" charset="0"/>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8"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zh-CN" altLang="en-US"/>
              <a:t>谢谢观看</a:t>
            </a:r>
            <a:endParaRPr lang="zh-CN" altLang="en-US"/>
          </a:p>
        </p:txBody>
      </p:sp>
    </p:spTree>
  </p:cSld>
  <p:clrMapOvr>
    <a:masterClrMapping/>
  </p:clrMapOvr>
  <p:transition>
    <p:cover dir="d"/>
  </p:transition>
</p:sld>
</file>

<file path=ppt/tags/tag1.xml><?xml version="1.0" encoding="utf-8"?>
<p:tagLst xmlns:p="http://schemas.openxmlformats.org/presentationml/2006/main">
  <p:tag name="KSO_WM_UNIT_TABLE_BEAUTIFY" val="smartTable{47327c75-7a8e-4deb-8bc2-cf09aa08f9b2}"/>
  <p:tag name="TABLE_ENDDRAG_ORIGIN_RECT" val="637*255"/>
  <p:tag name="TABLE_ENDDRAG_RECT" val="167*161*637*255"/>
</p:tagLst>
</file>

<file path=ppt/theme/theme1.xml><?xml version="1.0" encoding="utf-8"?>
<a:theme xmlns:a="http://schemas.openxmlformats.org/drawingml/2006/main" name="功能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内容样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4132</Words>
  <Application>WPS 演示</Application>
  <PresentationFormat>宽屏</PresentationFormat>
  <Paragraphs>339</Paragraphs>
  <Slides>37</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37</vt:i4>
      </vt:variant>
    </vt:vector>
  </HeadingPairs>
  <TitlesOfParts>
    <vt:vector size="60" baseType="lpstr">
      <vt:lpstr>Arial</vt:lpstr>
      <vt:lpstr>宋体</vt:lpstr>
      <vt:lpstr>Wingdings</vt:lpstr>
      <vt:lpstr>微软雅黑</vt:lpstr>
      <vt:lpstr>黑体</vt:lpstr>
      <vt:lpstr>Arial Unicode MS</vt:lpstr>
      <vt:lpstr>等线</vt:lpstr>
      <vt:lpstr>Times New Roman</vt:lpstr>
      <vt:lpstr>Adobe 黑体 Std R</vt:lpstr>
      <vt:lpstr>Segoe UI Semilight</vt:lpstr>
      <vt:lpstr>Dotum</vt:lpstr>
      <vt:lpstr>Malgun Gothic</vt:lpstr>
      <vt:lpstr>Aller Light</vt:lpstr>
      <vt:lpstr>Calibri</vt:lpstr>
      <vt:lpstr>Segoe Print</vt:lpstr>
      <vt:lpstr>Adobe 黑体 Std R</vt:lpstr>
      <vt:lpstr>Aller Light</vt:lpstr>
      <vt:lpstr>Dotum</vt:lpstr>
      <vt:lpstr>GalaxyText Std</vt:lpstr>
      <vt:lpstr>Century</vt:lpstr>
      <vt:lpstr>Windsor Std Light</vt:lpstr>
      <vt:lpstr>功能页</vt:lpstr>
      <vt:lpstr>内容样式</vt:lpstr>
      <vt:lpstr>第3章 栈和队列 </vt:lpstr>
      <vt:lpstr>目录</vt:lpstr>
      <vt:lpstr>栈的基本概念</vt:lpstr>
      <vt:lpstr>栈的抽象数据类型描述</vt:lpstr>
      <vt:lpstr>栈的抽象数据类型描述</vt:lpstr>
      <vt:lpstr>顺序栈：Python描述</vt:lpstr>
      <vt:lpstr>顺序栈的入栈操作</vt:lpstr>
      <vt:lpstr>顺序栈的出栈操作</vt:lpstr>
      <vt:lpstr>例题</vt:lpstr>
      <vt:lpstr>链栈</vt:lpstr>
      <vt:lpstr>链栈</vt:lpstr>
      <vt:lpstr>链栈的入栈操作</vt:lpstr>
      <vt:lpstr>链栈的出栈操作</vt:lpstr>
      <vt:lpstr>PowerPoint 演示文稿</vt:lpstr>
      <vt:lpstr>例题</vt:lpstr>
      <vt:lpstr>例题</vt:lpstr>
      <vt:lpstr>例题</vt:lpstr>
      <vt:lpstr>队列的基本概念</vt:lpstr>
      <vt:lpstr>队列的抽象数据类型描述</vt:lpstr>
      <vt:lpstr>队列的抽象数据类型描述</vt:lpstr>
      <vt:lpstr>顺序队列</vt:lpstr>
      <vt:lpstr>顺序队列</vt:lpstr>
      <vt:lpstr>循环队列</vt:lpstr>
      <vt:lpstr>循环队列</vt:lpstr>
      <vt:lpstr>循环队列</vt:lpstr>
      <vt:lpstr>例题</vt:lpstr>
      <vt:lpstr>例题</vt:lpstr>
      <vt:lpstr>链队列</vt:lpstr>
      <vt:lpstr>链队列</vt:lpstr>
      <vt:lpstr>优先级队列</vt:lpstr>
      <vt:lpstr>优先级队列</vt:lpstr>
      <vt:lpstr>优先级队列</vt:lpstr>
      <vt:lpstr>优先级队列</vt:lpstr>
      <vt:lpstr>例题</vt:lpstr>
      <vt:lpstr>栈与队列的比较</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王渌汀</dc:creator>
  <cp:lastModifiedBy>邝昊鹏</cp:lastModifiedBy>
  <cp:revision>37</cp:revision>
  <dcterms:created xsi:type="dcterms:W3CDTF">2021-03-21T07:29:00Z</dcterms:created>
  <dcterms:modified xsi:type="dcterms:W3CDTF">2026-01-15T15:21:34Z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046FD6F105A74F039A0C7BB3242C974C_12</vt:lpwstr>
  </property>
</Properties>
</file>