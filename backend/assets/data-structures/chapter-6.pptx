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2" r:id="rId3"/>
    <p:sldMasterId id="2147483662" r:id="rId4"/>
  </p:sldMasterIdLst>
  <p:notesMasterIdLst>
    <p:notesMasterId r:id="rId87"/>
  </p:notesMasterIdLst>
  <p:sldIdLst>
    <p:sldId id="256" r:id="rId5"/>
    <p:sldId id="257" r:id="rId6"/>
    <p:sldId id="266" r:id="rId7"/>
    <p:sldId id="295" r:id="rId8"/>
    <p:sldId id="296" r:id="rId9"/>
    <p:sldId id="297" r:id="rId10"/>
    <p:sldId id="298" r:id="rId11"/>
    <p:sldId id="343" r:id="rId12"/>
    <p:sldId id="299" r:id="rId13"/>
    <p:sldId id="300" r:id="rId14"/>
    <p:sldId id="301" r:id="rId15"/>
    <p:sldId id="260"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314" r:id="rId29"/>
    <p:sldId id="315" r:id="rId30"/>
    <p:sldId id="316" r:id="rId31"/>
    <p:sldId id="317" r:id="rId32"/>
    <p:sldId id="318" r:id="rId33"/>
    <p:sldId id="319" r:id="rId34"/>
    <p:sldId id="320" r:id="rId35"/>
    <p:sldId id="321" r:id="rId36"/>
    <p:sldId id="322" r:id="rId37"/>
    <p:sldId id="323" r:id="rId38"/>
    <p:sldId id="324" r:id="rId39"/>
    <p:sldId id="325" r:id="rId40"/>
    <p:sldId id="326" r:id="rId41"/>
    <p:sldId id="327" r:id="rId42"/>
    <p:sldId id="328" r:id="rId43"/>
    <p:sldId id="329" r:id="rId44"/>
    <p:sldId id="330" r:id="rId45"/>
    <p:sldId id="331" r:id="rId46"/>
    <p:sldId id="332" r:id="rId47"/>
    <p:sldId id="333" r:id="rId48"/>
    <p:sldId id="334" r:id="rId49"/>
    <p:sldId id="335" r:id="rId50"/>
    <p:sldId id="336" r:id="rId51"/>
    <p:sldId id="337" r:id="rId52"/>
    <p:sldId id="338" r:id="rId53"/>
    <p:sldId id="339" r:id="rId54"/>
    <p:sldId id="340" r:id="rId55"/>
    <p:sldId id="258" r:id="rId56"/>
    <p:sldId id="259" r:id="rId57"/>
    <p:sldId id="289" r:id="rId58"/>
    <p:sldId id="290" r:id="rId59"/>
    <p:sldId id="272" r:id="rId60"/>
    <p:sldId id="291" r:id="rId61"/>
    <p:sldId id="273" r:id="rId62"/>
    <p:sldId id="267" r:id="rId63"/>
    <p:sldId id="269" r:id="rId64"/>
    <p:sldId id="274" r:id="rId65"/>
    <p:sldId id="292" r:id="rId66"/>
    <p:sldId id="293" r:id="rId67"/>
    <p:sldId id="275" r:id="rId68"/>
    <p:sldId id="344" r:id="rId69"/>
    <p:sldId id="345" r:id="rId70"/>
    <p:sldId id="276" r:id="rId71"/>
    <p:sldId id="277" r:id="rId72"/>
    <p:sldId id="278" r:id="rId73"/>
    <p:sldId id="294" r:id="rId74"/>
    <p:sldId id="268" r:id="rId75"/>
    <p:sldId id="270" r:id="rId76"/>
    <p:sldId id="279" r:id="rId77"/>
    <p:sldId id="281" r:id="rId78"/>
    <p:sldId id="282" r:id="rId79"/>
    <p:sldId id="280" r:id="rId80"/>
    <p:sldId id="283" r:id="rId81"/>
    <p:sldId id="284" r:id="rId82"/>
    <p:sldId id="285" r:id="rId83"/>
    <p:sldId id="286" r:id="rId84"/>
    <p:sldId id="287" r:id="rId85"/>
    <p:sldId id="288" r:id="rId86"/>
  </p:sldIdLst>
  <p:sldSz cx="12192000" cy="6858000"/>
  <p:notesSz cx="6858000" cy="9144000"/>
  <p:embeddedFontLst>
    <p:embeddedFont>
      <p:font typeface="黑体" panose="02010609060101010101" pitchFamily="49" charset="-122"/>
      <p:regular r:id="rId92"/>
    </p:embeddedFont>
    <p:embeddedFont>
      <p:font typeface="Cambria Math" panose="02040503050406030204" pitchFamily="18" charset="0"/>
      <p:regular r:id="rId93"/>
    </p:embeddedFont>
    <p:embeddedFont>
      <p:font typeface="微软雅黑" panose="020B0503020204020204" pitchFamily="34" charset="-122"/>
      <p:regular r:id="rId94"/>
    </p:embeddedFont>
    <p:embeddedFont>
      <p:font typeface="等线" panose="02010600030101010101" charset="-122"/>
      <p:regular r:id="rId95"/>
    </p:embeddedFont>
    <p:embeddedFont>
      <p:font typeface="Cascadia Code" panose="020B0609020000020004" pitchFamily="49" charset="0"/>
      <p:regular r:id="rId96"/>
      <p:bold r:id="rId97"/>
      <p:italic r:id="rId98"/>
      <p:boldItalic r:id="rId99"/>
    </p:embeddedFont>
    <p:embeddedFont>
      <p:font typeface="Cambria" panose="02040503050406030204" pitchFamily="18" charset="0"/>
      <p:regular r:id="rId100"/>
      <p:bold r:id="rId101"/>
      <p:italic r:id="rId102"/>
      <p:boldItalic r:id="rId103"/>
    </p:embeddedFont>
    <p:embeddedFont>
      <p:font typeface="Cascadia Code" panose="020B0609020000020004"/>
      <p:regular r:id="rId104"/>
      <p:bold r:id="rId105"/>
      <p:italic r:id="rId106"/>
      <p:boldItalic r:id="rId10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DBC9361-758D-4A3A-8F28-F767BC224393}">
          <p14:sldIdLst>
            <p14:sldId id="256"/>
            <p14:sldId id="257"/>
            <p14:sldId id="266"/>
          </p14:sldIdLst>
        </p14:section>
        <p14:section name="6.1" id="{43C53743-7CFF-4E8F-8A01-4D5E71319FEA}">
          <p14:sldIdLst>
            <p14:sldId id="295"/>
            <p14:sldId id="296"/>
            <p14:sldId id="297"/>
            <p14:sldId id="298"/>
            <p14:sldId id="343"/>
            <p14:sldId id="299"/>
            <p14:sldId id="300"/>
            <p14:sldId id="301"/>
            <p14:sldId id="260"/>
          </p14:sldIdLst>
        </p14:section>
        <p14:section name="6.2" id="{3237DA9F-A91C-4687-909F-BB80FD43433F}">
          <p14:sldIdLst>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Lst>
        </p14:section>
        <p14:section name="6.3" id="{91887619-66A4-474A-971F-4E48B2EA0BD4}">
          <p14:sldIdLst>
            <p14:sldId id="328"/>
            <p14:sldId id="329"/>
            <p14:sldId id="330"/>
            <p14:sldId id="331"/>
            <p14:sldId id="332"/>
            <p14:sldId id="333"/>
            <p14:sldId id="334"/>
            <p14:sldId id="335"/>
            <p14:sldId id="336"/>
            <p14:sldId id="337"/>
            <p14:sldId id="338"/>
            <p14:sldId id="339"/>
            <p14:sldId id="340"/>
          </p14:sldIdLst>
        </p14:section>
        <p14:section name="6.4" id="{1601A860-F36C-445D-A3AF-A726C28EBBFC}">
          <p14:sldIdLst>
            <p14:sldId id="258"/>
            <p14:sldId id="259"/>
            <p14:sldId id="289"/>
            <p14:sldId id="290"/>
            <p14:sldId id="272"/>
            <p14:sldId id="291"/>
            <p14:sldId id="273"/>
          </p14:sldIdLst>
        </p14:section>
        <p14:section name="6.5" id="{E0E6D1C0-077A-43B6-AB88-2104262057CD}">
          <p14:sldIdLst>
            <p14:sldId id="267"/>
            <p14:sldId id="269"/>
            <p14:sldId id="274"/>
            <p14:sldId id="292"/>
            <p14:sldId id="293"/>
            <p14:sldId id="275"/>
            <p14:sldId id="344"/>
            <p14:sldId id="345"/>
            <p14:sldId id="276"/>
            <p14:sldId id="277"/>
            <p14:sldId id="278"/>
            <p14:sldId id="294"/>
          </p14:sldIdLst>
        </p14:section>
        <p14:section name="6.6" id="{AC2FB32C-BB2F-4DFA-8988-0AD81571F00E}">
          <p14:sldIdLst>
            <p14:sldId id="268"/>
            <p14:sldId id="270"/>
            <p14:sldId id="279"/>
            <p14:sldId id="281"/>
            <p14:sldId id="282"/>
            <p14:sldId id="280"/>
            <p14:sldId id="283"/>
            <p14:sldId id="284"/>
            <p14:sldId id="285"/>
          </p14:sldIdLst>
        </p14:section>
        <p14:section name="小结" id="{626CB809-E192-45B8-ADBB-EE2ED20944EA}">
          <p14:sldIdLst>
            <p14:sldId id="286"/>
            <p14:sldId id="287"/>
            <p14:sldId id="288"/>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云天" initials="云天"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8B7BB"/>
    <a:srgbClr val="93C3D3"/>
    <a:srgbClr val="2F637E"/>
    <a:srgbClr val="11373F"/>
    <a:srgbClr val="F88562"/>
    <a:srgbClr val="6D8B9A"/>
    <a:srgbClr val="A7B1B7"/>
    <a:srgbClr val="FED1A9"/>
    <a:srgbClr val="FAAA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73" d="100"/>
          <a:sy n="73" d="100"/>
        </p:scale>
        <p:origin x="4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font" Target="fonts/font8.fntdata"/><Relationship Id="rId98" Type="http://schemas.openxmlformats.org/officeDocument/2006/relationships/font" Target="fonts/font7.fntdata"/><Relationship Id="rId97" Type="http://schemas.openxmlformats.org/officeDocument/2006/relationships/font" Target="fonts/font6.fntdata"/><Relationship Id="rId96" Type="http://schemas.openxmlformats.org/officeDocument/2006/relationships/font" Target="fonts/font5.fntdata"/><Relationship Id="rId95" Type="http://schemas.openxmlformats.org/officeDocument/2006/relationships/font" Target="fonts/font4.fntdata"/><Relationship Id="rId94" Type="http://schemas.openxmlformats.org/officeDocument/2006/relationships/font" Target="fonts/font3.fntdata"/><Relationship Id="rId93" Type="http://schemas.openxmlformats.org/officeDocument/2006/relationships/font" Target="fonts/font2.fntdata"/><Relationship Id="rId92" Type="http://schemas.openxmlformats.org/officeDocument/2006/relationships/font" Target="fonts/font1.fntdata"/><Relationship Id="rId91" Type="http://schemas.openxmlformats.org/officeDocument/2006/relationships/commentAuthors" Target="commentAuthors.xml"/><Relationship Id="rId90" Type="http://schemas.openxmlformats.org/officeDocument/2006/relationships/tableStyles" Target="tableStyles.xml"/><Relationship Id="rId9" Type="http://schemas.openxmlformats.org/officeDocument/2006/relationships/slide" Target="slides/slide5.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notesMaster" Target="notesMasters/notesMaster1.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7" Type="http://schemas.openxmlformats.org/officeDocument/2006/relationships/font" Target="fonts/font16.fntdata"/><Relationship Id="rId106" Type="http://schemas.openxmlformats.org/officeDocument/2006/relationships/font" Target="fonts/font15.fntdata"/><Relationship Id="rId105" Type="http://schemas.openxmlformats.org/officeDocument/2006/relationships/font" Target="fonts/font14.fntdata"/><Relationship Id="rId104" Type="http://schemas.openxmlformats.org/officeDocument/2006/relationships/font" Target="fonts/font13.fntdata"/><Relationship Id="rId103" Type="http://schemas.openxmlformats.org/officeDocument/2006/relationships/font" Target="fonts/font12.fntdata"/><Relationship Id="rId102" Type="http://schemas.openxmlformats.org/officeDocument/2006/relationships/font" Target="fonts/font11.fntdata"/><Relationship Id="rId101" Type="http://schemas.openxmlformats.org/officeDocument/2006/relationships/font" Target="fonts/font10.fntdata"/><Relationship Id="rId100" Type="http://schemas.openxmlformats.org/officeDocument/2006/relationships/font" Target="fonts/font9.fntdata"/><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
        <p:nvSpPr>
          <p:cNvPr id="9" name="文本框 8"/>
          <p:cNvSpPr txBox="1"/>
          <p:nvPr userDrawn="1"/>
        </p:nvSpPr>
        <p:spPr>
          <a:xfrm>
            <a:off x="7912100" y="1626732"/>
            <a:ext cx="3873500" cy="707886"/>
          </a:xfrm>
          <a:prstGeom prst="rect">
            <a:avLst/>
          </a:prstGeom>
          <a:noFill/>
        </p:spPr>
        <p:txBody>
          <a:bodyPr wrap="square" rtlCol="0">
            <a:spAutoFit/>
          </a:bodyPr>
          <a:lstStyle/>
          <a:p>
            <a:pPr algn="r"/>
            <a:r>
              <a:rPr lang="zh-CN" altLang="en-US" sz="4000" dirty="0">
                <a:solidFill>
                  <a:schemeClr val="bg1"/>
                </a:solidFill>
              </a:rPr>
              <a:t>人工智能导论</a:t>
            </a:r>
            <a:endParaRPr lang="zh-CN" altLang="en-US" sz="40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0"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0"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0.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43.png"/><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4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47.png"/><Relationship Id="rId1" Type="http://schemas.openxmlformats.org/officeDocument/2006/relationships/image" Target="../media/image4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48.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5.png"/><Relationship Id="rId1"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7.png"/><Relationship Id="rId1"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9.png"/><Relationship Id="rId1" Type="http://schemas.openxmlformats.org/officeDocument/2006/relationships/image" Target="../media/image5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0.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1.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2.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3.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5.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7.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0" y="0"/>
            <a:ext cx="12192000" cy="6858000"/>
          </a:xfrm>
          <a:prstGeom prst="rect">
            <a:avLst/>
          </a:prstGeom>
        </p:spPr>
      </p:sp>
      <p:sp>
        <p:nvSpPr>
          <p:cNvPr id="3" name="标题 2"/>
          <p:cNvSpPr>
            <a:spLocks noGrp="1"/>
          </p:cNvSpPr>
          <p:nvPr>
            <p:ph type="title"/>
          </p:nvPr>
        </p:nvSpPr>
        <p:spPr/>
        <p:txBody>
          <a:bodyPr/>
          <a:lstStyle/>
          <a:p>
            <a:r>
              <a:rPr lang="zh-CN" altLang="en-US" dirty="0" smtClean="0"/>
              <a:t>第</a:t>
            </a:r>
            <a:r>
              <a:rPr lang="en-US" altLang="zh-CN" dirty="0" smtClean="0"/>
              <a:t>6</a:t>
            </a:r>
            <a:r>
              <a:rPr lang="zh-CN" altLang="en-US" dirty="0" smtClean="0"/>
              <a:t>章 图</a:t>
            </a:r>
            <a:endParaRPr lang="zh-CN" altLang="en-US" dirty="0"/>
          </a:p>
        </p:txBody>
      </p:sp>
      <p:sp>
        <p:nvSpPr>
          <p:cNvPr id="4" name="矩形 3"/>
          <p:cNvSpPr/>
          <p:nvPr/>
        </p:nvSpPr>
        <p:spPr>
          <a:xfrm>
            <a:off x="8621758" y="1640840"/>
            <a:ext cx="3265714" cy="70539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endParaRPr lang="zh-CN" altLang="en-US" dirty="0"/>
          </a:p>
        </p:txBody>
      </p:sp>
      <p:sp>
        <p:nvSpPr>
          <p:cNvPr id="17" name="灯片编号占位符 1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grpSp>
        <p:nvGrpSpPr>
          <p:cNvPr id="28" name="组合 27"/>
          <p:cNvGrpSpPr/>
          <p:nvPr/>
        </p:nvGrpSpPr>
        <p:grpSpPr>
          <a:xfrm>
            <a:off x="3660551" y="249807"/>
            <a:ext cx="4870897" cy="4913991"/>
            <a:chOff x="3558951" y="1442358"/>
            <a:chExt cx="4870897" cy="4913991"/>
          </a:xfrm>
        </p:grpSpPr>
        <p:grpSp>
          <p:nvGrpSpPr>
            <p:cNvPr id="10" name="组合 9"/>
            <p:cNvGrpSpPr/>
            <p:nvPr/>
          </p:nvGrpSpPr>
          <p:grpSpPr>
            <a:xfrm>
              <a:off x="3558951" y="1442358"/>
              <a:ext cx="4870897" cy="817465"/>
              <a:chOff x="4873175" y="2611535"/>
              <a:chExt cx="4870897" cy="817465"/>
            </a:xfrm>
          </p:grpSpPr>
          <p:sp>
            <p:nvSpPr>
              <p:cNvPr id="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9" name="文本占位符 14"/>
              <p:cNvSpPr txBox="1"/>
              <p:nvPr/>
            </p:nvSpPr>
            <p:spPr>
              <a:xfrm>
                <a:off x="4873175" y="2611535"/>
                <a:ext cx="4870897" cy="64633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rPr>
                  <a:t>概述</a:t>
                </a:r>
                <a:endPar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endParaRPr>
              </a:p>
            </p:txBody>
          </p:sp>
        </p:grpSp>
        <p:grpSp>
          <p:nvGrpSpPr>
            <p:cNvPr id="11" name="组合 10"/>
            <p:cNvGrpSpPr/>
            <p:nvPr/>
          </p:nvGrpSpPr>
          <p:grpSpPr>
            <a:xfrm>
              <a:off x="3558951" y="2466490"/>
              <a:ext cx="4870897" cy="817465"/>
              <a:chOff x="4873175" y="2611535"/>
              <a:chExt cx="4870897" cy="817465"/>
            </a:xfrm>
          </p:grpSpPr>
          <p:sp>
            <p:nvSpPr>
              <p:cNvPr id="1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3" name="文本占位符 14"/>
              <p:cNvSpPr txBox="1"/>
              <p:nvPr/>
            </p:nvSpPr>
            <p:spPr>
              <a:xfrm>
                <a:off x="4873175" y="2611535"/>
                <a:ext cx="4870897" cy="64633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rPr>
                  <a:t>图的存储结构</a:t>
                </a:r>
                <a:endPar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endParaRPr>
              </a:p>
            </p:txBody>
          </p:sp>
        </p:grpSp>
        <p:grpSp>
          <p:nvGrpSpPr>
            <p:cNvPr id="14" name="组合 13"/>
            <p:cNvGrpSpPr/>
            <p:nvPr/>
          </p:nvGrpSpPr>
          <p:grpSpPr>
            <a:xfrm>
              <a:off x="3558951" y="3490622"/>
              <a:ext cx="4870897" cy="817465"/>
              <a:chOff x="4873175" y="2611535"/>
              <a:chExt cx="4870897" cy="817465"/>
            </a:xfrm>
          </p:grpSpPr>
          <p:sp>
            <p:nvSpPr>
              <p:cNvPr id="1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 name="文本占位符 14"/>
              <p:cNvSpPr txBox="1"/>
              <p:nvPr/>
            </p:nvSpPr>
            <p:spPr>
              <a:xfrm>
                <a:off x="4873175" y="2611535"/>
                <a:ext cx="4870897" cy="64633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rPr>
                  <a:t>图的遍历</a:t>
                </a:r>
                <a:endPar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endParaRPr>
              </a:p>
            </p:txBody>
          </p:sp>
        </p:grpSp>
        <p:grpSp>
          <p:nvGrpSpPr>
            <p:cNvPr id="19" name="组合 18"/>
            <p:cNvGrpSpPr/>
            <p:nvPr/>
          </p:nvGrpSpPr>
          <p:grpSpPr>
            <a:xfrm>
              <a:off x="3558951" y="4514753"/>
              <a:ext cx="4870897" cy="817465"/>
              <a:chOff x="4873175" y="2611535"/>
              <a:chExt cx="4870897" cy="817465"/>
            </a:xfrm>
          </p:grpSpPr>
          <p:sp>
            <p:nvSpPr>
              <p:cNvPr id="20"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21" name="文本占位符 14"/>
              <p:cNvSpPr txBox="1"/>
              <p:nvPr/>
            </p:nvSpPr>
            <p:spPr>
              <a:xfrm>
                <a:off x="4873175" y="2611535"/>
                <a:ext cx="4870897" cy="64633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rPr>
                  <a:t>最小生成树</a:t>
                </a:r>
                <a:endPar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endParaRPr>
              </a:p>
            </p:txBody>
          </p:sp>
        </p:grpSp>
        <p:grpSp>
          <p:nvGrpSpPr>
            <p:cNvPr id="22" name="组合 21"/>
            <p:cNvGrpSpPr/>
            <p:nvPr/>
          </p:nvGrpSpPr>
          <p:grpSpPr>
            <a:xfrm>
              <a:off x="3558951" y="5538884"/>
              <a:ext cx="4870897" cy="817465"/>
              <a:chOff x="4873175" y="2611535"/>
              <a:chExt cx="4870897" cy="817465"/>
            </a:xfrm>
          </p:grpSpPr>
          <p:sp>
            <p:nvSpPr>
              <p:cNvPr id="23"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24" name="文本占位符 14"/>
              <p:cNvSpPr txBox="1"/>
              <p:nvPr/>
            </p:nvSpPr>
            <p:spPr>
              <a:xfrm>
                <a:off x="4873175" y="2611535"/>
                <a:ext cx="4870897" cy="64633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rPr>
                  <a:t>最短路径</a:t>
                </a:r>
                <a:endPar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endParaRPr>
              </a:p>
            </p:txBody>
          </p:sp>
        </p:grpSp>
      </p:grpSp>
      <p:sp>
        <p:nvSpPr>
          <p:cNvPr id="2" name="任意多边形 126"/>
          <p:cNvSpPr/>
          <p:nvPr/>
        </p:nvSpPr>
        <p:spPr bwMode="auto">
          <a:xfrm>
            <a:off x="3660551" y="5961862"/>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lumMod val="60000"/>
              <a:lumOff val="40000"/>
            </a:schemeClr>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3" name="文本占位符 14"/>
          <p:cNvSpPr txBox="1"/>
          <p:nvPr/>
        </p:nvSpPr>
        <p:spPr>
          <a:xfrm>
            <a:off x="3660551" y="5315531"/>
            <a:ext cx="4870897" cy="64633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rPr>
              <a:t>拓扑排序和关键路径</a:t>
            </a:r>
            <a:endParaRPr kumimoji="0" lang="zh-CN" altLang="en-US" sz="3600" b="1" i="0" u="none" strike="noStrike" kern="1200" cap="none" spc="0" normalizeH="0" baseline="0" noProof="0" dirty="0">
              <a:ln>
                <a:noFill/>
              </a:ln>
              <a:solidFill>
                <a:srgbClr val="11373F"/>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 </a:t>
            </a:r>
            <a:r>
              <a:rPr lang="zh-CN" altLang="en-US" dirty="0"/>
              <a:t>概述</a:t>
            </a:r>
            <a:endParaRPr lang="zh-CN" altLang="en-US" dirty="0"/>
          </a:p>
        </p:txBody>
      </p:sp>
      <p:sp>
        <p:nvSpPr>
          <p:cNvPr id="3" name="内容占位符 2"/>
          <p:cNvSpPr>
            <a:spLocks noGrp="1"/>
          </p:cNvSpPr>
          <p:nvPr>
            <p:ph idx="1"/>
          </p:nvPr>
        </p:nvSpPr>
        <p:spPr/>
        <p:txBody>
          <a:bodyPr/>
          <a:lstStyle/>
          <a:p>
            <a:r>
              <a:rPr lang="zh-CN" altLang="en-US" dirty="0"/>
              <a:t>在离散数学中，图论研究图的纯数学性质； </a:t>
            </a:r>
            <a:endParaRPr lang="en-US" altLang="zh-CN" dirty="0"/>
          </a:p>
          <a:p>
            <a:r>
              <a:rPr lang="zh-CN" altLang="en-US" dirty="0"/>
              <a:t>在数据结构中，图结构研究计算机中如何存储图以及如何实现图的操作和应用。</a:t>
            </a:r>
            <a:endParaRPr lang="zh-CN" altLang="en-US" dirty="0"/>
          </a:p>
          <a:p>
            <a:r>
              <a:rPr lang="zh-CN" altLang="en-US" dirty="0"/>
              <a:t>图是刻画离散结构的一种有力工具。在运筹规划、网络研究和计算机程序流程分析中都存在图的应用问题。我们也经常用图来表达文字难以描述的信息，如城市交通图、铁路网等。</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a:bodyPr>
              <a:lstStyle/>
              <a:p>
                <a:r>
                  <a:rPr lang="zh-CN" altLang="en-US" dirty="0"/>
                  <a:t>图是一种数据元素间具有“多对多”关系的非线性数据结构，由顶点集</a:t>
                </a:r>
                <a14:m>
                  <m:oMath xmlns:m="http://schemas.openxmlformats.org/officeDocument/2006/math">
                    <m:r>
                      <a:rPr lang="en-US" altLang="zh-CN" i="1" dirty="0" smtClean="0">
                        <a:latin typeface="Cambria Math" panose="02040503050406030204" pitchFamily="18" charset="0"/>
                      </a:rPr>
                      <m:t>𝑉</m:t>
                    </m:r>
                  </m:oMath>
                </a14:m>
                <a:r>
                  <a:rPr lang="zh-CN" altLang="en-US" dirty="0"/>
                  <a:t>和边集</a:t>
                </a:r>
                <a14:m>
                  <m:oMath xmlns:m="http://schemas.openxmlformats.org/officeDocument/2006/math">
                    <m:r>
                      <a:rPr lang="en-US" altLang="zh-CN" i="1" dirty="0" smtClean="0">
                        <a:latin typeface="Cambria Math" panose="02040503050406030204" pitchFamily="18" charset="0"/>
                      </a:rPr>
                      <m:t>𝐸</m:t>
                    </m:r>
                  </m:oMath>
                </a14:m>
                <a:r>
                  <a:rPr lang="zh-CN" altLang="en-US" dirty="0"/>
                  <a:t>组成，记作</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。其中</a:t>
                </a:r>
                <a14:m>
                  <m:oMath xmlns:m="http://schemas.openxmlformats.org/officeDocument/2006/math">
                    <m:r>
                      <a:rPr lang="en-US" altLang="zh-CN" i="1" dirty="0" smtClean="0">
                        <a:latin typeface="Cambria Math" panose="02040503050406030204" pitchFamily="18" charset="0"/>
                      </a:rPr>
                      <m:t>𝑉</m:t>
                    </m:r>
                  </m:oMath>
                </a14:m>
                <a:r>
                  <a:rPr lang="zh-CN" altLang="en-US" dirty="0"/>
                  <a:t>是有穷非空集合，</a:t>
                </a:r>
                <a14:m>
                  <m:oMath xmlns:m="http://schemas.openxmlformats.org/officeDocument/2006/math">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oMath>
                </a14:m>
                <a:r>
                  <a:rPr lang="zh-CN" altLang="en-US" dirty="0"/>
                  <a:t>称为顶点； </a:t>
                </a:r>
                <a14:m>
                  <m:oMath xmlns:m="http://schemas.openxmlformats.org/officeDocument/2006/math">
                    <m:r>
                      <a:rPr lang="en-US" altLang="zh-CN" i="1" dirty="0" smtClean="0">
                        <a:latin typeface="Cambria Math" panose="02040503050406030204" pitchFamily="18" charset="0"/>
                      </a:rPr>
                      <m:t>𝐸</m:t>
                    </m:r>
                  </m:oMath>
                </a14:m>
                <a:r>
                  <a:rPr lang="zh-CN" altLang="en-US" dirty="0"/>
                  <a:t>是有穷集合，</a:t>
                </a:r>
                <a14:m>
                  <m:oMath xmlns:m="http://schemas.openxmlformats.org/officeDocument/2006/math">
                    <m:r>
                      <a:rPr lang="en-US" altLang="zh-CN" i="1" dirty="0" smtClean="0">
                        <a:latin typeface="Cambria Math" panose="02040503050406030204" pitchFamily="18" charset="0"/>
                      </a:rPr>
                      <m:t>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oMath>
                </a14:m>
                <a:r>
                  <a:rPr lang="zh-CN" altLang="en-US" dirty="0"/>
                  <a:t>称为边。</a:t>
                </a:r>
                <a:endParaRPr lang="zh-CN" altLang="en-US" dirty="0"/>
              </a:p>
              <a:p>
                <a:r>
                  <a:rPr lang="zh-CN" altLang="en-US" sz="2800" dirty="0"/>
                  <a:t>与线性结构和树相比，图更为复杂。从数据间的逻辑关系来说，线性结构的数据元素间存在“一对一”的线性关系； 树的数据元素间存在层次关系，具有“一对多”的特性； 在图中每一个数据元素都可以和其他的任意数据元素相关。图中的每个元素可以有多个前驱元素和多个后继元素，任意两个元素可以相邻。</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r="-1141"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en-US" altLang="zh-CN" sz="2800" b="1" dirty="0"/>
                  <a:t>1. </a:t>
                </a:r>
                <a:r>
                  <a:rPr lang="zh-CN" altLang="en-US" sz="2800" b="1" dirty="0"/>
                  <a:t>无向边</a:t>
                </a:r>
                <a:endParaRPr lang="en-US" altLang="zh-CN" sz="2800" b="1" dirty="0"/>
              </a:p>
              <a:p>
                <a:pPr lvl="1"/>
                <a14:m>
                  <m:oMath xmlns:m="http://schemas.openxmlformats.org/officeDocument/2006/math">
                    <m:r>
                      <a:rPr lang="en-US" altLang="zh-CN" sz="2400" i="1" dirty="0" smtClean="0">
                        <a:latin typeface="Cambria Math" panose="02040503050406030204" pitchFamily="18" charset="0"/>
                      </a:rPr>
                      <m:t>𝑒</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oMath>
                </a14:m>
                <a:r>
                  <a:rPr lang="zh-CN" altLang="en-US" sz="2400" dirty="0"/>
                  <a:t>表示顶点</a:t>
                </a:r>
                <a14:m>
                  <m:oMath xmlns:m="http://schemas.openxmlformats.org/officeDocument/2006/math">
                    <m:r>
                      <a:rPr lang="en-US" altLang="zh-CN" sz="2400" i="1" dirty="0" smtClean="0">
                        <a:latin typeface="Cambria Math" panose="02040503050406030204" pitchFamily="18" charset="0"/>
                      </a:rPr>
                      <m:t>𝑢</m:t>
                    </m:r>
                  </m:oMath>
                </a14:m>
                <a:r>
                  <a:rPr lang="zh-CN" altLang="en-US" sz="2400" dirty="0"/>
                  <a:t>和顶点</a:t>
                </a:r>
                <a14:m>
                  <m:oMath xmlns:m="http://schemas.openxmlformats.org/officeDocument/2006/math">
                    <m:r>
                      <a:rPr lang="en-US" altLang="zh-CN" sz="2400" i="1" dirty="0" smtClean="0">
                        <a:latin typeface="Cambria Math" panose="02040503050406030204" pitchFamily="18" charset="0"/>
                      </a:rPr>
                      <m:t>𝑣</m:t>
                    </m:r>
                  </m:oMath>
                </a14:m>
                <a:r>
                  <a:rPr lang="zh-CN" altLang="en-US" sz="2400" dirty="0"/>
                  <a:t>间的一条无向边，也可以简称为边。</a:t>
                </a:r>
                <a14:m>
                  <m:oMath xmlns:m="http://schemas.openxmlformats.org/officeDocument/2006/math">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oMath>
                </a14:m>
                <a:r>
                  <a:rPr lang="zh-CN" altLang="en-US" sz="2400" dirty="0"/>
                  <a:t>间没有方向，即</a:t>
                </a:r>
                <a14:m>
                  <m:oMath xmlns:m="http://schemas.openxmlformats.org/officeDocument/2006/math">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oMath>
                </a14:m>
                <a:r>
                  <a:rPr lang="zh-CN" altLang="en-US" sz="2400" dirty="0"/>
                  <a:t>和</a:t>
                </a:r>
                <a14:m>
                  <m:oMath xmlns:m="http://schemas.openxmlformats.org/officeDocument/2006/math">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smtClean="0">
                        <a:latin typeface="Cambria Math" panose="02040503050406030204" pitchFamily="18" charset="0"/>
                      </a:rPr>
                      <m:t>)</m:t>
                    </m:r>
                  </m:oMath>
                </a14:m>
                <a:r>
                  <a:rPr lang="zh-CN" altLang="en-US" sz="2400" dirty="0"/>
                  <a:t>是相同的。</a:t>
                </a:r>
                <a:endParaRPr lang="en-US" altLang="zh-CN" dirty="0"/>
              </a:p>
              <a:p>
                <a:r>
                  <a:rPr lang="en-US" altLang="zh-CN" sz="2800" b="1" dirty="0"/>
                  <a:t>2. </a:t>
                </a:r>
                <a:r>
                  <a:rPr lang="zh-CN" altLang="en-US" sz="2800" b="1" dirty="0"/>
                  <a:t>有向边</a:t>
                </a:r>
                <a:endParaRPr lang="en-US" altLang="zh-CN" sz="2800" b="1" dirty="0"/>
              </a:p>
              <a:p>
                <a:pPr lvl="1"/>
                <a14:m>
                  <m:oMath xmlns:m="http://schemas.openxmlformats.org/officeDocument/2006/math">
                    <m:r>
                      <a:rPr lang="en-US" altLang="zh-CN" sz="2400" i="1" dirty="0" smtClean="0">
                        <a:latin typeface="Cambria Math" panose="02040503050406030204" pitchFamily="18" charset="0"/>
                      </a:rPr>
                      <m:t>𝑒</m:t>
                    </m:r>
                    <m:r>
                      <a:rPr lang="en-US" altLang="zh-CN" sz="2400" i="1" dirty="0" smtClean="0">
                        <a:latin typeface="Cambria Math" panose="02040503050406030204" pitchFamily="18" charset="0"/>
                      </a:rPr>
                      <m:t>=&lt;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&gt;</m:t>
                    </m:r>
                  </m:oMath>
                </a14:m>
                <a:r>
                  <a:rPr lang="zh-CN" altLang="en-US" sz="2400" dirty="0"/>
                  <a:t>表示顶点</a:t>
                </a:r>
                <a:r>
                  <a:rPr lang="en-US" altLang="zh-CN" sz="2400" dirty="0"/>
                  <a:t>u</a:t>
                </a:r>
                <a:r>
                  <a:rPr lang="zh-CN" altLang="en-US" sz="2400" dirty="0"/>
                  <a:t>到顶点</a:t>
                </a:r>
                <a:r>
                  <a:rPr lang="en-US" altLang="zh-CN" sz="2400" dirty="0"/>
                  <a:t>v</a:t>
                </a:r>
                <a:r>
                  <a:rPr lang="zh-CN" altLang="en-US" sz="2400" dirty="0"/>
                  <a:t>间的一条有向边，也叫弧。</a:t>
                </a:r>
                <a14:m>
                  <m:oMath xmlns:m="http://schemas.openxmlformats.org/officeDocument/2006/math">
                    <m:r>
                      <a:rPr lang="en-US" altLang="zh-CN" sz="2400" i="1" dirty="0" smtClean="0">
                        <a:latin typeface="Cambria Math" panose="02040503050406030204" pitchFamily="18" charset="0"/>
                      </a:rPr>
                      <m:t>𝑢</m:t>
                    </m:r>
                  </m:oMath>
                </a14:m>
                <a:r>
                  <a:rPr lang="zh-CN" altLang="en-US" sz="2400" dirty="0"/>
                  <a:t>叫始点或弧尾，</a:t>
                </a:r>
                <a14:m>
                  <m:oMath xmlns:m="http://schemas.openxmlformats.org/officeDocument/2006/math">
                    <m:r>
                      <a:rPr lang="en-US" altLang="zh-CN" sz="2400" i="1" dirty="0" smtClean="0">
                        <a:latin typeface="Cambria Math" panose="02040503050406030204" pitchFamily="18" charset="0"/>
                      </a:rPr>
                      <m:t>𝑣</m:t>
                    </m:r>
                  </m:oMath>
                </a14:m>
                <a:r>
                  <a:rPr lang="zh-CN" altLang="en-US" sz="2400" dirty="0"/>
                  <a:t>叫终点或弧头。</a:t>
                </a:r>
                <a14:m>
                  <m:oMath xmlns:m="http://schemas.openxmlformats.org/officeDocument/2006/math">
                    <m:r>
                      <a:rPr lang="en-US" altLang="zh-CN" sz="2400" i="1" dirty="0" smtClean="0">
                        <a:latin typeface="Cambria Math" panose="02040503050406030204" pitchFamily="18" charset="0"/>
                      </a:rPr>
                      <m:t>&lt;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&gt;</m:t>
                    </m:r>
                  </m:oMath>
                </a14:m>
                <a:r>
                  <a:rPr lang="zh-CN" altLang="en-US" sz="2400" dirty="0"/>
                  <a:t>是有方向的，因此</a:t>
                </a:r>
                <a14:m>
                  <m:oMath xmlns:m="http://schemas.openxmlformats.org/officeDocument/2006/math">
                    <m:r>
                      <a:rPr lang="en-US" altLang="zh-CN" sz="2400" i="1" dirty="0" smtClean="0">
                        <a:latin typeface="Cambria Math" panose="02040503050406030204" pitchFamily="18" charset="0"/>
                      </a:rPr>
                      <m:t>&lt;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&gt;</m:t>
                    </m:r>
                  </m:oMath>
                </a14:m>
                <a:r>
                  <a:rPr lang="zh-CN" altLang="en-US" sz="2400" dirty="0"/>
                  <a:t>和</a:t>
                </a:r>
                <a14:m>
                  <m:oMath xmlns:m="http://schemas.openxmlformats.org/officeDocument/2006/math">
                    <m:r>
                      <a:rPr lang="en-US" altLang="zh-CN" sz="2400" i="1" dirty="0" smtClean="0">
                        <a:latin typeface="Cambria Math" panose="02040503050406030204" pitchFamily="18" charset="0"/>
                      </a:rPr>
                      <m:t>&lt;</m:t>
                    </m:r>
                    <m:r>
                      <a:rPr lang="en-US" altLang="zh-CN" sz="2400" i="1" dirty="0" err="1" smtClean="0">
                        <a:latin typeface="Cambria Math" panose="02040503050406030204" pitchFamily="18" charset="0"/>
                      </a:rPr>
                      <m:t>𝑣</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smtClean="0">
                        <a:latin typeface="Cambria Math" panose="02040503050406030204" pitchFamily="18" charset="0"/>
                      </a:rPr>
                      <m:t>&gt;</m:t>
                    </m:r>
                  </m:oMath>
                </a14:m>
                <a:r>
                  <a:rPr lang="zh-CN" altLang="en-US" sz="2400" dirty="0"/>
                  <a:t>是不同的。</a:t>
                </a:r>
                <a:endParaRPr lang="en-US" altLang="zh-CN" sz="2400" dirty="0"/>
              </a:p>
              <a:p>
                <a:r>
                  <a:rPr lang="en-US" altLang="zh-CN" sz="2800" b="1" dirty="0"/>
                  <a:t>3. </a:t>
                </a:r>
                <a:r>
                  <a:rPr lang="zh-CN" altLang="en-US" sz="2800" b="1" dirty="0"/>
                  <a:t>零图</a:t>
                </a:r>
                <a:endParaRPr lang="en-US" altLang="zh-CN" sz="2800" b="1" dirty="0"/>
              </a:p>
              <a:p>
                <a:pPr lvl="1"/>
                <a:r>
                  <a:rPr lang="zh-CN" altLang="en-US" sz="2400" dirty="0"/>
                  <a:t>零图是指</a:t>
                </a:r>
                <a14:m>
                  <m:oMath xmlns:m="http://schemas.openxmlformats.org/officeDocument/2006/math">
                    <m:r>
                      <a:rPr lang="en-US" altLang="zh-CN" sz="2400" i="1" dirty="0" smtClean="0">
                        <a:latin typeface="Cambria Math" panose="02040503050406030204" pitchFamily="18" charset="0"/>
                      </a:rPr>
                      <m:t>𝐸</m:t>
                    </m:r>
                  </m:oMath>
                </a14:m>
                <a:r>
                  <a:rPr lang="zh-CN" altLang="en-US" sz="2400" dirty="0"/>
                  <a:t>为空集的图，也就是图中只有顶点存在，没有边。</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r="-738"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180000" y="1241118"/>
                <a:ext cx="6697072" cy="4935845"/>
              </a:xfrm>
            </p:spPr>
            <p:txBody>
              <a:bodyPr/>
              <a:lstStyle/>
              <a:p>
                <a:r>
                  <a:rPr lang="en-US" altLang="zh-CN" b="1" dirty="0"/>
                  <a:t>4. </a:t>
                </a:r>
                <a:r>
                  <a:rPr lang="zh-CN" altLang="en-US" sz="2800" b="1" dirty="0"/>
                  <a:t>无向图</a:t>
                </a:r>
                <a:endParaRPr lang="en-US" altLang="zh-CN" sz="2800" b="1" dirty="0"/>
              </a:p>
              <a:p>
                <a:pPr lvl="1"/>
                <a:r>
                  <a:rPr lang="zh-CN" altLang="en-US" dirty="0"/>
                  <a:t>无向图指全部由无向边构成的图。</a:t>
                </a:r>
                <a:endParaRPr lang="en-US" altLang="zh-CN" dirty="0"/>
              </a:p>
              <a:p>
                <a:pPr lvl="1"/>
                <a:endParaRPr lang="zh-CN" altLang="en-US" sz="2800" dirty="0"/>
              </a:p>
              <a:p>
                <a:r>
                  <a:rPr lang="en-US" altLang="zh-CN" sz="2800" b="1" dirty="0"/>
                  <a:t>5. </a:t>
                </a:r>
                <a:r>
                  <a:rPr lang="zh-CN" altLang="en-US" sz="2800" b="1" dirty="0"/>
                  <a:t>有向图</a:t>
                </a:r>
                <a:endParaRPr lang="en-US" altLang="zh-CN" sz="2800" b="1" dirty="0"/>
              </a:p>
              <a:p>
                <a:pPr lvl="1"/>
                <a:r>
                  <a:rPr lang="zh-CN" altLang="en-US" dirty="0"/>
                  <a:t>有向图指全部由有向边构成的图。</a:t>
                </a:r>
                <a:endParaRPr lang="en-US" altLang="zh-CN" dirty="0"/>
              </a:p>
              <a:p>
                <a:pPr lvl="1"/>
                <a:endParaRPr lang="zh-CN" altLang="en-US" sz="2800" dirty="0"/>
              </a:p>
              <a:p>
                <a:r>
                  <a:rPr lang="en-US" altLang="zh-CN" sz="2800" b="1" dirty="0"/>
                  <a:t>6. </a:t>
                </a:r>
                <a:r>
                  <a:rPr lang="zh-CN" altLang="en-US" sz="2800" b="1" dirty="0"/>
                  <a:t>完全图</a:t>
                </a:r>
                <a:endParaRPr lang="zh-CN" altLang="en-US" sz="2800" b="1" dirty="0"/>
              </a:p>
              <a:p>
                <a:pPr lvl="1"/>
                <a:r>
                  <a:rPr lang="zh-CN" altLang="en-US" dirty="0"/>
                  <a:t>完全图是指边数达到最大值的图，即在顶点数为</a:t>
                </a:r>
                <a14:m>
                  <m:oMath xmlns:m="http://schemas.openxmlformats.org/officeDocument/2006/math">
                    <m:r>
                      <a:rPr lang="en-US" altLang="zh-CN" i="1" dirty="0" smtClean="0">
                        <a:latin typeface="Cambria Math" panose="02040503050406030204" pitchFamily="18" charset="0"/>
                      </a:rPr>
                      <m:t>𝑛</m:t>
                    </m:r>
                  </m:oMath>
                </a14:m>
                <a:r>
                  <a:rPr lang="zh-CN" altLang="en-US" dirty="0"/>
                  <a:t>的无向图中边数为</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oMath>
                </a14:m>
                <a:r>
                  <a:rPr lang="zh-CN" altLang="en-US" dirty="0"/>
                  <a:t>，在顶点数为</a:t>
                </a:r>
                <a14:m>
                  <m:oMath xmlns:m="http://schemas.openxmlformats.org/officeDocument/2006/math">
                    <m:r>
                      <a:rPr lang="en-US" altLang="zh-CN" i="1" dirty="0" smtClean="0">
                        <a:latin typeface="Cambria Math" panose="02040503050406030204" pitchFamily="18" charset="0"/>
                      </a:rPr>
                      <m:t>𝑛</m:t>
                    </m:r>
                  </m:oMath>
                </a14:m>
                <a:r>
                  <a:rPr lang="zh-CN" altLang="en-US" dirty="0"/>
                  <a:t>的有向图中边数为</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oMath>
                </a14:m>
                <a:r>
                  <a:rPr lang="zh-CN" altLang="en-US" dirty="0"/>
                  <a:t>。</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180000" y="1241118"/>
                <a:ext cx="6697072" cy="4935845"/>
              </a:xfrm>
              <a:blipFill rotWithShape="1">
                <a:blip r:embed="rId1"/>
                <a:stretch>
                  <a:fillRect l="-4" t="-7" b="6"/>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7325901" y="1675179"/>
            <a:ext cx="1516278" cy="1516278"/>
          </a:xfrm>
          <a:prstGeom prst="rect">
            <a:avLst/>
          </a:prstGeom>
          <a:noFill/>
          <a:ln>
            <a:noFill/>
          </a:ln>
        </p:spPr>
      </p:pic>
      <p:sp>
        <p:nvSpPr>
          <p:cNvPr id="9" name="文本框 8"/>
          <p:cNvSpPr txBox="1"/>
          <p:nvPr/>
        </p:nvSpPr>
        <p:spPr>
          <a:xfrm>
            <a:off x="7664335" y="3301660"/>
            <a:ext cx="31939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无向图</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有向图</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p:cNvPicPr/>
          <p:nvPr/>
        </p:nvPicPr>
        <p:blipFill>
          <a:blip r:embed="rId3">
            <a:extLst>
              <a:ext uri="{28A0092B-C50C-407E-A947-70E740481C1C}">
                <a14:useLocalDpi xmlns:a14="http://schemas.microsoft.com/office/drawing/2010/main" val="0"/>
              </a:ext>
            </a:extLst>
          </a:blip>
          <a:srcRect/>
          <a:stretch>
            <a:fillRect/>
          </a:stretch>
        </p:blipFill>
        <p:spPr bwMode="auto">
          <a:xfrm>
            <a:off x="9291008" y="1757103"/>
            <a:ext cx="1508255" cy="1508255"/>
          </a:xfrm>
          <a:prstGeom prst="rect">
            <a:avLst/>
          </a:prstGeom>
          <a:noFill/>
          <a:ln>
            <a:noFill/>
          </a:ln>
        </p:spPr>
      </p:pic>
      <p:pic>
        <p:nvPicPr>
          <p:cNvPr id="13" name="图片 12"/>
          <p:cNvPicPr/>
          <p:nvPr/>
        </p:nvPicPr>
        <p:blipFill>
          <a:blip r:embed="rId4">
            <a:extLst>
              <a:ext uri="{28A0092B-C50C-407E-A947-70E740481C1C}">
                <a14:useLocalDpi xmlns:a14="http://schemas.microsoft.com/office/drawing/2010/main" val="0"/>
              </a:ext>
            </a:extLst>
          </a:blip>
          <a:srcRect/>
          <a:stretch>
            <a:fillRect/>
          </a:stretch>
        </p:blipFill>
        <p:spPr bwMode="auto">
          <a:xfrm>
            <a:off x="7325901" y="3886829"/>
            <a:ext cx="3532398" cy="20292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180000" y="1241118"/>
                <a:ext cx="11052292" cy="4935845"/>
              </a:xfrm>
            </p:spPr>
            <p:txBody>
              <a:bodyPr>
                <a:normAutofit/>
              </a:bodyPr>
              <a:lstStyle/>
              <a:p>
                <a:r>
                  <a:rPr lang="en-US" altLang="zh-CN" b="1" dirty="0"/>
                  <a:t>7. </a:t>
                </a:r>
                <a:r>
                  <a:rPr lang="zh-CN" altLang="en-US" b="1" dirty="0"/>
                  <a:t>稠密图</a:t>
                </a:r>
                <a:endParaRPr lang="zh-CN" altLang="en-US" b="1" dirty="0"/>
              </a:p>
              <a:p>
                <a:pPr lvl="1"/>
                <a:r>
                  <a:rPr lang="zh-CN" altLang="en-US" dirty="0"/>
                  <a:t>稠密图是指边数较少的图，如</a:t>
                </a:r>
                <a14:m>
                  <m:oMath xmlns:m="http://schemas.openxmlformats.org/officeDocument/2006/math">
                    <m:r>
                      <a:rPr lang="en-US" altLang="zh-CN" i="1" dirty="0" smtClean="0">
                        <a:latin typeface="Cambria Math" panose="02040503050406030204" pitchFamily="18" charset="0"/>
                      </a:rPr>
                      <m:t>𝑒</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𝑛</m:t>
                    </m:r>
                    <m:func>
                      <m:funcPr>
                        <m:ctrlPr>
                          <a:rPr lang="en-US" altLang="zh-CN" i="1" dirty="0" smtClean="0">
                            <a:latin typeface="Cambria Math" panose="02040503050406030204" pitchFamily="18" charset="0"/>
                          </a:rPr>
                        </m:ctrlPr>
                      </m:funcPr>
                      <m:fName>
                        <m:sSub>
                          <m:sSubPr>
                            <m:ctrlPr>
                              <a:rPr lang="en-US" altLang="zh-CN" i="1" dirty="0" smtClean="0">
                                <a:latin typeface="Cambria Math" panose="02040503050406030204" pitchFamily="18" charset="0"/>
                              </a:rPr>
                            </m:ctrlPr>
                          </m:sSubPr>
                          <m:e>
                            <m:r>
                              <m:rPr>
                                <m:sty m:val="p"/>
                              </m:rPr>
                              <a:rPr lang="en-US" altLang="zh-CN" i="0" dirty="0" smtClean="0">
                                <a:latin typeface="Cambria Math" panose="02040503050406030204" pitchFamily="18" charset="0"/>
                              </a:rPr>
                              <m:t>log</m:t>
                            </m:r>
                          </m:e>
                          <m:sub>
                            <m:r>
                              <a:rPr lang="en-US" altLang="zh-CN" b="0" i="1" dirty="0" smtClean="0">
                                <a:latin typeface="Cambria Math" panose="02040503050406030204" pitchFamily="18" charset="0"/>
                              </a:rPr>
                              <m:t>2</m:t>
                            </m:r>
                          </m:sub>
                        </m:sSub>
                      </m:fName>
                      <m:e>
                        <m:r>
                          <a:rPr lang="en-US" altLang="zh-CN" b="0" i="1" dirty="0" smtClean="0">
                            <a:latin typeface="Cambria Math" panose="02040503050406030204" pitchFamily="18" charset="0"/>
                          </a:rPr>
                          <m:t>𝑛</m:t>
                        </m:r>
                      </m:e>
                    </m:func>
                  </m:oMath>
                </a14:m>
                <a:r>
                  <a:rPr lang="zh-CN" altLang="en-US" dirty="0"/>
                  <a:t>，反之则为稀疏图。</a:t>
                </a:r>
                <a:endParaRPr lang="zh-CN" altLang="en-US" dirty="0"/>
              </a:p>
              <a:p>
                <a:r>
                  <a:rPr lang="en-US" altLang="zh-CN" b="1" dirty="0"/>
                  <a:t>8. </a:t>
                </a:r>
                <a:r>
                  <a:rPr lang="zh-CN" altLang="en-US" b="1" dirty="0"/>
                  <a:t>子图</a:t>
                </a:r>
                <a:endParaRPr lang="zh-CN" altLang="en-US" b="1" dirty="0"/>
              </a:p>
              <a:p>
                <a:pPr lvl="1"/>
                <a:r>
                  <a:rPr lang="zh-CN" altLang="en-US" dirty="0"/>
                  <a:t>设有两个图</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和</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，如果有</a:t>
                </a:r>
                <a14:m>
                  <m:oMath xmlns:m="http://schemas.openxmlformats.org/officeDocument/2006/math">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oMath>
                </a14:m>
                <a:r>
                  <a:rPr lang="zh-CN" altLang="en-US" dirty="0"/>
                  <a:t>和</a:t>
                </a:r>
                <a14:m>
                  <m:oMath xmlns:m="http://schemas.openxmlformats.org/officeDocument/2006/math">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oMath>
                </a14:m>
                <a:r>
                  <a:rPr lang="zh-CN" altLang="en-US" dirty="0"/>
                  <a:t>，则称</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oMath>
                </a14:m>
                <a:r>
                  <a:rPr lang="zh-CN" altLang="en-US" dirty="0"/>
                  <a:t>是</a:t>
                </a:r>
                <a14:m>
                  <m:oMath xmlns:m="http://schemas.openxmlformats.org/officeDocument/2006/math">
                    <m:r>
                      <a:rPr lang="en-US" altLang="zh-CN" i="1" dirty="0" smtClean="0">
                        <a:latin typeface="Cambria Math" panose="02040503050406030204" pitchFamily="18" charset="0"/>
                      </a:rPr>
                      <m:t>𝐺</m:t>
                    </m:r>
                  </m:oMath>
                </a14:m>
                <a:r>
                  <a:rPr lang="zh-CN" altLang="en-US" dirty="0"/>
                  <a:t>的子图，记作</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𝐺</m:t>
                    </m:r>
                  </m:oMath>
                </a14:m>
                <a:r>
                  <a:rPr lang="zh-CN" altLang="en-US" dirty="0"/>
                  <a:t>。</a:t>
                </a:r>
                <a:endParaRPr lang="zh-CN" altLang="en-US" dirty="0"/>
              </a:p>
              <a:p>
                <a:r>
                  <a:rPr lang="en-US" altLang="zh-CN" b="1" dirty="0"/>
                  <a:t>9. </a:t>
                </a:r>
                <a:r>
                  <a:rPr lang="zh-CN" altLang="en-US" b="1" dirty="0"/>
                  <a:t>生成子图</a:t>
                </a:r>
                <a:endParaRPr lang="zh-CN" altLang="en-US" b="1" dirty="0"/>
              </a:p>
              <a:p>
                <a:pPr lvl="1"/>
                <a:r>
                  <a:rPr lang="zh-CN" altLang="en-US" dirty="0"/>
                  <a:t>如果</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是</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的子图，并且</a:t>
                </a:r>
                <a14:m>
                  <m:oMath xmlns:m="http://schemas.openxmlformats.org/officeDocument/2006/math">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oMath>
                </a14:m>
                <a:r>
                  <a:rPr lang="zh-CN" altLang="en-US" dirty="0"/>
                  <a:t>，则称</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oMath>
                </a14:m>
                <a:r>
                  <a:rPr lang="zh-CN" altLang="en-US" dirty="0"/>
                  <a:t>是</a:t>
                </a:r>
                <a14:m>
                  <m:oMath xmlns:m="http://schemas.openxmlformats.org/officeDocument/2006/math">
                    <m:r>
                      <a:rPr lang="en-US" altLang="zh-CN" i="1" dirty="0" smtClean="0">
                        <a:latin typeface="Cambria Math" panose="02040503050406030204" pitchFamily="18" charset="0"/>
                      </a:rPr>
                      <m:t>𝐺</m:t>
                    </m:r>
                  </m:oMath>
                </a14:m>
                <a:r>
                  <a:rPr lang="zh-CN" altLang="en-US" dirty="0"/>
                  <a:t>的生成子图。</a:t>
                </a:r>
                <a:endParaRPr lang="zh-CN" altLang="en-US" dirty="0"/>
              </a:p>
              <a:p>
                <a:r>
                  <a:rPr lang="en-US" altLang="zh-CN" b="1" dirty="0"/>
                  <a:t>10. </a:t>
                </a:r>
                <a:r>
                  <a:rPr lang="zh-CN" altLang="en-US" b="1" dirty="0"/>
                  <a:t>邻接点</a:t>
                </a:r>
                <a:endParaRPr lang="zh-CN" altLang="en-US" b="1" dirty="0"/>
              </a:p>
              <a:p>
                <a:pPr lvl="1"/>
                <a:r>
                  <a:rPr lang="zh-CN" altLang="en-US" dirty="0"/>
                  <a:t>在一个无向图中若存在边</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𝑢</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𝑣</m:t>
                    </m:r>
                    <m:r>
                      <a:rPr lang="en-US" altLang="zh-CN" i="1" dirty="0" smtClean="0">
                        <a:latin typeface="Cambria Math" panose="02040503050406030204" pitchFamily="18" charset="0"/>
                      </a:rPr>
                      <m:t>)</m:t>
                    </m:r>
                  </m:oMath>
                </a14:m>
                <a:r>
                  <a:rPr lang="zh-CN" altLang="en-US" dirty="0"/>
                  <a:t>，则称顶点</a:t>
                </a:r>
                <a14:m>
                  <m:oMath xmlns:m="http://schemas.openxmlformats.org/officeDocument/2006/math">
                    <m:r>
                      <a:rPr lang="en-US" altLang="zh-CN" i="1" dirty="0" smtClean="0">
                        <a:latin typeface="Cambria Math" panose="02040503050406030204" pitchFamily="18" charset="0"/>
                      </a:rPr>
                      <m:t>𝑢</m:t>
                    </m:r>
                  </m:oMath>
                </a14:m>
                <a:r>
                  <a:rPr lang="zh-CN" altLang="en-US" dirty="0"/>
                  <a:t>和</a:t>
                </a:r>
                <a14:m>
                  <m:oMath xmlns:m="http://schemas.openxmlformats.org/officeDocument/2006/math">
                    <m:r>
                      <a:rPr lang="en-US" altLang="zh-CN" i="1" dirty="0" smtClean="0">
                        <a:latin typeface="Cambria Math" panose="02040503050406030204" pitchFamily="18" charset="0"/>
                      </a:rPr>
                      <m:t>𝑣</m:t>
                    </m:r>
                  </m:oMath>
                </a14:m>
                <a:r>
                  <a:rPr lang="zh-CN" altLang="en-US" dirty="0"/>
                  <a:t>互为邻接点。边</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𝑢</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𝑣</m:t>
                    </m:r>
                    <m:r>
                      <a:rPr lang="en-US" altLang="zh-CN" i="1" dirty="0" smtClean="0">
                        <a:latin typeface="Cambria Math" panose="02040503050406030204" pitchFamily="18" charset="0"/>
                      </a:rPr>
                      <m:t>)</m:t>
                    </m:r>
                  </m:oMath>
                </a14:m>
                <a:r>
                  <a:rPr lang="zh-CN" altLang="en-US" dirty="0"/>
                  <a:t>是顶点</a:t>
                </a:r>
                <a14:m>
                  <m:oMath xmlns:m="http://schemas.openxmlformats.org/officeDocument/2006/math">
                    <m:r>
                      <a:rPr lang="en-US" altLang="zh-CN" i="1" dirty="0" smtClean="0">
                        <a:latin typeface="Cambria Math" panose="02040503050406030204" pitchFamily="18" charset="0"/>
                      </a:rPr>
                      <m:t>𝑢</m:t>
                    </m:r>
                  </m:oMath>
                </a14:m>
                <a:r>
                  <a:rPr lang="zh-CN" altLang="en-US" dirty="0"/>
                  <a:t>和</a:t>
                </a:r>
                <a14:m>
                  <m:oMath xmlns:m="http://schemas.openxmlformats.org/officeDocument/2006/math">
                    <m:r>
                      <a:rPr lang="en-US" altLang="zh-CN" i="1" dirty="0" smtClean="0">
                        <a:latin typeface="Cambria Math" panose="02040503050406030204" pitchFamily="18" charset="0"/>
                      </a:rPr>
                      <m:t>𝑣</m:t>
                    </m:r>
                  </m:oMath>
                </a14:m>
                <a:r>
                  <a:rPr lang="zh-CN" altLang="en-US" dirty="0"/>
                  <a:t>关联的边，顶点</a:t>
                </a:r>
                <a:r>
                  <a:rPr lang="en-US" altLang="zh-CN" dirty="0"/>
                  <a:t>u</a:t>
                </a:r>
                <a:r>
                  <a:rPr lang="zh-CN" altLang="en-US" dirty="0"/>
                  <a:t>和</a:t>
                </a:r>
                <a:r>
                  <a:rPr lang="en-US" altLang="zh-CN" dirty="0"/>
                  <a:t>v</a:t>
                </a:r>
                <a:r>
                  <a:rPr lang="zh-CN" altLang="en-US" dirty="0"/>
                  <a:t>是边</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𝑢</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𝑣</m:t>
                    </m:r>
                    <m:r>
                      <a:rPr lang="en-US" altLang="zh-CN" i="1" dirty="0" smtClean="0">
                        <a:latin typeface="Cambria Math" panose="02040503050406030204" pitchFamily="18" charset="0"/>
                      </a:rPr>
                      <m:t>)</m:t>
                    </m:r>
                  </m:oMath>
                </a14:m>
                <a:r>
                  <a:rPr lang="zh-CN" altLang="en-US" dirty="0"/>
                  <a:t>关联的顶点。</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180000" y="1241118"/>
                <a:ext cx="11052292" cy="4935845"/>
              </a:xfrm>
              <a:blipFill rotWithShape="1">
                <a:blip r:embed="rId1"/>
                <a:stretch>
                  <a:fillRect l="-3" t="-7" r="4" b="6"/>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en-US" altLang="zh-CN" b="1" dirty="0"/>
                  <a:t>11. </a:t>
                </a:r>
                <a:r>
                  <a:rPr lang="zh-CN" altLang="en-US" b="1" dirty="0"/>
                  <a:t>顶点的度</a:t>
                </a:r>
                <a:endParaRPr lang="zh-CN" altLang="en-US" b="1" dirty="0"/>
              </a:p>
              <a:p>
                <a:pPr lvl="1"/>
                <a:r>
                  <a:rPr lang="zh-CN" altLang="en-US" dirty="0"/>
                  <a:t>顶点的度是指与该顶点关联的边的数目。顶点</a:t>
                </a:r>
                <a14:m>
                  <m:oMath xmlns:m="http://schemas.openxmlformats.org/officeDocument/2006/math">
                    <m:r>
                      <a:rPr lang="en-US" altLang="zh-CN" i="1" dirty="0" smtClean="0">
                        <a:latin typeface="Cambria Math" panose="02040503050406030204" pitchFamily="18" charset="0"/>
                      </a:rPr>
                      <m:t>𝑢</m:t>
                    </m:r>
                  </m:oMath>
                </a14:m>
                <a:r>
                  <a:rPr lang="zh-CN" altLang="en-US" dirty="0"/>
                  <a:t>的度记作</a:t>
                </a:r>
                <a14:m>
                  <m:oMath xmlns:m="http://schemas.openxmlformats.org/officeDocument/2006/math">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oMath>
                </a14:m>
                <a:r>
                  <a:rPr lang="zh-CN" altLang="en-US" dirty="0"/>
                  <a:t>。</a:t>
                </a:r>
                <a:endParaRPr lang="zh-CN" altLang="en-US" dirty="0"/>
              </a:p>
              <a:p>
                <a:pPr lvl="1"/>
                <a:r>
                  <a:rPr lang="zh-CN" altLang="en-US" dirty="0"/>
                  <a:t>在有向图中顶点的度有入度和出度两种。对于顶点</a:t>
                </a:r>
                <a14:m>
                  <m:oMath xmlns:m="http://schemas.openxmlformats.org/officeDocument/2006/math">
                    <m:r>
                      <a:rPr lang="en-US" altLang="zh-CN" i="1" dirty="0" smtClean="0">
                        <a:latin typeface="Cambria Math" panose="02040503050406030204" pitchFamily="18" charset="0"/>
                      </a:rPr>
                      <m:t>𝑢</m:t>
                    </m:r>
                  </m:oMath>
                </a14:m>
                <a:r>
                  <a:rPr lang="zh-CN" altLang="en-US" dirty="0"/>
                  <a:t>，入度指的是以</a:t>
                </a:r>
                <a14:m>
                  <m:oMath xmlns:m="http://schemas.openxmlformats.org/officeDocument/2006/math">
                    <m:r>
                      <a:rPr lang="en-US" altLang="zh-CN" i="1" dirty="0" smtClean="0">
                        <a:latin typeface="Cambria Math" panose="02040503050406030204" pitchFamily="18" charset="0"/>
                      </a:rPr>
                      <m:t>𝑢</m:t>
                    </m:r>
                  </m:oMath>
                </a14:m>
                <a:r>
                  <a:rPr lang="zh-CN" altLang="en-US" dirty="0"/>
                  <a:t>为终点的弧的数目，记为</a:t>
                </a:r>
                <a14:m>
                  <m:oMath xmlns:m="http://schemas.openxmlformats.org/officeDocument/2006/math">
                    <m:r>
                      <a:rPr lang="en-US" altLang="zh-CN" i="1" dirty="0" smtClean="0">
                        <a:latin typeface="Cambria Math" panose="02040503050406030204" pitchFamily="18" charset="0"/>
                      </a:rPr>
                      <m:t>𝐼𝐷</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oMath>
                </a14:m>
                <a:r>
                  <a:rPr lang="zh-CN" altLang="en-US" dirty="0"/>
                  <a:t>； 出度指的是以</a:t>
                </a:r>
                <a14:m>
                  <m:oMath xmlns:m="http://schemas.openxmlformats.org/officeDocument/2006/math">
                    <m:r>
                      <a:rPr lang="en-US" altLang="zh-CN" i="1" dirty="0" smtClean="0">
                        <a:latin typeface="Cambria Math" panose="02040503050406030204" pitchFamily="18" charset="0"/>
                      </a:rPr>
                      <m:t>𝑢</m:t>
                    </m:r>
                  </m:oMath>
                </a14:m>
                <a:r>
                  <a:rPr lang="zh-CN" altLang="en-US" dirty="0"/>
                  <a:t>为起点的弧的数目，记为</a:t>
                </a:r>
                <a14:m>
                  <m:oMath xmlns:m="http://schemas.openxmlformats.org/officeDocument/2006/math">
                    <m:r>
                      <a:rPr lang="en-US" altLang="zh-CN" i="1" dirty="0" smtClean="0">
                        <a:latin typeface="Cambria Math" panose="02040503050406030204" pitchFamily="18" charset="0"/>
                      </a:rPr>
                      <m:t>𝑂𝐷</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oMath>
                </a14:m>
                <a:r>
                  <a:rPr lang="zh-CN" altLang="en-US" dirty="0"/>
                  <a:t>。</a:t>
                </a:r>
                <a:endParaRPr lang="zh-CN" altLang="en-US" dirty="0"/>
              </a:p>
              <a:p>
                <a:pPr lvl="1"/>
                <a:r>
                  <a:rPr lang="zh-CN" altLang="en-US" dirty="0"/>
                  <a:t>全部顶点的度之和为边数的两倍。</a:t>
                </a:r>
                <a:endParaRPr lang="zh-CN" altLang="en-US" dirty="0"/>
              </a:p>
              <a:p>
                <a:r>
                  <a:rPr lang="en-US" altLang="zh-CN" b="1" dirty="0"/>
                  <a:t>12. </a:t>
                </a:r>
                <a:r>
                  <a:rPr lang="zh-CN" altLang="en-US" b="1" dirty="0"/>
                  <a:t>路径</a:t>
                </a:r>
                <a:endParaRPr lang="zh-CN" altLang="en-US" b="1" dirty="0"/>
              </a:p>
              <a:p>
                <a:pPr lvl="1"/>
                <a:r>
                  <a:rPr lang="zh-CN" altLang="en-US" dirty="0"/>
                  <a:t>路径是指从顶点</a:t>
                </a:r>
                <a:r>
                  <a:rPr lang="en-US" altLang="zh-CN" dirty="0"/>
                  <a:t>u</a:t>
                </a:r>
                <a:r>
                  <a:rPr lang="zh-CN" altLang="en-US" dirty="0"/>
                  <a:t>到顶点</a:t>
                </a:r>
                <a14:m>
                  <m:oMath xmlns:m="http://schemas.openxmlformats.org/officeDocument/2006/math">
                    <m:r>
                      <a:rPr lang="en-US" altLang="zh-CN" i="1" dirty="0" smtClean="0">
                        <a:latin typeface="Cambria Math" panose="02040503050406030204" pitchFamily="18" charset="0"/>
                      </a:rPr>
                      <m:t>𝑣</m:t>
                    </m:r>
                  </m:oMath>
                </a14:m>
                <a:r>
                  <a:rPr lang="zh-CN" altLang="en-US" dirty="0"/>
                  <a:t>所经过的顶点序列。路径长度是指路径上边的数目。没有顶点重复出现的路径叫初等路径。</a:t>
                </a:r>
                <a:endParaRPr lang="zh-CN" altLang="en-US" dirty="0"/>
              </a:p>
              <a:p>
                <a:r>
                  <a:rPr lang="en-US" altLang="zh-CN" b="1" dirty="0"/>
                  <a:t>13. </a:t>
                </a:r>
                <a:r>
                  <a:rPr lang="zh-CN" altLang="en-US" b="1" dirty="0"/>
                  <a:t>回路</a:t>
                </a:r>
                <a:endParaRPr lang="zh-CN" altLang="en-US" b="1" dirty="0"/>
              </a:p>
              <a:p>
                <a:pPr lvl="1"/>
                <a:r>
                  <a:rPr lang="zh-CN" altLang="en-US" dirty="0"/>
                  <a:t>第一个和最后一个顶点相同的路径称为回路或环，除了第一个和最后一个顶点以外，其他顶点都不重复出现的回路叫初等回路。</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en-US" altLang="zh-CN" b="1" dirty="0"/>
                  <a:t>14. </a:t>
                </a:r>
                <a:r>
                  <a:rPr lang="zh-CN" altLang="en-US" b="1" dirty="0"/>
                  <a:t>连通图</a:t>
                </a:r>
                <a:endParaRPr lang="zh-CN" altLang="en-US" b="1" dirty="0"/>
              </a:p>
              <a:p>
                <a:pPr lvl="1"/>
                <a:r>
                  <a:rPr lang="zh-CN" altLang="en-US" dirty="0"/>
                  <a:t>在无向图中若顶点</a:t>
                </a:r>
                <a14:m>
                  <m:oMath xmlns:m="http://schemas.openxmlformats.org/officeDocument/2006/math">
                    <m:r>
                      <a:rPr lang="en-US" altLang="zh-CN" b="0" i="1" dirty="0" smtClean="0">
                        <a:latin typeface="Cambria Math" panose="02040503050406030204" pitchFamily="18" charset="0"/>
                      </a:rPr>
                      <m:t>𝑢</m:t>
                    </m:r>
                  </m:oMath>
                </a14:m>
                <a:r>
                  <a:rPr lang="zh-CN" altLang="en-US" dirty="0"/>
                  <a:t>和顶点</a:t>
                </a:r>
                <a14:m>
                  <m:oMath xmlns:m="http://schemas.openxmlformats.org/officeDocument/2006/math">
                    <m:r>
                      <a:rPr lang="en-US" altLang="zh-CN" b="0" i="1" dirty="0" smtClean="0">
                        <a:latin typeface="Cambria Math" panose="02040503050406030204" pitchFamily="18" charset="0"/>
                      </a:rPr>
                      <m:t>𝑣</m:t>
                    </m:r>
                  </m:oMath>
                </a14:m>
                <a:r>
                  <a:rPr lang="zh-CN" altLang="en-US" dirty="0"/>
                  <a:t>间有路径，则称</a:t>
                </a:r>
                <a14:m>
                  <m:oMath xmlns:m="http://schemas.openxmlformats.org/officeDocument/2006/math">
                    <m:r>
                      <a:rPr lang="en-US" altLang="zh-CN" b="0" i="1" dirty="0" smtClean="0">
                        <a:latin typeface="Cambria Math" panose="02040503050406030204" pitchFamily="18" charset="0"/>
                      </a:rPr>
                      <m:t>𝑢</m:t>
                    </m:r>
                  </m:oMath>
                </a14:m>
                <a:r>
                  <a:rPr lang="zh-CN" altLang="en-US" dirty="0"/>
                  <a:t>和</a:t>
                </a:r>
                <a14:m>
                  <m:oMath xmlns:m="http://schemas.openxmlformats.org/officeDocument/2006/math">
                    <m:r>
                      <a:rPr lang="en-US" altLang="zh-CN" b="0" i="1" dirty="0" smtClean="0">
                        <a:latin typeface="Cambria Math" panose="02040503050406030204" pitchFamily="18" charset="0"/>
                      </a:rPr>
                      <m:t>𝑣</m:t>
                    </m:r>
                  </m:oMath>
                </a14:m>
                <a:r>
                  <a:rPr lang="zh-CN" altLang="en-US" dirty="0"/>
                  <a:t>是连通的。连通图是指任意两个顶点均是连通的图。</a:t>
                </a:r>
                <a:endParaRPr lang="en-US" altLang="zh-CN" dirty="0"/>
              </a:p>
              <a:p>
                <a:pPr lvl="1"/>
                <a:endParaRPr lang="zh-CN" altLang="en-US" dirty="0"/>
              </a:p>
              <a:p>
                <a:r>
                  <a:rPr lang="en-US" altLang="zh-CN" b="1" dirty="0"/>
                  <a:t>15. </a:t>
                </a:r>
                <a:r>
                  <a:rPr lang="zh-CN" altLang="en-US" b="1" dirty="0"/>
                  <a:t>连通分量</a:t>
                </a:r>
                <a:endParaRPr lang="zh-CN" altLang="en-US" b="1" dirty="0"/>
              </a:p>
              <a:p>
                <a:pPr lvl="1"/>
                <a:r>
                  <a:rPr lang="zh-CN" altLang="en-US" dirty="0"/>
                  <a:t>连通分量是指无向图中的极大连通子图。</a:t>
                </a:r>
                <a:endParaRPr lang="en-US" altLang="zh-CN" dirty="0"/>
              </a:p>
              <a:p>
                <a:pPr lvl="1"/>
                <a:endParaRPr lang="zh-CN" altLang="en-US" dirty="0"/>
              </a:p>
              <a:p>
                <a:r>
                  <a:rPr lang="en-US" altLang="zh-CN" b="1" dirty="0"/>
                  <a:t>16. </a:t>
                </a:r>
                <a:r>
                  <a:rPr lang="zh-CN" altLang="en-US" b="1" dirty="0"/>
                  <a:t>强连通图</a:t>
                </a:r>
                <a:endParaRPr lang="zh-CN" altLang="en-US" b="1" dirty="0"/>
              </a:p>
              <a:p>
                <a:pPr lvl="1"/>
                <a:r>
                  <a:rPr lang="zh-CN" altLang="en-US" dirty="0"/>
                  <a:t>在有向图中若任意两个顶点均是连通的，则称该图为强连通图。</a:t>
                </a:r>
                <a:endParaRPr lang="en-US" altLang="zh-CN" dirty="0"/>
              </a:p>
              <a:p>
                <a:pPr lvl="1"/>
                <a:endParaRPr lang="zh-CN" altLang="en-US" dirty="0"/>
              </a:p>
              <a:p>
                <a:r>
                  <a:rPr lang="en-US" altLang="zh-CN" b="1" dirty="0"/>
                  <a:t>17. </a:t>
                </a:r>
                <a:r>
                  <a:rPr lang="zh-CN" altLang="en-US" b="1" dirty="0"/>
                  <a:t>强连通分量</a:t>
                </a:r>
                <a:endParaRPr lang="zh-CN" altLang="en-US" b="1" dirty="0"/>
              </a:p>
              <a:p>
                <a:pPr lvl="1"/>
                <a:r>
                  <a:rPr lang="zh-CN" altLang="en-US" dirty="0"/>
                  <a:t>强连通分量是指有向图中的极大连通子图。</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lang="zh-CN" altLang="en-US" dirty="0"/>
              <a:t>图的基本概念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en-US" altLang="zh-CN" b="1" dirty="0"/>
                  <a:t>18. </a:t>
                </a:r>
                <a:r>
                  <a:rPr lang="zh-CN" altLang="en-US" b="1" dirty="0"/>
                  <a:t>生成树和生成森林</a:t>
                </a:r>
                <a:endParaRPr lang="zh-CN" altLang="en-US" b="1" dirty="0"/>
              </a:p>
              <a:p>
                <a:pPr lvl="1"/>
                <a:r>
                  <a:rPr lang="zh-CN" altLang="en-US" dirty="0"/>
                  <a:t>生成树是指包含图中的全部顶点，但只有构成树的</a:t>
                </a:r>
                <a14:m>
                  <m:oMath xmlns:m="http://schemas.openxmlformats.org/officeDocument/2006/math">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oMath>
                </a14:m>
                <a:r>
                  <a:rPr lang="zh-CN" altLang="en-US" dirty="0"/>
                  <a:t>条边的生成子图。对于非连通图，每个连通分量可形成一棵生成树，所有生成树组成的集合叫该非连通图的生成森林。</a:t>
                </a:r>
                <a:endParaRPr lang="zh-CN" altLang="en-US" dirty="0"/>
              </a:p>
              <a:p>
                <a:endParaRPr lang="zh-CN" altLang="en-US" b="1" dirty="0"/>
              </a:p>
              <a:p>
                <a:r>
                  <a:rPr lang="en-US" altLang="zh-CN" b="1" dirty="0"/>
                  <a:t>19. </a:t>
                </a:r>
                <a:r>
                  <a:rPr lang="zh-CN" altLang="en-US" b="1" dirty="0"/>
                  <a:t>网</a:t>
                </a:r>
                <a:endParaRPr lang="zh-CN" altLang="en-US" b="1" dirty="0"/>
              </a:p>
              <a:p>
                <a:pPr lvl="1"/>
                <a:r>
                  <a:rPr lang="zh-CN" altLang="en-US" dirty="0"/>
                  <a:t>网指的是边上带有权值的图。通常权为非负实数，可以表示从一个顶点到另一个顶点的距离、时间和代价等。</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lang="zh-CN" altLang="en-US" dirty="0"/>
              <a:t>图的抽象数据类型描述</a:t>
            </a:r>
            <a:endParaRPr lang="zh-CN" altLang="en-US" dirty="0"/>
          </a:p>
        </p:txBody>
      </p:sp>
      <p:sp>
        <p:nvSpPr>
          <p:cNvPr id="3" name="内容占位符 2"/>
          <p:cNvSpPr>
            <a:spLocks noGrp="1"/>
          </p:cNvSpPr>
          <p:nvPr>
            <p:ph sz="half" idx="1"/>
          </p:nvPr>
        </p:nvSpPr>
        <p:spPr>
          <a:xfrm>
            <a:off x="179999" y="1241119"/>
            <a:ext cx="11833199" cy="876438"/>
          </a:xfrm>
        </p:spPr>
        <p:txBody>
          <a:bodyPr/>
          <a:lstStyle/>
          <a:p>
            <a:r>
              <a:rPr lang="zh-CN" altLang="en-US" sz="2800" dirty="0"/>
              <a:t>图的抽象数据类型用</a:t>
            </a:r>
            <a:r>
              <a:rPr lang="en-US" altLang="zh-CN" sz="2800" dirty="0"/>
              <a:t>Python</a:t>
            </a:r>
            <a:r>
              <a:rPr lang="zh-CN" altLang="en-US" sz="2800" dirty="0"/>
              <a:t>抽象类描述如下：</a:t>
            </a:r>
            <a:endParaRPr lang="zh-CN" altLang="en-US" sz="2800" dirty="0"/>
          </a:p>
          <a:p>
            <a:endParaRPr lang="zh-CN" altLang="en-US" dirty="0"/>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8800" y="1802273"/>
            <a:ext cx="5770221" cy="4554076"/>
          </a:xfrm>
          <a:prstGeom prst="rect">
            <a:avLst/>
          </a:prstGeom>
        </p:spPr>
      </p:pic>
      <p:pic>
        <p:nvPicPr>
          <p:cNvPr id="9" name="图片 8"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2981" y="1802273"/>
            <a:ext cx="5472338" cy="4554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6.2</a:t>
            </a:r>
            <a:endParaRPr lang="zh-CN" altLang="en-US" dirty="0"/>
          </a:p>
        </p:txBody>
      </p:sp>
      <p:sp>
        <p:nvSpPr>
          <p:cNvPr id="3" name="文本占位符 2"/>
          <p:cNvSpPr>
            <a:spLocks noGrp="1"/>
          </p:cNvSpPr>
          <p:nvPr>
            <p:ph type="body" sz="quarter" idx="11"/>
          </p:nvPr>
        </p:nvSpPr>
        <p:spPr/>
        <p:txBody>
          <a:bodyPr/>
          <a:lstStyle/>
          <a:p>
            <a:r>
              <a:rPr lang="zh-CN" altLang="en-US" sz="4400" dirty="0"/>
              <a:t>图的存储结构</a:t>
            </a:r>
            <a:endParaRPr lang="zh-CN" altLang="en-US" dirty="0"/>
          </a:p>
        </p:txBody>
      </p:sp>
      <p:sp>
        <p:nvSpPr>
          <p:cNvPr id="4" name="文本占位符 3"/>
          <p:cNvSpPr>
            <a:spLocks noGrp="1"/>
          </p:cNvSpPr>
          <p:nvPr>
            <p:ph type="body" sz="quarter" idx="12"/>
          </p:nvPr>
        </p:nvSpPr>
        <p:spPr>
          <a:xfrm>
            <a:off x="5308599" y="3606800"/>
            <a:ext cx="5655887" cy="1854200"/>
          </a:xfrm>
        </p:spPr>
        <p:txBody>
          <a:bodyPr/>
          <a:lstStyle/>
          <a:p>
            <a:r>
              <a:rPr lang="en-US" altLang="zh-CN" dirty="0"/>
              <a:t>6.2.1 </a:t>
            </a:r>
            <a:r>
              <a:rPr lang="zh-CN" altLang="en-US" dirty="0"/>
              <a:t>邻接矩阵</a:t>
            </a:r>
            <a:endParaRPr lang="en-US" altLang="zh-CN" dirty="0"/>
          </a:p>
          <a:p>
            <a:r>
              <a:rPr lang="en-US" altLang="zh-CN" dirty="0"/>
              <a:t>6.2.2 </a:t>
            </a:r>
            <a:r>
              <a:rPr lang="zh-CN" altLang="en-US" dirty="0"/>
              <a:t>邻接表</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a:t>
            </a:r>
            <a:r>
              <a:rPr lang="zh-CN" altLang="en-US" dirty="0"/>
              <a:t>概述</a:t>
            </a:r>
            <a:endParaRPr lang="zh-CN" altLang="en-US" dirty="0"/>
          </a:p>
        </p:txBody>
      </p:sp>
      <p:sp>
        <p:nvSpPr>
          <p:cNvPr id="3" name="内容占位符 2"/>
          <p:cNvSpPr>
            <a:spLocks noGrp="1"/>
          </p:cNvSpPr>
          <p:nvPr>
            <p:ph idx="1"/>
          </p:nvPr>
        </p:nvSpPr>
        <p:spPr/>
        <p:txBody>
          <a:bodyPr/>
          <a:lstStyle/>
          <a:p>
            <a:r>
              <a:rPr lang="zh-CN" altLang="en-US" dirty="0"/>
              <a:t>图的存储结构需要存储顶点的值以及与顶点相关联的顶点和边的信息。</a:t>
            </a:r>
            <a:endParaRPr lang="en-US" altLang="zh-CN" dirty="0"/>
          </a:p>
          <a:p>
            <a:r>
              <a:rPr lang="zh-CN" altLang="en-US" dirty="0"/>
              <a:t>顶点间没有次序关系，各条边之间也没有次序关系，但是表示和存储一个图必须约定好顶点次序。</a:t>
            </a:r>
            <a:endParaRPr lang="en-US" altLang="zh-CN" dirty="0"/>
          </a:p>
          <a:p>
            <a:r>
              <a:rPr lang="zh-CN" altLang="en-US" dirty="0"/>
              <a:t>边集合表达每对顶点间的邻接关系，是二维线性关系。矩阵的存储结构常见有邻接矩阵、邻接表、十字链表</a:t>
            </a:r>
            <a:r>
              <a:rPr lang="en-US" altLang="zh-CN" dirty="0"/>
              <a:t>3</a:t>
            </a:r>
            <a:r>
              <a:rPr lang="zh-CN" altLang="en-US" dirty="0"/>
              <a:t>种。</a:t>
            </a:r>
            <a:endParaRPr lang="zh-CN" altLang="en-US" dirty="0"/>
          </a:p>
          <a:p>
            <a:pPr lvl="1"/>
            <a:r>
              <a:rPr lang="en-US" altLang="zh-CN" dirty="0"/>
              <a:t>1. </a:t>
            </a:r>
            <a:r>
              <a:rPr lang="zh-CN" altLang="en-US" dirty="0"/>
              <a:t>边采用顺序存储结构，用二维数组存储，称为图的邻接矩阵。</a:t>
            </a:r>
            <a:endParaRPr lang="zh-CN" altLang="en-US" dirty="0"/>
          </a:p>
          <a:p>
            <a:pPr lvl="1"/>
            <a:r>
              <a:rPr lang="en-US" altLang="zh-CN" dirty="0"/>
              <a:t>2. </a:t>
            </a:r>
            <a:r>
              <a:rPr lang="zh-CN" altLang="en-US" dirty="0"/>
              <a:t>边采用链式存储结构，存储行的后继，即矩阵行的单链表，称为图的邻接表。</a:t>
            </a:r>
            <a:endParaRPr lang="zh-CN" altLang="en-US" dirty="0"/>
          </a:p>
          <a:p>
            <a:pPr lvl="1"/>
            <a:r>
              <a:rPr lang="en-US" altLang="zh-CN" dirty="0"/>
              <a:t>3. </a:t>
            </a:r>
            <a:r>
              <a:rPr lang="zh-CN" altLang="en-US" dirty="0"/>
              <a:t>边采用链式存储结构，存储行和列的后继，即矩阵十字链表，称为图的邻接多重表。</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10844"/>
              </a:xfrm>
            </p:spPr>
            <p:txBody>
              <a:bodyPr>
                <a:normAutofit/>
              </a:bodyPr>
              <a:lstStyle/>
              <a:p>
                <a:r>
                  <a:rPr lang="zh-CN" altLang="en-US" sz="2800" b="1" dirty="0"/>
                  <a:t>图的邻接矩阵的存储结构</a:t>
                </a:r>
                <a:endParaRPr lang="en-US" altLang="zh-CN" dirty="0"/>
              </a:p>
              <a:p>
                <a:pPr lvl="1"/>
                <a:r>
                  <a:rPr lang="zh-CN" altLang="en-US" dirty="0"/>
                  <a:t>假设图</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具有</a:t>
                </a:r>
                <a14:m>
                  <m:oMath xmlns:m="http://schemas.openxmlformats.org/officeDocument/2006/math">
                    <m:r>
                      <a:rPr lang="en-US" altLang="zh-CN" i="1" dirty="0" smtClean="0">
                        <a:latin typeface="Cambria Math" panose="02040503050406030204" pitchFamily="18" charset="0"/>
                      </a:rPr>
                      <m:t>𝑛</m:t>
                    </m:r>
                  </m:oMath>
                </a14:m>
                <a:r>
                  <a:rPr lang="zh-CN" altLang="en-US" dirty="0"/>
                  <a:t>个顶点，即</a:t>
                </a:r>
                <a14:m>
                  <m:oMath xmlns:m="http://schemas.openxmlformats.org/officeDocument/2006/math">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0</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m:t>
                        </m:r>
                        <m:r>
                          <a:rPr lang="en-US" altLang="zh-CN" i="1" dirty="0">
                            <a:latin typeface="Cambria Math" panose="02040503050406030204" pitchFamily="18" charset="0"/>
                          </a:rPr>
                          <m:t>𝑣</m:t>
                        </m:r>
                      </m:e>
                      <m:sub>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oMath>
                </a14:m>
                <a:r>
                  <a:rPr lang="zh-CN" altLang="en-US" dirty="0"/>
                  <a:t>，那么图的邻接矩阵可定义如下： </a:t>
                </a:r>
                <a:endParaRPr lang="en-US" altLang="zh-CN" dirty="0"/>
              </a:p>
              <a:p>
                <a:pPr lvl="1"/>
                <a14:m>
                  <m:oMath xmlns:m="http://schemas.openxmlformats.org/officeDocument/2006/math">
                    <m: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d>
                      <m:dPr>
                        <m:begChr m:val="["/>
                        <m:end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e>
                    </m:d>
                    <m:d>
                      <m:dPr>
                        <m:begChr m:val="["/>
                        <m:end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e>
                    </m:d>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eqArr>
                          <m:eqArr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eqArr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,&lt;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&gt;∈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r>
                              <a:rPr kumimoji="0" lang="zh-CN"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或</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e>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0</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,&lt;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&gt;∉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r>
                              <a:rPr kumimoji="0" lang="zh-CN"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且</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e>
                        </m:eqArr>
                      </m:e>
                    </m:d>
                  </m:oMath>
                </a14:m>
                <a:r>
                  <a:rPr lang="en-US" altLang="zh-CN" dirty="0"/>
                  <a:t>, </a:t>
                </a:r>
                <a:r>
                  <a:rPr lang="zh-CN" altLang="en-US" dirty="0"/>
                  <a:t>其中</a:t>
                </a:r>
                <a14:m>
                  <m:oMath xmlns:m="http://schemas.openxmlformats.org/officeDocument/2006/math">
                    <m:r>
                      <a:rPr lang="en-US" altLang="zh-CN" i="1" dirty="0" smtClean="0">
                        <a:latin typeface="Cambria Math" panose="02040503050406030204" pitchFamily="18" charset="0"/>
                      </a:rPr>
                      <m:t>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𝑛</m:t>
                    </m:r>
                  </m:oMath>
                </a14:m>
                <a:endParaRPr lang="en-US" altLang="zh-CN" dirty="0"/>
              </a:p>
              <a:p>
                <a:pPr lvl="1"/>
                <a:r>
                  <a:rPr lang="zh-CN" altLang="zh-CN" dirty="0"/>
                  <a:t>假设图</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zh-CN" dirty="0"/>
                  <a:t>为网，且</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𝑖𝑗</m:t>
                        </m:r>
                      </m:sub>
                    </m:sSub>
                  </m:oMath>
                </a14:m>
                <a:r>
                  <a:rPr lang="zh-CN" altLang="zh-CN" dirty="0"/>
                  <a:t>为边</a:t>
                </a:r>
                <a14:m>
                  <m:oMath xmlns:m="http://schemas.openxmlformats.org/officeDocument/2006/math">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b="0" i="1" dirty="0" smtClean="0">
                            <a:latin typeface="Cambria Math" panose="02040503050406030204" pitchFamily="18" charset="0"/>
                          </a:rPr>
                          <m:t>𝑗</m:t>
                        </m:r>
                      </m:sub>
                    </m:sSub>
                    <m:r>
                      <a:rPr lang="en-US" altLang="zh-CN" i="1" dirty="0" smtClean="0">
                        <a:latin typeface="Cambria Math" panose="02040503050406030204" pitchFamily="18" charset="0"/>
                      </a:rPr>
                      <m:t>)</m:t>
                    </m:r>
                  </m:oMath>
                </a14:m>
                <a:r>
                  <a:rPr lang="zh-CN" altLang="zh-CN" dirty="0"/>
                  <a:t>或</a:t>
                </a:r>
                <a14:m>
                  <m:oMath xmlns:m="http://schemas.openxmlformats.org/officeDocument/2006/math">
                    <m:r>
                      <a:rPr lang="en-US" altLang="zh-CN" i="1" dirty="0" smtClean="0">
                        <a:latin typeface="Cambria Math" panose="02040503050406030204" pitchFamily="18" charset="0"/>
                      </a:rPr>
                      <m:t>&lt;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𝑗</m:t>
                        </m:r>
                      </m:sub>
                    </m:sSub>
                    <m:r>
                      <a:rPr lang="en-US" altLang="zh-CN" i="1" dirty="0" smtClean="0">
                        <a:latin typeface="Cambria Math" panose="02040503050406030204" pitchFamily="18" charset="0"/>
                      </a:rPr>
                      <m:t>&gt;</m:t>
                    </m:r>
                  </m:oMath>
                </a14:m>
                <a:r>
                  <a:rPr lang="zh-CN" altLang="zh-CN" dirty="0"/>
                  <a:t>上的权值，则网的邻接矩阵可定义如下： </a:t>
                </a:r>
                <a:endParaRPr lang="en-US" altLang="zh-CN" dirty="0"/>
              </a:p>
              <a:p>
                <a:pPr lvl="1"/>
                <a14:m>
                  <m:oMath xmlns:m="http://schemas.openxmlformats.org/officeDocument/2006/math">
                    <m: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d>
                      <m:dPr>
                        <m:begChr m:val="["/>
                        <m:end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e>
                    </m:d>
                    <m:d>
                      <m:dPr>
                        <m:begChr m:val="["/>
                        <m:end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e>
                    </m:d>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d>
                      <m:dPr>
                        <m:begChr m:val="{"/>
                        <m:end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eqArr>
                          <m:eqArr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eqArr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,&lt;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&gt;∈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r>
                              <a:rPr kumimoji="0" lang="zh-CN"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或</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e>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∞,&lt;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&gt;∉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r>
                              <a:rPr kumimoji="0" lang="zh-CN"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且</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𝑖</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𝑣</m:t>
                                </m:r>
                              </m:e>
                              <m: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𝑗</m:t>
                                </m:r>
                              </m:sub>
                            </m:sSub>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𝐸</m:t>
                            </m:r>
                          </m:e>
                        </m:eqArr>
                      </m:e>
                    </m:d>
                  </m:oMath>
                </a14:m>
                <a:r>
                  <a:rPr lang="en-US" altLang="zh-CN" dirty="0"/>
                  <a:t>, </a:t>
                </a:r>
                <a:r>
                  <a:rPr lang="zh-CN" altLang="en-US" dirty="0"/>
                  <a:t>其中</a:t>
                </a:r>
                <a14:m>
                  <m:oMath xmlns:m="http://schemas.openxmlformats.org/officeDocument/2006/math">
                    <m:r>
                      <a:rPr lang="en-US" altLang="zh-CN" i="1" dirty="0">
                        <a:latin typeface="Cambria Math" panose="02040503050406030204" pitchFamily="18" charset="0"/>
                      </a:rPr>
                      <m:t>0</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 </m:t>
                    </m:r>
                    <m:r>
                      <a:rPr lang="en-US" altLang="zh-CN" i="1" dirty="0">
                        <a:latin typeface="Cambria Math" panose="02040503050406030204" pitchFamily="18" charset="0"/>
                      </a:rPr>
                      <m:t>𝑗</m:t>
                    </m:r>
                    <m:r>
                      <a:rPr lang="en-US" altLang="zh-CN" i="1" dirty="0">
                        <a:latin typeface="Cambria Math" panose="02040503050406030204" pitchFamily="18" charset="0"/>
                      </a:rPr>
                      <m:t>&lt;</m:t>
                    </m:r>
                    <m:r>
                      <a:rPr lang="en-US" altLang="zh-CN" i="1" dirty="0">
                        <a:latin typeface="Cambria Math" panose="02040503050406030204" pitchFamily="18" charset="0"/>
                      </a:rPr>
                      <m:t>𝑛</m:t>
                    </m:r>
                  </m:oMath>
                </a14:m>
                <a:endParaRPr lang="en-US" altLang="zh-CN" dirty="0"/>
              </a:p>
              <a:p>
                <a:pPr lvl="1"/>
                <a:r>
                  <a:rPr lang="zh-CN" altLang="zh-CN" dirty="0"/>
                  <a:t>分析可得，在无向图的邻接矩阵中第</a:t>
                </a:r>
                <a:r>
                  <a:rPr lang="en-US" altLang="zh-CN" dirty="0" err="1"/>
                  <a:t>i</a:t>
                </a:r>
                <a:r>
                  <a:rPr lang="zh-CN" altLang="zh-CN" dirty="0"/>
                  <a:t>行或者第</a:t>
                </a:r>
                <a14:m>
                  <m:oMath xmlns:m="http://schemas.openxmlformats.org/officeDocument/2006/math">
                    <m:r>
                      <a:rPr lang="en-US" altLang="zh-CN" i="1" dirty="0" smtClean="0">
                        <a:latin typeface="Cambria Math" panose="02040503050406030204" pitchFamily="18" charset="0"/>
                      </a:rPr>
                      <m:t>𝑖</m:t>
                    </m:r>
                  </m:oMath>
                </a14:m>
                <a:r>
                  <a:rPr lang="zh-CN" altLang="zh-CN" dirty="0"/>
                  <a:t>列的非零元素的个数为第</a:t>
                </a:r>
                <a14:m>
                  <m:oMath xmlns:m="http://schemas.openxmlformats.org/officeDocument/2006/math">
                    <m:r>
                      <a:rPr lang="en-US" altLang="zh-CN" i="1" dirty="0" smtClean="0">
                        <a:latin typeface="Cambria Math" panose="02040503050406030204" pitchFamily="18" charset="0"/>
                      </a:rPr>
                      <m:t>𝑖</m:t>
                    </m:r>
                  </m:oMath>
                </a14:m>
                <a:r>
                  <a:rPr lang="zh-CN" altLang="zh-CN" dirty="0"/>
                  <a:t>个顶点的度；在有向图的邻接矩阵中第</a:t>
                </a:r>
                <a:r>
                  <a:rPr lang="en-US" altLang="zh-CN" dirty="0" err="1"/>
                  <a:t>i</a:t>
                </a:r>
                <a:r>
                  <a:rPr lang="zh-CN" altLang="zh-CN" dirty="0"/>
                  <a:t>行的非</a:t>
                </a:r>
                <a14:m>
                  <m:oMath xmlns:m="http://schemas.openxmlformats.org/officeDocument/2006/math">
                    <m:r>
                      <a:rPr lang="en-US" altLang="zh-CN" i="1" dirty="0" smtClean="0">
                        <a:latin typeface="Cambria Math" panose="02040503050406030204" pitchFamily="18" charset="0"/>
                      </a:rPr>
                      <m:t>∞</m:t>
                    </m:r>
                  </m:oMath>
                </a14:m>
                <a:r>
                  <a:rPr lang="zh-CN" altLang="zh-CN" dirty="0"/>
                  <a:t>元素的个数为第</a:t>
                </a:r>
                <a14:m>
                  <m:oMath xmlns:m="http://schemas.openxmlformats.org/officeDocument/2006/math">
                    <m:r>
                      <a:rPr lang="en-US" altLang="zh-CN" i="1" dirty="0" smtClean="0">
                        <a:latin typeface="Cambria Math" panose="02040503050406030204" pitchFamily="18" charset="0"/>
                      </a:rPr>
                      <m:t>𝑖</m:t>
                    </m:r>
                  </m:oMath>
                </a14:m>
                <a:r>
                  <a:rPr lang="zh-CN" altLang="zh-CN" dirty="0"/>
                  <a:t>个顶点的出度，第</a:t>
                </a:r>
                <a14:m>
                  <m:oMath xmlns:m="http://schemas.openxmlformats.org/officeDocument/2006/math">
                    <m:r>
                      <a:rPr lang="en-US" altLang="zh-CN" i="1" dirty="0" smtClean="0">
                        <a:latin typeface="Cambria Math" panose="02040503050406030204" pitchFamily="18" charset="0"/>
                      </a:rPr>
                      <m:t>𝑖</m:t>
                    </m:r>
                  </m:oMath>
                </a14:m>
                <a:r>
                  <a:rPr lang="zh-CN" altLang="zh-CN" dirty="0"/>
                  <a:t>列非</a:t>
                </a:r>
                <a14:m>
                  <m:oMath xmlns:m="http://schemas.openxmlformats.org/officeDocument/2006/math">
                    <m:r>
                      <a:rPr lang="en-US" altLang="zh-CN" i="1" dirty="0" smtClean="0">
                        <a:latin typeface="Cambria Math" panose="02040503050406030204" pitchFamily="18" charset="0"/>
                      </a:rPr>
                      <m:t>∞</m:t>
                    </m:r>
                  </m:oMath>
                </a14:m>
                <a:r>
                  <a:rPr lang="zh-CN" altLang="zh-CN" dirty="0"/>
                  <a:t>元素的个数为第</a:t>
                </a:r>
                <a14:m>
                  <m:oMath xmlns:m="http://schemas.openxmlformats.org/officeDocument/2006/math">
                    <m:r>
                      <a:rPr lang="en-US" altLang="zh-CN" i="1" dirty="0" smtClean="0">
                        <a:latin typeface="Cambria Math" panose="02040503050406030204" pitchFamily="18" charset="0"/>
                      </a:rPr>
                      <m:t>𝑖</m:t>
                    </m:r>
                  </m:oMath>
                </a14:m>
                <a:r>
                  <a:rPr lang="zh-CN" altLang="zh-CN" dirty="0"/>
                  <a:t>个顶点的入度。无向图的邻接矩阵是对称的，有向图的邻接矩阵不一定是对称的。</a:t>
                </a:r>
                <a:endParaRPr lang="zh-CN"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10844"/>
              </a:xfrm>
              <a:blipFill rotWithShape="1">
                <a:blip r:embed="rId1"/>
                <a:stretch>
                  <a:fillRect l="-2" r="-93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dirty="0"/>
              <a:t>图的邻接矩阵可以用二维数组进行表示，邻接矩阵类的</a:t>
            </a:r>
            <a:r>
              <a:rPr lang="en-US" altLang="zh-CN" dirty="0"/>
              <a:t>Python</a:t>
            </a:r>
            <a:r>
              <a:rPr lang="zh-CN" altLang="en-US" dirty="0"/>
              <a:t>语言描述如下： </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8" name="图片 7"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79321" y="2077655"/>
            <a:ext cx="7828796" cy="382543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9" name="图片 8"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5867" y="1985068"/>
            <a:ext cx="8020265" cy="45129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5867" y="1985068"/>
            <a:ext cx="8020265" cy="45129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7" name="图片 16" descr="屏幕上有字&#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5867" y="2048546"/>
            <a:ext cx="8020265" cy="438459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descr="屏幕上有字&#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5867" y="2048546"/>
            <a:ext cx="8020265" cy="438459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2)</a:t>
            </a:r>
            <a:r>
              <a:rPr lang="zh-CN" altLang="en-US" b="1" dirty="0"/>
              <a:t> 顶点的定位</a:t>
            </a:r>
            <a:endParaRPr lang="en-US" altLang="zh-CN" b="1" dirty="0"/>
          </a:p>
          <a:p>
            <a:pPr lvl="1"/>
            <a:r>
              <a:rPr lang="zh-CN" altLang="en-US" dirty="0"/>
              <a:t>顶点定位算法</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locateVex</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(x)</a:t>
            </a:r>
            <a:r>
              <a:rPr lang="zh-CN" altLang="en-US" dirty="0"/>
              <a:t>是根据</a:t>
            </a:r>
            <a:r>
              <a:rPr lang="en-US" altLang="zh-CN" dirty="0"/>
              <a:t>x</a:t>
            </a:r>
            <a:r>
              <a:rPr lang="zh-CN" altLang="en-US" dirty="0"/>
              <a:t>的值取得其在顶点集中的位置，若不存在则返回</a:t>
            </a:r>
            <a:r>
              <a:rPr lang="en-US" altLang="zh-CN" dirty="0"/>
              <a:t>-1</a:t>
            </a:r>
            <a:r>
              <a:rPr lang="zh-CN" altLang="en-US" dirty="0"/>
              <a:t>。</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2613950"/>
            <a:ext cx="11182350" cy="3505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3)</a:t>
            </a:r>
            <a:r>
              <a:rPr lang="zh-CN" altLang="en-US" sz="2800" b="1" dirty="0"/>
              <a:t>查找第一个邻接点</a:t>
            </a:r>
            <a:endParaRPr lang="en-US" altLang="zh-CN" b="1" dirty="0"/>
          </a:p>
          <a:p>
            <a:pPr lvl="1"/>
            <a:r>
              <a:rPr lang="zh-CN" altLang="en-US" sz="2400" dirty="0"/>
              <a:t>查找第一个邻接点算法</a:t>
            </a:r>
            <a:r>
              <a:rPr lang="en-US" altLang="zh-CN" sz="2400" dirty="0" err="1">
                <a:latin typeface="Cascadia Code" panose="020B0609020000020004" pitchFamily="49" charset="0"/>
                <a:ea typeface="Cascadia Code" panose="020B0609020000020004" pitchFamily="49" charset="0"/>
                <a:cs typeface="Cascadia Code" panose="020B0609020000020004" pitchFamily="49" charset="0"/>
              </a:rPr>
              <a:t>firstAdj</a:t>
            </a:r>
            <a:r>
              <a:rPr lang="en-US" altLang="zh-CN" sz="2400" dirty="0">
                <a:latin typeface="Cascadia Code" panose="020B0609020000020004" pitchFamily="49" charset="0"/>
                <a:ea typeface="Cascadia Code" panose="020B0609020000020004" pitchFamily="49" charset="0"/>
                <a:cs typeface="Cascadia Code" panose="020B0609020000020004" pitchFamily="49" charset="0"/>
              </a:rPr>
              <a:t>(</a:t>
            </a:r>
            <a:r>
              <a:rPr lang="en-US" altLang="zh-CN" sz="2400" dirty="0" err="1">
                <a:latin typeface="Cascadia Code" panose="020B0609020000020004" pitchFamily="49" charset="0"/>
                <a:ea typeface="Cascadia Code" panose="020B0609020000020004" pitchFamily="49" charset="0"/>
                <a:cs typeface="Cascadia Code" panose="020B0609020000020004" pitchFamily="49" charset="0"/>
              </a:rPr>
              <a:t>i</a:t>
            </a:r>
            <a:r>
              <a:rPr lang="en-US" altLang="zh-CN" sz="2400" dirty="0">
                <a:latin typeface="Cascadia Code" panose="020B0609020000020004" pitchFamily="49" charset="0"/>
                <a:ea typeface="Cascadia Code" panose="020B0609020000020004" pitchFamily="49" charset="0"/>
                <a:cs typeface="Cascadia Code" panose="020B0609020000020004" pitchFamily="49" charset="0"/>
              </a:rPr>
              <a:t>)</a:t>
            </a:r>
            <a:r>
              <a:rPr lang="zh-CN" altLang="en-US" sz="2400" dirty="0"/>
              <a:t>是指给定一个顶点在顶点集中的位置</a:t>
            </a:r>
            <a:r>
              <a:rPr lang="en-US" altLang="zh-CN" sz="2400" dirty="0" err="1"/>
              <a:t>i</a:t>
            </a:r>
            <a:r>
              <a:rPr lang="zh-CN" altLang="en-US" sz="2400" dirty="0"/>
              <a:t>，返回其第一个邻接点，若不存在则返回</a:t>
            </a:r>
            <a:r>
              <a:rPr lang="en-US" altLang="zh-CN" sz="2400" dirty="0"/>
              <a:t>-1</a:t>
            </a:r>
            <a:r>
              <a:rPr lang="zh-CN" altLang="en-US" sz="2400" dirty="0"/>
              <a:t>。</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9" name="图片 8"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2613950"/>
            <a:ext cx="11182350" cy="3505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图的邻接矩阵类的基本操作的实现</a:t>
            </a:r>
            <a:r>
              <a:rPr lang="zh-CN" altLang="en-US" b="1" dirty="0"/>
              <a:t>：</a:t>
            </a:r>
            <a:r>
              <a:rPr lang="en-US" altLang="zh-CN" b="1" dirty="0"/>
              <a:t>4) </a:t>
            </a:r>
            <a:r>
              <a:rPr lang="zh-CN" altLang="en-US" b="1" dirty="0"/>
              <a:t>查找下一个邻接点</a:t>
            </a:r>
            <a:endParaRPr lang="zh-CN" altLang="en-US" b="1" dirty="0"/>
          </a:p>
          <a:p>
            <a:pPr lvl="1"/>
            <a:r>
              <a:rPr lang="zh-CN" altLang="en-US" sz="2400" dirty="0"/>
              <a:t>查找下一个邻接点算法</a:t>
            </a:r>
            <a:r>
              <a:rPr lang="en-US" altLang="zh-CN" sz="2400" dirty="0" err="1">
                <a:latin typeface="Cascadia Code" panose="020B0609020000020004" pitchFamily="49" charset="0"/>
                <a:ea typeface="Cascadia Code" panose="020B0609020000020004" pitchFamily="49" charset="0"/>
                <a:cs typeface="Cascadia Code" panose="020B0609020000020004" pitchFamily="49" charset="0"/>
              </a:rPr>
              <a:t>nextAdj</a:t>
            </a:r>
            <a:r>
              <a:rPr lang="en-US" altLang="zh-CN" sz="2400" dirty="0">
                <a:latin typeface="Cascadia Code" panose="020B0609020000020004" pitchFamily="49" charset="0"/>
                <a:ea typeface="Cascadia Code" panose="020B0609020000020004" pitchFamily="49" charset="0"/>
                <a:cs typeface="Cascadia Code" panose="020B0609020000020004" pitchFamily="49" charset="0"/>
              </a:rPr>
              <a:t>(</a:t>
            </a:r>
            <a:r>
              <a:rPr lang="en-US" altLang="zh-CN" sz="2400" dirty="0" err="1">
                <a:latin typeface="Cascadia Code" panose="020B0609020000020004" pitchFamily="49" charset="0"/>
                <a:ea typeface="Cascadia Code" panose="020B0609020000020004" pitchFamily="49" charset="0"/>
                <a:cs typeface="Cascadia Code" panose="020B0609020000020004" pitchFamily="49" charset="0"/>
              </a:rPr>
              <a:t>i,j</a:t>
            </a:r>
            <a:r>
              <a:rPr lang="en-US" altLang="zh-CN" sz="2400" dirty="0">
                <a:latin typeface="Cascadia Code" panose="020B0609020000020004" pitchFamily="49" charset="0"/>
                <a:ea typeface="Cascadia Code" panose="020B0609020000020004" pitchFamily="49" charset="0"/>
                <a:cs typeface="Cascadia Code" panose="020B0609020000020004" pitchFamily="49" charset="0"/>
              </a:rPr>
              <a:t>)</a:t>
            </a:r>
            <a:r>
              <a:rPr lang="zh-CN" altLang="en-US" sz="2400" dirty="0"/>
              <a:t>是指给定两个顶点在顶点集中的位置</a:t>
            </a:r>
            <a:r>
              <a:rPr lang="en-US" altLang="zh-CN" sz="2400" dirty="0" err="1"/>
              <a:t>i</a:t>
            </a:r>
            <a:r>
              <a:rPr lang="zh-CN" altLang="en-US" sz="2400" dirty="0"/>
              <a:t>、</a:t>
            </a:r>
            <a:r>
              <a:rPr lang="en-US" altLang="zh-CN" sz="2400" dirty="0"/>
              <a:t>j</a:t>
            </a:r>
            <a:r>
              <a:rPr lang="zh-CN" altLang="en-US" sz="2400" dirty="0"/>
              <a:t>，第</a:t>
            </a:r>
            <a:r>
              <a:rPr lang="en-US" altLang="zh-CN" sz="2400" dirty="0"/>
              <a:t>j</a:t>
            </a:r>
            <a:r>
              <a:rPr lang="zh-CN" altLang="en-US" sz="2400" dirty="0"/>
              <a:t>个顶点是第</a:t>
            </a:r>
            <a:r>
              <a:rPr lang="en-US" altLang="zh-CN" sz="2400" dirty="0" err="1"/>
              <a:t>i</a:t>
            </a:r>
            <a:r>
              <a:rPr lang="zh-CN" altLang="en-US" sz="2400" dirty="0"/>
              <a:t>个顶点的邻接点，返回第</a:t>
            </a:r>
            <a:r>
              <a:rPr lang="en-US" altLang="zh-CN" sz="2400" dirty="0"/>
              <a:t>j</a:t>
            </a:r>
            <a:r>
              <a:rPr lang="zh-CN" altLang="en-US" sz="2400" dirty="0"/>
              <a:t>个顶点之后的下一个邻接点，若不存在则返回</a:t>
            </a:r>
            <a:r>
              <a:rPr lang="en-US" altLang="zh-CN" sz="2400" dirty="0"/>
              <a:t>-1</a:t>
            </a:r>
            <a:r>
              <a:rPr lang="zh-CN" altLang="en-US" sz="2400" dirty="0"/>
              <a:t>。</a:t>
            </a:r>
            <a:endParaRPr lang="zh-CN" altLang="en-US" sz="2400"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2851149"/>
            <a:ext cx="11182350" cy="3505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zh-CN" altLang="en-US" b="1" dirty="0"/>
                  <a:t>邻接矩阵表示图的性能分析</a:t>
                </a:r>
                <a:endParaRPr lang="en-US" altLang="zh-CN" b="1" dirty="0"/>
              </a:p>
              <a:p>
                <a:pPr lvl="1"/>
                <a:r>
                  <a:rPr lang="zh-CN" altLang="en-US" dirty="0"/>
                  <a:t>图的邻接矩阵表示存储了任意两个顶点间的邻接关系或边的权值，能够实现对图的各种操作，其中判断两个顶点间是否有边相连、获得和设置边的权值等操作的时间复杂度为</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oMath>
                </a14:m>
                <a:r>
                  <a:rPr lang="zh-CN" altLang="en-US" dirty="0"/>
                  <a:t>。</a:t>
                </a:r>
                <a:endParaRPr lang="en-US" altLang="zh-CN" dirty="0"/>
              </a:p>
              <a:p>
                <a:pPr lvl="1"/>
                <a:r>
                  <a:rPr lang="zh-CN" altLang="en-US" dirty="0"/>
                  <a:t>但是，与顺序表存储线性表的性能相似，由于采用数组存储，每插入或者删除一个元素需要移动大量元素，使得插入和删除操作的效率很低，而且数组容量有限，当扩充容量时需要复制全部元素，效率更低。</a:t>
                </a:r>
                <a:endParaRPr lang="zh-CN" altLang="en-US" dirty="0"/>
              </a:p>
              <a:p>
                <a:pPr lvl="1"/>
                <a:r>
                  <a:rPr lang="zh-CN" altLang="en-US" dirty="0"/>
                  <a:t>在图的邻接矩阵中每个矩阵元素表示两个顶点间的邻接关系，无边或有边。即使两个顶点之间没有邻接关系，也占用一个存储单元存储</a:t>
                </a:r>
                <a14:m>
                  <m:oMath xmlns:m="http://schemas.openxmlformats.org/officeDocument/2006/math">
                    <m:r>
                      <a:rPr lang="en-US" altLang="zh-CN" i="1" dirty="0" smtClean="0">
                        <a:latin typeface="Cambria Math" panose="02040503050406030204" pitchFamily="18" charset="0"/>
                      </a:rPr>
                      <m:t>0</m:t>
                    </m:r>
                  </m:oMath>
                </a14:m>
                <a:r>
                  <a:rPr lang="zh-CN" altLang="en-US" dirty="0"/>
                  <a:t>或者</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oMath>
                </a14:m>
                <a:r>
                  <a:rPr lang="zh-CN" altLang="en-US" dirty="0"/>
                  <a:t>。对于一个有</a:t>
                </a:r>
                <a14:m>
                  <m:oMath xmlns:m="http://schemas.openxmlformats.org/officeDocument/2006/math">
                    <m:r>
                      <a:rPr lang="en-US" altLang="zh-CN" i="1" dirty="0" smtClean="0">
                        <a:latin typeface="Cambria Math" panose="02040503050406030204" pitchFamily="18" charset="0"/>
                      </a:rPr>
                      <m:t>𝑛</m:t>
                    </m:r>
                  </m:oMath>
                </a14:m>
                <a:r>
                  <a:rPr lang="zh-CN" altLang="en-US" dirty="0"/>
                  <a:t>个顶点的完全图，其邻接矩阵有</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oMath>
                </a14:m>
                <a:r>
                  <a:rPr lang="zh-CN" altLang="en-US" dirty="0"/>
                  <a:t>个元素，此时邻接矩阵的存储效率较高； 当图中的边数较少时，邻接矩阵变得稀疏，存储效率较低，此时可用图的邻接表进行存储。</a:t>
                </a:r>
                <a:endParaRPr lang="zh-CN" altLang="en-US" dirty="0"/>
              </a:p>
              <a:p>
                <a:pPr lvl="1"/>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lang="zh-CN" altLang="en-US" dirty="0"/>
              <a:t>邻接矩阵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en-US" altLang="zh-CN" b="1" dirty="0"/>
                  <a:t>【</a:t>
                </a:r>
                <a:r>
                  <a:rPr lang="zh-CN" altLang="en-US" b="1" dirty="0"/>
                  <a:t>例</a:t>
                </a:r>
                <a:r>
                  <a:rPr lang="en-US" altLang="zh-CN" b="1" dirty="0"/>
                  <a:t>6.1】</a:t>
                </a:r>
                <a14:m>
                  <m:oMath xmlns:m="http://schemas.openxmlformats.org/officeDocument/2006/math">
                    <m:r>
                      <a:rPr lang="en-US" altLang="zh-CN" b="1" i="1" dirty="0" smtClean="0">
                        <a:latin typeface="Cambria Math" panose="02040503050406030204" pitchFamily="18" charset="0"/>
                      </a:rPr>
                      <m:t>𝒏</m:t>
                    </m:r>
                  </m:oMath>
                </a14:m>
                <a:r>
                  <a:rPr lang="zh-CN" altLang="en-US" b="1" dirty="0"/>
                  <a:t>个顶点的无向图采用邻接矩阵存储，回答下列问题： </a:t>
                </a:r>
                <a:endParaRPr lang="en-US" altLang="zh-CN" b="1" dirty="0"/>
              </a:p>
              <a:p>
                <a:pPr lvl="1"/>
                <a:r>
                  <a:rPr lang="zh-CN" altLang="en-US" dirty="0"/>
                  <a:t>（</a:t>
                </a:r>
                <a:r>
                  <a:rPr lang="en-US" altLang="zh-CN" dirty="0"/>
                  <a:t>1</a:t>
                </a:r>
                <a:r>
                  <a:rPr lang="zh-CN" altLang="en-US" dirty="0"/>
                  <a:t>） 图中有多少条边？</a:t>
                </a:r>
                <a:endParaRPr lang="en-US" altLang="zh-CN" dirty="0"/>
              </a:p>
              <a:p>
                <a:pPr lvl="1"/>
                <a:r>
                  <a:rPr lang="zh-CN" altLang="en-US" dirty="0"/>
                  <a:t>（</a:t>
                </a:r>
                <a:r>
                  <a:rPr lang="en-US" altLang="zh-CN" dirty="0"/>
                  <a:t>2</a:t>
                </a:r>
                <a:r>
                  <a:rPr lang="zh-CN" altLang="en-US" dirty="0"/>
                  <a:t>） 任意两个顶点</a:t>
                </a:r>
                <a14:m>
                  <m:oMath xmlns:m="http://schemas.openxmlformats.org/officeDocument/2006/math">
                    <m:r>
                      <a:rPr lang="en-US" altLang="zh-CN" i="1" dirty="0" smtClean="0">
                        <a:latin typeface="Cambria Math" panose="02040503050406030204" pitchFamily="18" charset="0"/>
                      </a:rPr>
                      <m:t>𝑖</m:t>
                    </m:r>
                  </m:oMath>
                </a14:m>
                <a:r>
                  <a:rPr lang="zh-CN" altLang="en-US" dirty="0"/>
                  <a:t>和</a:t>
                </a:r>
                <a14:m>
                  <m:oMath xmlns:m="http://schemas.openxmlformats.org/officeDocument/2006/math">
                    <m:r>
                      <a:rPr lang="en-US" altLang="zh-CN" i="1" dirty="0" smtClean="0">
                        <a:latin typeface="Cambria Math" panose="02040503050406030204" pitchFamily="18" charset="0"/>
                      </a:rPr>
                      <m:t>𝑗</m:t>
                    </m:r>
                  </m:oMath>
                </a14:m>
                <a:r>
                  <a:rPr lang="zh-CN" altLang="en-US" dirty="0"/>
                  <a:t>之间是否有边相连？</a:t>
                </a:r>
                <a:endParaRPr lang="en-US" altLang="zh-CN" dirty="0"/>
              </a:p>
              <a:p>
                <a:pPr lvl="1"/>
                <a:r>
                  <a:rPr lang="zh-CN" altLang="en-US" dirty="0"/>
                  <a:t>（</a:t>
                </a:r>
                <a:r>
                  <a:rPr lang="en-US" altLang="zh-CN" dirty="0"/>
                  <a:t>3</a:t>
                </a:r>
                <a:r>
                  <a:rPr lang="zh-CN" altLang="en-US" dirty="0"/>
                  <a:t>） 任意一个顶点的度是多少？</a:t>
                </a:r>
                <a:endParaRPr lang="zh-CN" altLang="en-US" dirty="0"/>
              </a:p>
              <a:p>
                <a:r>
                  <a:rPr lang="zh-CN" altLang="en-US" b="1" dirty="0"/>
                  <a:t>解： </a:t>
                </a:r>
                <a:endParaRPr lang="en-US" altLang="zh-CN" b="1" dirty="0"/>
              </a:p>
              <a:p>
                <a:pPr lvl="1"/>
                <a:r>
                  <a:rPr lang="zh-CN" altLang="en-US" dirty="0"/>
                  <a:t>（</a:t>
                </a:r>
                <a:r>
                  <a:rPr lang="en-US" altLang="zh-CN" dirty="0"/>
                  <a:t>1</a:t>
                </a:r>
                <a:r>
                  <a:rPr lang="zh-CN" altLang="en-US" dirty="0"/>
                  <a:t>） 邻接矩阵中非零元素个数的总和除以</a:t>
                </a:r>
                <a14:m>
                  <m:oMath xmlns:m="http://schemas.openxmlformats.org/officeDocument/2006/math">
                    <m:r>
                      <a:rPr lang="en-US" altLang="zh-CN" i="1" dirty="0" smtClean="0">
                        <a:latin typeface="Cambria Math" panose="02040503050406030204" pitchFamily="18" charset="0"/>
                      </a:rPr>
                      <m:t>2</m:t>
                    </m:r>
                  </m:oMath>
                </a14:m>
                <a:r>
                  <a:rPr lang="zh-CN" altLang="en-US" dirty="0"/>
                  <a:t>。</a:t>
                </a:r>
                <a:endParaRPr lang="en-US" altLang="zh-CN" dirty="0"/>
              </a:p>
              <a:p>
                <a:pPr lvl="1"/>
                <a:r>
                  <a:rPr lang="zh-CN" altLang="en-US" dirty="0"/>
                  <a:t>（</a:t>
                </a:r>
                <a:r>
                  <a:rPr lang="en-US" altLang="zh-CN" dirty="0"/>
                  <a:t>2</a:t>
                </a:r>
                <a:r>
                  <a:rPr lang="zh-CN" altLang="en-US" dirty="0"/>
                  <a:t>） 当邻接矩阵</a:t>
                </a:r>
                <a14:m>
                  <m:oMath xmlns:m="http://schemas.openxmlformats.org/officeDocument/2006/math">
                    <m:r>
                      <a:rPr lang="en-US" altLang="zh-CN" i="1" dirty="0" smtClean="0">
                        <a:latin typeface="Cambria Math" panose="02040503050406030204" pitchFamily="18" charset="0"/>
                      </a:rPr>
                      <m:t>𝐴</m:t>
                    </m:r>
                  </m:oMath>
                </a14:m>
                <a:r>
                  <a:rPr lang="zh-CN" altLang="en-US" dirty="0"/>
                  <a:t>中</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oMath>
                </a14:m>
                <a:r>
                  <a:rPr lang="en-US" altLang="zh-CN" dirty="0"/>
                  <a:t>(</a:t>
                </a:r>
                <a:r>
                  <a:rPr lang="zh-CN" altLang="en-US" dirty="0"/>
                  <a:t>或</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oMath>
                </a14:m>
                <a:r>
                  <a:rPr lang="en-US" altLang="zh-CN" dirty="0"/>
                  <a:t>)</a:t>
                </a:r>
                <a:r>
                  <a:rPr lang="zh-CN" altLang="en-US" dirty="0"/>
                  <a:t>时表示两顶点之间有边相连。</a:t>
                </a:r>
                <a:endParaRPr lang="en-US" altLang="zh-CN" dirty="0"/>
              </a:p>
              <a:p>
                <a:pPr lvl="1"/>
                <a:r>
                  <a:rPr lang="zh-CN" altLang="en-US" dirty="0"/>
                  <a:t>（</a:t>
                </a:r>
                <a:r>
                  <a:rPr lang="en-US" altLang="zh-CN" dirty="0"/>
                  <a:t>3</a:t>
                </a:r>
                <a:r>
                  <a:rPr lang="zh-CN" altLang="en-US" dirty="0"/>
                  <a:t>） 计算邻接矩阵上该顶点对应的行上非零元素的个数。</a:t>
                </a:r>
                <a:endParaRPr lang="zh-CN" altLang="en-US" dirty="0"/>
              </a:p>
              <a:p>
                <a:pPr lvl="1"/>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10844"/>
          </a:xfrm>
        </p:spPr>
        <p:txBody>
          <a:bodyPr>
            <a:normAutofit/>
          </a:bodyPr>
          <a:lstStyle/>
          <a:p>
            <a:r>
              <a:rPr lang="zh-CN" altLang="en-US" sz="2800" b="1" dirty="0"/>
              <a:t>图的邻接表的存储结构</a:t>
            </a:r>
            <a:endParaRPr lang="en-US" altLang="zh-CN" dirty="0"/>
          </a:p>
          <a:p>
            <a:pPr lvl="1"/>
            <a:r>
              <a:rPr lang="zh-CN" altLang="en-US" dirty="0"/>
              <a:t>邻接表采用链式存储结构存储图，是由一个顺序存储的顶点表和多个链式存储的边表组成的。</a:t>
            </a:r>
            <a:endParaRPr lang="en-US" altLang="zh-CN" dirty="0"/>
          </a:p>
          <a:p>
            <a:pPr lvl="1"/>
            <a:r>
              <a:rPr lang="zh-CN" altLang="en-US" dirty="0"/>
              <a:t>边表的个数和图的顶点数相同。顶点表由顶点结点组成，每个顶点结点又由数据域和指针域组成，其中数据域</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data</a:t>
            </a:r>
            <a:r>
              <a:rPr lang="zh-CN" altLang="en-US" dirty="0"/>
              <a:t>存放顶点值，指针域</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firstArc</a:t>
            </a:r>
            <a:r>
              <a:rPr lang="zh-CN" altLang="en-US" dirty="0"/>
              <a:t>指向边表中的第一个边结点。</a:t>
            </a:r>
            <a:endParaRPr lang="en-US" altLang="zh-CN" dirty="0"/>
          </a:p>
          <a:p>
            <a:pPr lvl="1"/>
            <a:r>
              <a:rPr lang="zh-CN" altLang="en-US" dirty="0"/>
              <a:t>边表由边结点组成，每个边结点又由</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adjVex</a:t>
            </a:r>
            <a:r>
              <a:rPr lang="zh-CN" altLang="en-US" dirty="0"/>
              <a:t>、</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nextArc</a:t>
            </a:r>
            <a:r>
              <a:rPr lang="zh-CN" altLang="en-US" dirty="0"/>
              <a:t>、</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value</a:t>
            </a:r>
            <a:r>
              <a:rPr lang="zh-CN" altLang="en-US" dirty="0"/>
              <a:t>几个域组成，其中</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value</a:t>
            </a:r>
            <a:r>
              <a:rPr lang="zh-CN" altLang="en-US" dirty="0"/>
              <a:t>存放边的信息，例如权值；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adjVex</a:t>
            </a:r>
            <a:r>
              <a:rPr lang="zh-CN" altLang="en-US" dirty="0"/>
              <a:t>存放与结点邻接的顶点在图中的位置；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nextArc</a:t>
            </a:r>
            <a:r>
              <a:rPr lang="zh-CN" altLang="en-US" dirty="0"/>
              <a:t>指向下一个边结点。</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图的邻接表的存储结构</a:t>
            </a:r>
            <a:endParaRPr lang="en-US" altLang="zh-CN" dirty="0"/>
          </a:p>
          <a:p>
            <a:pPr lvl="1"/>
            <a:r>
              <a:rPr lang="zh-CN" altLang="en-US" dirty="0"/>
              <a:t>邻接表的顶点结点类的</a:t>
            </a:r>
            <a:r>
              <a:rPr lang="en-US" altLang="zh-CN" dirty="0"/>
              <a:t>Python</a:t>
            </a:r>
            <a:r>
              <a:rPr lang="zh-CN" altLang="en-US" dirty="0"/>
              <a:t>描述如下：</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2440329"/>
            <a:ext cx="11182350" cy="3505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图的邻接表的存储结构</a:t>
            </a:r>
            <a:endParaRPr lang="en-US" altLang="zh-CN" dirty="0"/>
          </a:p>
          <a:p>
            <a:pPr lvl="1"/>
            <a:r>
              <a:rPr lang="zh-CN" altLang="en-US" dirty="0"/>
              <a:t>邻接表的边结点类的</a:t>
            </a:r>
            <a:r>
              <a:rPr lang="en-US" altLang="zh-CN" dirty="0"/>
              <a:t>Python</a:t>
            </a:r>
            <a:r>
              <a:rPr lang="zh-CN" altLang="en-US" dirty="0"/>
              <a:t>描述如下：</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2440329"/>
            <a:ext cx="11182350" cy="35052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图的邻接表的存储结构</a:t>
            </a:r>
            <a:endParaRPr lang="en-US" altLang="zh-CN" dirty="0"/>
          </a:p>
          <a:p>
            <a:pPr lvl="1"/>
            <a:r>
              <a:rPr lang="zh-CN" altLang="en-US" dirty="0"/>
              <a:t>图的邻接表类的描述如下： </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3248660"/>
            <a:ext cx="5591175" cy="2553582"/>
          </a:xfrm>
          <a:prstGeom prst="rect">
            <a:avLst/>
          </a:prstGeom>
        </p:spPr>
      </p:pic>
      <p:pic>
        <p:nvPicPr>
          <p:cNvPr id="9" name="图片 8"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384725"/>
            <a:ext cx="5591175" cy="441751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图的邻接表的存储结构</a:t>
            </a:r>
            <a:endParaRPr lang="en-US" altLang="zh-CN" dirty="0"/>
          </a:p>
          <a:p>
            <a:pPr lvl="1"/>
            <a:r>
              <a:rPr lang="zh-CN" altLang="en-US" dirty="0"/>
              <a:t>图的邻接表类的描述如下： </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0" name="图片 9"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825" y="2388332"/>
            <a:ext cx="5695244" cy="3413910"/>
          </a:xfrm>
          <a:prstGeom prst="rect">
            <a:avLst/>
          </a:prstGeom>
        </p:spPr>
      </p:pic>
      <p:pic>
        <p:nvPicPr>
          <p:cNvPr id="14" name="图片 13"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069" y="1735530"/>
            <a:ext cx="5627903" cy="40667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1" name="图片 10"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7" y="2055031"/>
            <a:ext cx="8741664" cy="393108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8" name="图片 7"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5" y="2055031"/>
            <a:ext cx="8741665" cy="39310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7" y="2055031"/>
            <a:ext cx="8741664" cy="393108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1)</a:t>
            </a:r>
            <a:r>
              <a:rPr lang="zh-CN" altLang="en-US" b="1" dirty="0"/>
              <a:t> 图的创建</a:t>
            </a:r>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5" y="2055031"/>
            <a:ext cx="8741665" cy="393108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2)</a:t>
            </a:r>
            <a:r>
              <a:rPr lang="zh-CN" altLang="en-US" b="1" dirty="0"/>
              <a:t>在图中插入边结点</a:t>
            </a:r>
            <a:endParaRPr lang="en-US" altLang="zh-CN" b="1" dirty="0"/>
          </a:p>
          <a:p>
            <a:pPr lvl="1"/>
            <a:r>
              <a:rPr lang="zh-CN" altLang="en-US" dirty="0"/>
              <a:t>插入边结点的算法</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addArc</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i,j,value</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a:t>
            </a:r>
            <a:r>
              <a:rPr lang="zh-CN" altLang="en-US" dirty="0"/>
              <a:t>是指在边链表中加入一个由第</a:t>
            </a:r>
            <a:r>
              <a:rPr lang="en-US" altLang="zh-CN" dirty="0" err="1"/>
              <a:t>i</a:t>
            </a:r>
            <a:r>
              <a:rPr lang="zh-CN" altLang="en-US" dirty="0"/>
              <a:t>个顶点指向第</a:t>
            </a:r>
            <a:r>
              <a:rPr lang="en-US" altLang="zh-CN" dirty="0"/>
              <a:t>j</a:t>
            </a:r>
            <a:r>
              <a:rPr lang="zh-CN" altLang="en-US" dirty="0"/>
              <a:t>个顶点的权值为</a:t>
            </a:r>
            <a:r>
              <a:rPr lang="en-US" altLang="zh-CN" dirty="0"/>
              <a:t>value</a:t>
            </a:r>
            <a:r>
              <a:rPr lang="zh-CN" altLang="en-US" dirty="0"/>
              <a:t>的边结点，采用头插法进行插入。</a:t>
            </a:r>
            <a:endParaRPr lang="zh-CN" altLang="en-US" dirty="0"/>
          </a:p>
          <a:p>
            <a:endParaRPr lang="zh-CN" altLang="en-US"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6" y="2652439"/>
            <a:ext cx="8741665" cy="393108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3)</a:t>
            </a:r>
            <a:r>
              <a:rPr lang="zh-CN" altLang="en-US" b="1" dirty="0"/>
              <a:t>查找第一个邻接点</a:t>
            </a:r>
            <a:endParaRPr lang="en-US" altLang="zh-CN"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7" y="2425265"/>
            <a:ext cx="8741665" cy="393108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b="1" dirty="0"/>
              <a:t>图的邻接表的基本操作的实现</a:t>
            </a:r>
            <a:r>
              <a:rPr lang="zh-CN" altLang="en-US" b="1" dirty="0"/>
              <a:t>：</a:t>
            </a:r>
            <a:r>
              <a:rPr lang="en-US" altLang="zh-CN" b="1" dirty="0"/>
              <a:t>2)</a:t>
            </a:r>
            <a:r>
              <a:rPr lang="zh-CN" altLang="en-US" b="1" dirty="0"/>
              <a:t>查找下一个邻接点</a:t>
            </a:r>
            <a:endParaRPr lang="en-US" altLang="zh-CN"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5167" y="2425265"/>
            <a:ext cx="8741665" cy="393108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lang="zh-CN" altLang="en-US" dirty="0"/>
              <a:t>邻接表</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b="1" dirty="0"/>
              <a:t>邻接矩阵表示图的性能分析</a:t>
            </a:r>
            <a:endParaRPr lang="en-US" altLang="zh-CN" b="1" dirty="0"/>
          </a:p>
          <a:p>
            <a:pPr lvl="1"/>
            <a:r>
              <a:rPr lang="zh-CN" altLang="en-US" sz="2400" dirty="0"/>
              <a:t>用邻接矩阵存储图可以很好地确定两个顶点间是否有边，但是查找顶点的邻接点，需要访问对应一行或一列的所有数据元素，并且无论两个顶点间是否有边都要保留存储空间。</a:t>
            </a:r>
            <a:endParaRPr lang="zh-CN" altLang="en-US" sz="2400" dirty="0"/>
          </a:p>
          <a:p>
            <a:pPr lvl="1"/>
            <a:r>
              <a:rPr lang="zh-CN" altLang="en-US" sz="2400" dirty="0"/>
              <a:t>用邻接表存储图可以方便地找到顶点的邻接点，对于稀疏图来说节省存储空间，但若要确定两个顶点间是否有边相连则需要遍历单链表，比邻接矩阵复杂。</a:t>
            </a:r>
            <a:endParaRPr lang="zh-CN" altLang="en-US" sz="2400" dirty="0"/>
          </a:p>
          <a:p>
            <a:pPr lvl="1"/>
            <a:endParaRPr lang="en-US" altLang="zh-CN"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6.3</a:t>
            </a:r>
            <a:endParaRPr lang="zh-CN" altLang="en-US" dirty="0"/>
          </a:p>
        </p:txBody>
      </p:sp>
      <p:sp>
        <p:nvSpPr>
          <p:cNvPr id="3" name="文本占位符 2"/>
          <p:cNvSpPr>
            <a:spLocks noGrp="1"/>
          </p:cNvSpPr>
          <p:nvPr>
            <p:ph type="body" sz="quarter" idx="11"/>
          </p:nvPr>
        </p:nvSpPr>
        <p:spPr/>
        <p:txBody>
          <a:bodyPr/>
          <a:lstStyle/>
          <a:p>
            <a:r>
              <a:rPr lang="zh-CN" altLang="en-US" dirty="0"/>
              <a:t>图的遍历</a:t>
            </a:r>
            <a:endParaRPr lang="zh-CN" altLang="en-US" dirty="0"/>
          </a:p>
        </p:txBody>
      </p:sp>
      <p:sp>
        <p:nvSpPr>
          <p:cNvPr id="4" name="文本占位符 3"/>
          <p:cNvSpPr>
            <a:spLocks noGrp="1"/>
          </p:cNvSpPr>
          <p:nvPr>
            <p:ph type="body" sz="quarter" idx="12"/>
          </p:nvPr>
        </p:nvSpPr>
        <p:spPr>
          <a:xfrm>
            <a:off x="5308599" y="3606800"/>
            <a:ext cx="5655887" cy="1854200"/>
          </a:xfrm>
        </p:spPr>
        <p:txBody>
          <a:bodyPr/>
          <a:lstStyle/>
          <a:p>
            <a:r>
              <a:rPr lang="en-US" altLang="zh-CN" dirty="0"/>
              <a:t>6.1.1 </a:t>
            </a:r>
            <a:r>
              <a:rPr lang="zh-CN" altLang="en-US" dirty="0"/>
              <a:t>图的基本概念</a:t>
            </a:r>
            <a:endParaRPr lang="en-US" altLang="zh-CN" dirty="0"/>
          </a:p>
          <a:p>
            <a:r>
              <a:rPr lang="en-US" altLang="zh-CN" dirty="0"/>
              <a:t>6.1.2 </a:t>
            </a:r>
            <a:r>
              <a:rPr lang="zh-CN" altLang="en-US" dirty="0"/>
              <a:t>图的抽象数据类型描述</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图的遍历</a:t>
            </a:r>
            <a:endParaRPr lang="zh-CN" altLang="en-US" dirty="0"/>
          </a:p>
        </p:txBody>
      </p:sp>
      <p:sp>
        <p:nvSpPr>
          <p:cNvPr id="3" name="内容占位符 2"/>
          <p:cNvSpPr>
            <a:spLocks noGrp="1"/>
          </p:cNvSpPr>
          <p:nvPr>
            <p:ph idx="1"/>
          </p:nvPr>
        </p:nvSpPr>
        <p:spPr>
          <a:xfrm>
            <a:off x="180000" y="1244600"/>
            <a:ext cx="11833200" cy="5476874"/>
          </a:xfrm>
        </p:spPr>
        <p:txBody>
          <a:bodyPr>
            <a:normAutofit/>
          </a:bodyPr>
          <a:lstStyle/>
          <a:p>
            <a:r>
              <a:rPr lang="zh-CN" altLang="en-US" sz="2800" dirty="0"/>
              <a:t>图的遍历是指从图的任意一个顶点出发对图的每个顶点访问且仅访问一次的过程，因为图中可能存在回路，为了避免对一个顶点的重复访问可以增设一个辅助数组</a:t>
            </a:r>
            <a:r>
              <a:rPr lang="en-US" altLang="zh-CN" sz="2800" dirty="0">
                <a:latin typeface="Cascadia Code" panose="020B0609020000020004" pitchFamily="49" charset="0"/>
                <a:ea typeface="Cascadia Code" panose="020B0609020000020004" pitchFamily="49" charset="0"/>
                <a:cs typeface="Cascadia Code" panose="020B0609020000020004" pitchFamily="49" charset="0"/>
              </a:rPr>
              <a:t>visited[0...n-1]</a:t>
            </a:r>
            <a:r>
              <a:rPr lang="zh-CN" altLang="en-US" sz="2800" dirty="0"/>
              <a:t>，全部初始化为</a:t>
            </a:r>
            <a:r>
              <a:rPr lang="en-US" altLang="zh-CN" sz="2800" dirty="0"/>
              <a:t>0</a:t>
            </a:r>
            <a:r>
              <a:rPr lang="zh-CN" altLang="en-US" sz="2800" dirty="0"/>
              <a:t>，一旦第</a:t>
            </a:r>
            <a:r>
              <a:rPr lang="en-US" altLang="zh-CN" sz="2800" dirty="0" err="1">
                <a:latin typeface="Cascadia Code" panose="020B0609020000020004" pitchFamily="49" charset="0"/>
                <a:ea typeface="Cascadia Code" panose="020B0609020000020004" pitchFamily="49" charset="0"/>
                <a:cs typeface="Cascadia Code" panose="020B0609020000020004" pitchFamily="49" charset="0"/>
              </a:rPr>
              <a:t>i</a:t>
            </a:r>
            <a:r>
              <a:rPr lang="zh-CN" altLang="en-US" sz="2800" dirty="0"/>
              <a:t>个顶点被访问，置</a:t>
            </a:r>
            <a:r>
              <a:rPr lang="en-US" altLang="zh-CN" sz="2800" dirty="0">
                <a:latin typeface="Cascadia Code" panose="020B0609020000020004" pitchFamily="49" charset="0"/>
                <a:ea typeface="Cascadia Code" panose="020B0609020000020004" pitchFamily="49" charset="0"/>
                <a:cs typeface="Cascadia Code" panose="020B0609020000020004" pitchFamily="49" charset="0"/>
              </a:rPr>
              <a:t>visited[</a:t>
            </a:r>
            <a:r>
              <a:rPr lang="en-US" altLang="zh-CN" sz="2800" dirty="0" err="1">
                <a:latin typeface="Cascadia Code" panose="020B0609020000020004" pitchFamily="49" charset="0"/>
                <a:ea typeface="Cascadia Code" panose="020B0609020000020004" pitchFamily="49" charset="0"/>
                <a:cs typeface="Cascadia Code" panose="020B0609020000020004" pitchFamily="49" charset="0"/>
              </a:rPr>
              <a:t>i</a:t>
            </a:r>
            <a:r>
              <a:rPr lang="en-US" altLang="zh-CN" sz="2800" dirty="0">
                <a:latin typeface="Cascadia Code" panose="020B0609020000020004" pitchFamily="49" charset="0"/>
                <a:ea typeface="Cascadia Code" panose="020B0609020000020004" pitchFamily="49" charset="0"/>
                <a:cs typeface="Cascadia Code" panose="020B0609020000020004" pitchFamily="49" charset="0"/>
              </a:rPr>
              <a:t>]=1</a:t>
            </a:r>
            <a:r>
              <a:rPr lang="zh-CN" altLang="en-US" sz="2800" dirty="0"/>
              <a:t>。图的遍历和树的遍历相比更加复杂，需要考虑以下</a:t>
            </a:r>
            <a:r>
              <a:rPr lang="en-US" altLang="zh-CN" sz="2800" dirty="0"/>
              <a:t>3</a:t>
            </a:r>
            <a:r>
              <a:rPr lang="zh-CN" altLang="en-US" sz="2800" dirty="0"/>
              <a:t>个问题。</a:t>
            </a:r>
            <a:endParaRPr lang="zh-CN" altLang="en-US" sz="2800" dirty="0"/>
          </a:p>
          <a:p>
            <a:pPr lvl="1"/>
            <a:r>
              <a:rPr lang="en-US" altLang="zh-CN" dirty="0"/>
              <a:t>(1) </a:t>
            </a:r>
            <a:r>
              <a:rPr lang="zh-CN" altLang="en-US" dirty="0"/>
              <a:t>指定遍历的第一个顶点。</a:t>
            </a:r>
            <a:endParaRPr lang="zh-CN" altLang="en-US" dirty="0"/>
          </a:p>
          <a:p>
            <a:pPr lvl="1"/>
            <a:r>
              <a:rPr lang="en-US" altLang="zh-CN" dirty="0"/>
              <a:t>(2) </a:t>
            </a:r>
            <a:r>
              <a:rPr lang="zh-CN" altLang="en-US" dirty="0"/>
              <a:t>由于一个顶点和多个顶点相邻，需要在多个邻接顶点间确定访问次序。</a:t>
            </a:r>
            <a:endParaRPr lang="zh-CN" altLang="en-US" dirty="0"/>
          </a:p>
          <a:p>
            <a:pPr lvl="1"/>
            <a:r>
              <a:rPr lang="en-US" altLang="zh-CN" dirty="0"/>
              <a:t>(3) </a:t>
            </a:r>
            <a:r>
              <a:rPr lang="zh-CN" altLang="en-US" dirty="0"/>
              <a:t>由于图中存在回路，必须对访问过的顶点做标记，防止出现重复访问同一顶点的情况。</a:t>
            </a:r>
            <a:endParaRPr lang="zh-CN" altLang="en-US" dirty="0"/>
          </a:p>
          <a:p>
            <a:r>
              <a:rPr lang="zh-CN" altLang="en-US" sz="2800" dirty="0"/>
              <a:t>图的遍历方式分为深度优先搜索和广度优先搜索两种。</a:t>
            </a:r>
            <a:endParaRPr lang="zh-CN" altLang="en-US" sz="2800" dirty="0"/>
          </a:p>
          <a:p>
            <a:endParaRPr lang="en-US" altLang="zh-CN" b="1"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a:t>
            </a:r>
            <a:r>
              <a:rPr lang="zh-CN" altLang="en-US" dirty="0"/>
              <a:t>图的广度优先搜索算法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zh-CN" altLang="en-US" sz="2800" dirty="0"/>
                  <a:t>广度优先搜索是一种分层的搜索过程，以一个顶点</a:t>
                </a:r>
                <a14:m>
                  <m:oMath xmlns:m="http://schemas.openxmlformats.org/officeDocument/2006/math">
                    <m:r>
                      <a:rPr lang="en-US" altLang="zh-CN" sz="2800" i="1" dirty="0" smtClean="0">
                        <a:latin typeface="Cambria Math" panose="02040503050406030204" pitchFamily="18" charset="0"/>
                      </a:rPr>
                      <m:t>𝑢</m:t>
                    </m:r>
                  </m:oMath>
                </a14:m>
                <a:r>
                  <a:rPr lang="zh-CN" altLang="en-US" sz="2800" dirty="0"/>
                  <a:t>为起始点访问其邻接点</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i="1">
                        <a:latin typeface="Cambria Math" panose="02040503050406030204" pitchFamily="18" charset="0"/>
                      </a:rPr>
                      <m:t> </m:t>
                    </m:r>
                  </m:oMath>
                </a14:m>
                <a:r>
                  <a:rPr lang="zh-CN" altLang="en-US" sz="2800" dirty="0"/>
                  <a:t>然后按顺序访问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zh-CN" altLang="en-US" sz="2800" dirty="0"/>
                  <a:t>的各邻接点，重复此过程，即依次访问和顶点</a:t>
                </a:r>
                <a:r>
                  <a:rPr lang="en-US" altLang="zh-CN" sz="2800" dirty="0"/>
                  <a:t>u</a:t>
                </a:r>
                <a:r>
                  <a:rPr lang="zh-CN" altLang="en-US" sz="2800" dirty="0"/>
                  <a:t>之间存在路径并且路径长度为</a:t>
                </a:r>
                <a14:m>
                  <m:oMath xmlns:m="http://schemas.openxmlformats.org/officeDocument/2006/math">
                    <m:r>
                      <a:rPr lang="en-US" altLang="zh-CN" sz="2800" i="1" dirty="0" smtClean="0">
                        <a:latin typeface="Cambria Math" panose="02040503050406030204" pitchFamily="18" charset="0"/>
                      </a:rPr>
                      <m:t>1</m:t>
                    </m:r>
                    <m:r>
                      <a:rPr lang="en-US" altLang="zh-CN" sz="2800" b="0" i="1" dirty="0" smtClean="0">
                        <a:latin typeface="Cambria Math" panose="02040503050406030204" pitchFamily="18" charset="0"/>
                      </a:rPr>
                      <m:t>, </m:t>
                    </m:r>
                    <m:r>
                      <a:rPr lang="en-US" altLang="zh-CN" sz="2800" i="1" dirty="0" smtClean="0">
                        <a:latin typeface="Cambria Math" panose="02040503050406030204" pitchFamily="18" charset="0"/>
                      </a:rPr>
                      <m:t>2</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m:t>
                    </m:r>
                  </m:oMath>
                </a14:m>
                <a:r>
                  <a:rPr lang="zh-CN" altLang="en-US" sz="2800" dirty="0"/>
                  <a:t>的顶点。</a:t>
                </a:r>
                <a:endParaRPr lang="zh-CN" altLang="en-US" sz="2800" dirty="0"/>
              </a:p>
              <a:p>
                <a:r>
                  <a:rPr lang="zh-CN" altLang="en-US" sz="2800" dirty="0">
                    <a:latin typeface="Times New Roman" panose="02020603050405020304" pitchFamily="18" charset="0"/>
                    <a:cs typeface="Times New Roman" panose="02020603050405020304" pitchFamily="18" charset="0"/>
                  </a:rPr>
                  <a:t>图的广度优先搜索遵循“先被访问的顶点，其邻接点先被访问”规则，因此可引入队列。先将起始点加入队列中，以后每次从队列中删除一个数据元素，依次访问它的未被访问的邻接点，并将其插入到队列中，直到队列为空。</a:t>
                </a:r>
                <a:endParaRPr lang="zh-CN" altLang="en-US" sz="2800" dirty="0">
                  <a:latin typeface="Times New Roman" panose="02020603050405020304" pitchFamily="18" charset="0"/>
                  <a:cs typeface="Times New Roman" panose="02020603050405020304" pitchFamily="18" charset="0"/>
                </a:endParaRPr>
              </a:p>
              <a:p>
                <a:endParaRPr lang="en-US" altLang="zh-CN" b="1"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a:t>
            </a:r>
            <a:r>
              <a:rPr lang="zh-CN" altLang="en-US" dirty="0"/>
              <a:t>图的广度优先搜索算法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zh-CN" altLang="en-US" dirty="0"/>
                  <a:t>其主要步骤如下：</a:t>
                </a:r>
                <a:endParaRPr lang="en-US" altLang="zh-CN" dirty="0"/>
              </a:p>
              <a:p>
                <a:pPr lvl="1"/>
                <a:r>
                  <a:rPr lang="en-US" altLang="zh-CN" dirty="0"/>
                  <a:t>(1) </a:t>
                </a:r>
                <a:r>
                  <a:rPr lang="zh-CN" altLang="en-US" dirty="0"/>
                  <a:t>建立访问标识数组</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visited[n]</a:t>
                </a:r>
                <a:r>
                  <a:rPr lang="zh-CN" altLang="en-US" dirty="0"/>
                  <a:t>并初始化为</a:t>
                </a:r>
                <a:r>
                  <a:rPr lang="en-US" altLang="zh-CN" dirty="0"/>
                  <a:t>0,n</a:t>
                </a:r>
                <a:r>
                  <a:rPr lang="zh-CN" altLang="en-US" dirty="0"/>
                  <a:t>为图顶点的个数。</a:t>
                </a:r>
                <a:endParaRPr lang="zh-CN" altLang="en-US" dirty="0"/>
              </a:p>
              <a:p>
                <a:pPr lvl="1"/>
                <a:r>
                  <a:rPr lang="en-US" altLang="zh-CN" dirty="0"/>
                  <a:t>(2) </a:t>
                </a:r>
                <a:r>
                  <a:rPr lang="zh-CN" altLang="en-US" dirty="0"/>
                  <a:t>将未访问顶点</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vi</a:t>
                </a:r>
                <a:r>
                  <a:rPr lang="zh-CN" altLang="en-US" dirty="0"/>
                  <a:t>入队。</a:t>
                </a:r>
                <a:endParaRPr lang="zh-CN" altLang="en-US" dirty="0"/>
              </a:p>
              <a:p>
                <a:pPr lvl="1"/>
                <a:r>
                  <a:rPr lang="en-US" altLang="zh-CN" dirty="0"/>
                  <a:t>(3) </a:t>
                </a:r>
                <a:r>
                  <a:rPr lang="zh-CN" altLang="en-US" dirty="0"/>
                  <a:t>将队首元素顶点</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vi</a:t>
                </a:r>
                <a:r>
                  <a:rPr lang="zh-CN" altLang="en-US" dirty="0"/>
                  <a:t>从队列中取出，依次访问它的未被访问的邻接点</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vj,vk</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a:t>
                </a:r>
                <a:r>
                  <a:rPr lang="zh-CN" altLang="en-US" dirty="0"/>
                  <a:t>，并将其入队。</a:t>
                </a:r>
                <a:endParaRPr lang="zh-CN" altLang="en-US" dirty="0"/>
              </a:p>
              <a:p>
                <a:pPr lvl="1"/>
                <a:r>
                  <a:rPr lang="en-US" altLang="zh-CN" dirty="0"/>
                  <a:t>(4) </a:t>
                </a:r>
                <a:r>
                  <a:rPr lang="zh-CN" altLang="en-US" dirty="0"/>
                  <a:t>重复步骤</a:t>
                </a:r>
                <a:r>
                  <a:rPr lang="en-US" altLang="zh-CN" dirty="0"/>
                  <a:t>(3)</a:t>
                </a:r>
                <a:r>
                  <a:rPr lang="zh-CN" altLang="en-US" dirty="0"/>
                  <a:t>，直到队列为空。</a:t>
                </a:r>
                <a:endParaRPr lang="zh-CN" altLang="en-US" dirty="0"/>
              </a:p>
              <a:p>
                <a:pPr lvl="1"/>
                <a:r>
                  <a:rPr lang="en-US" altLang="zh-CN" dirty="0"/>
                  <a:t>(5) </a:t>
                </a:r>
                <a:r>
                  <a:rPr lang="zh-CN" altLang="en-US" dirty="0"/>
                  <a:t>改变</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a:t>
                </a:r>
                <a:r>
                  <a:rPr lang="zh-CN" altLang="en-US" dirty="0"/>
                  <a:t>值，</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0≤i&lt;n</a:t>
                </a:r>
                <a:r>
                  <a:rPr lang="zh-CN" altLang="en-US" dirty="0"/>
                  <a:t>，跳到步骤</a:t>
                </a:r>
                <a:r>
                  <a:rPr lang="en-US" altLang="zh-CN" dirty="0"/>
                  <a:t>(2)</a:t>
                </a:r>
                <a:r>
                  <a:rPr lang="zh-CN" altLang="en-US" dirty="0"/>
                  <a:t>继续进行，直到</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=n-1</a:t>
                </a:r>
                <a:r>
                  <a:rPr lang="zh-CN" altLang="en-US" dirty="0"/>
                  <a:t>。</a:t>
                </a:r>
                <a:endParaRPr lang="en-US" altLang="zh-CN" dirty="0"/>
              </a:p>
              <a:p>
                <a:r>
                  <a:rPr lang="zh-CN" altLang="en-US" sz="2800" dirty="0">
                    <a:latin typeface="Times New Roman" panose="02020603050405020304" pitchFamily="18" charset="0"/>
                    <a:cs typeface="Times New Roman" panose="02020603050405020304" pitchFamily="18" charset="0"/>
                  </a:rPr>
                  <a:t>假设图有</a:t>
                </a:r>
                <a14:m>
                  <m:oMath xmlns:m="http://schemas.openxmlformats.org/officeDocument/2006/math">
                    <m:r>
                      <a:rPr lang="en-US" altLang="zh-CN" sz="2800" i="1" dirty="0" smtClean="0">
                        <a:latin typeface="Cambria Math" panose="02040503050406030204" pitchFamily="18" charset="0"/>
                        <a:cs typeface="Times New Roman" panose="02020603050405020304" pitchFamily="18" charset="0"/>
                      </a:rPr>
                      <m:t>𝑛</m:t>
                    </m:r>
                  </m:oMath>
                </a14:m>
                <a:r>
                  <a:rPr lang="zh-CN" altLang="en-US" sz="2800" dirty="0">
                    <a:latin typeface="Times New Roman" panose="02020603050405020304" pitchFamily="18" charset="0"/>
                    <a:cs typeface="Times New Roman" panose="02020603050405020304" pitchFamily="18" charset="0"/>
                  </a:rPr>
                  <a:t>个顶点和</a:t>
                </a:r>
                <a14:m>
                  <m:oMath xmlns:m="http://schemas.openxmlformats.org/officeDocument/2006/math">
                    <m:r>
                      <a:rPr lang="en-US" altLang="zh-CN" sz="2800" i="1" dirty="0" smtClean="0">
                        <a:latin typeface="Cambria Math" panose="02040503050406030204" pitchFamily="18" charset="0"/>
                        <a:cs typeface="Times New Roman" panose="02020603050405020304" pitchFamily="18" charset="0"/>
                      </a:rPr>
                      <m:t>𝑚</m:t>
                    </m:r>
                  </m:oMath>
                </a14:m>
                <a:r>
                  <a:rPr lang="zh-CN" altLang="en-US" sz="2800" dirty="0">
                    <a:latin typeface="Times New Roman" panose="02020603050405020304" pitchFamily="18" charset="0"/>
                    <a:cs typeface="Times New Roman" panose="02020603050405020304" pitchFamily="18" charset="0"/>
                  </a:rPr>
                  <a:t>条边，当图的存储结构是邻接矩阵时需要扫描邻接矩阵的每一个顶点，其时间复杂度为</a:t>
                </a:r>
                <a14:m>
                  <m:oMath xmlns:m="http://schemas.openxmlformats.org/officeDocument/2006/math">
                    <m:r>
                      <a:rPr lang="en-US" altLang="zh-CN" sz="2800" i="1" dirty="0" smtClean="0">
                        <a:latin typeface="Cambria Math" panose="02040503050406030204" pitchFamily="18" charset="0"/>
                        <a:cs typeface="Times New Roman" panose="02020603050405020304" pitchFamily="18" charset="0"/>
                      </a:rPr>
                      <m:t>𝑂</m:t>
                    </m:r>
                    <m:r>
                      <a:rPr lang="en-US" altLang="zh-CN" sz="2800" i="1" dirty="0" smtClean="0">
                        <a:latin typeface="Cambria Math" panose="02040503050406030204" pitchFamily="18" charset="0"/>
                        <a:cs typeface="Times New Roman" panose="02020603050405020304" pitchFamily="18" charset="0"/>
                      </a:rPr>
                      <m:t>(</m:t>
                    </m:r>
                    <m:sSup>
                      <m:sSupPr>
                        <m:ctrlPr>
                          <a:rPr lang="en-US" altLang="zh-CN" sz="2800" i="1" dirty="0" smtClean="0">
                            <a:latin typeface="Cambria Math" panose="02040503050406030204" pitchFamily="18" charset="0"/>
                            <a:cs typeface="Times New Roman" panose="02020603050405020304" pitchFamily="18" charset="0"/>
                          </a:rPr>
                        </m:ctrlPr>
                      </m:sSupPr>
                      <m:e>
                        <m:r>
                          <a:rPr lang="en-US" altLang="zh-CN" sz="2800" i="1" dirty="0">
                            <a:latin typeface="Cambria Math" panose="02040503050406030204" pitchFamily="18" charset="0"/>
                            <a:cs typeface="Times New Roman" panose="02020603050405020304" pitchFamily="18" charset="0"/>
                          </a:rPr>
                          <m:t>𝑛</m:t>
                        </m:r>
                      </m:e>
                      <m:sup>
                        <m:r>
                          <a:rPr lang="en-US" altLang="zh-CN" sz="2800" i="1" dirty="0">
                            <a:latin typeface="Cambria Math" panose="02040503050406030204" pitchFamily="18" charset="0"/>
                            <a:cs typeface="Times New Roman" panose="02020603050405020304" pitchFamily="18" charset="0"/>
                          </a:rPr>
                          <m:t>2</m:t>
                        </m:r>
                      </m:sup>
                    </m:sSup>
                    <m:r>
                      <a:rPr lang="en-US" altLang="zh-CN" sz="2800" i="1" dirty="0" smtClean="0">
                        <a:latin typeface="Cambria Math" panose="02040503050406030204" pitchFamily="18" charset="0"/>
                        <a:cs typeface="Times New Roman" panose="02020603050405020304" pitchFamily="18" charset="0"/>
                      </a:rPr>
                      <m:t>)</m:t>
                    </m:r>
                  </m:oMath>
                </a14:m>
                <a:r>
                  <a:rPr lang="zh-CN" altLang="en-US" sz="2800" dirty="0">
                    <a:latin typeface="Times New Roman" panose="02020603050405020304" pitchFamily="18" charset="0"/>
                    <a:cs typeface="Times New Roman" panose="02020603050405020304" pitchFamily="18" charset="0"/>
                  </a:rPr>
                  <a:t>； 当图的存储结构是邻接表时需要扫描每一条单链表，其时间复杂度为</a:t>
                </a:r>
                <a14:m>
                  <m:oMath xmlns:m="http://schemas.openxmlformats.org/officeDocument/2006/math">
                    <m:r>
                      <a:rPr lang="en-US" altLang="zh-CN" sz="2800" i="1" dirty="0" smtClean="0">
                        <a:latin typeface="Cambria Math" panose="02040503050406030204" pitchFamily="18" charset="0"/>
                        <a:cs typeface="Times New Roman" panose="02020603050405020304" pitchFamily="18" charset="0"/>
                      </a:rPr>
                      <m:t>𝑂</m:t>
                    </m:r>
                    <m:r>
                      <a:rPr lang="en-US" altLang="zh-CN" sz="2800" i="1" dirty="0" smtClean="0">
                        <a:latin typeface="Cambria Math" panose="02040503050406030204" pitchFamily="18" charset="0"/>
                        <a:cs typeface="Times New Roman" panose="02020603050405020304" pitchFamily="18" charset="0"/>
                      </a:rPr>
                      <m:t>(</m:t>
                    </m:r>
                    <m:r>
                      <a:rPr lang="en-US" altLang="zh-CN" sz="2800" i="1" dirty="0" smtClean="0">
                        <a:latin typeface="Cambria Math" panose="02040503050406030204" pitchFamily="18" charset="0"/>
                        <a:cs typeface="Times New Roman" panose="02020603050405020304" pitchFamily="18" charset="0"/>
                      </a:rPr>
                      <m:t>𝑒</m:t>
                    </m:r>
                    <m:r>
                      <a:rPr lang="en-US" altLang="zh-CN" sz="2800" i="1" dirty="0" smtClean="0">
                        <a:latin typeface="Cambria Math" panose="02040503050406030204" pitchFamily="18" charset="0"/>
                        <a:cs typeface="Times New Roman" panose="02020603050405020304" pitchFamily="18" charset="0"/>
                      </a:rPr>
                      <m:t>)</m:t>
                    </m:r>
                  </m:oMath>
                </a14:m>
                <a:r>
                  <a:rPr lang="zh-CN" altLang="en-US"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a:t>
            </a:r>
            <a:r>
              <a:rPr lang="zh-CN" altLang="en-US" dirty="0"/>
              <a:t>图的广度优先搜索算法</a:t>
            </a:r>
            <a:endParaRPr lang="zh-CN" altLang="en-US" dirty="0"/>
          </a:p>
        </p:txBody>
      </p:sp>
      <p:pic>
        <p:nvPicPr>
          <p:cNvPr id="6" name="内容占位符 5" descr="文本&#10;&#10;描述已自动生成"/>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526951" y="1244600"/>
            <a:ext cx="5138099" cy="5476875"/>
          </a:xfrm>
        </p:spPr>
      </p:pic>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6.3.2 </a:t>
            </a:r>
            <a:r>
              <a:rPr lang="zh-CN" altLang="en-US" dirty="0"/>
              <a:t>图的深度优先搜索算法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476874"/>
              </a:xfrm>
            </p:spPr>
            <p:txBody>
              <a:bodyPr>
                <a:normAutofit/>
              </a:bodyPr>
              <a:lstStyle/>
              <a:p>
                <a:r>
                  <a:rPr lang="zh-CN" altLang="en-US" dirty="0"/>
                  <a:t>深度优先搜索类似于树的先序遍历，以一个顶点</a:t>
                </a:r>
                <a14:m>
                  <m:oMath xmlns:m="http://schemas.openxmlformats.org/officeDocument/2006/math">
                    <m:r>
                      <a:rPr lang="en-US" altLang="zh-CN" i="1" dirty="0" smtClean="0">
                        <a:latin typeface="Cambria Math" panose="02040503050406030204" pitchFamily="18" charset="0"/>
                      </a:rPr>
                      <m:t>𝑢</m:t>
                    </m:r>
                  </m:oMath>
                </a14:m>
                <a:r>
                  <a:rPr lang="zh-CN" altLang="en-US" dirty="0"/>
                  <a:t>为起始点访问其邻接点</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oMath>
                </a14:m>
                <a:r>
                  <a:rPr lang="zh-CN" altLang="en-US" dirty="0"/>
                  <a:t>，再访问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oMath>
                </a14:m>
                <a:r>
                  <a:rPr lang="zh-CN" altLang="en-US" dirty="0"/>
                  <a:t>的未被访问的邻接点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1</m:t>
                        </m:r>
                      </m:sub>
                    </m:sSub>
                    <m:r>
                      <a:rPr lang="en-US" altLang="zh-CN" i="1">
                        <a:latin typeface="Cambria Math" panose="02040503050406030204" pitchFamily="18" charset="0"/>
                      </a:rPr>
                      <m:t> </m:t>
                    </m:r>
                  </m:oMath>
                </a14:m>
                <a:r>
                  <a:rPr lang="zh-CN" altLang="en-US" dirty="0"/>
                  <a:t>，然后从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oMath>
                </a14:m>
                <a:r>
                  <a:rPr lang="zh-CN" altLang="en-US" dirty="0"/>
                  <a:t>出发继续进行类似的访问，直到所有的邻接点都被访问。然后后退到前一个被访问的顶点，看是否有其他未被访问的顶点，若有再进行类似的访问，若无继续回退，直到图中的所有顶点都被访问为止。</a:t>
                </a:r>
                <a:endParaRPr lang="zh-CN" altLang="en-US" dirty="0"/>
              </a:p>
              <a:p>
                <a:r>
                  <a:rPr lang="zh-CN" altLang="en-US" dirty="0"/>
                  <a:t>其主要步骤如下。 </a:t>
                </a:r>
                <a:endParaRPr lang="zh-CN" altLang="en-US" dirty="0"/>
              </a:p>
              <a:p>
                <a:pPr lvl="1"/>
                <a:r>
                  <a:rPr lang="en-US" altLang="zh-CN" dirty="0"/>
                  <a:t>(1) </a:t>
                </a:r>
                <a:r>
                  <a:rPr lang="zh-CN" altLang="en-US" dirty="0"/>
                  <a:t>建立访问标识数组</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visited[n]</a:t>
                </a:r>
                <a:r>
                  <a:rPr lang="zh-CN" altLang="en-US" dirty="0"/>
                  <a:t>并初始化为</a:t>
                </a:r>
                <a:r>
                  <a:rPr lang="en-US" altLang="zh-CN" dirty="0"/>
                  <a:t>0,n</a:t>
                </a:r>
                <a:r>
                  <a:rPr lang="zh-CN" altLang="en-US" dirty="0"/>
                  <a:t>为图顶点的个数。</a:t>
                </a:r>
                <a:endParaRPr lang="zh-CN" altLang="en-US" dirty="0"/>
              </a:p>
              <a:p>
                <a:pPr lvl="1"/>
                <a:r>
                  <a:rPr lang="en-US" altLang="zh-CN" dirty="0"/>
                  <a:t>(2) </a:t>
                </a:r>
                <a:r>
                  <a:rPr lang="zh-CN" altLang="en-US" dirty="0"/>
                  <a:t>以未访问顶点</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vi</a:t>
                </a:r>
                <a:r>
                  <a:rPr lang="zh-CN" altLang="en-US" dirty="0"/>
                  <a:t>为起始点访问其未访问邻接点</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vj</a:t>
                </a:r>
                <a:r>
                  <a:rPr lang="zh-CN" altLang="en-US" dirty="0"/>
                  <a:t>。</a:t>
                </a:r>
                <a:endParaRPr lang="zh-CN" altLang="en-US" dirty="0"/>
              </a:p>
              <a:p>
                <a:pPr lvl="1"/>
                <a:r>
                  <a:rPr lang="en-US" altLang="zh-CN" dirty="0"/>
                  <a:t>(3) </a:t>
                </a:r>
                <a:r>
                  <a:rPr lang="zh-CN" altLang="en-US" dirty="0"/>
                  <a:t>从</a:t>
                </a:r>
                <a:r>
                  <a:rPr lang="en-US" altLang="zh-CN" dirty="0" err="1"/>
                  <a:t>vj</a:t>
                </a:r>
                <a:r>
                  <a:rPr lang="zh-CN" altLang="en-US" dirty="0"/>
                  <a:t>出发递归进行步骤</a:t>
                </a:r>
                <a:r>
                  <a:rPr lang="en-US" altLang="zh-CN" dirty="0"/>
                  <a:t>(2)</a:t>
                </a:r>
                <a:r>
                  <a:rPr lang="zh-CN" altLang="en-US" dirty="0"/>
                  <a:t>，直到所有邻接点均被访问。</a:t>
                </a:r>
                <a:endParaRPr lang="zh-CN" altLang="en-US" dirty="0"/>
              </a:p>
              <a:p>
                <a:pPr lvl="1"/>
                <a:r>
                  <a:rPr lang="en-US" altLang="zh-CN" dirty="0"/>
                  <a:t>(4) </a:t>
                </a:r>
                <a:r>
                  <a:rPr lang="zh-CN" altLang="en-US" dirty="0"/>
                  <a:t>改变</a:t>
                </a:r>
                <a:r>
                  <a:rPr lang="en-US" altLang="zh-CN" dirty="0" err="1"/>
                  <a:t>i</a:t>
                </a:r>
                <a:r>
                  <a:rPr lang="zh-CN" altLang="en-US" dirty="0"/>
                  <a:t>值，</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0≤i&lt;n</a:t>
                </a:r>
                <a:r>
                  <a:rPr lang="zh-CN" altLang="en-US" dirty="0"/>
                  <a:t>，跳到步骤</a:t>
                </a:r>
                <a:r>
                  <a:rPr lang="en-US" altLang="zh-CN" dirty="0"/>
                  <a:t>(2)</a:t>
                </a:r>
                <a:r>
                  <a:rPr lang="zh-CN" altLang="en-US" dirty="0"/>
                  <a:t>继续进行，直到</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=n-1</a:t>
                </a:r>
                <a:r>
                  <a:rPr lang="zh-CN" altLang="en-US" dirty="0"/>
                  <a:t>。</a:t>
                </a:r>
                <a:endParaRPr lang="zh-CN" altLang="en-US" dirty="0"/>
              </a:p>
              <a:p>
                <a:endParaRPr lang="en-US" altLang="zh-CN" b="1"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476874"/>
              </a:xfrm>
              <a:blipFill rotWithShape="1">
                <a:blip r:embed="rId1"/>
                <a:stretch>
                  <a:fillRect l="-2" r="2" b="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nchor="ctr">
            <a:normAutofit/>
          </a:bodyPr>
          <a:lstStyle/>
          <a:p>
            <a:r>
              <a:rPr lang="en-US" altLang="zh-CN" dirty="0"/>
              <a:t>6.3.2 </a:t>
            </a:r>
            <a:r>
              <a:rPr lang="zh-CN" altLang="en-US" dirty="0"/>
              <a:t>图的深度优先搜索算法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180000" y="1241118"/>
                <a:ext cx="5839800" cy="4935845"/>
              </a:xfrm>
            </p:spPr>
            <p:txBody>
              <a:bodyPr>
                <a:normAutofit/>
              </a:bodyPr>
              <a:lstStyle/>
              <a:p>
                <a:r>
                  <a:rPr lang="zh-CN" altLang="en-US"/>
                  <a:t>假设图有</a:t>
                </a:r>
                <a14:m>
                  <m:oMath xmlns:m="http://schemas.openxmlformats.org/officeDocument/2006/math">
                    <m:r>
                      <a:rPr lang="en-US" altLang="zh-CN" i="1" dirty="0" smtClean="0">
                        <a:latin typeface="Cambria Math" panose="02040503050406030204" pitchFamily="18" charset="0"/>
                      </a:rPr>
                      <m:t>𝑛</m:t>
                    </m:r>
                  </m:oMath>
                </a14:m>
                <a:r>
                  <a:rPr lang="zh-CN" altLang="en-US"/>
                  <a:t>个顶点和</a:t>
                </a:r>
                <a14:m>
                  <m:oMath xmlns:m="http://schemas.openxmlformats.org/officeDocument/2006/math">
                    <m:r>
                      <a:rPr lang="en-US" altLang="zh-CN" i="1" dirty="0" smtClean="0">
                        <a:latin typeface="Cambria Math" panose="02040503050406030204" pitchFamily="18" charset="0"/>
                      </a:rPr>
                      <m:t>𝑚</m:t>
                    </m:r>
                  </m:oMath>
                </a14:m>
                <a:r>
                  <a:rPr lang="zh-CN" altLang="en-US"/>
                  <a:t>条边，当图的存储结构是邻接矩阵时需要扫描邻接矩阵的每一个顶点，其时间复杂度为</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𝑛</m:t>
                        </m:r>
                      </m:e>
                      <m:sup>
                        <m:r>
                          <a:rPr lang="en-US" altLang="zh-CN" i="1" dirty="0">
                            <a:latin typeface="Cambria Math" panose="02040503050406030204" pitchFamily="18" charset="0"/>
                          </a:rPr>
                          <m:t>2</m:t>
                        </m:r>
                      </m:sup>
                    </m:sSup>
                    <m:r>
                      <a:rPr lang="en-US" altLang="zh-CN" i="1" dirty="0" smtClean="0">
                        <a:latin typeface="Cambria Math" panose="02040503050406030204" pitchFamily="18" charset="0"/>
                      </a:rPr>
                      <m:t>) </m:t>
                    </m:r>
                  </m:oMath>
                </a14:m>
                <a:r>
                  <a:rPr lang="zh-CN" altLang="en-US"/>
                  <a:t>； 当图的存储结构是邻接表时需要扫描每一条单链表，其时间复杂度为</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𝑒</m:t>
                    </m:r>
                    <m:r>
                      <a:rPr lang="en-US" altLang="zh-CN" i="1" dirty="0" smtClean="0">
                        <a:latin typeface="Cambria Math" panose="02040503050406030204" pitchFamily="18" charset="0"/>
                      </a:rPr>
                      <m:t>)</m:t>
                    </m:r>
                  </m:oMath>
                </a14:m>
                <a:r>
                  <a:rPr lang="zh-CN" altLang="en-US"/>
                  <a:t>。</a:t>
                </a:r>
                <a:endParaRPr lang="zh-CN" altLang="en-US"/>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180000" y="1241118"/>
                <a:ext cx="5839800" cy="4935845"/>
              </a:xfrm>
              <a:blipFill rotWithShape="1">
                <a:blip r:embed="rId1"/>
                <a:stretch>
                  <a:fillRect l="-5" t="-7" r="11" b="6"/>
                </a:stretch>
              </a:blipFill>
            </p:spPr>
            <p:txBody>
              <a:bodyPr/>
              <a:lstStyle/>
              <a:p>
                <a:r>
                  <a:rPr lang="zh-CN" altLang="en-US">
                    <a:noFill/>
                  </a:rPr>
                  <a:t> </a:t>
                </a:r>
              </a:p>
            </p:txBody>
          </p:sp>
        </mc:Fallback>
      </mc:AlternateContent>
      <p:pic>
        <p:nvPicPr>
          <p:cNvPr id="6" name="图片 5"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1424219"/>
            <a:ext cx="5839800" cy="4569643"/>
          </a:xfrm>
          <a:prstGeom prst="rect">
            <a:avLst/>
          </a:prstGeom>
          <a:noFill/>
        </p:spPr>
      </p:pic>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p:sp>
        <p:nvSpPr>
          <p:cNvPr id="3" name="内容占位符 2"/>
          <p:cNvSpPr>
            <a:spLocks noGrp="1"/>
          </p:cNvSpPr>
          <p:nvPr>
            <p:ph sz="half" idx="1"/>
          </p:nvPr>
        </p:nvSpPr>
        <p:spPr>
          <a:xfrm>
            <a:off x="180000" y="1241118"/>
            <a:ext cx="4562688" cy="4935845"/>
          </a:xfrm>
        </p:spPr>
        <p:txBody>
          <a:bodyPr>
            <a:normAutofit/>
          </a:bodyPr>
          <a:lstStyle/>
          <a:p>
            <a:r>
              <a:rPr lang="en-US" altLang="zh-CN" b="1" dirty="0"/>
              <a:t>【</a:t>
            </a:r>
            <a:r>
              <a:rPr lang="zh-CN" altLang="en-US" b="1" dirty="0"/>
              <a:t>例</a:t>
            </a:r>
            <a:r>
              <a:rPr lang="en-US" altLang="zh-CN" b="1" dirty="0"/>
              <a:t>6.2】</a:t>
            </a:r>
            <a:r>
              <a:rPr lang="zh-CN" altLang="en-US" b="1" dirty="0"/>
              <a:t>编程利用广度优先搜索算法确定无向图的连通分量。</a:t>
            </a:r>
            <a:endParaRPr lang="en-US" altLang="zh-CN" b="1" dirty="0"/>
          </a:p>
          <a:p>
            <a:r>
              <a:rPr lang="zh-CN" altLang="en-US" b="1" dirty="0"/>
              <a:t>解：</a:t>
            </a:r>
            <a:endParaRPr lang="en-US" altLang="zh-CN" b="1" dirty="0"/>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68772" y="492857"/>
            <a:ext cx="4969256" cy="6005143"/>
          </a:xfrm>
          <a:prstGeom prst="rect">
            <a:avLst/>
          </a:prstGeom>
          <a:noFill/>
        </p:spPr>
      </p:pic>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p:sp>
        <p:nvSpPr>
          <p:cNvPr id="3" name="内容占位符 2"/>
          <p:cNvSpPr>
            <a:spLocks noGrp="1"/>
          </p:cNvSpPr>
          <p:nvPr>
            <p:ph sz="half" idx="1"/>
          </p:nvPr>
        </p:nvSpPr>
        <p:spPr>
          <a:xfrm>
            <a:off x="180000" y="1241118"/>
            <a:ext cx="4562688" cy="4935845"/>
          </a:xfrm>
        </p:spPr>
        <p:txBody>
          <a:bodyPr>
            <a:normAutofit/>
          </a:bodyPr>
          <a:lstStyle/>
          <a:p>
            <a:r>
              <a:rPr lang="en-US" altLang="zh-CN" b="1" dirty="0"/>
              <a:t>【</a:t>
            </a:r>
            <a:r>
              <a:rPr lang="zh-CN" altLang="en-US" b="1" dirty="0"/>
              <a:t>例</a:t>
            </a:r>
            <a:r>
              <a:rPr lang="en-US" altLang="zh-CN" b="1" dirty="0"/>
              <a:t>6.2】</a:t>
            </a:r>
            <a:r>
              <a:rPr lang="zh-CN" altLang="en-US" b="1" dirty="0"/>
              <a:t>编程利用广度优先搜索算法确定无向图的连通分量。</a:t>
            </a:r>
            <a:endParaRPr lang="en-US" altLang="zh-CN" b="1" dirty="0"/>
          </a:p>
          <a:p>
            <a:r>
              <a:rPr lang="zh-CN" altLang="en-US" b="1" dirty="0"/>
              <a:t>输出如下</a:t>
            </a:r>
            <a:endParaRPr lang="en-US" altLang="zh-CN" b="1" dirty="0"/>
          </a:p>
          <a:p>
            <a:pPr lvl="1"/>
            <a:r>
              <a:rPr lang="zh-CN" altLang="en-US" b="1" dirty="0"/>
              <a:t>第</a:t>
            </a:r>
            <a:r>
              <a:rPr lang="en-US" altLang="zh-CN" b="1" dirty="0"/>
              <a:t>1</a:t>
            </a:r>
            <a:r>
              <a:rPr lang="zh-CN" altLang="en-US" b="1" dirty="0"/>
              <a:t>个连通块： </a:t>
            </a:r>
            <a:r>
              <a:rPr lang="en-US" altLang="zh-CN" b="1" dirty="0"/>
              <a:t>1 2 3 </a:t>
            </a:r>
            <a:endParaRPr lang="en-US" altLang="zh-CN" b="1" dirty="0"/>
          </a:p>
          <a:p>
            <a:pPr lvl="1"/>
            <a:r>
              <a:rPr lang="zh-CN" altLang="en-US" b="1" dirty="0"/>
              <a:t>第</a:t>
            </a:r>
            <a:r>
              <a:rPr lang="en-US" altLang="zh-CN" b="1" dirty="0"/>
              <a:t>2</a:t>
            </a:r>
            <a:r>
              <a:rPr lang="zh-CN" altLang="en-US" b="1" dirty="0"/>
              <a:t>个连通块： </a:t>
            </a:r>
            <a:r>
              <a:rPr lang="en-US" altLang="zh-CN" b="1" dirty="0"/>
              <a:t>4 5 </a:t>
            </a:r>
            <a:endParaRPr lang="en-US" altLang="zh-CN" b="1" dirty="0"/>
          </a:p>
          <a:p>
            <a:pPr lvl="1"/>
            <a:r>
              <a:rPr lang="zh-CN" altLang="en-US" b="1" dirty="0"/>
              <a:t>第</a:t>
            </a:r>
            <a:r>
              <a:rPr lang="en-US" altLang="zh-CN" b="1" dirty="0"/>
              <a:t>3</a:t>
            </a:r>
            <a:r>
              <a:rPr lang="zh-CN" altLang="en-US" b="1" dirty="0"/>
              <a:t>个连通块： </a:t>
            </a:r>
            <a:r>
              <a:rPr lang="en-US" altLang="zh-CN" b="1" dirty="0"/>
              <a:t>6</a:t>
            </a:r>
            <a:endParaRPr lang="en-US" altLang="zh-CN" b="1" dirty="0"/>
          </a:p>
          <a:p>
            <a:pPr lvl="1"/>
            <a:endParaRPr lang="en-US" altLang="zh-CN" b="1" dirty="0"/>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68772" y="492857"/>
            <a:ext cx="4969256" cy="6005143"/>
          </a:xfrm>
          <a:prstGeom prst="rect">
            <a:avLst/>
          </a:prstGeom>
          <a:noFill/>
        </p:spPr>
      </p:pic>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p:sp>
        <p:nvSpPr>
          <p:cNvPr id="3" name="内容占位符 2"/>
          <p:cNvSpPr>
            <a:spLocks noGrp="1"/>
          </p:cNvSpPr>
          <p:nvPr>
            <p:ph sz="half" idx="1"/>
          </p:nvPr>
        </p:nvSpPr>
        <p:spPr>
          <a:xfrm>
            <a:off x="180000" y="1241118"/>
            <a:ext cx="11833200" cy="4935845"/>
          </a:xfrm>
        </p:spPr>
        <p:txBody>
          <a:bodyPr>
            <a:normAutofit/>
          </a:bodyPr>
          <a:lstStyle/>
          <a:p>
            <a:r>
              <a:rPr lang="en-US" altLang="zh-CN" b="1" dirty="0"/>
              <a:t>【</a:t>
            </a:r>
            <a:r>
              <a:rPr lang="zh-CN" altLang="en-US" b="1" dirty="0"/>
              <a:t>例</a:t>
            </a:r>
            <a:r>
              <a:rPr lang="en-US" altLang="zh-CN" b="1" dirty="0"/>
              <a:t>6.3】</a:t>
            </a:r>
            <a:r>
              <a:rPr lang="zh-CN" altLang="en-US" b="1" dirty="0"/>
              <a:t>已知一个连通图如下所示，试给出图的邻接矩阵和邻接表存储示意图，若从顶点</a:t>
            </a:r>
            <a:r>
              <a:rPr lang="en-US" altLang="zh-CN" b="1" dirty="0"/>
              <a:t>v1</a:t>
            </a:r>
            <a:r>
              <a:rPr lang="zh-CN" altLang="en-US" b="1" dirty="0"/>
              <a:t>出发对该图进行遍历，分别给出一个按深度优先遍历和广度优先遍历的顶点序列。</a:t>
            </a:r>
            <a:endParaRPr lang="en-US" altLang="zh-CN" b="1" dirty="0"/>
          </a:p>
        </p:txBody>
      </p:sp>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316696" y="2679623"/>
            <a:ext cx="3558608" cy="2248468"/>
          </a:xfrm>
          <a:prstGeom prst="rect">
            <a:avLst/>
          </a:prstGeom>
          <a:noFill/>
          <a:ln>
            <a:noFill/>
          </a:ln>
        </p:spPr>
      </p:pic>
      <p:sp>
        <p:nvSpPr>
          <p:cNvPr id="9" name="文本框 8"/>
          <p:cNvSpPr txBox="1"/>
          <p:nvPr/>
        </p:nvSpPr>
        <p:spPr>
          <a:xfrm>
            <a:off x="5579542" y="5107477"/>
            <a:ext cx="6100548" cy="461665"/>
          </a:xfrm>
          <a:prstGeom prst="rect">
            <a:avLst/>
          </a:prstGeom>
          <a:noFill/>
        </p:spPr>
        <p:txBody>
          <a:bodyPr wrap="square">
            <a:spAutoFit/>
          </a:bodyPr>
          <a:lstStyle/>
          <a:p>
            <a:r>
              <a:rPr lang="zh-CN"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连通图</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180000" y="1241118"/>
                <a:ext cx="11833200" cy="4935845"/>
              </a:xfrm>
            </p:spPr>
            <p:txBody>
              <a:bodyPr>
                <a:normAutofit/>
              </a:bodyPr>
              <a:lstStyle/>
              <a:p>
                <a:r>
                  <a:rPr lang="en-US" altLang="zh-CN" b="1" dirty="0"/>
                  <a:t>【</a:t>
                </a:r>
                <a:r>
                  <a:rPr lang="zh-CN" altLang="en-US" b="1" dirty="0"/>
                  <a:t>例</a:t>
                </a:r>
                <a:r>
                  <a:rPr lang="en-US" altLang="zh-CN" b="1" dirty="0"/>
                  <a:t>6.3】</a:t>
                </a:r>
                <a:r>
                  <a:rPr lang="zh-CN" altLang="en-US" b="1" dirty="0"/>
                  <a:t>已知一个连通图如下所示，试给出图的邻接矩阵和邻接表存储示意图，若从顶点</a:t>
                </a:r>
                <a:r>
                  <a:rPr lang="en-US" altLang="zh-CN" b="1" dirty="0"/>
                  <a:t>v1</a:t>
                </a:r>
                <a:r>
                  <a:rPr lang="zh-CN" altLang="en-US" b="1" dirty="0"/>
                  <a:t>出发对该图进行遍历，分别给出一个按深度优先遍历和广度优先遍历的顶点序列。</a:t>
                </a:r>
                <a:endParaRPr lang="en-US" altLang="zh-CN" b="1" dirty="0"/>
              </a:p>
              <a:p>
                <a:r>
                  <a:rPr lang="zh-CN" altLang="en-US" b="1" dirty="0"/>
                  <a:t>解：</a:t>
                </a:r>
                <a:endParaRPr lang="en-US" altLang="zh-CN" b="1" dirty="0"/>
              </a:p>
              <a:p>
                <a:pPr lvl="1"/>
                <a14:m>
                  <m:oMath xmlns:m="http://schemas.openxmlformats.org/officeDocument/2006/math">
                    <m:m>
                      <m:mPr>
                        <m:mcs>
                          <m:mc>
                            <m:mcPr>
                              <m:count m:val="6"/>
                              <m:mcJc m:val="center"/>
                            </m:mcPr>
                          </m:mc>
                        </m:mcs>
                        <m:ctrlPr>
                          <a:rPr lang="en-US" altLang="zh-CN" b="1" i="1" smtClean="0">
                            <a:latin typeface="Cambria Math" panose="02040503050406030204" pitchFamily="18" charset="0"/>
                          </a:rPr>
                        </m:ctrlPr>
                      </m:mPr>
                      <m:mr>
                        <m:e>
                          <m:r>
                            <m:rPr>
                              <m:brk m:alnAt="7"/>
                            </m:rP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mr>
                      <m:mr>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mr>
                      <m:mr>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mr>
                      <m:mr>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𝟏</m:t>
                          </m:r>
                        </m:e>
                      </m:mr>
                      <m:mr>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𝟎</m:t>
                          </m:r>
                        </m:e>
                      </m:mr>
                      <m:mr>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𝟏</m:t>
                          </m:r>
                        </m:e>
                        <m:e>
                          <m:r>
                            <a:rPr lang="en-US" altLang="zh-CN" b="1" i="1" smtClean="0">
                              <a:latin typeface="Cambria Math" panose="02040503050406030204" pitchFamily="18" charset="0"/>
                            </a:rPr>
                            <m:t>𝟎</m:t>
                          </m:r>
                        </m:e>
                        <m:e>
                          <m:r>
                            <a:rPr lang="en-US" altLang="zh-CN" b="1" i="1" smtClean="0">
                              <a:latin typeface="Cambria Math" panose="02040503050406030204" pitchFamily="18" charset="0"/>
                            </a:rPr>
                            <m:t>𝟎</m:t>
                          </m:r>
                        </m:e>
                      </m:mr>
                    </m:m>
                  </m:oMath>
                </a14:m>
                <a:endParaRPr lang="en-US" altLang="zh-CN" b="1" dirty="0"/>
              </a:p>
              <a:p>
                <a:pPr lvl="1"/>
                <a:endParaRPr lang="en-US" altLang="zh-CN" b="1" dirty="0"/>
              </a:p>
              <a:p>
                <a:pPr lvl="1"/>
                <a:r>
                  <a:rPr lang="zh-CN" altLang="en-US" b="1" dirty="0"/>
                  <a:t>深度优先遍历序列：</a:t>
                </a:r>
                <a14:m>
                  <m:oMath xmlns:m="http://schemas.openxmlformats.org/officeDocument/2006/math">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1</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2</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3</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4</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5</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6</m:t>
                    </m:r>
                  </m:oMath>
                </a14:m>
                <a:endParaRPr lang="zh-CN" altLang="zh-CN" sz="2400" dirty="0">
                  <a:effectLst/>
                  <a:latin typeface="微软雅黑" panose="020B0503020204020204" pitchFamily="34" charset="-122"/>
                  <a:ea typeface="微软雅黑" panose="020B0503020204020204" pitchFamily="34" charset="-122"/>
                  <a:cs typeface="宋体" panose="02010600030101010101" pitchFamily="2" charset="-122"/>
                </a:endParaRPr>
              </a:p>
              <a:p>
                <a:pPr lvl="1"/>
                <a:r>
                  <a:rPr lang="zh-CN" altLang="en-US" b="1" dirty="0"/>
                  <a:t>广度优先遍历序列：</a:t>
                </a:r>
                <a14:m>
                  <m:oMath xmlns:m="http://schemas.openxmlformats.org/officeDocument/2006/math">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1</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2</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4</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6</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3</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dirty="0" smtClean="0">
                        <a:effectLst/>
                        <a:latin typeface="Cambria Math" panose="02040503050406030204" pitchFamily="18" charset="0"/>
                        <a:ea typeface="微软雅黑" panose="020B0503020204020204" pitchFamily="34" charset="-122"/>
                        <a:cs typeface="Times New Roman" panose="02020603050405020304" pitchFamily="18" charset="0"/>
                      </a:rPr>
                      <m:t>𝑣</m:t>
                    </m:r>
                    <m:r>
                      <a:rPr lang="en-US" altLang="zh-CN" sz="2400" i="1" kern="100" baseline="-25000" dirty="0" smtClean="0">
                        <a:effectLst/>
                        <a:latin typeface="Cambria Math" panose="02040503050406030204" pitchFamily="18" charset="0"/>
                        <a:ea typeface="微软雅黑" panose="020B0503020204020204" pitchFamily="34" charset="-122"/>
                        <a:cs typeface="Times New Roman" panose="02020603050405020304" pitchFamily="18" charset="0"/>
                      </a:rPr>
                      <m:t>5</m:t>
                    </m:r>
                  </m:oMath>
                </a14:m>
                <a:endParaRPr lang="en-US" altLang="zh-CN" b="1"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180000" y="1241118"/>
                <a:ext cx="11833200" cy="4935845"/>
              </a:xfrm>
              <a:blipFill rotWithShape="1">
                <a:blip r:embed="rId1"/>
                <a:stretch>
                  <a:fillRect l="-2" t="-7"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5267427" y="2490639"/>
            <a:ext cx="6559769" cy="243680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p:sp>
        <p:nvSpPr>
          <p:cNvPr id="3" name="内容占位符 2"/>
          <p:cNvSpPr>
            <a:spLocks noGrp="1"/>
          </p:cNvSpPr>
          <p:nvPr>
            <p:ph sz="half" idx="1"/>
          </p:nvPr>
        </p:nvSpPr>
        <p:spPr>
          <a:xfrm>
            <a:off x="180000" y="1241118"/>
            <a:ext cx="11833200" cy="4935845"/>
          </a:xfrm>
        </p:spPr>
        <p:txBody>
          <a:bodyPr>
            <a:normAutofit/>
          </a:bodyPr>
          <a:lstStyle/>
          <a:p>
            <a:r>
              <a:rPr lang="en-US" altLang="zh-CN" b="1" dirty="0"/>
              <a:t>【</a:t>
            </a:r>
            <a:r>
              <a:rPr lang="zh-CN" altLang="en-US" b="1" dirty="0"/>
              <a:t>例</a:t>
            </a:r>
            <a:r>
              <a:rPr lang="en-US" altLang="zh-CN" b="1" dirty="0"/>
              <a:t>6.4】</a:t>
            </a:r>
            <a:r>
              <a:rPr lang="zh-CN" altLang="en-US" b="1" dirty="0"/>
              <a:t>已知无向图</a:t>
            </a:r>
            <a:r>
              <a:rPr lang="en-US" altLang="zh-CN" b="1" dirty="0"/>
              <a:t>G</a:t>
            </a:r>
            <a:r>
              <a:rPr lang="zh-CN" altLang="en-US" b="1" dirty="0"/>
              <a:t>的邻接表如图所示，分别写出从顶点</a:t>
            </a:r>
            <a:r>
              <a:rPr lang="en-US" altLang="zh-CN" b="1" dirty="0"/>
              <a:t>1</a:t>
            </a:r>
            <a:r>
              <a:rPr lang="zh-CN" altLang="en-US" b="1" dirty="0"/>
              <a:t>出发的深度遍历和广度遍历序列，并画出相应的生成树。</a:t>
            </a:r>
            <a:endParaRPr lang="en-US" altLang="zh-CN" b="1" dirty="0"/>
          </a:p>
        </p:txBody>
      </p:sp>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165563" y="2228434"/>
            <a:ext cx="5860873" cy="3196655"/>
          </a:xfrm>
          <a:prstGeom prst="rect">
            <a:avLst/>
          </a:prstGeom>
          <a:noFill/>
          <a:ln>
            <a:noFill/>
          </a:ln>
        </p:spPr>
      </p:pic>
      <p:sp>
        <p:nvSpPr>
          <p:cNvPr id="8" name="文本框 7"/>
          <p:cNvSpPr txBox="1"/>
          <p:nvPr/>
        </p:nvSpPr>
        <p:spPr>
          <a:xfrm>
            <a:off x="4696584" y="5570193"/>
            <a:ext cx="6100548" cy="461665"/>
          </a:xfrm>
          <a:prstGeom prst="rect">
            <a:avLst/>
          </a:prstGeom>
          <a:noFill/>
        </p:spPr>
        <p:txBody>
          <a:bodyPr wrap="square">
            <a:spAutoFit/>
          </a:bodyPr>
          <a:lstStyle/>
          <a:p>
            <a:r>
              <a:rPr lang="zh-CN" altLang="en-US" sz="2400" kern="100" dirty="0">
                <a:effectLst/>
                <a:latin typeface="微软雅黑" panose="020B0503020204020204" pitchFamily="34" charset="-122"/>
                <a:ea typeface="微软雅黑" panose="020B0503020204020204" pitchFamily="34" charset="-122"/>
                <a:cs typeface="Times New Roman" panose="02020603050405020304" pitchFamily="18" charset="0"/>
              </a:rPr>
              <a:t>无向图</a:t>
            </a:r>
            <a:r>
              <a:rPr lang="en-US"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2400" kern="100" dirty="0">
                <a:effectLst/>
                <a:latin typeface="微软雅黑" panose="020B0503020204020204" pitchFamily="34" charset="-122"/>
                <a:ea typeface="微软雅黑" panose="020B0503020204020204" pitchFamily="34" charset="-122"/>
                <a:cs typeface="Times New Roman" panose="02020603050405020304" pitchFamily="18" charset="0"/>
              </a:rPr>
              <a:t>的邻接表</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180000" y="1241118"/>
                <a:ext cx="11833200" cy="4935845"/>
              </a:xfrm>
            </p:spPr>
            <p:txBody>
              <a:bodyPr>
                <a:normAutofit/>
              </a:bodyPr>
              <a:lstStyle/>
              <a:p>
                <a:r>
                  <a:rPr lang="en-US" altLang="zh-CN" b="1" dirty="0"/>
                  <a:t>【</a:t>
                </a:r>
                <a:r>
                  <a:rPr lang="zh-CN" altLang="en-US" b="1" dirty="0"/>
                  <a:t>例</a:t>
                </a:r>
                <a:r>
                  <a:rPr lang="en-US" altLang="zh-CN" b="1" dirty="0"/>
                  <a:t>6.4】</a:t>
                </a:r>
                <a:r>
                  <a:rPr lang="zh-CN" altLang="en-US" b="1" dirty="0"/>
                  <a:t>已知无向图</a:t>
                </a:r>
                <a:r>
                  <a:rPr lang="en-US" altLang="zh-CN" b="1" dirty="0"/>
                  <a:t>G</a:t>
                </a:r>
                <a:r>
                  <a:rPr lang="zh-CN" altLang="en-US" b="1" dirty="0"/>
                  <a:t>的邻接表如图所示，分别写出从顶点</a:t>
                </a:r>
                <a:r>
                  <a:rPr lang="en-US" altLang="zh-CN" b="1" dirty="0"/>
                  <a:t>1</a:t>
                </a:r>
                <a:r>
                  <a:rPr lang="zh-CN" altLang="en-US" b="1" dirty="0"/>
                  <a:t>出发的深度遍历和广度遍历序列，并画出相应的生成树。</a:t>
                </a:r>
                <a:endParaRPr lang="en-US" altLang="zh-CN" b="1" dirty="0"/>
              </a:p>
              <a:p>
                <a:r>
                  <a:rPr lang="zh-CN" altLang="en-US" b="1" dirty="0"/>
                  <a:t>解：</a:t>
                </a:r>
                <a:endParaRPr lang="en-US" altLang="zh-CN" b="1" dirty="0"/>
              </a:p>
              <a:p>
                <a:pPr lvl="1"/>
                <a:r>
                  <a:rPr lang="zh-CN" altLang="en-US" b="1" dirty="0"/>
                  <a:t>由章节给出的算法可知深度优先遍历序列为</a:t>
                </a:r>
                <a14:m>
                  <m:oMath xmlns:m="http://schemas.openxmlformats.org/officeDocument/2006/math">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𝟐</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𝟑</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𝟒</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𝟓</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𝟔</m:t>
                    </m:r>
                  </m:oMath>
                </a14:m>
                <a:r>
                  <a:rPr lang="zh-CN" altLang="en-US" b="1" dirty="0"/>
                  <a:t>。</a:t>
                </a:r>
                <a:endParaRPr lang="zh-CN" altLang="en-US" b="1" dirty="0"/>
              </a:p>
              <a:p>
                <a:pPr lvl="1"/>
                <a:r>
                  <a:rPr lang="zh-CN" altLang="en-US" b="1" dirty="0"/>
                  <a:t>对应的生成树如图所示。</a:t>
                </a:r>
                <a:endParaRPr lang="zh-CN" altLang="en-US" b="1" dirty="0"/>
              </a:p>
              <a:p>
                <a:pPr lvl="1"/>
                <a:r>
                  <a:rPr lang="zh-CN" altLang="en-US" b="1" dirty="0"/>
                  <a:t>广度优先遍历序列为</a:t>
                </a:r>
                <a14:m>
                  <m:oMath xmlns:m="http://schemas.openxmlformats.org/officeDocument/2006/math">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𝟐</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𝟒</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𝟑</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𝟓</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𝟔</m:t>
                    </m:r>
                  </m:oMath>
                </a14:m>
                <a:r>
                  <a:rPr lang="zh-CN" altLang="en-US" b="1" dirty="0"/>
                  <a:t>。</a:t>
                </a:r>
                <a:endParaRPr lang="zh-CN" altLang="en-US" b="1" dirty="0"/>
              </a:p>
              <a:p>
                <a:pPr lvl="1"/>
                <a:r>
                  <a:rPr lang="zh-CN" altLang="en-US" b="1" dirty="0"/>
                  <a:t>对应的生成树如图所示。</a:t>
                </a:r>
                <a:endParaRPr lang="zh-CN" altLang="en-US" b="1" dirty="0"/>
              </a:p>
              <a:p>
                <a:pPr lvl="1"/>
                <a:endParaRPr lang="en-US" altLang="zh-CN" b="1"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180000" y="1241118"/>
                <a:ext cx="11833200" cy="4935845"/>
              </a:xfrm>
              <a:blipFill rotWithShape="1">
                <a:blip r:embed="rId1"/>
                <a:stretch>
                  <a:fillRect l="-2" t="-7"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9323408" y="1807675"/>
            <a:ext cx="2530796" cy="1662003"/>
          </a:xfrm>
          <a:prstGeom prst="rect">
            <a:avLst/>
          </a:prstGeom>
          <a:noFill/>
          <a:ln>
            <a:noFill/>
          </a:ln>
        </p:spPr>
      </p:pic>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bwMode="auto">
          <a:xfrm>
            <a:off x="9323408" y="4135626"/>
            <a:ext cx="2530796" cy="1593388"/>
          </a:xfrm>
          <a:prstGeom prst="rect">
            <a:avLst/>
          </a:prstGeom>
          <a:noFill/>
          <a:ln>
            <a:noFill/>
          </a:ln>
        </p:spPr>
      </p:pic>
      <p:sp>
        <p:nvSpPr>
          <p:cNvPr id="12" name="文本框 11"/>
          <p:cNvSpPr txBox="1"/>
          <p:nvPr/>
        </p:nvSpPr>
        <p:spPr>
          <a:xfrm>
            <a:off x="8261735" y="3602597"/>
            <a:ext cx="4578822" cy="400110"/>
          </a:xfrm>
          <a:prstGeom prst="rect">
            <a:avLst/>
          </a:prstGeom>
          <a:noFill/>
        </p:spPr>
        <p:txBody>
          <a:bodyPr wrap="square">
            <a:spAutoFit/>
          </a:bodyPr>
          <a:lstStyle/>
          <a:p>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深度优先遍历序列对应的生成树</a:t>
            </a:r>
            <a:endParaRPr lang="zh-CN" altLang="en-US"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8261735" y="5866546"/>
            <a:ext cx="6100548" cy="400110"/>
          </a:xfrm>
          <a:prstGeom prst="rect">
            <a:avLst/>
          </a:prstGeom>
          <a:noFill/>
        </p:spPr>
        <p:txBody>
          <a:bodyPr wrap="square">
            <a:spAutoFit/>
          </a:bodyPr>
          <a:lstStyle/>
          <a:p>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广度优先遍历序列对应的生成树</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6.4</a:t>
            </a:r>
            <a:endParaRPr lang="zh-CN" altLang="en-US" dirty="0"/>
          </a:p>
        </p:txBody>
      </p:sp>
      <p:sp>
        <p:nvSpPr>
          <p:cNvPr id="3" name="文本占位符 2"/>
          <p:cNvSpPr>
            <a:spLocks noGrp="1"/>
          </p:cNvSpPr>
          <p:nvPr>
            <p:ph type="body" sz="quarter" idx="11"/>
          </p:nvPr>
        </p:nvSpPr>
        <p:spPr/>
        <p:txBody>
          <a:bodyPr/>
          <a:lstStyle/>
          <a:p>
            <a:r>
              <a:rPr lang="zh-CN" altLang="en-US" dirty="0"/>
              <a:t>最小生成树</a:t>
            </a:r>
            <a:endParaRPr lang="zh-CN" altLang="en-US" dirty="0"/>
          </a:p>
        </p:txBody>
      </p:sp>
      <p:sp>
        <p:nvSpPr>
          <p:cNvPr id="4" name="文本占位符 3"/>
          <p:cNvSpPr>
            <a:spLocks noGrp="1"/>
          </p:cNvSpPr>
          <p:nvPr>
            <p:ph type="body" sz="quarter" idx="12"/>
          </p:nvPr>
        </p:nvSpPr>
        <p:spPr>
          <a:xfrm>
            <a:off x="5308599" y="3606800"/>
            <a:ext cx="5325533" cy="1854200"/>
          </a:xfrm>
        </p:spPr>
        <p:txBody>
          <a:bodyPr/>
          <a:lstStyle/>
          <a:p>
            <a:r>
              <a:rPr lang="en-US" altLang="zh-CN" dirty="0"/>
              <a:t>6.4.1 </a:t>
            </a:r>
            <a:r>
              <a:rPr lang="zh-CN" altLang="en-US" dirty="0"/>
              <a:t>最小生成树的基本概念</a:t>
            </a:r>
            <a:endParaRPr lang="zh-CN" altLang="en-US" dirty="0"/>
          </a:p>
          <a:p>
            <a:r>
              <a:rPr lang="en-US" altLang="zh-CN" dirty="0"/>
              <a:t>6.4.2 </a:t>
            </a:r>
            <a:r>
              <a:rPr lang="en-US" altLang="zh-CN" dirty="0">
                <a:latin typeface="Cambria" panose="02040503050406030204" pitchFamily="18" charset="0"/>
                <a:ea typeface="Cambria" panose="02040503050406030204" pitchFamily="18" charset="0"/>
              </a:rPr>
              <a:t>Kruskal</a:t>
            </a:r>
            <a:r>
              <a:rPr lang="zh-CN" altLang="en-US" dirty="0"/>
              <a:t>算法</a:t>
            </a:r>
            <a:endParaRPr lang="zh-CN" altLang="en-US" dirty="0"/>
          </a:p>
          <a:p>
            <a:r>
              <a:rPr lang="en-US" altLang="zh-CN" dirty="0"/>
              <a:t>6.4.3 </a:t>
            </a:r>
            <a:r>
              <a:rPr lang="en-US" altLang="zh-CN" dirty="0">
                <a:latin typeface="Cambria" panose="02040503050406030204" pitchFamily="18" charset="0"/>
                <a:ea typeface="Cambria" panose="02040503050406030204" pitchFamily="18" charset="0"/>
              </a:rPr>
              <a:t>Prim</a:t>
            </a:r>
            <a:r>
              <a:rPr lang="zh-CN" altLang="en-US" dirty="0"/>
              <a:t>算法</a:t>
            </a:r>
            <a:endParaRPr lang="zh-CN" altLang="en-US" dirty="0"/>
          </a:p>
          <a:p>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6.4.1 </a:t>
            </a:r>
            <a:r>
              <a:rPr lang="zh-CN" altLang="en-US" dirty="0"/>
              <a:t>最小生成树的基本概念</a:t>
            </a:r>
            <a:endParaRPr lang="zh-CN" altLang="en-US" dirty="0"/>
          </a:p>
        </p:txBody>
      </p:sp>
      <p:sp>
        <p:nvSpPr>
          <p:cNvPr id="3" name="内容占位符 2"/>
          <p:cNvSpPr>
            <a:spLocks noGrp="1"/>
          </p:cNvSpPr>
          <p:nvPr>
            <p:ph idx="1"/>
          </p:nvPr>
        </p:nvSpPr>
        <p:spPr/>
        <p:txBody>
          <a:bodyPr>
            <a:normAutofit/>
          </a:bodyPr>
          <a:lstStyle/>
          <a:p>
            <a:r>
              <a:rPr lang="zh-CN" altLang="en-US" dirty="0"/>
              <a:t>连通图的生成树是图的极小连通子图，它包含图中的全部顶点，但只有构成一棵树的边。一个有</a:t>
            </a:r>
            <a:r>
              <a:rPr lang="en-US" altLang="zh-CN" dirty="0">
                <a:latin typeface="Cambria Math" panose="02040503050406030204" pitchFamily="18" charset="0"/>
                <a:ea typeface="Cambria Math" panose="02040503050406030204" pitchFamily="18" charset="0"/>
              </a:rPr>
              <a:t>n</a:t>
            </a:r>
            <a:r>
              <a:rPr lang="zh-CN" altLang="en-US" dirty="0"/>
              <a:t>个顶点的连通图的生成树只有</a:t>
            </a:r>
            <a:r>
              <a:rPr lang="en-US" altLang="zh-CN" dirty="0">
                <a:latin typeface="Cambria Math" panose="02040503050406030204" pitchFamily="18" charset="0"/>
                <a:ea typeface="Cambria Math" panose="02040503050406030204" pitchFamily="18" charset="0"/>
              </a:rPr>
              <a:t>n-1</a:t>
            </a:r>
            <a:r>
              <a:rPr lang="zh-CN" altLang="en-US" dirty="0"/>
              <a:t>条边。若有</a:t>
            </a:r>
            <a:r>
              <a:rPr lang="en-US" altLang="zh-CN" dirty="0">
                <a:latin typeface="Cambria Math" panose="02040503050406030204" pitchFamily="18" charset="0"/>
                <a:ea typeface="Cambria Math" panose="02040503050406030204" pitchFamily="18" charset="0"/>
              </a:rPr>
              <a:t>n</a:t>
            </a:r>
            <a:r>
              <a:rPr lang="zh-CN" altLang="en-US" dirty="0"/>
              <a:t>个顶点而少于</a:t>
            </a:r>
            <a:r>
              <a:rPr lang="en-US" altLang="zh-CN" dirty="0">
                <a:latin typeface="Cambria Math" panose="02040503050406030204" pitchFamily="18" charset="0"/>
                <a:ea typeface="Cambria Math" panose="02040503050406030204" pitchFamily="18" charset="0"/>
              </a:rPr>
              <a:t>n-1</a:t>
            </a:r>
            <a:r>
              <a:rPr lang="zh-CN" altLang="en-US" dirty="0"/>
              <a:t>条边，则为非连通图，若多于</a:t>
            </a:r>
            <a:r>
              <a:rPr lang="en-US" altLang="zh-CN" dirty="0">
                <a:latin typeface="Cambria Math" panose="02040503050406030204" pitchFamily="18" charset="0"/>
                <a:ea typeface="Cambria Math" panose="02040503050406030204" pitchFamily="18" charset="0"/>
              </a:rPr>
              <a:t>n-1</a:t>
            </a:r>
            <a:r>
              <a:rPr lang="zh-CN" altLang="en-US" dirty="0"/>
              <a:t>条边，则一定形成回路。</a:t>
            </a:r>
            <a:endParaRPr lang="zh-CN" altLang="en-US" dirty="0"/>
          </a:p>
          <a:p>
            <a:r>
              <a:rPr lang="zh-CN" altLang="en-US" dirty="0"/>
              <a:t>由广度优先遍历和深度优先遍历得到的生成树分别称为广度优先生成树和深度优先生成树。根据遍历方法的不同或遍历起点的不同得到的生成树也是不同的，图的生成树不唯一。</a:t>
            </a:r>
            <a:endParaRPr lang="zh-CN" altLang="en-US" dirty="0"/>
          </a:p>
          <a:p>
            <a:r>
              <a:rPr lang="zh-CN" altLang="en-US" dirty="0"/>
              <a:t>对于非连通图，每个连通分量中的顶点集和遍历经过的边一起构成若干棵生成树，共同组成了该非连通图的生成森林。</a:t>
            </a: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6.4.1 </a:t>
            </a:r>
            <a:r>
              <a:rPr lang="zh-CN" altLang="en-US" dirty="0"/>
              <a:t>最小生成树的基本概念</a:t>
            </a:r>
            <a:endParaRPr lang="zh-CN" altLang="en-US" dirty="0"/>
          </a:p>
        </p:txBody>
      </p:sp>
      <p:sp>
        <p:nvSpPr>
          <p:cNvPr id="3" name="内容占位符 2"/>
          <p:cNvSpPr>
            <a:spLocks noGrp="1"/>
          </p:cNvSpPr>
          <p:nvPr>
            <p:ph idx="1"/>
          </p:nvPr>
        </p:nvSpPr>
        <p:spPr/>
        <p:txBody>
          <a:bodyPr>
            <a:normAutofit/>
          </a:bodyPr>
          <a:lstStyle/>
          <a:p>
            <a:r>
              <a:rPr lang="zh-CN" altLang="en-US" dirty="0"/>
              <a:t>在一个网的所有生成树中权值总和最小的生成树称为最小代价生成树，简称为最小生成树，最小生成树不一定唯一，需要满足以下</a:t>
            </a:r>
            <a:r>
              <a:rPr lang="en-US" altLang="zh-CN" dirty="0"/>
              <a:t>3</a:t>
            </a:r>
            <a:r>
              <a:rPr lang="zh-CN" altLang="en-US" dirty="0"/>
              <a:t>条准则。 </a:t>
            </a:r>
            <a:endParaRPr lang="zh-CN" altLang="en-US" dirty="0"/>
          </a:p>
          <a:p>
            <a:pPr lvl="1"/>
            <a:r>
              <a:rPr lang="en-US" altLang="zh-CN" dirty="0"/>
              <a:t>(1) </a:t>
            </a:r>
            <a:r>
              <a:rPr lang="zh-CN" altLang="en-US" dirty="0"/>
              <a:t>只能使用图中的边构造最小生成树。</a:t>
            </a:r>
            <a:endParaRPr lang="zh-CN" altLang="en-US" dirty="0"/>
          </a:p>
          <a:p>
            <a:pPr lvl="1"/>
            <a:r>
              <a:rPr lang="en-US" altLang="zh-CN" dirty="0"/>
              <a:t>(2) </a:t>
            </a:r>
            <a:r>
              <a:rPr lang="zh-CN" altLang="en-US" dirty="0"/>
              <a:t>具有</a:t>
            </a:r>
            <a:r>
              <a:rPr lang="en-US" altLang="zh-CN" dirty="0"/>
              <a:t>n</a:t>
            </a:r>
            <a:r>
              <a:rPr lang="zh-CN" altLang="en-US" dirty="0"/>
              <a:t>个顶点和</a:t>
            </a:r>
            <a:r>
              <a:rPr lang="en-US" altLang="zh-CN" dirty="0"/>
              <a:t>n-1</a:t>
            </a:r>
            <a:r>
              <a:rPr lang="zh-CN" altLang="en-US" dirty="0"/>
              <a:t>条边。</a:t>
            </a:r>
            <a:endParaRPr lang="zh-CN" altLang="en-US" dirty="0"/>
          </a:p>
          <a:p>
            <a:pPr lvl="1"/>
            <a:r>
              <a:rPr lang="en-US" altLang="zh-CN" dirty="0"/>
              <a:t>(3) </a:t>
            </a:r>
            <a:r>
              <a:rPr lang="zh-CN" altLang="en-US" dirty="0"/>
              <a:t>不能使用产生回路的边。</a:t>
            </a:r>
            <a:endParaRPr lang="zh-CN" altLang="en-US" dirty="0"/>
          </a:p>
          <a:p>
            <a:r>
              <a:rPr lang="zh-CN" altLang="en-US" dirty="0"/>
              <a:t>产生最小生成树的方法主要有</a:t>
            </a:r>
            <a:r>
              <a:rPr lang="en-US" altLang="zh-CN" dirty="0">
                <a:latin typeface="Cambria Math" panose="02040503050406030204" pitchFamily="18" charset="0"/>
                <a:ea typeface="Cambria Math" panose="02040503050406030204" pitchFamily="18" charset="0"/>
              </a:rPr>
              <a:t>Kruskal</a:t>
            </a:r>
            <a:r>
              <a:rPr lang="zh-CN" altLang="en-US" dirty="0"/>
              <a:t>算法和</a:t>
            </a:r>
            <a:r>
              <a:rPr lang="en-US" altLang="zh-CN" dirty="0">
                <a:latin typeface="Cambria Math" panose="02040503050406030204" pitchFamily="18" charset="0"/>
                <a:ea typeface="Cambria Math" panose="02040503050406030204" pitchFamily="18" charset="0"/>
              </a:rPr>
              <a:t>Prim</a:t>
            </a:r>
            <a:r>
              <a:rPr lang="zh-CN" altLang="en-US" dirty="0"/>
              <a:t>算法两种。</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6.4.2 Kruskal</a:t>
            </a:r>
            <a:r>
              <a:rPr lang="zh-CN" altLang="en-US" dirty="0"/>
              <a:t>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10000"/>
              </a:bodyPr>
              <a:lstStyle/>
              <a:p>
                <a:r>
                  <a:rPr lang="en-US" altLang="zh-CN" dirty="0"/>
                  <a:t>Kruskal</a:t>
                </a:r>
                <a:r>
                  <a:rPr lang="zh-CN" altLang="en-US" dirty="0"/>
                  <a:t>算法是依次找出权值最小的边建立最小生成树，每次新增的边不能使生成树产生回路，直到找到</a:t>
                </a:r>
                <a:r>
                  <a:rPr lang="en-US" altLang="zh-CN" dirty="0"/>
                  <a:t>n-1</a:t>
                </a:r>
                <a:r>
                  <a:rPr lang="zh-CN" altLang="en-US" dirty="0"/>
                  <a:t>条边。</a:t>
                </a:r>
                <a:endParaRPr lang="en-US" altLang="zh-CN" dirty="0"/>
              </a:p>
              <a:p>
                <a:endParaRPr lang="zh-CN" altLang="en-US" dirty="0"/>
              </a:p>
              <a:p>
                <a:r>
                  <a:rPr lang="zh-CN" altLang="en-US" dirty="0"/>
                  <a:t>设图是由</a:t>
                </a:r>
                <a:r>
                  <a:rPr lang="en-US" altLang="zh-CN" dirty="0"/>
                  <a:t>n</a:t>
                </a:r>
                <a:r>
                  <a:rPr lang="zh-CN" altLang="en-US" dirty="0"/>
                  <a:t>个顶点组成的连通无向网，是图</a:t>
                </a:r>
                <a:r>
                  <a:rPr lang="en-US" altLang="zh-CN" dirty="0"/>
                  <a:t>G</a:t>
                </a:r>
                <a:r>
                  <a:rPr lang="zh-CN" altLang="en-US" dirty="0"/>
                  <a:t>的最小生成树，其中</a:t>
                </a:r>
                <a:r>
                  <a:rPr lang="en-US" altLang="zh-CN" dirty="0"/>
                  <a:t>V</a:t>
                </a:r>
                <a:r>
                  <a:rPr lang="zh-CN" altLang="en-US" dirty="0"/>
                  <a:t>是</a:t>
                </a:r>
                <a:r>
                  <a:rPr lang="en-US" altLang="zh-CN" dirty="0"/>
                  <a:t>T</a:t>
                </a:r>
                <a:r>
                  <a:rPr lang="zh-CN" altLang="en-US" dirty="0"/>
                  <a:t>的顶点集，</a:t>
                </a:r>
                <a:r>
                  <a:rPr lang="en-US" altLang="zh-CN" dirty="0"/>
                  <a:t>TE</a:t>
                </a:r>
                <a:r>
                  <a:rPr lang="zh-CN" altLang="en-US" dirty="0"/>
                  <a:t>是</a:t>
                </a:r>
                <a:r>
                  <a:rPr lang="en-US" altLang="zh-CN" dirty="0"/>
                  <a:t>T</a:t>
                </a:r>
                <a:r>
                  <a:rPr lang="zh-CN" altLang="en-US" dirty="0"/>
                  <a:t>的边集。构造最小生成树的步骤如下。</a:t>
                </a:r>
                <a:endParaRPr lang="en-US" altLang="zh-CN" dirty="0"/>
              </a:p>
              <a:p>
                <a:endParaRPr lang="zh-CN" altLang="en-US" dirty="0"/>
              </a:p>
              <a:p>
                <a:pPr marL="914400" lvl="1" indent="-457200">
                  <a:buFont typeface="+mj-ea"/>
                  <a:buAutoNum type="circleNumDbPlain"/>
                </a:pPr>
                <a:r>
                  <a:rPr lang="zh-CN" altLang="en-US" dirty="0"/>
                  <a:t>将</a:t>
                </a:r>
                <a:r>
                  <a:rPr lang="en-US" altLang="zh-CN" dirty="0"/>
                  <a:t>T</a:t>
                </a:r>
                <a:r>
                  <a:rPr lang="zh-CN" altLang="en-US" dirty="0"/>
                  <a:t>的初始状态置为仅含有源点的集合。</a:t>
                </a:r>
                <a:endParaRPr lang="en-US" altLang="zh-CN" dirty="0"/>
              </a:p>
              <a:p>
                <a:pPr marL="914400" lvl="1" indent="-457200">
                  <a:buFont typeface="+mj-lt"/>
                  <a:buAutoNum type="circleNumDbPlain"/>
                </a:pPr>
                <a:endParaRPr lang="en-US" altLang="zh-CN" dirty="0"/>
              </a:p>
              <a:p>
                <a:pPr marL="914400" lvl="1" indent="-457200">
                  <a:buFont typeface="+mj-lt"/>
                  <a:buAutoNum type="circleNumDbPlain"/>
                </a:pPr>
                <a:r>
                  <a:rPr lang="zh-CN" altLang="en-US" dirty="0"/>
                  <a:t>在图</a:t>
                </a:r>
                <a:r>
                  <a:rPr lang="en-US" altLang="zh-CN" dirty="0">
                    <a:latin typeface="Cambria Math" panose="02040503050406030204" pitchFamily="18" charset="0"/>
                    <a:ea typeface="Cambria Math" panose="02040503050406030204" pitchFamily="18" charset="0"/>
                  </a:rPr>
                  <a:t>G</a:t>
                </a:r>
                <a:r>
                  <a:rPr lang="zh-CN" altLang="en-US" dirty="0"/>
                  <a:t>的边集中选取权值最小的边，若该边未使生成树</a:t>
                </a:r>
                <a:r>
                  <a:rPr lang="en-US" altLang="zh-CN" dirty="0"/>
                  <a:t>T</a:t>
                </a:r>
                <a:r>
                  <a:rPr lang="zh-CN" altLang="en-US" dirty="0"/>
                  <a:t>形成回路，则加入到</a:t>
                </a:r>
                <a:r>
                  <a:rPr lang="en-US" altLang="zh-CN" dirty="0"/>
                  <a:t>TE</a:t>
                </a:r>
                <a:r>
                  <a:rPr lang="zh-CN" altLang="en-US" dirty="0"/>
                  <a:t>中，否则丢弃，直到生成树中包含了</a:t>
                </a:r>
                <a:r>
                  <a:rPr lang="en-US" altLang="zh-CN" dirty="0"/>
                  <a:t>n-1</a:t>
                </a:r>
                <a:r>
                  <a:rPr lang="zh-CN" altLang="en-US" dirty="0"/>
                  <a:t>条边。</a:t>
                </a:r>
                <a:endParaRPr lang="en-US" altLang="zh-CN" dirty="0"/>
              </a:p>
              <a:p>
                <a:pPr lvl="1"/>
                <a:endParaRPr lang="zh-CN" altLang="en-US" dirty="0"/>
              </a:p>
              <a:p>
                <a:r>
                  <a:rPr lang="en-US" altLang="zh-CN" dirty="0"/>
                  <a:t>Kruskal</a:t>
                </a:r>
                <a:r>
                  <a:rPr lang="zh-CN" altLang="en-US" dirty="0"/>
                  <a:t>算法的执行时间主要取决于图的边数，时间复杂度为</a:t>
                </a:r>
                <a14:m>
                  <m:oMath xmlns:m="http://schemas.openxmlformats.org/officeDocument/2006/math">
                    <m:r>
                      <a:rPr lang="en-US" altLang="zh-CN" sz="2800" i="1" dirty="0" smtClean="0">
                        <a:latin typeface="Cambria Math" panose="02040503050406030204" pitchFamily="18" charset="0"/>
                        <a:ea typeface="Cambria Math" panose="02040503050406030204" pitchFamily="18" charset="0"/>
                        <a:cs typeface="Times New Roman" panose="02020603050405020304" pitchFamily="18" charset="0"/>
                      </a:rPr>
                      <m:t>𝑂</m:t>
                    </m:r>
                    <m:r>
                      <a:rPr lang="en-US" altLang="zh-CN" sz="2800" i="1" dirty="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80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dirty="0">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800" i="1" dirty="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800" i="1" dirty="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dirty="0"/>
                  <a:t>，因此该算法适用于稀疏图的操作。</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309" r="-1388"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6.4.3 Prim</a:t>
            </a:r>
            <a:r>
              <a:rPr lang="zh-CN" altLang="en-US" dirty="0"/>
              <a:t>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1" y="1244600"/>
                <a:ext cx="10876690" cy="4932363"/>
              </a:xfrm>
            </p:spPr>
            <p:txBody>
              <a:bodyPr>
                <a:normAutofit/>
              </a:bodyPr>
              <a:lstStyle/>
              <a:p>
                <a:r>
                  <a:rPr lang="zh-CN" altLang="en-US" dirty="0"/>
                  <a:t>在介绍</a:t>
                </a:r>
                <a:r>
                  <a:rPr lang="en-US" altLang="zh-CN" dirty="0"/>
                  <a:t>Prim</a:t>
                </a:r>
                <a:r>
                  <a:rPr lang="zh-CN" altLang="en-US" dirty="0"/>
                  <a:t>算法之前需要先了解距离的概念。</a:t>
                </a:r>
                <a:endParaRPr lang="en-US" altLang="zh-CN" dirty="0"/>
              </a:p>
              <a:p>
                <a:endParaRPr lang="zh-CN" altLang="en-US" dirty="0"/>
              </a:p>
              <a:p>
                <a:pPr marL="914400" lvl="1" indent="-457200">
                  <a:buFont typeface="+mj-lt"/>
                  <a:buAutoNum type="circleNumDbPlain"/>
                </a:pPr>
                <a:r>
                  <a:rPr lang="zh-CN" altLang="en-US" dirty="0"/>
                  <a:t>两个顶点之间的距离： 将顶点</a:t>
                </a:r>
                <a:r>
                  <a:rPr lang="en-US" altLang="zh-CN" dirty="0"/>
                  <a:t>u</a:t>
                </a:r>
                <a:r>
                  <a:rPr lang="zh-CN" altLang="en-US" dirty="0"/>
                  <a:t>邻接到顶点</a:t>
                </a:r>
                <a:r>
                  <a:rPr lang="en-US" altLang="zh-CN" dirty="0"/>
                  <a:t>v</a:t>
                </a:r>
                <a:r>
                  <a:rPr lang="zh-CN" altLang="en-US" dirty="0"/>
                  <a:t>的关联边的权值，记为</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𝑢</m:t>
                    </m:r>
                    <m:r>
                      <a:rPr lang="en-US" altLang="zh-CN" i="1" dirty="0" err="1">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𝑣</m:t>
                    </m:r>
                    <m:r>
                      <a:rPr lang="en-US" altLang="zh-CN" i="1" dirty="0">
                        <a:latin typeface="Cambria Math" panose="02040503050406030204" pitchFamily="18" charset="0"/>
                        <a:ea typeface="Cambria Math" panose="02040503050406030204" pitchFamily="18" charset="0"/>
                      </a:rPr>
                      <m:t>|</m:t>
                    </m:r>
                  </m:oMath>
                </a14:m>
                <a:r>
                  <a:rPr lang="zh-CN" altLang="en-US" dirty="0"/>
                  <a:t>。若两个顶点之间不相连，则这两个顶点之间的距离为无穷大。</a:t>
                </a:r>
                <a:endParaRPr lang="en-US" altLang="zh-CN" dirty="0"/>
              </a:p>
              <a:p>
                <a:pPr marL="914400" lvl="1" indent="-457200">
                  <a:buFont typeface="+mj-lt"/>
                  <a:buAutoNum type="circleNumDbPlain"/>
                </a:pPr>
                <a:endParaRPr lang="en-US" altLang="zh-CN" dirty="0"/>
              </a:p>
              <a:p>
                <a:pPr marL="914400" lvl="1" indent="-457200">
                  <a:buFont typeface="+mj-lt"/>
                  <a:buAutoNum type="circleNumDbPlain"/>
                </a:pPr>
                <a:r>
                  <a:rPr lang="zh-CN" altLang="en-US" dirty="0"/>
                  <a:t>顶点到顶点集合的距离： 顶点到顶点集合中所有顶点的距离的最小值，记为</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𝑢</m:t>
                    </m:r>
                    <m:r>
                      <a:rPr lang="en-US" altLang="zh-CN" i="1" dirty="0" err="1">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𝑉</m:t>
                    </m:r>
                    <m:r>
                      <a:rPr lang="en-US" altLang="zh-CN" i="1" dirty="0">
                        <a:latin typeface="Cambria Math" panose="02040503050406030204" pitchFamily="18" charset="0"/>
                        <a:ea typeface="Cambria Math" panose="02040503050406030204" pitchFamily="18" charset="0"/>
                      </a:rPr>
                      <m:t>|=</m:t>
                    </m:r>
                    <m:r>
                      <m:rPr>
                        <m:sty m:val="p"/>
                      </m:rPr>
                      <a:rPr lang="en-US" altLang="zh-CN" i="1" dirty="0" err="1">
                        <a:latin typeface="Cambria Math" panose="02040503050406030204" pitchFamily="18" charset="0"/>
                        <a:ea typeface="Cambria Math" panose="02040503050406030204" pitchFamily="18" charset="0"/>
                      </a:rPr>
                      <m:t>min</m:t>
                    </m:r>
                    <m:r>
                      <a:rPr lang="en-US" altLang="zh-CN" i="1" dirty="0" err="1">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𝑢</m:t>
                    </m:r>
                    <m:r>
                      <a:rPr lang="en-US" altLang="zh-CN" i="1" dirty="0" err="1">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𝑣</m:t>
                    </m:r>
                    <m:r>
                      <a:rPr lang="en-US" altLang="zh-CN" i="1" dirty="0">
                        <a:latin typeface="Cambria Math" panose="02040503050406030204" pitchFamily="18" charset="0"/>
                        <a:ea typeface="Cambria Math" panose="02040503050406030204" pitchFamily="18" charset="0"/>
                      </a:rPr>
                      <m:t>|</m:t>
                    </m:r>
                  </m:oMath>
                </a14:m>
                <a:r>
                  <a:rPr lang="zh-CN" altLang="en-US" dirty="0"/>
                  <a:t>。</a:t>
                </a:r>
                <a:endParaRPr lang="en-US" altLang="zh-CN" dirty="0"/>
              </a:p>
              <a:p>
                <a:pPr marL="914400" lvl="1" indent="-457200">
                  <a:buFont typeface="+mj-lt"/>
                  <a:buAutoNum type="circleNumDbPlain"/>
                </a:pPr>
                <a:endParaRPr lang="en-US" altLang="zh-CN" dirty="0"/>
              </a:p>
              <a:p>
                <a:pPr marL="914400" lvl="1" indent="-457200">
                  <a:buFont typeface="+mj-ea"/>
                  <a:buAutoNum type="circleNumDbPlain"/>
                </a:pPr>
                <a:r>
                  <a:rPr lang="zh-CN" altLang="en-US" dirty="0"/>
                  <a:t>两个顶点集合之间的距离： 顶点集合</a:t>
                </a:r>
                <a:r>
                  <a:rPr lang="en-US" altLang="zh-CN" dirty="0"/>
                  <a:t>U</a:t>
                </a:r>
                <a:r>
                  <a:rPr lang="zh-CN" altLang="en-US" dirty="0"/>
                  <a:t>的顶点到顶点集合</a:t>
                </a:r>
                <a:r>
                  <a:rPr lang="en-US" altLang="zh-CN" dirty="0"/>
                  <a:t>V</a:t>
                </a:r>
                <a:r>
                  <a:rPr lang="zh-CN" altLang="en-US" dirty="0"/>
                  <a:t>的距离的最小值，记为</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𝑈</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𝑉</m:t>
                    </m:r>
                    <m:r>
                      <a:rPr lang="en-US" altLang="zh-CN" i="1" dirty="0" smtClean="0">
                        <a:latin typeface="Cambria Math" panose="02040503050406030204" pitchFamily="18" charset="0"/>
                        <a:ea typeface="Cambria Math" panose="02040503050406030204" pitchFamily="18" charset="0"/>
                      </a:rPr>
                      <m:t>|=</m:t>
                    </m:r>
                    <m:r>
                      <m:rPr>
                        <m:sty m:val="p"/>
                      </m:rPr>
                      <a:rPr lang="en-US" altLang="zh-CN" i="1" dirty="0" err="1">
                        <a:latin typeface="Cambria Math" panose="02040503050406030204" pitchFamily="18" charset="0"/>
                        <a:ea typeface="Cambria Math" panose="02040503050406030204" pitchFamily="18" charset="0"/>
                      </a:rPr>
                      <m:t>min</m:t>
                    </m:r>
                    <m:r>
                      <a:rPr lang="en-US" altLang="zh-CN" i="1" dirty="0" err="1">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𝑢</m:t>
                    </m:r>
                    <m:r>
                      <a:rPr lang="en-US" altLang="zh-CN" i="1" dirty="0" err="1">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ea typeface="Cambria Math" panose="02040503050406030204" pitchFamily="18" charset="0"/>
                      </a:rPr>
                      <m:t>𝑉</m:t>
                    </m:r>
                    <m:r>
                      <a:rPr lang="en-US" altLang="zh-CN" i="1" dirty="0">
                        <a:latin typeface="Cambria Math" panose="02040503050406030204" pitchFamily="18" charset="0"/>
                        <a:ea typeface="Cambria Math" panose="02040503050406030204" pitchFamily="18" charset="0"/>
                      </a:rPr>
                      <m:t>|</m:t>
                    </m:r>
                  </m:oMath>
                </a14:m>
                <a:r>
                  <a:rPr lang="zh-CN" altLang="en-US" dirty="0"/>
                  <a:t>。</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1" y="1244600"/>
                <a:ext cx="10876690" cy="4932363"/>
              </a:xfrm>
              <a:blipFill rotWithShape="1">
                <a:blip r:embed="rId1"/>
                <a:stretch>
                  <a:fillRect l="-3" r="-46"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6.4.3 Prim</a:t>
            </a:r>
            <a:r>
              <a:rPr lang="zh-CN" altLang="en-US" dirty="0"/>
              <a:t>算法</a:t>
            </a:r>
            <a:endParaRPr lang="zh-CN" altLang="en-US" dirty="0"/>
          </a:p>
        </p:txBody>
      </p:sp>
      <p:sp>
        <p:nvSpPr>
          <p:cNvPr id="3" name="内容占位符 2"/>
          <p:cNvSpPr>
            <a:spLocks noGrp="1"/>
          </p:cNvSpPr>
          <p:nvPr>
            <p:ph idx="1"/>
          </p:nvPr>
        </p:nvSpPr>
        <p:spPr/>
        <p:txBody>
          <a:bodyPr>
            <a:normAutofit/>
          </a:bodyPr>
          <a:lstStyle/>
          <a:p>
            <a:r>
              <a:rPr lang="zh-CN" altLang="en-US" dirty="0"/>
              <a:t>设图是由</a:t>
            </a:r>
            <a:r>
              <a:rPr lang="en-US" altLang="zh-CN" dirty="0"/>
              <a:t>n</a:t>
            </a:r>
            <a:r>
              <a:rPr lang="zh-CN" altLang="en-US" dirty="0"/>
              <a:t>个顶点组成的连通无向网，是图</a:t>
            </a:r>
            <a:r>
              <a:rPr lang="en-US" altLang="zh-CN" dirty="0"/>
              <a:t>G</a:t>
            </a:r>
            <a:r>
              <a:rPr lang="zh-CN" altLang="en-US" dirty="0"/>
              <a:t>的最小生成树，其中</a:t>
            </a:r>
            <a:r>
              <a:rPr lang="en-US" altLang="zh-CN" dirty="0"/>
              <a:t>V</a:t>
            </a:r>
            <a:r>
              <a:rPr lang="zh-CN" altLang="en-US" dirty="0"/>
              <a:t>是</a:t>
            </a:r>
            <a:r>
              <a:rPr lang="en-US" altLang="zh-CN" dirty="0"/>
              <a:t>T</a:t>
            </a:r>
            <a:r>
              <a:rPr lang="zh-CN" altLang="en-US" dirty="0"/>
              <a:t>的顶点集，</a:t>
            </a:r>
            <a:r>
              <a:rPr lang="en-US" altLang="zh-CN" dirty="0"/>
              <a:t>TE</a:t>
            </a:r>
            <a:r>
              <a:rPr lang="zh-CN" altLang="en-US" dirty="0"/>
              <a:t>是</a:t>
            </a:r>
            <a:r>
              <a:rPr lang="en-US" altLang="zh-CN" dirty="0"/>
              <a:t>T</a:t>
            </a:r>
            <a:r>
              <a:rPr lang="zh-CN" altLang="en-US" dirty="0"/>
              <a:t>的边集，构造最小生成树的步骤为从开始，必存在一条边，使得</a:t>
            </a:r>
            <a:r>
              <a:rPr lang="en-US" altLang="zh-CN" dirty="0"/>
              <a:t>U</a:t>
            </a:r>
            <a:r>
              <a:rPr lang="zh-CN" altLang="en-US" dirty="0"/>
              <a:t>、</a:t>
            </a:r>
            <a:r>
              <a:rPr lang="en-US" altLang="zh-CN" dirty="0"/>
              <a:t>V</a:t>
            </a:r>
            <a:r>
              <a:rPr lang="zh-CN" altLang="en-US" dirty="0"/>
              <a:t>之间的距离最小</a:t>
            </a:r>
            <a:r>
              <a:rPr lang="en-US" altLang="zh-CN" dirty="0"/>
              <a:t>,</a:t>
            </a:r>
            <a:r>
              <a:rPr lang="zh-CN" altLang="en-US" dirty="0"/>
              <a:t>将加入到集合</a:t>
            </a:r>
            <a:r>
              <a:rPr lang="en-US" altLang="zh-CN" dirty="0"/>
              <a:t>TE</a:t>
            </a:r>
            <a:r>
              <a:rPr lang="zh-CN" altLang="en-US" dirty="0"/>
              <a:t>中，同时将顶点加入到顶点集</a:t>
            </a:r>
            <a:r>
              <a:rPr lang="en-US" altLang="zh-CN" dirty="0"/>
              <a:t>U</a:t>
            </a:r>
            <a:r>
              <a:rPr lang="zh-CN" altLang="en-US" dirty="0"/>
              <a:t>中，直到</a:t>
            </a:r>
            <a:r>
              <a:rPr lang="en-US" altLang="zh-CN" dirty="0"/>
              <a:t>U=V</a:t>
            </a:r>
            <a:r>
              <a:rPr lang="zh-CN" altLang="en-US" dirty="0"/>
              <a:t>为止。</a:t>
            </a:r>
            <a:endParaRPr lang="en-US" altLang="zh-CN" dirty="0"/>
          </a:p>
          <a:p>
            <a:endParaRPr lang="zh-CN" altLang="en-US" dirty="0"/>
          </a:p>
          <a:p>
            <a:r>
              <a:rPr lang="zh-CN" altLang="en-US" dirty="0"/>
              <a:t>针对每一个顶点引入分量</a:t>
            </a:r>
            <a:r>
              <a:rPr lang="en-US" altLang="zh-CN" dirty="0" err="1">
                <a:latin typeface="Cascadia Code" panose="020B0609020000020004"/>
              </a:rPr>
              <a:t>closedge</a:t>
            </a:r>
            <a:r>
              <a:rPr lang="en-US" altLang="zh-CN" dirty="0">
                <a:latin typeface="Cascadia Code" panose="020B0609020000020004"/>
              </a:rPr>
              <a:t>[</a:t>
            </a:r>
            <a:r>
              <a:rPr lang="en-US" altLang="zh-CN" dirty="0" err="1">
                <a:latin typeface="Cascadia Code" panose="020B0609020000020004"/>
              </a:rPr>
              <a:t>i</a:t>
            </a:r>
            <a:r>
              <a:rPr lang="en-US" altLang="zh-CN" dirty="0">
                <a:latin typeface="Cascadia Code" panose="020B0609020000020004"/>
              </a:rPr>
              <a:t>]</a:t>
            </a:r>
            <a:r>
              <a:rPr lang="en-US" altLang="zh-CN" dirty="0"/>
              <a:t>,</a:t>
            </a:r>
            <a:r>
              <a:rPr lang="zh-CN" altLang="en-US" dirty="0"/>
              <a:t>它包含两个域，</a:t>
            </a:r>
            <a:r>
              <a:rPr lang="en-US" altLang="zh-CN" dirty="0" err="1">
                <a:latin typeface="Cascadia Code" panose="020B0609020000020004"/>
              </a:rPr>
              <a:t>lowcost</a:t>
            </a:r>
            <a:r>
              <a:rPr lang="zh-CN" altLang="en-US" dirty="0"/>
              <a:t>域存储该边上的权值，即顶点到顶点集</a:t>
            </a:r>
            <a:r>
              <a:rPr lang="en-US" altLang="zh-CN" dirty="0"/>
              <a:t>U</a:t>
            </a:r>
            <a:r>
              <a:rPr lang="zh-CN" altLang="en-US" dirty="0"/>
              <a:t>的距离； </a:t>
            </a:r>
            <a:r>
              <a:rPr lang="en-US" altLang="zh-CN" dirty="0" err="1">
                <a:latin typeface="Cascadia Code" panose="020B0609020000020004"/>
              </a:rPr>
              <a:t>adjvex</a:t>
            </a:r>
            <a:r>
              <a:rPr lang="zh-CN" altLang="en-US" dirty="0"/>
              <a:t>域存储该边在顶点集</a:t>
            </a:r>
            <a:r>
              <a:rPr lang="en-US" altLang="zh-CN" dirty="0"/>
              <a:t>U</a:t>
            </a:r>
            <a:r>
              <a:rPr lang="zh-CN" altLang="en-US" dirty="0"/>
              <a:t>中的顶点。因为集合</a:t>
            </a:r>
            <a:r>
              <a:rPr lang="en-US" altLang="zh-CN" dirty="0"/>
              <a:t>U</a:t>
            </a:r>
            <a:r>
              <a:rPr lang="zh-CN" altLang="en-US" dirty="0"/>
              <a:t>是随着数据元素的加入而逐渐增大的，所以有新的数据元素加入时将</a:t>
            </a:r>
            <a:r>
              <a:rPr lang="en-US" altLang="zh-CN" dirty="0" err="1">
                <a:latin typeface="Cascadia Code" panose="020B0609020000020004"/>
              </a:rPr>
              <a:t>closedge</a:t>
            </a:r>
            <a:r>
              <a:rPr lang="en-US" altLang="zh-CN" dirty="0">
                <a:latin typeface="Cascadia Code" panose="020B0609020000020004"/>
              </a:rPr>
              <a:t>[</a:t>
            </a:r>
            <a:r>
              <a:rPr lang="en-US" altLang="zh-CN" dirty="0" err="1">
                <a:latin typeface="Cascadia Code" panose="020B0609020000020004"/>
              </a:rPr>
              <a:t>i</a:t>
            </a:r>
            <a:r>
              <a:rPr lang="en-US" altLang="zh-CN" dirty="0">
                <a:latin typeface="Cascadia Code" panose="020B0609020000020004"/>
              </a:rPr>
              <a:t>].</a:t>
            </a:r>
            <a:r>
              <a:rPr lang="en-US" altLang="zh-CN" dirty="0" err="1">
                <a:latin typeface="Cascadia Code" panose="020B0609020000020004"/>
              </a:rPr>
              <a:t>lowcost</a:t>
            </a:r>
            <a:r>
              <a:rPr lang="zh-CN" altLang="en-US" dirty="0"/>
              <a:t>与到新的数据元素的距离进行比较即可。</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6.4.3 Prim</a:t>
            </a:r>
            <a:r>
              <a:rPr lang="zh-CN" altLang="en-US" dirty="0"/>
              <a:t>算法</a:t>
            </a:r>
            <a:endParaRPr lang="zh-CN" altLang="en-US" dirty="0"/>
          </a:p>
        </p:txBody>
      </p:sp>
      <p:sp>
        <p:nvSpPr>
          <p:cNvPr id="3" name="内容占位符 2"/>
          <p:cNvSpPr>
            <a:spLocks noGrp="1"/>
          </p:cNvSpPr>
          <p:nvPr>
            <p:ph idx="1"/>
          </p:nvPr>
        </p:nvSpPr>
        <p:spPr/>
        <p:txBody>
          <a:bodyPr>
            <a:normAutofit/>
          </a:bodyPr>
          <a:lstStyle/>
          <a:p>
            <a:pPr marL="82550" indent="457200">
              <a:buNone/>
            </a:pPr>
            <a:r>
              <a:rPr lang="en-US" altLang="zh-CN" sz="2400" dirty="0">
                <a:latin typeface="Times New Roman" panose="02020603050405020304" pitchFamily="18" charset="0"/>
                <a:cs typeface="Times New Roman" panose="02020603050405020304" pitchFamily="18" charset="0"/>
              </a:rPr>
              <a:t>Prim</a:t>
            </a:r>
            <a:r>
              <a:rPr lang="zh-CN" altLang="en-US" sz="2400" dirty="0">
                <a:latin typeface="Times New Roman" panose="02020603050405020304" pitchFamily="18" charset="0"/>
                <a:cs typeface="Times New Roman" panose="02020603050405020304" pitchFamily="18" charset="0"/>
              </a:rPr>
              <a:t>算法构造最小生成树的类描述如下：</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6" name="图片 1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088" y="1753299"/>
            <a:ext cx="5872912" cy="3757748"/>
          </a:xfrm>
          <a:prstGeom prst="rect">
            <a:avLst/>
          </a:prstGeom>
        </p:spPr>
      </p:pic>
      <p:pic>
        <p:nvPicPr>
          <p:cNvPr id="18" name="图片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542" y="1753299"/>
            <a:ext cx="5523812" cy="375774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6.5</a:t>
            </a:r>
            <a:endParaRPr lang="zh-CN" altLang="en-US" dirty="0"/>
          </a:p>
        </p:txBody>
      </p:sp>
      <p:sp>
        <p:nvSpPr>
          <p:cNvPr id="3" name="文本占位符 2"/>
          <p:cNvSpPr>
            <a:spLocks noGrp="1"/>
          </p:cNvSpPr>
          <p:nvPr>
            <p:ph type="body" sz="quarter" idx="11"/>
          </p:nvPr>
        </p:nvSpPr>
        <p:spPr/>
        <p:txBody>
          <a:bodyPr/>
          <a:lstStyle/>
          <a:p>
            <a:r>
              <a:rPr lang="zh-CN" altLang="en-US" sz="4400" dirty="0"/>
              <a:t>最短路径</a:t>
            </a:r>
            <a:endParaRPr lang="zh-CN" altLang="en-US" dirty="0"/>
          </a:p>
        </p:txBody>
      </p:sp>
      <p:sp>
        <p:nvSpPr>
          <p:cNvPr id="4" name="文本占位符 3"/>
          <p:cNvSpPr>
            <a:spLocks noGrp="1"/>
          </p:cNvSpPr>
          <p:nvPr>
            <p:ph type="body" sz="quarter" idx="12"/>
          </p:nvPr>
        </p:nvSpPr>
        <p:spPr>
          <a:xfrm>
            <a:off x="5308599" y="3606800"/>
            <a:ext cx="5952068" cy="1854200"/>
          </a:xfrm>
        </p:spPr>
        <p:txBody>
          <a:bodyPr/>
          <a:lstStyle/>
          <a:p>
            <a:r>
              <a:rPr lang="en-US" altLang="zh-CN" dirty="0"/>
              <a:t>6.5.1 </a:t>
            </a:r>
            <a:r>
              <a:rPr lang="zh-CN" altLang="en-US" dirty="0"/>
              <a:t>单源最短路径</a:t>
            </a:r>
            <a:endParaRPr lang="en-US" altLang="zh-CN" dirty="0"/>
          </a:p>
          <a:p>
            <a:r>
              <a:rPr lang="en-US" altLang="zh-CN" dirty="0"/>
              <a:t>6.5.2 </a:t>
            </a:r>
            <a:r>
              <a:rPr lang="zh-CN" altLang="en-US" dirty="0"/>
              <a:t>求任意两个顶点间的最短路径</a:t>
            </a:r>
            <a:endParaRPr lang="en-US"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最短路径</a:t>
            </a:r>
            <a:endParaRPr lang="zh-CN" altLang="en-US" dirty="0"/>
          </a:p>
        </p:txBody>
      </p:sp>
      <p:sp>
        <p:nvSpPr>
          <p:cNvPr id="3" name="内容占位符 2"/>
          <p:cNvSpPr>
            <a:spLocks noGrp="1"/>
          </p:cNvSpPr>
          <p:nvPr>
            <p:ph idx="1"/>
          </p:nvPr>
        </p:nvSpPr>
        <p:spPr/>
        <p:txBody>
          <a:bodyPr/>
          <a:lstStyle/>
          <a:p>
            <a:r>
              <a:rPr lang="zh-CN" altLang="en-US" dirty="0"/>
              <a:t>最短路径的求解问题主要分为两类，即求某个顶点到其余顶点的最短路径，以及求每一对顶点间的最短路径，本节针对这两类问题提出了两种算法。</a:t>
            </a:r>
            <a:endParaRPr lang="en-US" altLang="zh-CN" dirty="0"/>
          </a:p>
          <a:p>
            <a:pPr marL="914400" lvl="1" indent="-457200">
              <a:buFont typeface="+mj-ea"/>
              <a:buAutoNum type="circleNumDbPlain"/>
            </a:pPr>
            <a:endParaRPr lang="en-US" altLang="zh-CN" dirty="0"/>
          </a:p>
          <a:p>
            <a:pPr marL="914400" lvl="1" indent="-457200">
              <a:buFont typeface="+mj-ea"/>
              <a:buAutoNum type="circleNumDbPlain"/>
            </a:pPr>
            <a:r>
              <a:rPr lang="zh-CN" altLang="en-US" dirty="0"/>
              <a:t>单源最短路径：</a:t>
            </a:r>
            <a:r>
              <a:rPr lang="en-US" altLang="zh-CN" sz="2400" dirty="0">
                <a:latin typeface="Times New Roman" panose="02020603050405020304" pitchFamily="18" charset="0"/>
                <a:cs typeface="Times New Roman" panose="02020603050405020304" pitchFamily="18" charset="0"/>
              </a:rPr>
              <a:t> Dijkstra</a:t>
            </a:r>
            <a:r>
              <a:rPr lang="zh-CN" altLang="en-US" sz="2400" dirty="0">
                <a:latin typeface="Times New Roman" panose="02020603050405020304" pitchFamily="18" charset="0"/>
                <a:cs typeface="Times New Roman" panose="02020603050405020304" pitchFamily="18" charset="0"/>
              </a:rPr>
              <a:t>算法</a:t>
            </a:r>
            <a:endParaRPr lang="en-US" altLang="zh-CN" sz="2400" dirty="0">
              <a:latin typeface="Times New Roman" panose="02020603050405020304" pitchFamily="18" charset="0"/>
              <a:cs typeface="Times New Roman" panose="02020603050405020304" pitchFamily="18" charset="0"/>
            </a:endParaRPr>
          </a:p>
          <a:p>
            <a:pPr marL="914400" lvl="1" indent="-457200">
              <a:buFont typeface="+mj-ea"/>
              <a:buAutoNum type="circleNumDbPlain"/>
            </a:pPr>
            <a:endParaRPr lang="en-US" altLang="zh-CN" dirty="0"/>
          </a:p>
          <a:p>
            <a:pPr marL="914400" lvl="1" indent="-457200">
              <a:buFont typeface="+mj-lt"/>
              <a:buAutoNum type="circleNumDbPlain"/>
            </a:pPr>
            <a:r>
              <a:rPr lang="zh-CN" altLang="en-US" dirty="0"/>
              <a:t>任意两顶点间最短路径：</a:t>
            </a:r>
            <a:r>
              <a:rPr lang="en-US" altLang="zh-CN" dirty="0"/>
              <a:t>Floyd</a:t>
            </a:r>
            <a:r>
              <a:rPr lang="zh-CN" altLang="en-US" dirty="0"/>
              <a:t>算法</a:t>
            </a:r>
            <a:endParaRPr lang="en-US" altLang="zh-CN" dirty="0"/>
          </a:p>
          <a:p>
            <a:pPr marL="914400" lvl="1" indent="-457200">
              <a:buFont typeface="+mj-lt"/>
              <a:buAutoNum type="circleNumDbPlain"/>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6.5.1 </a:t>
            </a:r>
            <a:r>
              <a:rPr lang="zh-CN" altLang="en-US" dirty="0"/>
              <a:t>单源最短路径</a:t>
            </a:r>
            <a:endParaRPr lang="zh-CN" altLang="en-US" dirty="0"/>
          </a:p>
        </p:txBody>
      </p:sp>
      <p:sp>
        <p:nvSpPr>
          <p:cNvPr id="3" name="内容占位符 2"/>
          <p:cNvSpPr>
            <a:spLocks noGrp="1"/>
          </p:cNvSpPr>
          <p:nvPr>
            <p:ph idx="1"/>
          </p:nvPr>
        </p:nvSpPr>
        <p:spPr/>
        <p:txBody>
          <a:bodyPr>
            <a:normAutofit/>
          </a:bodyPr>
          <a:lstStyle/>
          <a:p>
            <a:pPr marL="539750" indent="-457200"/>
            <a:r>
              <a:rPr lang="zh-CN" altLang="en-US" sz="2800" dirty="0">
                <a:latin typeface="Times New Roman" panose="02020603050405020304" pitchFamily="18" charset="0"/>
                <a:cs typeface="Times New Roman" panose="02020603050405020304" pitchFamily="18" charset="0"/>
              </a:rPr>
              <a:t>针对这一最短路径问题本节提出了</a:t>
            </a:r>
            <a:r>
              <a:rPr lang="en-US" altLang="zh-CN" sz="2800" dirty="0">
                <a:latin typeface="Times New Roman" panose="02020603050405020304" pitchFamily="18" charset="0"/>
                <a:cs typeface="Times New Roman" panose="02020603050405020304" pitchFamily="18" charset="0"/>
              </a:rPr>
              <a:t>Dijkstra</a:t>
            </a:r>
            <a:r>
              <a:rPr lang="zh-CN" altLang="en-US" sz="2800" dirty="0">
                <a:latin typeface="Times New Roman" panose="02020603050405020304" pitchFamily="18" charset="0"/>
                <a:cs typeface="Times New Roman" panose="02020603050405020304" pitchFamily="18" charset="0"/>
              </a:rPr>
              <a:t>算法，基本思想是“按最短路径长度递增的次序”产生最短路径。</a:t>
            </a:r>
            <a:endParaRPr lang="zh-CN" altLang="en-US" sz="2800" dirty="0">
              <a:latin typeface="Times New Roman" panose="02020603050405020304" pitchFamily="18" charset="0"/>
              <a:cs typeface="Times New Roman" panose="02020603050405020304" pitchFamily="18" charset="0"/>
            </a:endParaRPr>
          </a:p>
          <a:p>
            <a:pPr marL="539750" indent="-457200"/>
            <a:r>
              <a:rPr lang="zh-CN" altLang="en-US" sz="2800" dirty="0">
                <a:latin typeface="Times New Roman" panose="02020603050405020304" pitchFamily="18" charset="0"/>
                <a:cs typeface="Times New Roman" panose="02020603050405020304" pitchFamily="18" charset="0"/>
              </a:rPr>
              <a:t>若从源点到某个终点存在路径，则一定存在最短路径。从源点到其余各顶点的最短路径长度不一定一样，具有以下特点。 </a:t>
            </a:r>
            <a:endParaRPr lang="zh-CN" altLang="en-US" sz="2800" dirty="0">
              <a:latin typeface="Times New Roman" panose="02020603050405020304" pitchFamily="18" charset="0"/>
              <a:cs typeface="Times New Roman" panose="02020603050405020304" pitchFamily="18" charset="0"/>
            </a:endParaRPr>
          </a:p>
          <a:p>
            <a:pPr marL="996950" lvl="1" indent="-457200">
              <a:buFont typeface="+mj-ea"/>
              <a:buAutoNum type="circleNumDbPlain"/>
            </a:pPr>
            <a:endParaRPr lang="en-US" altLang="zh-CN" dirty="0">
              <a:latin typeface="Times New Roman" panose="02020603050405020304" pitchFamily="18" charset="0"/>
              <a:cs typeface="Times New Roman" panose="02020603050405020304" pitchFamily="18" charset="0"/>
            </a:endParaRPr>
          </a:p>
          <a:p>
            <a:pPr marL="996950" lvl="1" indent="-457200">
              <a:buFont typeface="+mj-ea"/>
              <a:buAutoNum type="circleNumDbPlain"/>
            </a:pPr>
            <a:r>
              <a:rPr lang="zh-CN" altLang="en-US" dirty="0">
                <a:latin typeface="Times New Roman" panose="02020603050405020304" pitchFamily="18" charset="0"/>
                <a:cs typeface="Times New Roman" panose="02020603050405020304" pitchFamily="18" charset="0"/>
              </a:rPr>
              <a:t>在这些最短路径中长度最短的最短路径一定有且仅有一条弧，弧的权值是从源点出发的所有弧的权中的最小值。</a:t>
            </a:r>
            <a:endParaRPr lang="en-US" altLang="zh-CN" dirty="0">
              <a:latin typeface="Times New Roman" panose="02020603050405020304" pitchFamily="18" charset="0"/>
              <a:cs typeface="Times New Roman" panose="02020603050405020304" pitchFamily="18" charset="0"/>
            </a:endParaRPr>
          </a:p>
          <a:p>
            <a:pPr marL="996950" lvl="1" indent="-457200">
              <a:buFont typeface="+mj-ea"/>
              <a:buAutoNum type="circleNumDbPlain"/>
            </a:pPr>
            <a:endParaRPr lang="en-US" altLang="zh-CN" dirty="0">
              <a:latin typeface="Times New Roman" panose="02020603050405020304" pitchFamily="18" charset="0"/>
              <a:cs typeface="Times New Roman" panose="02020603050405020304" pitchFamily="18" charset="0"/>
            </a:endParaRPr>
          </a:p>
          <a:p>
            <a:pPr marL="996950" lvl="1" indent="-457200">
              <a:buFont typeface="+mj-ea"/>
              <a:buAutoNum type="circleNumDbPlain"/>
            </a:pPr>
            <a:r>
              <a:rPr lang="zh-CN" altLang="en-US" dirty="0">
                <a:latin typeface="Times New Roman" panose="02020603050405020304" pitchFamily="18" charset="0"/>
                <a:cs typeface="Times New Roman" panose="02020603050405020304" pitchFamily="18" charset="0"/>
              </a:rPr>
              <a:t>长度次短的最短路径有两种情况： 其一。只包含一条从源点出发的弧，弧上的权值大于已求得最短路径的弧的权值，小于其他从源点出发的弧的权值；其二，一条只经过已求得最短路径的顶点的路径。</a:t>
            </a:r>
            <a:endParaRPr lang="zh-CN" altLang="en-US" dirty="0">
              <a:latin typeface="Times New Roman" panose="02020603050405020304" pitchFamily="18" charset="0"/>
              <a:cs typeface="Times New Roman" panose="02020603050405020304" pitchFamily="18" charset="0"/>
            </a:endParaRPr>
          </a:p>
          <a:p>
            <a:pPr marL="539750" indent="-457200"/>
            <a:endParaRPr lang="zh-CN" altLang="en-US" sz="28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6.5.1 </a:t>
            </a:r>
            <a:r>
              <a:rPr lang="zh-CN" altLang="en-US" dirty="0"/>
              <a:t>单源最短路径</a:t>
            </a:r>
            <a:endParaRPr lang="zh-CN" altLang="en-US" dirty="0"/>
          </a:p>
        </p:txBody>
      </p:sp>
      <p:sp>
        <p:nvSpPr>
          <p:cNvPr id="3" name="内容占位符 2"/>
          <p:cNvSpPr>
            <a:spLocks noGrp="1"/>
          </p:cNvSpPr>
          <p:nvPr>
            <p:ph idx="1"/>
          </p:nvPr>
        </p:nvSpPr>
        <p:spPr/>
        <p:txBody>
          <a:bodyPr>
            <a:normAutofit/>
          </a:bodyPr>
          <a:lstStyle/>
          <a:p>
            <a:pPr marL="539750" indent="-457200">
              <a:lnSpc>
                <a:spcPct val="150000"/>
              </a:lnSpc>
            </a:pPr>
            <a:r>
              <a:rPr lang="zh-CN" altLang="en-US" sz="2400" dirty="0">
                <a:latin typeface="Times New Roman" panose="02020603050405020304" pitchFamily="18" charset="0"/>
                <a:cs typeface="Times New Roman" panose="02020603050405020304" pitchFamily="18" charset="0"/>
              </a:rPr>
              <a:t>算法的主要步骤为保存当前已经得到的从源点到各个其余顶点的最短路径，也就是说，若源点到该顶点有弧，存在一条路径，长度为弧上的权值，每求得一条到达某个顶点的最短路径就需要检查是否存在经过这个顶点的其他路径，若存在，判断其长度是否比当前求得的路径长度短，若是，则修改当前路径。在算法中引入一个辅助向量</a:t>
            </a:r>
            <a:r>
              <a:rPr lang="en-US" altLang="zh-CN" sz="2400" dirty="0">
                <a:latin typeface="Cascadia Code" panose="020B0609020000020004"/>
                <a:cs typeface="Times New Roman" panose="02020603050405020304" pitchFamily="18" charset="0"/>
              </a:rPr>
              <a:t>D</a:t>
            </a:r>
            <a:r>
              <a:rPr lang="zh-CN" altLang="en-US" sz="2400" dirty="0">
                <a:latin typeface="Times New Roman" panose="02020603050405020304" pitchFamily="18" charset="0"/>
                <a:cs typeface="Times New Roman" panose="02020603050405020304" pitchFamily="18" charset="0"/>
              </a:rPr>
              <a:t>，它的每个分量</a:t>
            </a:r>
            <a:r>
              <a:rPr lang="en-US" altLang="zh-CN" sz="2400" dirty="0">
                <a:latin typeface="Cascadia Code" panose="020B0609020000020004"/>
                <a:cs typeface="Times New Roman" panose="02020603050405020304" pitchFamily="18" charset="0"/>
              </a:rPr>
              <a:t>D[</a:t>
            </a:r>
            <a:r>
              <a:rPr lang="en-US" altLang="zh-CN" sz="2400" dirty="0" err="1">
                <a:latin typeface="Cascadia Code" panose="020B0609020000020004"/>
                <a:cs typeface="Times New Roman" panose="02020603050405020304" pitchFamily="18" charset="0"/>
              </a:rPr>
              <a:t>i</a:t>
            </a:r>
            <a:r>
              <a:rPr lang="en-US" altLang="zh-CN" sz="2400" dirty="0">
                <a:latin typeface="Cascadia Code" panose="020B0609020000020004"/>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存放当前所找到的从源点到终点的最短路径长度。</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6.5.1 </a:t>
            </a:r>
            <a:r>
              <a:rPr lang="zh-CN" altLang="en-US" dirty="0"/>
              <a:t>单源最短路径</a:t>
            </a:r>
            <a:endParaRPr lang="zh-CN" altLang="en-US" dirty="0"/>
          </a:p>
        </p:txBody>
      </p:sp>
      <p:sp>
        <p:nvSpPr>
          <p:cNvPr id="3" name="内容占位符 2"/>
          <p:cNvSpPr>
            <a:spLocks noGrp="1"/>
          </p:cNvSpPr>
          <p:nvPr>
            <p:ph idx="1"/>
          </p:nvPr>
        </p:nvSpPr>
        <p:spPr/>
        <p:txBody>
          <a:bodyPr>
            <a:normAutofit/>
          </a:bodyPr>
          <a:lstStyle/>
          <a:p>
            <a:pPr marL="82550" indent="457200">
              <a:buNone/>
            </a:pPr>
            <a:r>
              <a:rPr lang="en-US" altLang="zh-CN" sz="2400" dirty="0">
                <a:latin typeface="Times New Roman" panose="02020603050405020304" pitchFamily="18" charset="0"/>
                <a:cs typeface="Times New Roman" panose="02020603050405020304" pitchFamily="18" charset="0"/>
              </a:rPr>
              <a:t>Dijkstra</a:t>
            </a:r>
            <a:r>
              <a:rPr lang="zh-CN" altLang="en-US" sz="2400" dirty="0">
                <a:latin typeface="Times New Roman" panose="02020603050405020304" pitchFamily="18" charset="0"/>
                <a:cs typeface="Times New Roman" panose="02020603050405020304" pitchFamily="18" charset="0"/>
              </a:rPr>
              <a:t>算法构造最短路径的类</a:t>
            </a:r>
            <a:r>
              <a:rPr lang="en-US" altLang="zh-CN" sz="2400" dirty="0">
                <a:latin typeface="Times New Roman" panose="02020603050405020304" pitchFamily="18" charset="0"/>
                <a:cs typeface="Times New Roman" panose="02020603050405020304" pitchFamily="18" charset="0"/>
              </a:rPr>
              <a:t>Python</a:t>
            </a:r>
            <a:r>
              <a:rPr lang="zh-CN" altLang="en-US" sz="2400" dirty="0">
                <a:latin typeface="Times New Roman" panose="02020603050405020304" pitchFamily="18" charset="0"/>
                <a:cs typeface="Times New Roman" panose="02020603050405020304" pitchFamily="18" charset="0"/>
              </a:rPr>
              <a:t>语言描述如下：</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013" y="1877197"/>
            <a:ext cx="6111719" cy="3830583"/>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7070" y="1867276"/>
            <a:ext cx="5434930" cy="384272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6.5.1 </a:t>
            </a:r>
            <a:r>
              <a:rPr lang="zh-CN" altLang="en-US" dirty="0"/>
              <a:t>单源最短路径</a:t>
            </a:r>
            <a:endParaRPr lang="zh-CN" altLang="en-US" dirty="0"/>
          </a:p>
        </p:txBody>
      </p:sp>
      <p:sp>
        <p:nvSpPr>
          <p:cNvPr id="3" name="内容占位符 2"/>
          <p:cNvSpPr>
            <a:spLocks noGrp="1"/>
          </p:cNvSpPr>
          <p:nvPr>
            <p:ph idx="1"/>
          </p:nvPr>
        </p:nvSpPr>
        <p:spPr/>
        <p:txBody>
          <a:bodyPr>
            <a:normAutofit/>
          </a:bodyPr>
          <a:lstStyle/>
          <a:p>
            <a:pPr marL="82550" indent="457200">
              <a:buNone/>
            </a:pPr>
            <a:r>
              <a:rPr lang="en-US" altLang="zh-CN" sz="2400" dirty="0">
                <a:latin typeface="Times New Roman" panose="02020603050405020304" pitchFamily="18" charset="0"/>
                <a:cs typeface="Times New Roman" panose="02020603050405020304" pitchFamily="18" charset="0"/>
              </a:rPr>
              <a:t>Dijkstra</a:t>
            </a:r>
            <a:r>
              <a:rPr lang="zh-CN" altLang="en-US" sz="2400" dirty="0">
                <a:latin typeface="Times New Roman" panose="02020603050405020304" pitchFamily="18" charset="0"/>
                <a:cs typeface="Times New Roman" panose="02020603050405020304" pitchFamily="18" charset="0"/>
              </a:rPr>
              <a:t>算法构造最短路径的类</a:t>
            </a:r>
            <a:r>
              <a:rPr lang="en-US" altLang="zh-CN" sz="2400" dirty="0">
                <a:latin typeface="Times New Roman" panose="02020603050405020304" pitchFamily="18" charset="0"/>
                <a:cs typeface="Times New Roman" panose="02020603050405020304" pitchFamily="18" charset="0"/>
              </a:rPr>
              <a:t>Python</a:t>
            </a:r>
            <a:r>
              <a:rPr lang="zh-CN" altLang="en-US" sz="2400" dirty="0">
                <a:latin typeface="Times New Roman" panose="02020603050405020304" pitchFamily="18" charset="0"/>
                <a:cs typeface="Times New Roman" panose="02020603050405020304" pitchFamily="18" charset="0"/>
              </a:rPr>
              <a:t>语言描述如下：</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3554" y="1799546"/>
            <a:ext cx="7344691" cy="3822469"/>
          </a:xfrm>
          <a:prstGeom prst="rect">
            <a:avLst/>
          </a:prstGeom>
        </p:spPr>
      </p:pic>
      <mc:AlternateContent xmlns:mc="http://schemas.openxmlformats.org/markup-compatibility/2006">
        <mc:Choice xmlns:a14="http://schemas.microsoft.com/office/drawing/2010/main" Requires="a14">
          <p:sp>
            <p:nvSpPr>
              <p:cNvPr id="14" name="文本框 13"/>
              <p:cNvSpPr txBox="1"/>
              <p:nvPr/>
            </p:nvSpPr>
            <p:spPr>
              <a:xfrm>
                <a:off x="8229600" y="1895084"/>
                <a:ext cx="3558447" cy="2677656"/>
              </a:xfrm>
              <a:prstGeom prst="rect">
                <a:avLst/>
              </a:prstGeom>
              <a:noFill/>
            </p:spPr>
            <p:txBody>
              <a:bodyPr wrap="square">
                <a:spAutoFit/>
              </a:bodyPr>
              <a:lstStyle/>
              <a:p>
                <a:r>
                  <a:rPr lang="zh-CN" altLang="en-US" sz="2400" dirty="0"/>
                  <a:t>分析可得，</a:t>
                </a:r>
                <a:r>
                  <a:rPr lang="en-US" altLang="zh-CN" sz="2400" dirty="0"/>
                  <a:t>Dijkstra</a:t>
                </a:r>
                <a:r>
                  <a:rPr lang="zh-CN" altLang="en-US" sz="2400" dirty="0"/>
                  <a:t>算法的时间复杂度为</a:t>
                </a:r>
                <a:r>
                  <a:rPr lang="en-US" altLang="zh-CN" sz="2400" dirty="0">
                    <a:latin typeface="Cambria Math" panose="02040503050406030204" pitchFamily="18" charset="0"/>
                    <a:ea typeface="Cambria Math" panose="02040503050406030204" pitchFamily="18" charset="0"/>
                    <a:cs typeface="Times New Roman" panose="02020603050405020304" pitchFamily="18" charset="0"/>
                  </a:rPr>
                  <a:t>O(</a:t>
                </a:r>
                <a14:m>
                  <m:oMath xmlns:m="http://schemas.openxmlformats.org/officeDocument/2006/math">
                    <m:sSup>
                      <m:sSupPr>
                        <m:ctrlPr>
                          <a:rPr lang="en-US" altLang="zh-CN" sz="240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dirty="0">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400" i="1" dirty="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altLang="zh-CN" sz="24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400" dirty="0"/>
                  <a:t>，并且找到一条从源点到某一特定终点之间的最短路径，和求从源点到各个终点的最短路径一样复杂，时间复杂度也为</a:t>
                </a:r>
                <a:r>
                  <a:rPr lang="en-US" altLang="zh-CN" sz="2400" dirty="0">
                    <a:latin typeface="Cambria Math" panose="02040503050406030204" pitchFamily="18" charset="0"/>
                    <a:ea typeface="Cambria Math" panose="02040503050406030204" pitchFamily="18" charset="0"/>
                    <a:cs typeface="Times New Roman" panose="02020603050405020304" pitchFamily="18" charset="0"/>
                  </a:rPr>
                  <a:t>O(</a:t>
                </a:r>
                <a14:m>
                  <m:oMath xmlns:m="http://schemas.openxmlformats.org/officeDocument/2006/math">
                    <m:sSup>
                      <m:sSupPr>
                        <m:ctrlPr>
                          <a:rPr lang="en-US" altLang="zh-CN" sz="24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dirty="0">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400" i="1" dirty="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altLang="zh-CN" sz="24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400" dirty="0"/>
                  <a:t>。</a:t>
                </a:r>
                <a:endParaRPr lang="zh-CN" altLang="en-US" sz="2400" dirty="0"/>
              </a:p>
            </p:txBody>
          </p:sp>
        </mc:Choice>
        <mc:Fallback>
          <p:sp>
            <p:nvSpPr>
              <p:cNvPr id="14" name="文本框 13"/>
              <p:cNvSpPr txBox="1">
                <a:spLocks noRot="1" noChangeAspect="1" noMove="1" noResize="1" noEditPoints="1" noAdjustHandles="1" noChangeArrowheads="1" noChangeShapeType="1" noTextEdit="1"/>
              </p:cNvSpPr>
              <p:nvPr/>
            </p:nvSpPr>
            <p:spPr>
              <a:xfrm>
                <a:off x="8229600" y="1895084"/>
                <a:ext cx="3558447" cy="2677656"/>
              </a:xfrm>
              <a:prstGeom prst="rect">
                <a:avLst/>
              </a:prstGeom>
              <a:blipFill rotWithShape="1">
                <a:blip r:embed="rId2"/>
                <a:stretch>
                  <a:fillRect t="-9" r="15" b="4"/>
                </a:stretch>
              </a:blipFill>
            </p:spPr>
            <p:txBody>
              <a:bodyPr/>
              <a:lstStyle/>
              <a:p>
                <a:r>
                  <a:rPr lang="zh-CN" alt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fontScale="90000"/>
          </a:bodyPr>
          <a:lstStyle/>
          <a:p>
            <a:r>
              <a:rPr lang="en-US" altLang="zh-CN" dirty="0">
                <a:sym typeface="+mn-ea"/>
              </a:rPr>
              <a:t>6.5.1 </a:t>
            </a:r>
            <a:r>
              <a:rPr lang="zh-CN" altLang="en-US" dirty="0">
                <a:sym typeface="+mn-ea"/>
              </a:rPr>
              <a:t>单源最短路径</a:t>
            </a:r>
            <a:endParaRPr lang="zh-CN" altLang="en-US" dirty="0"/>
          </a:p>
        </p:txBody>
      </p:sp>
      <p:sp>
        <p:nvSpPr>
          <p:cNvPr id="3" name="内容占位符 2"/>
          <p:cNvSpPr>
            <a:spLocks noGrp="1"/>
          </p:cNvSpPr>
          <p:nvPr>
            <p:ph sz="half" idx="1"/>
          </p:nvPr>
        </p:nvSpPr>
        <p:spPr>
          <a:xfrm>
            <a:off x="180000" y="1241118"/>
            <a:ext cx="11833200" cy="4935845"/>
          </a:xfrm>
        </p:spPr>
        <p:txBody>
          <a:bodyPr>
            <a:normAutofit/>
          </a:bodyPr>
          <a:lstStyle/>
          <a:p>
            <a:r>
              <a:rPr lang="en-US" altLang="zh-CN" b="1" dirty="0"/>
              <a:t>【</a:t>
            </a:r>
            <a:r>
              <a:rPr lang="zh-CN" altLang="en-US" b="1" dirty="0"/>
              <a:t>例</a:t>
            </a:r>
            <a:r>
              <a:rPr lang="en-US" altLang="zh-CN" b="1" dirty="0"/>
              <a:t>6.5】</a:t>
            </a:r>
            <a:r>
              <a:rPr lang="zh-CN" altLang="en-US" b="1" dirty="0"/>
              <a:t>假设有如图所示的有向网图，利用</a:t>
            </a:r>
            <a:r>
              <a:rPr lang="en-US" altLang="zh-CN" b="1" dirty="0"/>
              <a:t>Dijkstra</a:t>
            </a:r>
            <a:r>
              <a:rPr lang="zh-CN" altLang="en-US" b="1" dirty="0"/>
              <a:t>算法求从顶点</a:t>
            </a:r>
            <a:r>
              <a:rPr lang="en-US" altLang="zh-CN" b="1" dirty="0"/>
              <a:t>v1</a:t>
            </a:r>
            <a:r>
              <a:rPr lang="zh-CN" altLang="en-US" b="1" dirty="0"/>
              <a:t>到其他各顶点的最短路径。</a:t>
            </a:r>
            <a:endParaRPr lang="en-US" altLang="zh-CN" b="1" dirty="0"/>
          </a:p>
        </p:txBody>
      </p:sp>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309150" y="2049471"/>
            <a:ext cx="5573700" cy="3733382"/>
          </a:xfrm>
          <a:prstGeom prst="rect">
            <a:avLst/>
          </a:prstGeom>
          <a:noFill/>
          <a:ln>
            <a:noFill/>
          </a:ln>
        </p:spPr>
      </p:pic>
      <p:sp>
        <p:nvSpPr>
          <p:cNvPr id="10" name="文本框 9"/>
          <p:cNvSpPr txBox="1"/>
          <p:nvPr/>
        </p:nvSpPr>
        <p:spPr>
          <a:xfrm>
            <a:off x="5547323" y="5912353"/>
            <a:ext cx="6100548"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有向网图</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wrap="square" anchor="ctr">
            <a:normAutofit/>
          </a:bodyPr>
          <a:lstStyle/>
          <a:p>
            <a:r>
              <a:rPr lang="en-US" altLang="zh-CN" dirty="0"/>
              <a:t>6.3 </a:t>
            </a:r>
            <a:r>
              <a:rPr lang="zh-CN" altLang="en-US" dirty="0"/>
              <a:t>图的遍历</a:t>
            </a:r>
            <a:endParaRPr lang="zh-CN" altLang="en-US" dirty="0"/>
          </a:p>
        </p:txBody>
      </p:sp>
      <p:sp>
        <p:nvSpPr>
          <p:cNvPr id="3" name="内容占位符 2"/>
          <p:cNvSpPr>
            <a:spLocks noGrp="1"/>
          </p:cNvSpPr>
          <p:nvPr>
            <p:ph sz="half" idx="1"/>
          </p:nvPr>
        </p:nvSpPr>
        <p:spPr>
          <a:xfrm>
            <a:off x="180000" y="1241118"/>
            <a:ext cx="11833200" cy="4935845"/>
          </a:xfrm>
        </p:spPr>
        <p:txBody>
          <a:bodyPr>
            <a:normAutofit/>
          </a:bodyPr>
          <a:lstStyle/>
          <a:p>
            <a:r>
              <a:rPr lang="en-US" altLang="zh-CN" b="1" dirty="0"/>
              <a:t>【</a:t>
            </a:r>
            <a:r>
              <a:rPr lang="zh-CN" altLang="en-US" b="1" dirty="0"/>
              <a:t>例</a:t>
            </a:r>
            <a:r>
              <a:rPr lang="en-US" altLang="zh-CN" b="1" dirty="0"/>
              <a:t>6.5】</a:t>
            </a:r>
            <a:r>
              <a:rPr lang="zh-CN" altLang="en-US" b="1" dirty="0"/>
              <a:t>假设有如图所示的有向网图，利用</a:t>
            </a:r>
            <a:r>
              <a:rPr lang="en-US" altLang="zh-CN" b="1" dirty="0"/>
              <a:t>Dijkstra</a:t>
            </a:r>
            <a:r>
              <a:rPr lang="zh-CN" altLang="en-US" b="1" dirty="0"/>
              <a:t>算法求从顶点</a:t>
            </a:r>
            <a:r>
              <a:rPr lang="en-US" altLang="zh-CN" b="1" dirty="0"/>
              <a:t>v1</a:t>
            </a:r>
            <a:r>
              <a:rPr lang="zh-CN" altLang="en-US" b="1" dirty="0"/>
              <a:t>到其他各顶点的最短路径。</a:t>
            </a:r>
            <a:endParaRPr lang="en-US" altLang="zh-CN" b="1" dirty="0"/>
          </a:p>
          <a:p>
            <a:r>
              <a:rPr lang="zh-CN" altLang="en-US" dirty="0"/>
              <a:t>解：从源点</a:t>
            </a:r>
            <a:r>
              <a:rPr lang="en-US" altLang="zh-CN" dirty="0"/>
              <a:t>v1</a:t>
            </a:r>
            <a:r>
              <a:rPr lang="zh-CN" altLang="en-US" dirty="0"/>
              <a:t>到其他各顶点的最短路径如表所示。</a:t>
            </a:r>
            <a:endParaRPr lang="en-US" altLang="zh-CN" dirty="0"/>
          </a:p>
          <a:p>
            <a:endParaRPr lang="en-US" altLang="zh-CN" dirty="0"/>
          </a:p>
        </p:txBody>
      </p:sp>
      <p:sp>
        <p:nvSpPr>
          <p:cNvPr id="4" name="灯片编号占位符 3"/>
          <p:cNvSpPr>
            <a:spLocks noGrp="1"/>
          </p:cNvSpPr>
          <p:nvPr>
            <p:ph type="sldNum" sz="quarter" idx="12"/>
          </p:nvPr>
        </p:nvSpPr>
        <p:spPr>
          <a:xfrm>
            <a:off x="9270000" y="6356349"/>
            <a:ext cx="2743200" cy="365125"/>
          </a:xfrm>
        </p:spPr>
        <p:txBody>
          <a:bodyPr anchor="ctr">
            <a:normAutofit/>
          </a:bodyPr>
          <a:lstStyle/>
          <a:p>
            <a:pPr>
              <a:spcAft>
                <a:spcPts val="600"/>
              </a:spcAft>
            </a:pPr>
            <a:fld id="{D96DE7E8-BD74-40B2-922D-194240FC5D5C}" type="slidenum">
              <a:rPr lang="zh-CN" altLang="en-US" smtClean="0"/>
            </a:fld>
            <a:endParaRPr lang="zh-CN" altLang="en-US"/>
          </a:p>
        </p:txBody>
      </p:sp>
      <p:graphicFrame>
        <p:nvGraphicFramePr>
          <p:cNvPr id="6" name="表格 5"/>
          <p:cNvGraphicFramePr>
            <a:graphicFrameLocks noGrp="1"/>
          </p:cNvGraphicFramePr>
          <p:nvPr/>
        </p:nvGraphicFramePr>
        <p:xfrm>
          <a:off x="1940256" y="2870390"/>
          <a:ext cx="8311488" cy="2570922"/>
        </p:xfrm>
        <a:graphic>
          <a:graphicData uri="http://schemas.openxmlformats.org/drawingml/2006/table">
            <a:tbl>
              <a:tblPr firstRow="1" firstCol="1" bandRow="1"/>
              <a:tblGrid>
                <a:gridCol w="2077872"/>
                <a:gridCol w="2077872"/>
                <a:gridCol w="2077872"/>
                <a:gridCol w="2077872"/>
              </a:tblGrid>
              <a:tr h="428487">
                <a:tc>
                  <a:txBody>
                    <a:bodyPr/>
                    <a:lstStyle/>
                    <a:p>
                      <a:pPr algn="ctr"/>
                      <a:r>
                        <a:rPr lang="zh-CN" sz="2400"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rPr>
                        <a:t>源点</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400"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rPr>
                        <a:t>终点</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400"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rPr>
                        <a:t>最短路径</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2400"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rPr>
                        <a:t>最短路径长度</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2435">
                <a:tc>
                  <a:txBody>
                    <a:bodyPr/>
                    <a:lstStyle/>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 </a:t>
                      </a: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lang="en-US" sz="2400" kern="100" baseline="-25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ctr"/>
                      <a:r>
                        <a:rPr lang="en-US"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4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6.5.2 </a:t>
            </a:r>
            <a:r>
              <a:rPr lang="zh-CN" altLang="en-US" dirty="0"/>
              <a:t>求任意两个顶点间的最短路径</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algn="just">
                  <a:lnSpc>
                    <a:spcPct val="150000"/>
                  </a:lnSpc>
                  <a:spcBef>
                    <a:spcPts val="0"/>
                  </a:spcBef>
                </a:pPr>
                <a:r>
                  <a:rPr lang="zh-CN" altLang="en-US" sz="2400" dirty="0">
                    <a:effectLst/>
                    <a:latin typeface="+mn-ea"/>
                    <a:cs typeface="宋体" panose="02010600030101010101" pitchFamily="2" charset="-122"/>
                  </a:rPr>
                  <a:t>求任意两个顶点间的最短路径，如果使用</a:t>
                </a:r>
                <a:r>
                  <a:rPr lang="en-US" altLang="zh-CN" sz="2400" dirty="0">
                    <a:effectLst/>
                    <a:latin typeface="Cambria" panose="02040503050406030204" pitchFamily="18" charset="0"/>
                    <a:ea typeface="Cambria" panose="02040503050406030204" pitchFamily="18" charset="0"/>
                    <a:cs typeface="宋体" panose="02010600030101010101" pitchFamily="2" charset="-122"/>
                  </a:rPr>
                  <a:t>Dijkstra</a:t>
                </a:r>
                <a:r>
                  <a:rPr lang="zh-CN" altLang="en-US" sz="2400" dirty="0">
                    <a:effectLst/>
                    <a:latin typeface="+mn-ea"/>
                    <a:cs typeface="宋体" panose="02010600030101010101" pitchFamily="2" charset="-122"/>
                  </a:rPr>
                  <a:t>算法，可以依次将顶点设为源点，调用算法</a:t>
                </a:r>
                <a:r>
                  <a:rPr lang="en-US" altLang="zh-CN" sz="2400" dirty="0">
                    <a:effectLst/>
                    <a:latin typeface="+mn-ea"/>
                    <a:cs typeface="宋体" panose="02010600030101010101" pitchFamily="2" charset="-122"/>
                  </a:rPr>
                  <a:t>n</a:t>
                </a:r>
                <a:r>
                  <a:rPr lang="zh-CN" altLang="en-US" sz="2400" dirty="0">
                    <a:effectLst/>
                    <a:latin typeface="+mn-ea"/>
                    <a:cs typeface="宋体" panose="02010600030101010101" pitchFamily="2" charset="-122"/>
                  </a:rPr>
                  <a:t>次即可求得，时间复杂度为</a:t>
                </a:r>
                <a14:m>
                  <m:oMath xmlns:m="http://schemas.openxmlformats.org/officeDocument/2006/math">
                    <m:r>
                      <a:rPr lang="en-US" altLang="zh-CN" sz="2400" i="1" kern="100" dirty="0" smtClean="0">
                        <a:effectLst/>
                        <a:latin typeface="Cambria Math" panose="02040503050406030204" pitchFamily="18" charset="0"/>
                        <a:ea typeface="Cambria Math" panose="02040503050406030204" pitchFamily="18" charset="0"/>
                        <a:cs typeface="Times New Roman" panose="02020603050405020304" pitchFamily="18" charset="0"/>
                      </a:rPr>
                      <m:t>𝑂</m:t>
                    </m:r>
                    <m:r>
                      <a:rPr lang="en-US" altLang="zh-CN" sz="2400" i="1" kern="100"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dirty="0">
                        <a:effectLst/>
                        <a:latin typeface="Cambria Math" panose="02040503050406030204" pitchFamily="18" charset="0"/>
                        <a:ea typeface="Cambria Math" panose="02040503050406030204" pitchFamily="18" charset="0"/>
                        <a:cs typeface="Times New Roman" panose="02020603050405020304" pitchFamily="18" charset="0"/>
                      </a:rPr>
                      <m:t>𝑛</m:t>
                    </m:r>
                    <m:r>
                      <a:rPr lang="en-US" altLang="zh-CN" sz="2400" i="1" kern="100" baseline="30000" dirty="0">
                        <a:effectLst/>
                        <a:latin typeface="Cambria Math" panose="02040503050406030204" pitchFamily="18" charset="0"/>
                        <a:ea typeface="Cambria Math" panose="02040503050406030204" pitchFamily="18" charset="0"/>
                        <a:cs typeface="Times New Roman" panose="02020603050405020304" pitchFamily="18" charset="0"/>
                      </a:rPr>
                      <m:t>3</m:t>
                    </m:r>
                    <m:r>
                      <a:rPr lang="en-US" altLang="zh-CN" sz="2400" i="1" kern="100" dirty="0">
                        <a:effectLst/>
                        <a:latin typeface="Cambria Math" panose="02040503050406030204" pitchFamily="18" charset="0"/>
                        <a:cs typeface="Times New Roman" panose="02020603050405020304" pitchFamily="18" charset="0"/>
                      </a:rPr>
                      <m:t>)</m:t>
                    </m:r>
                  </m:oMath>
                </a14:m>
                <a:r>
                  <a:rPr lang="zh-CN" altLang="en-US" sz="2400" dirty="0">
                    <a:effectLst/>
                    <a:latin typeface="+mn-ea"/>
                    <a:cs typeface="宋体" panose="02010600030101010101" pitchFamily="2" charset="-122"/>
                  </a:rPr>
                  <a:t>。本节讲解了算法形式更为简单的</a:t>
                </a:r>
                <a:r>
                  <a:rPr lang="en-US" altLang="zh-CN" sz="2400" dirty="0">
                    <a:effectLst/>
                    <a:latin typeface="Cambria" panose="02040503050406030204" pitchFamily="18" charset="0"/>
                    <a:ea typeface="Cambria" panose="02040503050406030204" pitchFamily="18" charset="0"/>
                    <a:cs typeface="宋体" panose="02010600030101010101" pitchFamily="2" charset="-122"/>
                  </a:rPr>
                  <a:t>Floyd</a:t>
                </a:r>
                <a:r>
                  <a:rPr lang="zh-CN" altLang="en-US" sz="2400" dirty="0">
                    <a:effectLst/>
                    <a:latin typeface="+mn-ea"/>
                    <a:cs typeface="宋体" panose="02010600030101010101" pitchFamily="2" charset="-122"/>
                  </a:rPr>
                  <a:t>算法，时间复杂度也为</a:t>
                </a:r>
                <a14:m>
                  <m:oMath xmlns:m="http://schemas.openxmlformats.org/officeDocument/2006/math">
                    <m:r>
                      <a:rPr lang="en-US" altLang="zh-CN" sz="2400" i="1" kern="100" dirty="0" smtClean="0">
                        <a:effectLst/>
                        <a:latin typeface="Cambria Math" panose="02040503050406030204" pitchFamily="18" charset="0"/>
                        <a:ea typeface="Cambria Math" panose="02040503050406030204" pitchFamily="18" charset="0"/>
                        <a:cs typeface="Times New Roman" panose="02020603050405020304" pitchFamily="18" charset="0"/>
                      </a:rPr>
                      <m:t>𝑂</m:t>
                    </m:r>
                    <m:r>
                      <a:rPr lang="en-US" altLang="zh-CN" sz="2400" i="1" kern="100"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dirty="0">
                        <a:effectLst/>
                        <a:latin typeface="Cambria Math" panose="02040503050406030204" pitchFamily="18" charset="0"/>
                        <a:ea typeface="Cambria Math" panose="02040503050406030204" pitchFamily="18" charset="0"/>
                        <a:cs typeface="Times New Roman" panose="02020603050405020304" pitchFamily="18" charset="0"/>
                      </a:rPr>
                      <m:t>𝑛</m:t>
                    </m:r>
                    <m:r>
                      <a:rPr lang="en-US" altLang="zh-CN" sz="2400" i="1" kern="100" baseline="30000" dirty="0">
                        <a:effectLst/>
                        <a:latin typeface="Cambria Math" panose="02040503050406030204" pitchFamily="18" charset="0"/>
                        <a:ea typeface="Cambria Math" panose="02040503050406030204" pitchFamily="18" charset="0"/>
                        <a:cs typeface="Times New Roman" panose="02020603050405020304" pitchFamily="18" charset="0"/>
                      </a:rPr>
                      <m:t>3</m:t>
                    </m:r>
                    <m:r>
                      <a:rPr lang="en-US" altLang="zh-CN" sz="2400" i="1" kern="100" dirty="0">
                        <a:effectLst/>
                        <a:latin typeface="Cambria Math" panose="02040503050406030204" pitchFamily="18" charset="0"/>
                        <a:cs typeface="Times New Roman" panose="02020603050405020304" pitchFamily="18" charset="0"/>
                      </a:rPr>
                      <m:t>)</m:t>
                    </m:r>
                  </m:oMath>
                </a14:m>
                <a:r>
                  <a:rPr lang="zh-CN" altLang="en-US" sz="2400" dirty="0">
                    <a:effectLst/>
                    <a:latin typeface="+mn-ea"/>
                    <a:cs typeface="宋体" panose="02010600030101010101" pitchFamily="2" charset="-122"/>
                  </a:rPr>
                  <a:t>。用户可以用</a:t>
                </a:r>
                <a:r>
                  <a:rPr lang="en-US" altLang="zh-CN" sz="2400" dirty="0">
                    <a:effectLst/>
                    <a:latin typeface="+mn-ea"/>
                    <a:cs typeface="宋体" panose="02010600030101010101" pitchFamily="2" charset="-122"/>
                  </a:rPr>
                  <a:t>n</a:t>
                </a:r>
                <a:r>
                  <a:rPr lang="zh-CN" altLang="en-US" sz="2400" dirty="0">
                    <a:effectLst/>
                    <a:latin typeface="+mn-ea"/>
                    <a:cs typeface="宋体" panose="02010600030101010101" pitchFamily="2" charset="-122"/>
                  </a:rPr>
                  <a:t>阶方阵序列来描述</a:t>
                </a:r>
                <a:r>
                  <a:rPr lang="en-US" altLang="zh-CN" sz="2400" dirty="0">
                    <a:latin typeface="Cambria" panose="02040503050406030204" pitchFamily="18" charset="0"/>
                    <a:ea typeface="Cambria" panose="02040503050406030204" pitchFamily="18" charset="0"/>
                  </a:rPr>
                  <a:t>Floyd</a:t>
                </a:r>
                <a:r>
                  <a:rPr lang="zh-CN" altLang="en-US" sz="2400" dirty="0">
                    <a:effectLst/>
                    <a:latin typeface="+mn-ea"/>
                    <a:cs typeface="宋体" panose="02010600030101010101" pitchFamily="2" charset="-122"/>
                  </a:rPr>
                  <a:t>算法，其中</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D</a:t>
                </a:r>
                <a:r>
                  <a:rPr lang="en-US" altLang="zh-CN" sz="2400" kern="100" baseline="30000" dirty="0">
                    <a:effectLst/>
                    <a:latin typeface="Cambria Math" panose="02040503050406030204" pitchFamily="18" charset="0"/>
                    <a:ea typeface="Cambria Math" panose="02040503050406030204" pitchFamily="18" charset="0"/>
                    <a:cs typeface="Times New Roman" panose="02020603050405020304" pitchFamily="18" charset="0"/>
                  </a:rPr>
                  <a:t>-1</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kern="100" dirty="0" err="1">
                    <a:effectLst/>
                    <a:latin typeface="Cambria Math" panose="02040503050406030204" pitchFamily="18" charset="0"/>
                    <a:ea typeface="Cambria Math" panose="02040503050406030204" pitchFamily="18" charset="0"/>
                    <a:cs typeface="Times New Roman" panose="02020603050405020304" pitchFamily="18" charset="0"/>
                  </a:rPr>
                  <a:t>i</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][j]</a:t>
                </a:r>
                <a:r>
                  <a:rPr lang="zh-CN" altLang="en-US" sz="2400" dirty="0">
                    <a:effectLst/>
                    <a:latin typeface="+mn-ea"/>
                    <a:cs typeface="宋体" panose="02010600030101010101" pitchFamily="2" charset="-122"/>
                  </a:rPr>
                  <a:t>表示从顶点出发不经过其他顶点直接到达顶点的路径长度，即</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D</a:t>
                </a:r>
                <a:r>
                  <a:rPr lang="en-US" altLang="zh-CN" sz="2400" kern="100" baseline="30000" dirty="0">
                    <a:effectLst/>
                    <a:latin typeface="Cambria Math" panose="02040503050406030204" pitchFamily="18" charset="0"/>
                    <a:ea typeface="Cambria Math" panose="02040503050406030204" pitchFamily="18" charset="0"/>
                    <a:cs typeface="Times New Roman" panose="02020603050405020304" pitchFamily="18" charset="0"/>
                  </a:rPr>
                  <a:t>-1</a:t>
                </a:r>
                <a:r>
                  <a:rPr lang="en-US" altLang="zh-CN" sz="2400" dirty="0">
                    <a:effectLst/>
                    <a:latin typeface="Cambria Math" panose="02040503050406030204" pitchFamily="18" charset="0"/>
                    <a:ea typeface="Cambria Math" panose="02040503050406030204" pitchFamily="18" charset="0"/>
                    <a:cs typeface="宋体" panose="02010600030101010101" pitchFamily="2" charset="-122"/>
                  </a:rPr>
                  <a:t>[</a:t>
                </a:r>
                <a:r>
                  <a:rPr lang="en-US" altLang="zh-CN" sz="2400" dirty="0" err="1">
                    <a:effectLst/>
                    <a:latin typeface="Cambria Math" panose="02040503050406030204" pitchFamily="18" charset="0"/>
                    <a:ea typeface="Cambria Math" panose="02040503050406030204" pitchFamily="18" charset="0"/>
                    <a:cs typeface="宋体" panose="02010600030101010101" pitchFamily="2" charset="-122"/>
                  </a:rPr>
                  <a:t>i</a:t>
                </a:r>
                <a:r>
                  <a:rPr lang="en-US" altLang="zh-CN" sz="2400" dirty="0">
                    <a:effectLst/>
                    <a:latin typeface="Cambria Math" panose="02040503050406030204" pitchFamily="18" charset="0"/>
                    <a:ea typeface="Cambria Math" panose="02040503050406030204" pitchFamily="18" charset="0"/>
                    <a:cs typeface="宋体" panose="02010600030101010101" pitchFamily="2" charset="-122"/>
                  </a:rPr>
                  <a:t>][j]=</a:t>
                </a:r>
                <a:r>
                  <a:rPr lang="en-US" altLang="zh-CN" sz="2400" dirty="0" err="1">
                    <a:effectLst/>
                    <a:latin typeface="Cambria Math" panose="02040503050406030204" pitchFamily="18" charset="0"/>
                    <a:ea typeface="Cambria Math" panose="02040503050406030204" pitchFamily="18" charset="0"/>
                    <a:cs typeface="宋体" panose="02010600030101010101" pitchFamily="2" charset="-122"/>
                  </a:rPr>
                  <a:t>G.arcs</a:t>
                </a:r>
                <a:r>
                  <a:rPr lang="en-US" altLang="zh-CN" sz="2400" dirty="0">
                    <a:effectLst/>
                    <a:latin typeface="Cambria Math" panose="02040503050406030204" pitchFamily="18" charset="0"/>
                    <a:ea typeface="Cambria Math" panose="02040503050406030204" pitchFamily="18" charset="0"/>
                    <a:cs typeface="宋体" panose="02010600030101010101" pitchFamily="2" charset="-122"/>
                  </a:rPr>
                  <a:t>[</a:t>
                </a:r>
                <a:r>
                  <a:rPr lang="en-US" altLang="zh-CN" sz="2400" dirty="0" err="1">
                    <a:effectLst/>
                    <a:latin typeface="Cambria Math" panose="02040503050406030204" pitchFamily="18" charset="0"/>
                    <a:ea typeface="Cambria Math" panose="02040503050406030204" pitchFamily="18" charset="0"/>
                    <a:cs typeface="宋体" panose="02010600030101010101" pitchFamily="2" charset="-122"/>
                  </a:rPr>
                  <a:t>i</a:t>
                </a:r>
                <a:r>
                  <a:rPr lang="en-US" altLang="zh-CN" sz="2400" dirty="0">
                    <a:effectLst/>
                    <a:latin typeface="Cambria Math" panose="02040503050406030204" pitchFamily="18" charset="0"/>
                    <a:ea typeface="Cambria Math" panose="02040503050406030204" pitchFamily="18" charset="0"/>
                    <a:cs typeface="宋体" panose="02010600030101010101" pitchFamily="2" charset="-122"/>
                  </a:rPr>
                  <a:t>][j]</a:t>
                </a:r>
                <a:r>
                  <a:rPr lang="zh-CN" altLang="en-US" sz="2400" dirty="0">
                    <a:effectLst/>
                    <a:latin typeface="+mn-ea"/>
                    <a:cs typeface="宋体" panose="02010600030101010101" pitchFamily="2" charset="-122"/>
                  </a:rPr>
                  <a:t>，</a:t>
                </a:r>
                <a:r>
                  <a:rPr lang="en-US" altLang="zh-CN" sz="2400" kern="100" dirty="0">
                    <a:effectLst/>
                    <a:latin typeface="+mn-ea"/>
                    <a:cs typeface="Times New Roman" panose="02020603050405020304" pitchFamily="18" charset="0"/>
                  </a:rPr>
                  <a:t> </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D</a:t>
                </a:r>
                <a:r>
                  <a:rPr lang="en-US" altLang="zh-CN" sz="2400" kern="100" baseline="30000" dirty="0">
                    <a:effectLst/>
                    <a:latin typeface="Cambria Math" panose="02040503050406030204" pitchFamily="18" charset="0"/>
                    <a:ea typeface="Cambria Math" panose="02040503050406030204" pitchFamily="18" charset="0"/>
                    <a:cs typeface="Times New Roman" panose="02020603050405020304" pitchFamily="18" charset="0"/>
                  </a:rPr>
                  <a:t>(k)</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kern="100" dirty="0" err="1">
                    <a:effectLst/>
                    <a:latin typeface="Cambria Math" panose="02040503050406030204" pitchFamily="18" charset="0"/>
                    <a:ea typeface="Cambria Math" panose="02040503050406030204" pitchFamily="18" charset="0"/>
                    <a:cs typeface="Times New Roman" panose="02020603050405020304" pitchFamily="18" charset="0"/>
                  </a:rPr>
                  <a:t>i</a:t>
                </a:r>
                <a:r>
                  <a:rPr lang="en-US" altLang="zh-CN" sz="2400" kern="100" dirty="0">
                    <a:effectLst/>
                    <a:latin typeface="Cambria Math" panose="02040503050406030204" pitchFamily="18" charset="0"/>
                    <a:ea typeface="Cambria Math" panose="02040503050406030204" pitchFamily="18" charset="0"/>
                    <a:cs typeface="Times New Roman" panose="02020603050405020304" pitchFamily="18" charset="0"/>
                  </a:rPr>
                  <a:t>][j]</a:t>
                </a:r>
                <a:r>
                  <a:rPr lang="zh-CN" altLang="en-US" sz="2400" dirty="0">
                    <a:effectLst/>
                    <a:latin typeface="+mn-ea"/>
                    <a:cs typeface="宋体" panose="02010600030101010101" pitchFamily="2" charset="-122"/>
                  </a:rPr>
                  <a:t>表示从顶点</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r>
                          <a:rPr lang="en-US" altLang="zh-CN" sz="2400" b="0" i="1" dirty="0" smtClean="0">
                            <a:latin typeface="Cambria Math" panose="02040503050406030204" pitchFamily="18" charset="0"/>
                          </a:rPr>
                          <m:t>𝑖</m:t>
                        </m:r>
                      </m:sub>
                    </m:sSub>
                  </m:oMath>
                </a14:m>
                <a:r>
                  <a:rPr lang="zh-CN" altLang="en-US" sz="2400" dirty="0">
                    <a:effectLst/>
                    <a:latin typeface="+mn-ea"/>
                    <a:cs typeface="宋体" panose="02010600030101010101" pitchFamily="2" charset="-122"/>
                  </a:rPr>
                  <a:t>到顶点</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r>
                          <a:rPr lang="en-US" altLang="zh-CN" sz="2400" b="0" i="1" dirty="0" smtClean="0">
                            <a:latin typeface="Cambria Math" panose="02040503050406030204" pitchFamily="18" charset="0"/>
                          </a:rPr>
                          <m:t>𝑗</m:t>
                        </m:r>
                      </m:sub>
                    </m:sSub>
                  </m:oMath>
                </a14:m>
                <a:r>
                  <a:rPr lang="zh-CN" altLang="en-US" sz="2400" dirty="0">
                    <a:effectLst/>
                    <a:latin typeface="+mn-ea"/>
                    <a:cs typeface="宋体" panose="02010600030101010101" pitchFamily="2" charset="-122"/>
                  </a:rPr>
                  <a:t>的中间可能经过</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𝑣</m:t>
                        </m:r>
                      </m:e>
                      <m:sub>
                        <m:r>
                          <a:rPr lang="en-US" altLang="zh-CN" sz="2400" b="0" i="1" dirty="0" smtClean="0">
                            <a:latin typeface="Cambria Math" panose="02040503050406030204" pitchFamily="18" charset="0"/>
                          </a:rPr>
                          <m:t>0</m:t>
                        </m:r>
                      </m:sub>
                    </m:sSub>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𝑣</m:t>
                        </m:r>
                      </m:e>
                      <m:sub>
                        <m:r>
                          <a:rPr lang="en-US" altLang="zh-CN" sz="2400" b="0" i="1" dirty="0" smtClean="0">
                            <a:latin typeface="Cambria Math" panose="02040503050406030204" pitchFamily="18" charset="0"/>
                          </a:rPr>
                          <m:t>𝑘</m:t>
                        </m:r>
                      </m:sub>
                    </m:sSub>
                  </m:oMath>
                </a14:m>
                <a:r>
                  <a:rPr lang="zh-CN" altLang="en-US" sz="2400" dirty="0">
                    <a:effectLst/>
                    <a:latin typeface="+mn-ea"/>
                    <a:cs typeface="宋体" panose="02010600030101010101" pitchFamily="2" charset="-122"/>
                  </a:rPr>
                  <a:t>而不可能经过</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r>
                          <a:rPr lang="en-US" altLang="zh-CN" sz="2400" b="0" i="1" dirty="0" smtClean="0">
                            <a:latin typeface="Cambria Math" panose="02040503050406030204" pitchFamily="18" charset="0"/>
                          </a:rPr>
                          <m:t>𝑘</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m:t>
                        </m:r>
                      </m:sub>
                    </m:s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𝑣</m:t>
                        </m:r>
                      </m:e>
                      <m:sub>
                        <m:r>
                          <a:rPr lang="en-US" altLang="zh-CN" sz="2400" b="0" i="1" dirty="0" smtClean="0">
                            <a:latin typeface="Cambria Math" panose="02040503050406030204" pitchFamily="18" charset="0"/>
                          </a:rPr>
                          <m:t>𝑛</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m:t>
                        </m:r>
                      </m:sub>
                    </m:sSub>
                  </m:oMath>
                </a14:m>
                <a:r>
                  <a:rPr lang="zh-CN" altLang="en-US" sz="2400" dirty="0">
                    <a:effectLst/>
                    <a:latin typeface="+mn-ea"/>
                    <a:cs typeface="宋体" panose="02010600030101010101" pitchFamily="2" charset="-122"/>
                  </a:rPr>
                  <a:t>等顶点的最短路径长度，所以</a:t>
                </a:r>
                <a:r>
                  <a:rPr lang="en-US" altLang="zh-CN" sz="2400" kern="100" dirty="0">
                    <a:latin typeface="Cambria Math" panose="02040503050406030204" pitchFamily="18" charset="0"/>
                    <a:ea typeface="Cambria Math" panose="02040503050406030204" pitchFamily="18" charset="0"/>
                    <a:cs typeface="Times New Roman" panose="02020603050405020304" pitchFamily="18" charset="0"/>
                  </a:rPr>
                  <a:t>D</a:t>
                </a:r>
                <a:r>
                  <a:rPr lang="en-US" altLang="zh-CN" sz="2400" kern="100" baseline="30000" dirty="0">
                    <a:latin typeface="Cambria Math" panose="02040503050406030204" pitchFamily="18" charset="0"/>
                    <a:ea typeface="Cambria Math" panose="02040503050406030204" pitchFamily="18" charset="0"/>
                    <a:cs typeface="Times New Roman" panose="02020603050405020304" pitchFamily="18" charset="0"/>
                  </a:rPr>
                  <a:t>(n-1)</a:t>
                </a:r>
                <a:r>
                  <a:rPr lang="en-US" altLang="zh-CN" sz="2400" kern="1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kern="100" dirty="0" err="1">
                    <a:latin typeface="Cambria Math" panose="02040503050406030204" pitchFamily="18" charset="0"/>
                    <a:ea typeface="Cambria Math" panose="02040503050406030204" pitchFamily="18" charset="0"/>
                    <a:cs typeface="Times New Roman" panose="02020603050405020304" pitchFamily="18" charset="0"/>
                  </a:rPr>
                  <a:t>i</a:t>
                </a:r>
                <a:r>
                  <a:rPr lang="en-US" altLang="zh-CN" sz="2400" kern="100" dirty="0">
                    <a:latin typeface="Cambria Math" panose="02040503050406030204" pitchFamily="18" charset="0"/>
                    <a:ea typeface="Cambria Math" panose="02040503050406030204" pitchFamily="18" charset="0"/>
                    <a:cs typeface="Times New Roman" panose="02020603050405020304" pitchFamily="18" charset="0"/>
                  </a:rPr>
                  <a:t>][j]</a:t>
                </a:r>
                <a:r>
                  <a:rPr lang="zh-CN" altLang="en-US" sz="2400" dirty="0">
                    <a:effectLst/>
                    <a:latin typeface="+mn-ea"/>
                    <a:cs typeface="宋体" panose="02010600030101010101" pitchFamily="2" charset="-122"/>
                  </a:rPr>
                  <a:t>是从顶点</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r>
                          <a:rPr lang="en-US" altLang="zh-CN" sz="2400" i="1" dirty="0">
                            <a:latin typeface="Cambria Math" panose="02040503050406030204" pitchFamily="18" charset="0"/>
                          </a:rPr>
                          <m:t>𝑖</m:t>
                        </m:r>
                      </m:sub>
                    </m:sSub>
                  </m:oMath>
                </a14:m>
                <a:r>
                  <a:rPr lang="zh-CN" altLang="en-US" sz="2400" dirty="0">
                    <a:effectLst/>
                    <a:latin typeface="+mn-ea"/>
                    <a:cs typeface="宋体" panose="02010600030101010101" pitchFamily="2" charset="-122"/>
                  </a:rPr>
                  <a:t>到顶点</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r>
                          <a:rPr lang="en-US" altLang="zh-CN" sz="2400" i="1" dirty="0">
                            <a:latin typeface="Cambria Math" panose="02040503050406030204" pitchFamily="18" charset="0"/>
                          </a:rPr>
                          <m:t>𝑗</m:t>
                        </m:r>
                      </m:sub>
                    </m:sSub>
                  </m:oMath>
                </a14:m>
                <a:r>
                  <a:rPr lang="zh-CN" altLang="en-US" sz="2400" dirty="0">
                    <a:effectLst/>
                    <a:latin typeface="+mn-ea"/>
                    <a:cs typeface="宋体" panose="02010600030101010101" pitchFamily="2" charset="-122"/>
                  </a:rPr>
                  <a:t>的最短路径长度，和路径长度序列相对应的是路径的</a:t>
                </a:r>
                <a:r>
                  <a:rPr lang="en-US" altLang="zh-CN" sz="2400" dirty="0">
                    <a:effectLst/>
                    <a:latin typeface="+mn-ea"/>
                    <a:cs typeface="宋体" panose="02010600030101010101" pitchFamily="2" charset="-122"/>
                  </a:rPr>
                  <a:t>n</a:t>
                </a:r>
                <a:r>
                  <a:rPr lang="zh-CN" altLang="en-US" sz="2400" dirty="0">
                    <a:effectLst/>
                    <a:latin typeface="+mn-ea"/>
                    <a:cs typeface="宋体" panose="02010600030101010101" pitchFamily="2" charset="-122"/>
                  </a:rPr>
                  <a:t>阶方阵序列</a:t>
                </a:r>
                <a14:m>
                  <m:oMath xmlns:m="http://schemas.openxmlformats.org/officeDocument/2006/math">
                    <m:r>
                      <a:rPr lang="en-US" altLang="zh-CN" sz="2400" b="0" i="0" dirty="0" smtClean="0">
                        <a:latin typeface="Cambria Math" panose="02040503050406030204" pitchFamily="18" charset="0"/>
                      </a:rPr>
                      <m:t> </m:t>
                    </m:r>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𝑝</m:t>
                        </m:r>
                      </m:e>
                      <m:sup>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m:t>
                            </m:r>
                          </m:e>
                        </m:d>
                      </m:sup>
                    </m:sSup>
                    <m:r>
                      <a:rPr lang="en-US" altLang="zh-CN" sz="2400" b="0" i="1" dirty="0" smtClean="0">
                        <a:latin typeface="Cambria Math" panose="02040503050406030204" pitchFamily="18" charset="0"/>
                      </a:rPr>
                      <m:t>,</m:t>
                    </m:r>
                    <m:sSup>
                      <m:sSupPr>
                        <m:ctrlPr>
                          <a:rPr lang="en-US" altLang="zh-CN" sz="2400" b="0" i="1" dirty="0" smtClean="0">
                            <a:latin typeface="Cambria Math" panose="02040503050406030204" pitchFamily="18" charset="0"/>
                          </a:rPr>
                        </m:ctrlPr>
                      </m:sSupPr>
                      <m:e>
                        <m:r>
                          <a:rPr lang="en-US" altLang="zh-CN" sz="2400" i="1" dirty="0">
                            <a:latin typeface="Cambria Math" panose="02040503050406030204" pitchFamily="18" charset="0"/>
                          </a:rPr>
                          <m:t>𝑝</m:t>
                        </m:r>
                      </m:e>
                      <m:sup>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0</m:t>
                            </m:r>
                          </m:e>
                        </m:d>
                      </m:sup>
                    </m:sSup>
                    <m:r>
                      <a:rPr lang="en-US" altLang="zh-CN" sz="2400" b="0" i="1" dirty="0" smtClean="0">
                        <a:latin typeface="Cambria Math" panose="02040503050406030204" pitchFamily="18" charset="0"/>
                      </a:rPr>
                      <m:t>,</m:t>
                    </m:r>
                    <m:sSup>
                      <m:sSupPr>
                        <m:ctrlPr>
                          <a:rPr lang="en-US" altLang="zh-CN" sz="2400" b="0" i="1" dirty="0" smtClean="0">
                            <a:latin typeface="Cambria Math" panose="02040503050406030204" pitchFamily="18" charset="0"/>
                          </a:rPr>
                        </m:ctrlPr>
                      </m:sSupPr>
                      <m:e>
                        <m:r>
                          <a:rPr lang="en-US" altLang="zh-CN" sz="2400" i="1" dirty="0">
                            <a:latin typeface="Cambria Math" panose="02040503050406030204" pitchFamily="18" charset="0"/>
                          </a:rPr>
                          <m:t>𝑝</m:t>
                        </m:r>
                      </m:e>
                      <m:sup>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1</m:t>
                            </m:r>
                          </m:e>
                        </m:d>
                      </m:sup>
                    </m:sSup>
                    <m:sSup>
                      <m:sSupPr>
                        <m:ctrlPr>
                          <a:rPr lang="en-US" altLang="zh-CN" sz="2400" b="0" i="1" dirty="0" smtClean="0">
                            <a:latin typeface="Cambria Math" panose="02040503050406030204" pitchFamily="18" charset="0"/>
                          </a:rPr>
                        </m:ctrlPr>
                      </m:sSupPr>
                      <m:e>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𝑝</m:t>
                        </m:r>
                      </m:e>
                      <m:sup>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𝑛</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m:t>
                            </m:r>
                          </m:e>
                        </m:d>
                      </m:sup>
                    </m:sSup>
                    <m:r>
                      <a:rPr lang="en-US" altLang="zh-CN" sz="2400" i="1" dirty="0">
                        <a:latin typeface="Cambria Math" panose="02040503050406030204" pitchFamily="18" charset="0"/>
                      </a:rPr>
                      <m:t> </m:t>
                    </m:r>
                  </m:oMath>
                </a14:m>
                <a:r>
                  <a:rPr lang="zh-CN" altLang="en-US" sz="2400" dirty="0">
                    <a:effectLst/>
                    <a:latin typeface="+mn-ea"/>
                    <a:cs typeface="宋体" panose="02010600030101010101" pitchFamily="2" charset="-122"/>
                  </a:rPr>
                  <a:t>。</a:t>
                </a:r>
                <a:endParaRPr lang="zh-CN" altLang="en-US" sz="2400" dirty="0">
                  <a:effectLst/>
                  <a:latin typeface="+mn-ea"/>
                  <a:cs typeface="宋体" panose="02010600030101010101" pitchFamily="2" charset="-122"/>
                </a:endParaRPr>
              </a:p>
              <a:p>
                <a:pPr algn="just">
                  <a:lnSpc>
                    <a:spcPct val="150000"/>
                  </a:lnSpc>
                  <a:spcBef>
                    <a:spcPts val="0"/>
                  </a:spcBef>
                </a:pPr>
                <a:endParaRPr lang="zh-CN" altLang="zh-CN" sz="2400" dirty="0">
                  <a:effectLst/>
                  <a:latin typeface="+mn-ea"/>
                  <a:cs typeface="宋体" panose="0201060003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r="-135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6.5.2 </a:t>
            </a:r>
            <a:r>
              <a:rPr lang="zh-CN" altLang="en-US" dirty="0"/>
              <a:t>求任意两个顶点间的最短路径</a:t>
            </a:r>
            <a:endParaRPr lang="zh-CN" altLang="en-US" dirty="0"/>
          </a:p>
        </p:txBody>
      </p:sp>
      <p:sp>
        <p:nvSpPr>
          <p:cNvPr id="3" name="内容占位符 2"/>
          <p:cNvSpPr>
            <a:spLocks noGrp="1"/>
          </p:cNvSpPr>
          <p:nvPr>
            <p:ph idx="1"/>
          </p:nvPr>
        </p:nvSpPr>
        <p:spPr/>
        <p:txBody>
          <a:bodyPr>
            <a:normAutofit/>
          </a:bodyPr>
          <a:lstStyle/>
          <a:p>
            <a:pPr marL="0" indent="457200" algn="just">
              <a:spcBef>
                <a:spcPts val="0"/>
              </a:spcBef>
              <a:buNone/>
            </a:pPr>
            <a:r>
              <a:rPr lang="zh-CN" altLang="en-US" sz="2400" kern="100" dirty="0">
                <a:effectLst/>
                <a:latin typeface="+mn-ea"/>
                <a:cs typeface="Times New Roman" panose="02020603050405020304" pitchFamily="18" charset="0"/>
              </a:rPr>
              <a:t>所以，</a:t>
            </a:r>
            <a:r>
              <a:rPr lang="en-US" altLang="zh-CN" sz="2400" kern="100" dirty="0">
                <a:effectLst/>
                <a:latin typeface="Cambria" panose="02040503050406030204" pitchFamily="18" charset="0"/>
                <a:ea typeface="Cambria" panose="02040503050406030204" pitchFamily="18" charset="0"/>
                <a:cs typeface="Times New Roman" panose="02020603050405020304" pitchFamily="18" charset="0"/>
              </a:rPr>
              <a:t>Floyd</a:t>
            </a:r>
            <a:r>
              <a:rPr lang="zh-CN" altLang="en-US" sz="2400" kern="100" dirty="0">
                <a:effectLst/>
                <a:latin typeface="+mn-ea"/>
                <a:cs typeface="Times New Roman" panose="02020603050405020304" pitchFamily="18" charset="0"/>
              </a:rPr>
              <a:t>算法的基本操作可以概括为：</a:t>
            </a:r>
            <a:endParaRPr lang="en-US" altLang="zh-CN" sz="2400" kern="100" dirty="0">
              <a:effectLst/>
              <a:latin typeface="+mn-ea"/>
              <a:cs typeface="Times New Roman" panose="02020603050405020304" pitchFamily="18" charset="0"/>
            </a:endParaRPr>
          </a:p>
          <a:p>
            <a:pPr marL="0" indent="457200" algn="just">
              <a:spcBef>
                <a:spcPts val="0"/>
              </a:spcBef>
              <a:buNone/>
            </a:pPr>
            <a:endParaRPr lang="en-US" altLang="zh-CN" sz="2400" kern="100" dirty="0">
              <a:latin typeface="+mn-ea"/>
              <a:cs typeface="Times New Roman" panose="02020603050405020304" pitchFamily="18" charset="0"/>
            </a:endParaRPr>
          </a:p>
          <a:p>
            <a:pPr marL="0" indent="457200" algn="just">
              <a:spcBef>
                <a:spcPts val="0"/>
              </a:spcBef>
              <a:buNone/>
            </a:pPr>
            <a:endParaRPr lang="en-US" altLang="zh-CN" sz="2400" kern="100" dirty="0">
              <a:effectLst/>
              <a:latin typeface="+mn-ea"/>
              <a:cs typeface="Times New Roman" panose="02020603050405020304" pitchFamily="18" charset="0"/>
            </a:endParaRPr>
          </a:p>
          <a:p>
            <a:pPr marL="0" indent="457200" algn="just">
              <a:spcBef>
                <a:spcPts val="0"/>
              </a:spcBef>
              <a:buNone/>
            </a:pPr>
            <a:endParaRPr lang="en-US" altLang="zh-CN" sz="2400" kern="100" dirty="0">
              <a:latin typeface="+mn-ea"/>
              <a:cs typeface="Times New Roman" panose="02020603050405020304" pitchFamily="18" charset="0"/>
            </a:endParaRPr>
          </a:p>
          <a:p>
            <a:pPr marL="0" indent="457200" algn="just">
              <a:spcBef>
                <a:spcPts val="0"/>
              </a:spcBef>
              <a:buNone/>
            </a:pPr>
            <a:endParaRPr lang="en-US" altLang="zh-CN" sz="2400" kern="100" dirty="0">
              <a:effectLst/>
              <a:latin typeface="+mn-ea"/>
              <a:cs typeface="Times New Roman" panose="02020603050405020304" pitchFamily="18" charset="0"/>
            </a:endParaRPr>
          </a:p>
          <a:p>
            <a:pPr marL="0" indent="457200" algn="just">
              <a:spcBef>
                <a:spcPts val="0"/>
              </a:spcBef>
              <a:buNone/>
            </a:pPr>
            <a:endParaRPr lang="en-US" altLang="zh-CN" sz="2400" kern="100" dirty="0">
              <a:latin typeface="+mn-ea"/>
              <a:cs typeface="Times New Roman" panose="02020603050405020304" pitchFamily="18" charset="0"/>
            </a:endParaRPr>
          </a:p>
          <a:p>
            <a:pPr marL="0" indent="457200" algn="just">
              <a:spcBef>
                <a:spcPts val="0"/>
              </a:spcBef>
              <a:buNone/>
            </a:pPr>
            <a:endParaRPr lang="en-US" altLang="zh-CN" sz="2400" kern="100" dirty="0">
              <a:effectLst/>
              <a:latin typeface="+mn-ea"/>
              <a:cs typeface="Times New Roman" panose="02020603050405020304" pitchFamily="18" charset="0"/>
            </a:endParaRPr>
          </a:p>
          <a:p>
            <a:pPr marL="0" indent="457200" algn="just">
              <a:spcBef>
                <a:spcPts val="0"/>
              </a:spcBef>
              <a:buNone/>
            </a:pPr>
            <a:endParaRPr lang="en-US" altLang="zh-CN" sz="2400" kern="100" dirty="0">
              <a:effectLst/>
              <a:latin typeface="+mn-ea"/>
              <a:cs typeface="Times New Roman" panose="02020603050405020304" pitchFamily="18" charset="0"/>
            </a:endParaRPr>
          </a:p>
          <a:p>
            <a:pPr marL="0" indent="457200" algn="just">
              <a:spcBef>
                <a:spcPts val="0"/>
              </a:spcBef>
              <a:buNone/>
            </a:pPr>
            <a:r>
              <a:rPr lang="zh-CN" altLang="en-US" sz="2400" dirty="0">
                <a:effectLst/>
                <a:latin typeface="+mn-ea"/>
                <a:cs typeface="宋体" panose="02010600030101010101" pitchFamily="2" charset="-122"/>
              </a:rPr>
              <a:t>其中，</a:t>
            </a:r>
            <a:r>
              <a:rPr lang="en-US" altLang="zh-CN" sz="2400" dirty="0">
                <a:effectLst/>
                <a:latin typeface="+mn-ea"/>
                <a:cs typeface="宋体" panose="02010600030101010101" pitchFamily="2" charset="-122"/>
              </a:rPr>
              <a:t>k</a:t>
            </a:r>
            <a:r>
              <a:rPr lang="zh-CN" altLang="en-US" sz="2400" dirty="0">
                <a:effectLst/>
                <a:latin typeface="+mn-ea"/>
                <a:cs typeface="宋体" panose="02010600030101010101" pitchFamily="2" charset="-122"/>
              </a:rPr>
              <a:t>表示在路径中新增的顶点，</a:t>
            </a:r>
            <a:r>
              <a:rPr lang="en-US" altLang="zh-CN" sz="2400" dirty="0" err="1">
                <a:effectLst/>
                <a:latin typeface="+mn-ea"/>
                <a:cs typeface="宋体" panose="02010600030101010101" pitchFamily="2" charset="-122"/>
              </a:rPr>
              <a:t>i</a:t>
            </a:r>
            <a:r>
              <a:rPr lang="zh-CN" altLang="en-US" sz="2400" dirty="0">
                <a:effectLst/>
                <a:latin typeface="+mn-ea"/>
                <a:cs typeface="宋体" panose="02010600030101010101" pitchFamily="2" charset="-122"/>
              </a:rPr>
              <a:t>为路径的源点，</a:t>
            </a:r>
            <a:r>
              <a:rPr lang="en-US" altLang="zh-CN" sz="2400" dirty="0">
                <a:effectLst/>
                <a:latin typeface="+mn-ea"/>
                <a:cs typeface="宋体" panose="02010600030101010101" pitchFamily="2" charset="-122"/>
              </a:rPr>
              <a:t>j</a:t>
            </a:r>
            <a:r>
              <a:rPr lang="zh-CN" altLang="en-US" sz="2400" dirty="0">
                <a:effectLst/>
                <a:latin typeface="+mn-ea"/>
                <a:cs typeface="宋体" panose="02010600030101010101" pitchFamily="2" charset="-122"/>
              </a:rPr>
              <a:t>为路径的终点。</a:t>
            </a:r>
            <a:endParaRPr lang="zh-CN" altLang="zh-CN" sz="2400" dirty="0">
              <a:effectLst/>
              <a:latin typeface="+mn-ea"/>
              <a:cs typeface="宋体" panose="02010600030101010101" pitchFamily="2" charset="-122"/>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06325" y="1809435"/>
            <a:ext cx="5579349" cy="209225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6.5.2 </a:t>
            </a:r>
            <a:r>
              <a:rPr lang="zh-CN" altLang="en-US" dirty="0"/>
              <a:t>求任意两个顶点间的最短路径</a:t>
            </a:r>
            <a:endParaRPr lang="zh-CN" altLang="en-US" dirty="0"/>
          </a:p>
        </p:txBody>
      </p:sp>
      <p:sp>
        <p:nvSpPr>
          <p:cNvPr id="3" name="内容占位符 2"/>
          <p:cNvSpPr>
            <a:spLocks noGrp="1"/>
          </p:cNvSpPr>
          <p:nvPr>
            <p:ph idx="1"/>
          </p:nvPr>
        </p:nvSpPr>
        <p:spPr/>
        <p:txBody>
          <a:bodyPr>
            <a:normAutofit/>
          </a:bodyPr>
          <a:lstStyle/>
          <a:p>
            <a:pPr marL="0" indent="457200" algn="just">
              <a:spcBef>
                <a:spcPts val="0"/>
              </a:spcBef>
              <a:buNone/>
            </a:pPr>
            <a:r>
              <a:rPr lang="en-US" altLang="zh-CN" sz="2400" kern="100" dirty="0">
                <a:effectLst/>
                <a:latin typeface="Cambria" panose="02040503050406030204" pitchFamily="18" charset="0"/>
                <a:ea typeface="Cambria" panose="02040503050406030204" pitchFamily="18" charset="0"/>
                <a:cs typeface="Times New Roman" panose="02020603050405020304" pitchFamily="18" charset="0"/>
              </a:rPr>
              <a:t>Floyd</a:t>
            </a:r>
            <a:r>
              <a:rPr lang="zh-CN" altLang="en-US" sz="2400" kern="100" dirty="0">
                <a:effectLst/>
                <a:latin typeface="+mn-ea"/>
                <a:cs typeface="Times New Roman" panose="02020603050405020304" pitchFamily="18" charset="0"/>
              </a:rPr>
              <a:t>算法构造最短路径的类用</a:t>
            </a:r>
            <a:r>
              <a:rPr lang="en-US" altLang="zh-CN" sz="2400" kern="100" dirty="0">
                <a:effectLst/>
                <a:latin typeface="+mn-ea"/>
                <a:cs typeface="Times New Roman" panose="02020603050405020304" pitchFamily="18" charset="0"/>
              </a:rPr>
              <a:t>Python</a:t>
            </a:r>
            <a:r>
              <a:rPr lang="zh-CN" altLang="en-US" sz="2400" kern="100" dirty="0">
                <a:effectLst/>
                <a:latin typeface="+mn-ea"/>
                <a:cs typeface="Times New Roman" panose="02020603050405020304" pitchFamily="18" charset="0"/>
              </a:rPr>
              <a:t>语言描述如下：</a:t>
            </a:r>
            <a:endParaRPr lang="zh-CN" altLang="en-US" sz="2400" kern="100" dirty="0">
              <a:effectLst/>
              <a:latin typeface="+mn-ea"/>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89713" y="1715599"/>
            <a:ext cx="9012573" cy="482331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6.5.2 </a:t>
            </a:r>
            <a:r>
              <a:rPr lang="zh-CN" altLang="en-US" dirty="0"/>
              <a:t>求任意两个顶点间的最短路径</a:t>
            </a:r>
            <a:endParaRPr lang="zh-CN" altLang="en-US" dirty="0"/>
          </a:p>
        </p:txBody>
      </p:sp>
      <p:sp>
        <p:nvSpPr>
          <p:cNvPr id="3" name="内容占位符 2"/>
          <p:cNvSpPr>
            <a:spLocks noGrp="1"/>
          </p:cNvSpPr>
          <p:nvPr>
            <p:ph idx="1"/>
          </p:nvPr>
        </p:nvSpPr>
        <p:spPr/>
        <p:txBody>
          <a:bodyPr>
            <a:normAutofit/>
          </a:bodyPr>
          <a:lstStyle/>
          <a:p>
            <a:pPr marL="0" indent="457200" algn="just">
              <a:spcBef>
                <a:spcPts val="0"/>
              </a:spcBef>
              <a:buNone/>
            </a:pPr>
            <a:r>
              <a:rPr lang="en-US" altLang="zh-CN" sz="2400" dirty="0">
                <a:effectLst/>
                <a:latin typeface="Cambria" panose="02040503050406030204" pitchFamily="18" charset="0"/>
                <a:ea typeface="Cambria" panose="02040503050406030204" pitchFamily="18" charset="0"/>
                <a:cs typeface="宋体" panose="02010600030101010101" pitchFamily="2" charset="-122"/>
              </a:rPr>
              <a:t>Floyd</a:t>
            </a:r>
            <a:r>
              <a:rPr lang="zh-CN" altLang="en-US" sz="2400" dirty="0">
                <a:effectLst/>
                <a:latin typeface="+mn-ea"/>
                <a:cs typeface="宋体" panose="02010600030101010101" pitchFamily="2" charset="-122"/>
              </a:rPr>
              <a:t>算法构造最短路径的类用</a:t>
            </a:r>
            <a:r>
              <a:rPr lang="en-US" altLang="zh-CN" sz="2400" dirty="0">
                <a:effectLst/>
                <a:latin typeface="+mn-ea"/>
                <a:cs typeface="宋体" panose="02010600030101010101" pitchFamily="2" charset="-122"/>
              </a:rPr>
              <a:t>Python</a:t>
            </a:r>
            <a:r>
              <a:rPr lang="zh-CN" altLang="en-US" sz="2400" dirty="0">
                <a:effectLst/>
                <a:latin typeface="+mn-ea"/>
                <a:cs typeface="宋体" panose="02010600030101010101" pitchFamily="2" charset="-122"/>
              </a:rPr>
              <a:t>语言描述如下：</a:t>
            </a:r>
            <a:endParaRPr lang="zh-CN" altLang="en-US" sz="2400" dirty="0">
              <a:effectLst/>
              <a:latin typeface="+mn-ea"/>
              <a:cs typeface="宋体" panose="02010600030101010101" pitchFamily="2" charset="-122"/>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39757" y="1711813"/>
            <a:ext cx="7312486" cy="4786187"/>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6.6</a:t>
            </a:r>
            <a:endParaRPr lang="zh-CN" altLang="en-US" dirty="0"/>
          </a:p>
        </p:txBody>
      </p:sp>
      <p:sp>
        <p:nvSpPr>
          <p:cNvPr id="3" name="文本占位符 2"/>
          <p:cNvSpPr>
            <a:spLocks noGrp="1"/>
          </p:cNvSpPr>
          <p:nvPr>
            <p:ph type="body" sz="quarter" idx="11"/>
          </p:nvPr>
        </p:nvSpPr>
        <p:spPr>
          <a:xfrm>
            <a:off x="4873175" y="2533966"/>
            <a:ext cx="5325533" cy="723900"/>
          </a:xfrm>
        </p:spPr>
        <p:txBody>
          <a:bodyPr/>
          <a:lstStyle/>
          <a:p>
            <a:r>
              <a:rPr lang="zh-CN" altLang="en-US" sz="4400" dirty="0"/>
              <a:t>拓扑排序和关键路径</a:t>
            </a:r>
            <a:endParaRPr lang="zh-CN" altLang="en-US" dirty="0"/>
          </a:p>
        </p:txBody>
      </p:sp>
      <p:sp>
        <p:nvSpPr>
          <p:cNvPr id="4" name="文本占位符 3"/>
          <p:cNvSpPr>
            <a:spLocks noGrp="1"/>
          </p:cNvSpPr>
          <p:nvPr>
            <p:ph type="body" sz="quarter" idx="12"/>
          </p:nvPr>
        </p:nvSpPr>
        <p:spPr>
          <a:xfrm>
            <a:off x="5308599" y="3606800"/>
            <a:ext cx="5325533" cy="1854200"/>
          </a:xfrm>
        </p:spPr>
        <p:txBody>
          <a:bodyPr/>
          <a:lstStyle/>
          <a:p>
            <a:r>
              <a:rPr lang="en-US" altLang="zh-CN" dirty="0"/>
              <a:t>6.6.1 </a:t>
            </a:r>
            <a:r>
              <a:rPr lang="zh-CN" altLang="en-US" dirty="0"/>
              <a:t>拓扑排序</a:t>
            </a:r>
            <a:endParaRPr lang="en-US" altLang="zh-CN" dirty="0"/>
          </a:p>
          <a:p>
            <a:r>
              <a:rPr lang="en-US" altLang="zh-CN" dirty="0"/>
              <a:t>6.6.2 </a:t>
            </a:r>
            <a:r>
              <a:rPr lang="zh-CN" altLang="en-US" dirty="0"/>
              <a:t>关键路径</a:t>
            </a:r>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 </a:t>
            </a:r>
            <a:r>
              <a:rPr lang="zh-CN" altLang="en-US" sz="4400" dirty="0"/>
              <a:t>拓扑排序和关键路径</a:t>
            </a:r>
            <a:endParaRPr lang="zh-CN" altLang="en-US" dirty="0"/>
          </a:p>
        </p:txBody>
      </p:sp>
      <p:sp>
        <p:nvSpPr>
          <p:cNvPr id="3" name="内容占位符 2"/>
          <p:cNvSpPr>
            <a:spLocks noGrp="1"/>
          </p:cNvSpPr>
          <p:nvPr>
            <p:ph idx="1"/>
          </p:nvPr>
        </p:nvSpPr>
        <p:spPr/>
        <p:txBody>
          <a:bodyPr>
            <a:normAutofit/>
          </a:bodyPr>
          <a:lstStyle/>
          <a:p>
            <a:r>
              <a:rPr lang="zh-CN" altLang="en-US" dirty="0"/>
              <a:t>在生产实践中，几乎所有的工程都可以分解为若干个具有相对独立性的子工程，称为“活动”。活动之间又通常受到一定条件的约束，即某些活动必须在另一些活动完成之后才能进行。可以使用有向图表示活动之间相互制约的关系，顶点表示活动，弧表示活动之间的优先关系，这种有向图称为顶点活动网</a:t>
            </a:r>
            <a:r>
              <a:rPr lang="en-US" altLang="zh-CN" dirty="0"/>
              <a:t>(AOV)</a:t>
            </a:r>
            <a:r>
              <a:rPr lang="zh-CN" altLang="en-US" dirty="0"/>
              <a:t>。若在</a:t>
            </a:r>
            <a:r>
              <a:rPr lang="en-US" altLang="zh-CN" dirty="0"/>
              <a:t>AOV</a:t>
            </a:r>
            <a:r>
              <a:rPr lang="zh-CN" altLang="en-US" dirty="0"/>
              <a:t>网中存在一条从顶点</a:t>
            </a:r>
            <a:r>
              <a:rPr lang="en-US" altLang="zh-CN" dirty="0"/>
              <a:t>u</a:t>
            </a:r>
            <a:r>
              <a:rPr lang="zh-CN" altLang="en-US" dirty="0"/>
              <a:t>到顶点</a:t>
            </a:r>
            <a:r>
              <a:rPr lang="en-US" altLang="zh-CN" dirty="0"/>
              <a:t>v</a:t>
            </a:r>
            <a:r>
              <a:rPr lang="zh-CN" altLang="en-US" dirty="0"/>
              <a:t>的弧，则活动</a:t>
            </a:r>
            <a:r>
              <a:rPr lang="en-US" altLang="zh-CN" dirty="0"/>
              <a:t>u</a:t>
            </a:r>
            <a:r>
              <a:rPr lang="zh-CN" altLang="en-US" dirty="0"/>
              <a:t>一定优先于活动</a:t>
            </a:r>
            <a:r>
              <a:rPr lang="en-US" altLang="zh-CN" dirty="0"/>
              <a:t>v</a:t>
            </a:r>
            <a:r>
              <a:rPr lang="zh-CN" altLang="en-US" dirty="0"/>
              <a:t>发生，否则活动</a:t>
            </a:r>
            <a:r>
              <a:rPr lang="en-US" altLang="zh-CN" dirty="0"/>
              <a:t>u</a:t>
            </a:r>
            <a:r>
              <a:rPr lang="zh-CN" altLang="en-US" dirty="0"/>
              <a:t>、</a:t>
            </a:r>
            <a:r>
              <a:rPr lang="en-US" altLang="zh-CN" dirty="0"/>
              <a:t>v</a:t>
            </a:r>
            <a:r>
              <a:rPr lang="zh-CN" altLang="en-US" dirty="0"/>
              <a:t>的发生顺序可以是任意的。</a:t>
            </a:r>
            <a:endParaRPr lang="en-US" altLang="zh-CN" dirty="0"/>
          </a:p>
          <a:p>
            <a:endParaRPr lang="zh-CN" altLang="en-US" dirty="0"/>
          </a:p>
          <a:p>
            <a:r>
              <a:rPr lang="zh-CN" altLang="en-US" dirty="0"/>
              <a:t>在</a:t>
            </a:r>
            <a:r>
              <a:rPr lang="en-US" altLang="zh-CN" dirty="0"/>
              <a:t>AOV</a:t>
            </a:r>
            <a:r>
              <a:rPr lang="zh-CN" altLang="en-US" dirty="0"/>
              <a:t>网中不允许出现环，否则某项活动的进行以其本身的完成作为先决条件，这是不允许发生的。判断有向网中是否存在环的方法是进行拓扑排序。</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6.6.1 </a:t>
            </a:r>
            <a:r>
              <a:rPr lang="zh-CN" altLang="en-US" dirty="0"/>
              <a:t>拓扑排序</a:t>
            </a:r>
            <a:endParaRPr lang="zh-CN" altLang="en-US" dirty="0"/>
          </a:p>
        </p:txBody>
      </p:sp>
      <p:sp>
        <p:nvSpPr>
          <p:cNvPr id="3" name="内容占位符 2"/>
          <p:cNvSpPr>
            <a:spLocks noGrp="1"/>
          </p:cNvSpPr>
          <p:nvPr>
            <p:ph idx="1"/>
          </p:nvPr>
        </p:nvSpPr>
        <p:spPr/>
        <p:txBody>
          <a:bodyPr>
            <a:normAutofit/>
          </a:bodyPr>
          <a:lstStyle/>
          <a:p>
            <a:r>
              <a:rPr lang="zh-CN" altLang="en-US" dirty="0"/>
              <a:t>对</a:t>
            </a:r>
            <a:r>
              <a:rPr lang="en-US" altLang="zh-CN" dirty="0"/>
              <a:t>AOV</a:t>
            </a:r>
            <a:r>
              <a:rPr lang="zh-CN" altLang="en-US" dirty="0"/>
              <a:t>网进行拓扑排序即构造一个包含图中所有顶点的拓扑有序序列，若在</a:t>
            </a:r>
            <a:r>
              <a:rPr lang="en-US" altLang="zh-CN" dirty="0"/>
              <a:t>AOV</a:t>
            </a:r>
            <a:r>
              <a:rPr lang="zh-CN" altLang="en-US" dirty="0"/>
              <a:t>网中存在一条从顶点</a:t>
            </a:r>
            <a:r>
              <a:rPr lang="en-US" altLang="zh-CN" dirty="0"/>
              <a:t>u</a:t>
            </a:r>
            <a:r>
              <a:rPr lang="zh-CN" altLang="en-US" dirty="0"/>
              <a:t>到顶点</a:t>
            </a:r>
            <a:r>
              <a:rPr lang="en-US" altLang="zh-CN" dirty="0"/>
              <a:t>v</a:t>
            </a:r>
            <a:r>
              <a:rPr lang="zh-CN" altLang="en-US" dirty="0"/>
              <a:t>的弧，则在拓扑有序序列中顶点</a:t>
            </a:r>
            <a:r>
              <a:rPr lang="en-US" altLang="zh-CN" dirty="0"/>
              <a:t>u</a:t>
            </a:r>
            <a:r>
              <a:rPr lang="zh-CN" altLang="en-US" dirty="0"/>
              <a:t>必须先于顶点</a:t>
            </a:r>
            <a:r>
              <a:rPr lang="en-US" altLang="zh-CN" dirty="0"/>
              <a:t>v</a:t>
            </a:r>
            <a:r>
              <a:rPr lang="zh-CN" altLang="en-US" dirty="0"/>
              <a:t>，否则顶点</a:t>
            </a:r>
            <a:r>
              <a:rPr lang="en-US" altLang="zh-CN" dirty="0"/>
              <a:t>u</a:t>
            </a:r>
            <a:r>
              <a:rPr lang="zh-CN" altLang="en-US" dirty="0"/>
              <a:t>、</a:t>
            </a:r>
            <a:r>
              <a:rPr lang="en-US" altLang="zh-CN" dirty="0"/>
              <a:t>v</a:t>
            </a:r>
            <a:r>
              <a:rPr lang="zh-CN" altLang="en-US" dirty="0"/>
              <a:t>的顺序可以是任意的。</a:t>
            </a:r>
            <a:r>
              <a:rPr lang="en-US" altLang="zh-CN" dirty="0"/>
              <a:t>AOV</a:t>
            </a:r>
            <a:r>
              <a:rPr lang="zh-CN" altLang="en-US" dirty="0"/>
              <a:t>网的拓扑有序序列并不唯一。若</a:t>
            </a:r>
            <a:r>
              <a:rPr lang="en-US" altLang="zh-CN" dirty="0"/>
              <a:t>AOV</a:t>
            </a:r>
            <a:r>
              <a:rPr lang="zh-CN" altLang="en-US" dirty="0"/>
              <a:t>网中存在环，则不可能将所有的顶点都纳入到拓扑有序序列中，因此可以用拓扑排序判断有向网中是否存在环。拓扑排序的主要步骤如下。 </a:t>
            </a:r>
            <a:endParaRPr lang="zh-CN" altLang="en-US" dirty="0"/>
          </a:p>
          <a:p>
            <a:pPr marL="457200" lvl="1" indent="0">
              <a:buNone/>
            </a:pPr>
            <a:r>
              <a:rPr lang="en-US" altLang="zh-CN" dirty="0"/>
              <a:t>(1) </a:t>
            </a:r>
            <a:r>
              <a:rPr lang="zh-CN" altLang="en-US" dirty="0"/>
              <a:t>在</a:t>
            </a:r>
            <a:r>
              <a:rPr lang="en-US" altLang="zh-CN" dirty="0"/>
              <a:t>AOV</a:t>
            </a:r>
            <a:r>
              <a:rPr lang="zh-CN" altLang="en-US" dirty="0"/>
              <a:t>网中选择一个没有前驱的顶点并输出。 </a:t>
            </a:r>
            <a:endParaRPr lang="zh-CN" altLang="en-US" dirty="0"/>
          </a:p>
          <a:p>
            <a:pPr marL="457200" lvl="1" indent="0">
              <a:buNone/>
            </a:pPr>
            <a:r>
              <a:rPr lang="en-US" altLang="zh-CN" dirty="0"/>
              <a:t>(2) </a:t>
            </a:r>
            <a:r>
              <a:rPr lang="zh-CN" altLang="en-US" dirty="0"/>
              <a:t>从</a:t>
            </a:r>
            <a:r>
              <a:rPr lang="en-US" altLang="zh-CN" dirty="0"/>
              <a:t>AOV</a:t>
            </a:r>
            <a:r>
              <a:rPr lang="zh-CN" altLang="en-US" dirty="0"/>
              <a:t>网中删除该顶点以及从它出发的弧。 </a:t>
            </a:r>
            <a:endParaRPr lang="zh-CN" altLang="en-US" dirty="0"/>
          </a:p>
          <a:p>
            <a:pPr marL="457200" lvl="1" indent="0">
              <a:buNone/>
            </a:pPr>
            <a:r>
              <a:rPr lang="en-US" altLang="zh-CN" dirty="0"/>
              <a:t>(3) </a:t>
            </a:r>
            <a:r>
              <a:rPr lang="zh-CN" altLang="en-US" dirty="0"/>
              <a:t>重复步骤</a:t>
            </a:r>
            <a:r>
              <a:rPr lang="en-US" altLang="zh-CN" dirty="0"/>
              <a:t>(1)</a:t>
            </a:r>
            <a:r>
              <a:rPr lang="zh-CN" altLang="en-US" dirty="0"/>
              <a:t>和</a:t>
            </a:r>
            <a:r>
              <a:rPr lang="en-US" altLang="zh-CN" dirty="0"/>
              <a:t>(2)</a:t>
            </a:r>
            <a:r>
              <a:rPr lang="zh-CN" altLang="en-US" dirty="0"/>
              <a:t>直到</a:t>
            </a:r>
            <a:r>
              <a:rPr lang="en-US" altLang="zh-CN" dirty="0"/>
              <a:t>AOV</a:t>
            </a:r>
            <a:r>
              <a:rPr lang="zh-CN" altLang="en-US" dirty="0"/>
              <a:t>网为空，或者剩余子图中不存在没有前驱的顶点，此时说明</a:t>
            </a:r>
            <a:r>
              <a:rPr lang="en-US" altLang="zh-CN" dirty="0"/>
              <a:t>AOV</a:t>
            </a:r>
            <a:r>
              <a:rPr lang="zh-CN" altLang="en-US" dirty="0"/>
              <a:t>网中存在环。</a:t>
            </a:r>
            <a:endParaRPr lang="zh-CN" altLang="en-US" dirty="0"/>
          </a:p>
          <a:p>
            <a:r>
              <a:rPr lang="zh-CN" altLang="en-US" dirty="0"/>
              <a:t>整个拓扑排序可以分成求各个顶点的入度和一个拓扑序列的过程，具体算法描述如下。</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6.6.1 </a:t>
            </a:r>
            <a:r>
              <a:rPr lang="zh-CN" altLang="en-US" dirty="0"/>
              <a:t>拓扑排序</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9" name="内容占位符 8"/>
          <p:cNvPicPr>
            <a:picLocks noGrp="1" noChangeAspect="1"/>
          </p:cNvPicPr>
          <p:nvPr>
            <p:ph idx="1"/>
          </p:nvPr>
        </p:nvPicPr>
        <p:blipFill rotWithShape="1">
          <a:blip r:embed="rId1">
            <a:extLst>
              <a:ext uri="{28A0092B-C50C-407E-A947-70E740481C1C}">
                <a14:useLocalDpi xmlns:a14="http://schemas.microsoft.com/office/drawing/2010/main" val="0"/>
              </a:ext>
            </a:extLst>
          </a:blip>
          <a:srcRect l="3116" t="5506" r="3151" b="5500"/>
          <a:stretch>
            <a:fillRect/>
          </a:stretch>
        </p:blipFill>
        <p:spPr>
          <a:xfrm>
            <a:off x="2274787" y="1388171"/>
            <a:ext cx="7642426" cy="464522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6.6.1 </a:t>
            </a:r>
            <a:r>
              <a:rPr lang="zh-CN" altLang="en-US" dirty="0"/>
              <a:t>拓扑排序</a:t>
            </a:r>
            <a:endParaRPr lang="zh-CN" altLang="en-US" dirty="0"/>
          </a:p>
        </p:txBody>
      </p:sp>
      <p:pic>
        <p:nvPicPr>
          <p:cNvPr id="23" name="内容占位符 22"/>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617053" y="841954"/>
            <a:ext cx="4957894" cy="5656046"/>
          </a:xfrm>
        </p:spPr>
      </p:pic>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6.6.2 </a:t>
            </a:r>
            <a:r>
              <a:rPr lang="zh-CN" altLang="en-US" dirty="0"/>
              <a:t>关键路径</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若以弧表示活动，弧上的权值表示进行该项活动需要的时间，顶点表示事件，这种有向网称为边活动网络，简称为</a:t>
            </a:r>
            <a:r>
              <a:rPr lang="en-US" altLang="zh-CN" dirty="0"/>
              <a:t>AOE</a:t>
            </a:r>
            <a:r>
              <a:rPr lang="zh-CN" altLang="en-US" dirty="0"/>
              <a:t>网。弧指向事件表示该弧代表的活动已经完成，弧从事件出发表示该弧代表的活动开始进行，所以</a:t>
            </a:r>
            <a:r>
              <a:rPr lang="en-US" altLang="zh-CN" dirty="0"/>
              <a:t>AOE</a:t>
            </a:r>
            <a:r>
              <a:rPr lang="zh-CN" altLang="en-US" dirty="0"/>
              <a:t>网不允许环的存在。</a:t>
            </a:r>
            <a:endParaRPr lang="zh-CN" altLang="en-US" dirty="0"/>
          </a:p>
          <a:p>
            <a:r>
              <a:rPr lang="en-US" altLang="zh-CN" dirty="0"/>
              <a:t>AOE</a:t>
            </a:r>
            <a:r>
              <a:rPr lang="zh-CN" altLang="en-US" dirty="0"/>
              <a:t>网常用来表示工程的进行，表示工程开始事件的顶点的入度为</a:t>
            </a:r>
            <a:r>
              <a:rPr lang="en-US" altLang="zh-CN" dirty="0"/>
              <a:t>0</a:t>
            </a:r>
            <a:r>
              <a:rPr lang="zh-CN" altLang="en-US" dirty="0"/>
              <a:t>，称为源点，表示工程结束事件的顶点的出度为</a:t>
            </a:r>
            <a:r>
              <a:rPr lang="en-US" altLang="zh-CN" dirty="0"/>
              <a:t>0</a:t>
            </a:r>
            <a:r>
              <a:rPr lang="zh-CN" altLang="en-US" dirty="0"/>
              <a:t>，称为汇点，一个工程的</a:t>
            </a:r>
            <a:r>
              <a:rPr lang="en-US" altLang="zh-CN" dirty="0"/>
              <a:t>AOE</a:t>
            </a:r>
            <a:r>
              <a:rPr lang="zh-CN" altLang="en-US" dirty="0"/>
              <a:t>网应该是只有一个源点和一个汇点的有向无环图。由于</a:t>
            </a:r>
            <a:r>
              <a:rPr lang="en-US" altLang="zh-CN" dirty="0"/>
              <a:t>AOE</a:t>
            </a:r>
            <a:r>
              <a:rPr lang="zh-CN" altLang="en-US" dirty="0"/>
              <a:t>网中的某些活动可以并行进行，故完成整个工程的最短时间即从源点到汇点的最长路径的长度，这条路径称为关键路径，构成关键路径的弧即为关键活动。</a:t>
            </a:r>
            <a:endParaRPr lang="zh-CN" altLang="en-US" dirty="0"/>
          </a:p>
          <a:p>
            <a:r>
              <a:rPr lang="zh-CN" altLang="en-US" dirty="0"/>
              <a:t>假设</a:t>
            </a:r>
            <a:r>
              <a:rPr lang="en-US" altLang="zh-CN" dirty="0"/>
              <a:t>V0</a:t>
            </a:r>
            <a:r>
              <a:rPr lang="zh-CN" altLang="en-US" dirty="0"/>
              <a:t>为源点，</a:t>
            </a:r>
            <a:r>
              <a:rPr lang="en-US" altLang="zh-CN" dirty="0"/>
              <a:t>Vn-1</a:t>
            </a:r>
            <a:r>
              <a:rPr lang="zh-CN" altLang="en-US" dirty="0"/>
              <a:t>为汇点，事件的发生时刻为</a:t>
            </a:r>
            <a:r>
              <a:rPr lang="en-US" altLang="zh-CN" dirty="0"/>
              <a:t>0</a:t>
            </a:r>
            <a:r>
              <a:rPr lang="zh-CN" altLang="en-US" dirty="0"/>
              <a:t>时刻。从</a:t>
            </a:r>
            <a:r>
              <a:rPr lang="en-US" altLang="zh-CN" dirty="0"/>
              <a:t>V0</a:t>
            </a:r>
            <a:r>
              <a:rPr lang="zh-CN" altLang="en-US" dirty="0"/>
              <a:t>到</a:t>
            </a:r>
            <a:r>
              <a:rPr lang="en-US" altLang="zh-CN" dirty="0"/>
              <a:t>Vi</a:t>
            </a:r>
            <a:r>
              <a:rPr lang="zh-CN" altLang="en-US" dirty="0"/>
              <a:t>的最长路径叫做事件的最早发生时间，</a:t>
            </a:r>
            <a:r>
              <a:rPr lang="en-US" altLang="zh-CN" dirty="0"/>
              <a:t>e(</a:t>
            </a:r>
            <a:r>
              <a:rPr lang="en-US" altLang="zh-CN" dirty="0" err="1"/>
              <a:t>i</a:t>
            </a:r>
            <a:r>
              <a:rPr lang="en-US" altLang="zh-CN" dirty="0"/>
              <a:t>)</a:t>
            </a:r>
            <a:r>
              <a:rPr lang="zh-CN" altLang="en-US" dirty="0"/>
              <a:t>表示活动的最早开始时间，</a:t>
            </a:r>
            <a:r>
              <a:rPr lang="en-US" altLang="zh-CN" dirty="0"/>
              <a:t>l(</a:t>
            </a:r>
            <a:r>
              <a:rPr lang="en-US" altLang="zh-CN" dirty="0" err="1"/>
              <a:t>i</a:t>
            </a:r>
            <a:r>
              <a:rPr lang="en-US" altLang="zh-CN" dirty="0"/>
              <a:t>)</a:t>
            </a:r>
            <a:r>
              <a:rPr lang="zh-CN" altLang="en-US" dirty="0"/>
              <a:t>表示活动的最晚开始时间，指的是在不推迟整个工程的前提下，活动最晚必须开始的时间。当</a:t>
            </a:r>
            <a:r>
              <a:rPr lang="en-US" altLang="zh-CN" dirty="0"/>
              <a:t>e(</a:t>
            </a:r>
            <a:r>
              <a:rPr lang="en-US" altLang="zh-CN" dirty="0" err="1"/>
              <a:t>i</a:t>
            </a:r>
            <a:r>
              <a:rPr lang="en-US" altLang="zh-CN" dirty="0"/>
              <a:t>)=l(</a:t>
            </a:r>
            <a:r>
              <a:rPr lang="en-US" altLang="zh-CN" dirty="0" err="1"/>
              <a:t>i</a:t>
            </a:r>
            <a:r>
              <a:rPr lang="en-US" altLang="zh-CN" dirty="0"/>
              <a:t>),</a:t>
            </a:r>
            <a:r>
              <a:rPr lang="zh-CN" altLang="en-US" dirty="0"/>
              <a:t>称为关键活动。提前完成非关键活动并不能加快工程的进度，如果要缩短整个工期，必须首先找到关键路径，提高关键活动的工效。</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6.6.2 </a:t>
            </a:r>
            <a:r>
              <a:rPr lang="zh-CN" altLang="en-US" dirty="0"/>
              <a:t>关键路径</a:t>
            </a:r>
            <a:endParaRPr lang="zh-CN" altLang="en-US" dirty="0"/>
          </a:p>
        </p:txBody>
      </p:sp>
      <p:sp>
        <p:nvSpPr>
          <p:cNvPr id="3" name="内容占位符 2"/>
          <p:cNvSpPr>
            <a:spLocks noGrp="1"/>
          </p:cNvSpPr>
          <p:nvPr>
            <p:ph idx="1"/>
          </p:nvPr>
        </p:nvSpPr>
        <p:spPr/>
        <p:txBody>
          <a:bodyPr>
            <a:normAutofit/>
          </a:bodyPr>
          <a:lstStyle/>
          <a:p>
            <a:r>
              <a:rPr lang="zh-CN" altLang="en-US" dirty="0"/>
              <a:t>根据事件的最早发生时间和最晚发生时间的定义可以采用下列步骤求得关键活动。</a:t>
            </a:r>
            <a:endParaRPr lang="zh-CN" altLang="en-US" dirty="0"/>
          </a:p>
          <a:p>
            <a:pPr lvl="1"/>
            <a:r>
              <a:rPr lang="en-US" altLang="zh-CN" dirty="0"/>
              <a:t>(1)</a:t>
            </a:r>
            <a:r>
              <a:rPr lang="zh-CN" altLang="en-US" dirty="0"/>
              <a:t>从源点出发，令</a:t>
            </a:r>
            <a:r>
              <a:rPr lang="en-US" altLang="zh-CN" dirty="0" err="1">
                <a:latin typeface="Cascadia Code" panose="020B0609020000020004"/>
              </a:rPr>
              <a:t>ve</a:t>
            </a:r>
            <a:r>
              <a:rPr lang="en-US" altLang="zh-CN" dirty="0">
                <a:latin typeface="Cascadia Code" panose="020B0609020000020004"/>
              </a:rPr>
              <a:t>(0)=0</a:t>
            </a:r>
            <a:r>
              <a:rPr lang="zh-CN" altLang="en-US" dirty="0"/>
              <a:t>，其余各顶点的</a:t>
            </a:r>
            <a:r>
              <a:rPr lang="en-US" altLang="zh-CN" dirty="0" err="1">
                <a:latin typeface="Cascadia Code" panose="020B0609020000020004"/>
              </a:rPr>
              <a:t>ve</a:t>
            </a:r>
            <a:r>
              <a:rPr lang="en-US" altLang="zh-CN" dirty="0">
                <a:latin typeface="Cascadia Code" panose="020B0609020000020004"/>
              </a:rPr>
              <a:t>(j)=max(</a:t>
            </a:r>
            <a:r>
              <a:rPr lang="en-US" altLang="zh-CN" dirty="0" err="1">
                <a:latin typeface="Cascadia Code" panose="020B0609020000020004"/>
              </a:rPr>
              <a:t>ve</a:t>
            </a:r>
            <a:r>
              <a:rPr lang="en-US" altLang="zh-CN" dirty="0">
                <a:latin typeface="Cascadia Code" panose="020B0609020000020004"/>
              </a:rPr>
              <a:t>(</a:t>
            </a:r>
            <a:r>
              <a:rPr lang="en-US" altLang="zh-CN" dirty="0" err="1">
                <a:latin typeface="Cascadia Code" panose="020B0609020000020004"/>
              </a:rPr>
              <a:t>i</a:t>
            </a:r>
            <a:r>
              <a:rPr lang="en-US" altLang="zh-CN" dirty="0">
                <a:latin typeface="Cascadia Code" panose="020B0609020000020004"/>
              </a:rPr>
              <a:t>)+|</a:t>
            </a:r>
            <a:r>
              <a:rPr lang="en-US" altLang="zh-CN" dirty="0" err="1">
                <a:latin typeface="Cascadia Code" panose="020B0609020000020004"/>
              </a:rPr>
              <a:t>i,l</a:t>
            </a:r>
            <a:r>
              <a:rPr lang="en-US" altLang="zh-CN" dirty="0">
                <a:latin typeface="Cascadia Code" panose="020B0609020000020004"/>
              </a:rPr>
              <a:t>|)</a:t>
            </a:r>
            <a:r>
              <a:rPr lang="zh-CN" altLang="en-US" dirty="0"/>
              <a:t>，其中，</a:t>
            </a:r>
            <a:r>
              <a:rPr lang="en-US" altLang="zh-CN" dirty="0"/>
              <a:t>T</a:t>
            </a:r>
            <a:r>
              <a:rPr lang="zh-CN" altLang="en-US" dirty="0"/>
              <a:t>是所有以第</a:t>
            </a:r>
            <a:r>
              <a:rPr lang="en-US" altLang="zh-CN" dirty="0"/>
              <a:t>j</a:t>
            </a:r>
            <a:r>
              <a:rPr lang="zh-CN" altLang="en-US" dirty="0"/>
              <a:t>个顶点为头的弧的集合。若得到的拓扑排序序列中顶点的个数小于网中的顶点个数</a:t>
            </a:r>
            <a:r>
              <a:rPr lang="en-US" altLang="zh-CN" dirty="0"/>
              <a:t>n</a:t>
            </a:r>
            <a:r>
              <a:rPr lang="zh-CN" altLang="en-US" dirty="0"/>
              <a:t>，则说明网中有环，不能求出关键路径，算法结束。</a:t>
            </a:r>
            <a:endParaRPr lang="zh-CN" altLang="en-US" dirty="0"/>
          </a:p>
          <a:p>
            <a:pPr lvl="1"/>
            <a:r>
              <a:rPr lang="en-US" altLang="zh-CN" dirty="0"/>
              <a:t>(2)</a:t>
            </a:r>
            <a:r>
              <a:rPr lang="zh-CN" altLang="en-US" dirty="0"/>
              <a:t> 从</a:t>
            </a:r>
            <a:r>
              <a:rPr lang="en-US" altLang="zh-CN" dirty="0">
                <a:latin typeface="Cascadia Code" panose="020B0609020000020004"/>
              </a:rPr>
              <a:t>Vn-1</a:t>
            </a:r>
            <a:r>
              <a:rPr lang="zh-CN" altLang="en-US" dirty="0"/>
              <a:t>汇点出发，令</a:t>
            </a:r>
            <a:r>
              <a:rPr lang="en-US" altLang="zh-CN" dirty="0" err="1">
                <a:latin typeface="Cascadia Code" panose="020B0609020000020004"/>
              </a:rPr>
              <a:t>vl</a:t>
            </a:r>
            <a:r>
              <a:rPr lang="en-US" altLang="zh-CN" dirty="0">
                <a:latin typeface="Cascadia Code" panose="020B0609020000020004"/>
              </a:rPr>
              <a:t>(n-1)=</a:t>
            </a:r>
            <a:r>
              <a:rPr lang="en-US" altLang="zh-CN" dirty="0" err="1">
                <a:latin typeface="Cascadia Code" panose="020B0609020000020004"/>
              </a:rPr>
              <a:t>ve</a:t>
            </a:r>
            <a:r>
              <a:rPr lang="en-US" altLang="zh-CN" dirty="0">
                <a:latin typeface="Cascadia Code" panose="020B0609020000020004"/>
              </a:rPr>
              <a:t>(n-1)</a:t>
            </a:r>
            <a:r>
              <a:rPr lang="zh-CN" altLang="en-US" dirty="0"/>
              <a:t>，按逆拓扑排序求其余各顶点允许的最晚开始时间为</a:t>
            </a:r>
            <a:r>
              <a:rPr lang="en-US" altLang="zh-CN" dirty="0" err="1">
                <a:latin typeface="Cascadia Code" panose="020B0609020000020004"/>
              </a:rPr>
              <a:t>vl</a:t>
            </a:r>
            <a:r>
              <a:rPr lang="en-US" altLang="zh-CN" dirty="0">
                <a:latin typeface="Cascadia Code" panose="020B0609020000020004"/>
              </a:rPr>
              <a:t>(</a:t>
            </a:r>
            <a:r>
              <a:rPr lang="en-US" altLang="zh-CN" dirty="0" err="1">
                <a:latin typeface="Cascadia Code" panose="020B0609020000020004"/>
              </a:rPr>
              <a:t>i</a:t>
            </a:r>
            <a:r>
              <a:rPr lang="en-US" altLang="zh-CN" dirty="0">
                <a:latin typeface="Cascadia Code" panose="020B0609020000020004"/>
              </a:rPr>
              <a:t>)=min(</a:t>
            </a:r>
            <a:r>
              <a:rPr lang="en-US" altLang="zh-CN" dirty="0" err="1">
                <a:latin typeface="Cascadia Code" panose="020B0609020000020004"/>
              </a:rPr>
              <a:t>vl</a:t>
            </a:r>
            <a:r>
              <a:rPr lang="en-US" altLang="zh-CN" dirty="0">
                <a:latin typeface="Cascadia Code" panose="020B0609020000020004"/>
              </a:rPr>
              <a:t>(j)-|</a:t>
            </a:r>
            <a:r>
              <a:rPr lang="en-US" altLang="zh-CN" dirty="0" err="1">
                <a:latin typeface="Cascadia Code" panose="020B0609020000020004"/>
              </a:rPr>
              <a:t>i,j</a:t>
            </a:r>
            <a:r>
              <a:rPr lang="en-US" altLang="zh-CN" dirty="0">
                <a:latin typeface="Cascadia Code" panose="020B0609020000020004"/>
              </a:rPr>
              <a:t>|)</a:t>
            </a:r>
            <a:r>
              <a:rPr lang="zh-CN" altLang="en-US" dirty="0"/>
              <a:t>，其中，</a:t>
            </a:r>
            <a:r>
              <a:rPr lang="en-US" altLang="zh-CN" dirty="0"/>
              <a:t>S</a:t>
            </a:r>
            <a:r>
              <a:rPr lang="zh-CN" altLang="en-US" dirty="0"/>
              <a:t>是所有以第</a:t>
            </a:r>
            <a:r>
              <a:rPr lang="en-US" altLang="zh-CN" dirty="0"/>
              <a:t>j</a:t>
            </a:r>
            <a:r>
              <a:rPr lang="zh-CN" altLang="en-US" dirty="0"/>
              <a:t>个顶点为尾的弧的集合。</a:t>
            </a:r>
            <a:endParaRPr lang="zh-CN" altLang="en-US" dirty="0"/>
          </a:p>
          <a:p>
            <a:pPr lvl="1"/>
            <a:r>
              <a:rPr lang="en-US" altLang="zh-CN" dirty="0"/>
              <a:t>(3)</a:t>
            </a:r>
            <a:r>
              <a:rPr lang="zh-CN" altLang="en-US" dirty="0"/>
              <a:t>每一项活动</a:t>
            </a:r>
            <a:r>
              <a:rPr lang="en-US" altLang="zh-CN" dirty="0"/>
              <a:t>ai</a:t>
            </a:r>
            <a:r>
              <a:rPr lang="zh-CN" altLang="en-US" dirty="0"/>
              <a:t>的最早开始时间为</a:t>
            </a:r>
            <a:r>
              <a:rPr lang="en-US" altLang="zh-CN" dirty="0">
                <a:latin typeface="Cascadia Code" panose="020B0609020000020004"/>
              </a:rPr>
              <a:t>e(</a:t>
            </a:r>
            <a:r>
              <a:rPr lang="en-US" altLang="zh-CN" dirty="0" err="1">
                <a:latin typeface="Cascadia Code" panose="020B0609020000020004"/>
              </a:rPr>
              <a:t>i</a:t>
            </a:r>
            <a:r>
              <a:rPr lang="en-US" altLang="zh-CN" dirty="0">
                <a:latin typeface="Cascadia Code" panose="020B0609020000020004"/>
              </a:rPr>
              <a:t>)=</a:t>
            </a:r>
            <a:r>
              <a:rPr lang="en-US" altLang="zh-CN" dirty="0" err="1">
                <a:latin typeface="Cascadia Code" panose="020B0609020000020004"/>
              </a:rPr>
              <a:t>ve</a:t>
            </a:r>
            <a:r>
              <a:rPr lang="en-US" altLang="zh-CN" dirty="0">
                <a:latin typeface="Cascadia Code" panose="020B0609020000020004"/>
              </a:rPr>
              <a:t>(j)</a:t>
            </a:r>
            <a:r>
              <a:rPr lang="zh-CN" altLang="en-US" dirty="0"/>
              <a:t>，最晚开始时间为</a:t>
            </a:r>
            <a:r>
              <a:rPr lang="en-US" altLang="zh-CN" dirty="0">
                <a:latin typeface="Cascadia Code" panose="020B0609020000020004"/>
              </a:rPr>
              <a:t>l(</a:t>
            </a:r>
            <a:r>
              <a:rPr lang="en-US" altLang="zh-CN" dirty="0" err="1">
                <a:latin typeface="Cascadia Code" panose="020B0609020000020004"/>
              </a:rPr>
              <a:t>i</a:t>
            </a:r>
            <a:r>
              <a:rPr lang="en-US" altLang="zh-CN" dirty="0">
                <a:latin typeface="Cascadia Code" panose="020B0609020000020004"/>
              </a:rPr>
              <a:t>)=</a:t>
            </a:r>
            <a:r>
              <a:rPr lang="en-US" altLang="zh-CN" dirty="0" err="1">
                <a:latin typeface="Cascadia Code" panose="020B0609020000020004"/>
              </a:rPr>
              <a:t>vl</a:t>
            </a:r>
            <a:r>
              <a:rPr lang="en-US" altLang="zh-CN" dirty="0">
                <a:latin typeface="Cascadia Code" panose="020B0609020000020004"/>
              </a:rPr>
              <a:t>(j)-|</a:t>
            </a:r>
            <a:r>
              <a:rPr lang="en-US" altLang="zh-CN" dirty="0" err="1">
                <a:latin typeface="Cascadia Code" panose="020B0609020000020004"/>
              </a:rPr>
              <a:t>i,j</a:t>
            </a:r>
            <a:r>
              <a:rPr lang="en-US" altLang="zh-CN" dirty="0">
                <a:latin typeface="Cascadia Code" panose="020B0609020000020004"/>
              </a:rPr>
              <a:t>|</a:t>
            </a:r>
            <a:r>
              <a:rPr lang="zh-CN" altLang="en-US" dirty="0"/>
              <a:t>。若</a:t>
            </a:r>
            <a:r>
              <a:rPr lang="en-US" altLang="zh-CN" dirty="0">
                <a:latin typeface="Cascadia Code" panose="020B0609020000020004"/>
              </a:rPr>
              <a:t>ai</a:t>
            </a:r>
            <a:r>
              <a:rPr lang="zh-CN" altLang="en-US" dirty="0"/>
              <a:t>满足</a:t>
            </a:r>
            <a:r>
              <a:rPr lang="en-US" altLang="zh-CN" dirty="0">
                <a:latin typeface="Cascadia Code" panose="020B0609020000020004"/>
              </a:rPr>
              <a:t>e(</a:t>
            </a:r>
            <a:r>
              <a:rPr lang="en-US" altLang="zh-CN" dirty="0" err="1">
                <a:latin typeface="Cascadia Code" panose="020B0609020000020004"/>
              </a:rPr>
              <a:t>i</a:t>
            </a:r>
            <a:r>
              <a:rPr lang="en-US" altLang="zh-CN" dirty="0">
                <a:latin typeface="Cascadia Code" panose="020B0609020000020004"/>
              </a:rPr>
              <a:t>)=l(</a:t>
            </a:r>
            <a:r>
              <a:rPr lang="en-US" altLang="zh-CN" dirty="0" err="1">
                <a:latin typeface="Cascadia Code" panose="020B0609020000020004"/>
              </a:rPr>
              <a:t>i</a:t>
            </a:r>
            <a:r>
              <a:rPr lang="en-US" altLang="zh-CN" dirty="0">
                <a:latin typeface="Cascadia Code" panose="020B0609020000020004"/>
              </a:rPr>
              <a:t>),</a:t>
            </a:r>
            <a:r>
              <a:rPr lang="zh-CN" altLang="en-US" dirty="0"/>
              <a:t>则它是关键活动。</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6.6.2 </a:t>
            </a:r>
            <a:r>
              <a:rPr lang="zh-CN" altLang="en-US" dirty="0"/>
              <a:t>关键路径</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889078" y="1061731"/>
            <a:ext cx="4413844" cy="571998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en-US" altLang="zh-CN" dirty="0"/>
              <a:t>6.6.2 </a:t>
            </a:r>
            <a:r>
              <a:rPr lang="zh-CN" altLang="en-US" dirty="0"/>
              <a:t>关键路径</a:t>
            </a:r>
            <a:endParaRPr lang="zh-CN" altLang="en-US" dirty="0"/>
          </a:p>
        </p:txBody>
      </p:sp>
      <p:pic>
        <p:nvPicPr>
          <p:cNvPr id="6" name="内容占位符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491628" y="1244600"/>
            <a:ext cx="5208745" cy="4932363"/>
          </a:xfrm>
        </p:spPr>
      </p:pic>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dirty="0"/>
          </a:p>
        </p:txBody>
      </p:sp>
      <p:sp>
        <p:nvSpPr>
          <p:cNvPr id="3" name="文本占位符 2"/>
          <p:cNvSpPr>
            <a:spLocks noGrp="1"/>
          </p:cNvSpPr>
          <p:nvPr>
            <p:ph type="body" sz="quarter" idx="11"/>
          </p:nvPr>
        </p:nvSpPr>
        <p:spPr>
          <a:xfrm>
            <a:off x="4873175" y="2533966"/>
            <a:ext cx="5325533" cy="723900"/>
          </a:xfrm>
        </p:spPr>
        <p:txBody>
          <a:bodyPr/>
          <a:lstStyle/>
          <a:p>
            <a:r>
              <a:rPr lang="zh-CN" altLang="en-US" dirty="0"/>
              <a:t>小结</a:t>
            </a:r>
            <a:endParaRPr lang="zh-CN" altLang="en-US" dirty="0"/>
          </a:p>
        </p:txBody>
      </p:sp>
      <p:sp>
        <p:nvSpPr>
          <p:cNvPr id="4" name="文本占位符 3"/>
          <p:cNvSpPr>
            <a:spLocks noGrp="1"/>
          </p:cNvSpPr>
          <p:nvPr>
            <p:ph type="body" sz="quarter" idx="12"/>
          </p:nvPr>
        </p:nvSpPr>
        <p:spPr>
          <a:xfrm>
            <a:off x="5308599" y="3606800"/>
            <a:ext cx="5325533" cy="1854200"/>
          </a:xfrm>
        </p:spPr>
        <p:txBody>
          <a:bodyPr/>
          <a:lstStyle/>
          <a:p>
            <a:endParaRPr lang="en-US" altLang="zh-C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zh-CN" altLang="en-US" dirty="0"/>
              <a:t>小结</a:t>
            </a:r>
            <a:endParaRPr lang="zh-CN" altLang="en-US" dirty="0"/>
          </a:p>
        </p:txBody>
      </p:sp>
      <p:sp>
        <p:nvSpPr>
          <p:cNvPr id="3" name="内容占位符 2"/>
          <p:cNvSpPr>
            <a:spLocks noGrp="1"/>
          </p:cNvSpPr>
          <p:nvPr>
            <p:ph idx="1"/>
          </p:nvPr>
        </p:nvSpPr>
        <p:spPr>
          <a:xfrm>
            <a:off x="180000" y="1244600"/>
            <a:ext cx="11833200" cy="5111749"/>
          </a:xfrm>
        </p:spPr>
        <p:txBody>
          <a:bodyPr>
            <a:normAutofit/>
          </a:bodyPr>
          <a:lstStyle/>
          <a:p>
            <a:r>
              <a:rPr lang="en-US" altLang="zh-CN" dirty="0"/>
              <a:t>(1) </a:t>
            </a:r>
            <a:r>
              <a:rPr lang="zh-CN" altLang="en-US" dirty="0"/>
              <a:t>图是一种数据元素间具有“多对多”关系的非线性数据结构，由顶点集</a:t>
            </a:r>
            <a:r>
              <a:rPr lang="en-US" altLang="zh-CN" dirty="0"/>
              <a:t>V</a:t>
            </a:r>
            <a:r>
              <a:rPr lang="zh-CN" altLang="en-US" dirty="0"/>
              <a:t>和边集</a:t>
            </a:r>
            <a:r>
              <a:rPr lang="en-US" altLang="zh-CN" dirty="0"/>
              <a:t>E</a:t>
            </a:r>
            <a:r>
              <a:rPr lang="zh-CN" altLang="en-US" dirty="0"/>
              <a:t>组成，记作</a:t>
            </a:r>
            <a:r>
              <a:rPr lang="en-US" altLang="zh-CN" dirty="0">
                <a:latin typeface="Cambria Math" panose="02040503050406030204" pitchFamily="18" charset="0"/>
                <a:ea typeface="Cambria Math" panose="02040503050406030204" pitchFamily="18" charset="0"/>
              </a:rPr>
              <a:t>G=(V,E)</a:t>
            </a:r>
            <a:r>
              <a:rPr lang="zh-CN" altLang="en-US" dirty="0"/>
              <a:t>。</a:t>
            </a:r>
            <a:endParaRPr lang="zh-CN" altLang="en-US" dirty="0"/>
          </a:p>
          <a:p>
            <a:r>
              <a:rPr lang="en-US" altLang="zh-CN" dirty="0"/>
              <a:t>(2) </a:t>
            </a:r>
            <a:r>
              <a:rPr lang="zh-CN" altLang="en-US" dirty="0"/>
              <a:t>图的常见存储结构有邻接矩阵、邻接表、十字链表</a:t>
            </a:r>
            <a:r>
              <a:rPr lang="en-US" altLang="zh-CN" dirty="0"/>
              <a:t>3</a:t>
            </a:r>
            <a:r>
              <a:rPr lang="zh-CN" altLang="en-US" dirty="0"/>
              <a:t>种。邻接矩阵是图，用二维数组存储； 邻接表和十字链表是图的链式存储结构。</a:t>
            </a:r>
            <a:endParaRPr lang="zh-CN" altLang="en-US" dirty="0"/>
          </a:p>
          <a:p>
            <a:r>
              <a:rPr lang="en-US" altLang="zh-CN" dirty="0"/>
              <a:t>(3) </a:t>
            </a:r>
            <a:r>
              <a:rPr lang="zh-CN" altLang="en-US" dirty="0"/>
              <a:t>图的遍历是指从图的任意一个顶点出发对图的每个顶点访问且仅访问一次的过程。图的遍历方式分为两种，即广度优先搜索遍历和深度优先搜索遍历。</a:t>
            </a:r>
            <a:endParaRPr lang="zh-CN" altLang="en-US" dirty="0"/>
          </a:p>
          <a:p>
            <a:r>
              <a:rPr lang="en-US" altLang="zh-CN" dirty="0"/>
              <a:t>(4) </a:t>
            </a:r>
            <a:r>
              <a:rPr lang="zh-CN" altLang="en-US" dirty="0"/>
              <a:t>由广度优先遍历和深度优先遍历得到的生成树分别称为广度优先生成树和深度优先生成树。在一个网的所有生成树中权值总和最小的生成树称为最小代价生成树，简称为最小生成树，最小生成树不一定唯一。建立最小生成树的方法有</a:t>
            </a:r>
            <a:r>
              <a:rPr lang="en-US" altLang="zh-CN" dirty="0"/>
              <a:t>Kruskal</a:t>
            </a:r>
            <a:r>
              <a:rPr lang="zh-CN" altLang="en-US" dirty="0"/>
              <a:t>算法和</a:t>
            </a:r>
            <a:r>
              <a:rPr lang="en-US" altLang="zh-CN" dirty="0"/>
              <a:t>Prim</a:t>
            </a:r>
            <a:r>
              <a:rPr lang="zh-CN" altLang="en-US" dirty="0"/>
              <a:t>算法。</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zh-CN" altLang="en-US" dirty="0"/>
              <a:t>小结</a:t>
            </a:r>
            <a:endParaRPr lang="zh-CN" altLang="en-US" dirty="0"/>
          </a:p>
        </p:txBody>
      </p:sp>
      <p:sp>
        <p:nvSpPr>
          <p:cNvPr id="3" name="内容占位符 2"/>
          <p:cNvSpPr>
            <a:spLocks noGrp="1"/>
          </p:cNvSpPr>
          <p:nvPr>
            <p:ph idx="1"/>
          </p:nvPr>
        </p:nvSpPr>
        <p:spPr>
          <a:xfrm>
            <a:off x="180000" y="1244600"/>
            <a:ext cx="11833200" cy="5253400"/>
          </a:xfrm>
        </p:spPr>
        <p:txBody>
          <a:bodyPr>
            <a:normAutofit/>
          </a:bodyPr>
          <a:lstStyle/>
          <a:p>
            <a:r>
              <a:rPr lang="en-US" altLang="zh-CN" sz="2800" dirty="0"/>
              <a:t>(5) </a:t>
            </a:r>
            <a:r>
              <a:rPr lang="zh-CN" altLang="en-US" sz="2800" dirty="0"/>
              <a:t>最短路径的求解问题主要分为两类，即求某个顶点到其余顶点的最短路径、求每一对顶点间的最短路径，可以分别使用</a:t>
            </a:r>
            <a:r>
              <a:rPr lang="en-US" altLang="zh-CN" sz="2800" dirty="0"/>
              <a:t>Dijkstra</a:t>
            </a:r>
            <a:r>
              <a:rPr lang="zh-CN" altLang="en-US" sz="2800" dirty="0"/>
              <a:t>算法和</a:t>
            </a:r>
            <a:r>
              <a:rPr lang="en-US" altLang="zh-CN" sz="2800" dirty="0"/>
              <a:t>Floyd</a:t>
            </a:r>
            <a:r>
              <a:rPr lang="zh-CN" altLang="en-US" sz="2800" dirty="0"/>
              <a:t>算法解决这两类问题。</a:t>
            </a:r>
            <a:endParaRPr lang="zh-CN" altLang="en-US" sz="2800" dirty="0"/>
          </a:p>
          <a:p>
            <a:r>
              <a:rPr lang="en-US" altLang="zh-CN" sz="2800" dirty="0"/>
              <a:t>(6) </a:t>
            </a:r>
            <a:r>
              <a:rPr lang="zh-CN" altLang="en-US" sz="2800" dirty="0"/>
              <a:t>用户可以使用有向图表示活动之间相互制约的关系，顶点表示活动，弧表示活动之间的优先关系，这种有向图称为顶点活动网</a:t>
            </a:r>
            <a:r>
              <a:rPr lang="en-US" altLang="zh-CN" sz="2800" dirty="0"/>
              <a:t>(AOV)</a:t>
            </a:r>
            <a:r>
              <a:rPr lang="zh-CN" altLang="en-US" sz="2800" dirty="0"/>
              <a:t>。若在</a:t>
            </a:r>
            <a:r>
              <a:rPr lang="en-US" altLang="zh-CN" sz="2800" dirty="0"/>
              <a:t>AOV</a:t>
            </a:r>
            <a:r>
              <a:rPr lang="zh-CN" altLang="en-US" sz="2800" dirty="0"/>
              <a:t>网中存在一条从顶点</a:t>
            </a:r>
            <a:r>
              <a:rPr lang="en-US" altLang="zh-CN" sz="2800" dirty="0"/>
              <a:t>u</a:t>
            </a:r>
            <a:r>
              <a:rPr lang="zh-CN" altLang="en-US" sz="2800" dirty="0"/>
              <a:t>到顶点</a:t>
            </a:r>
            <a:r>
              <a:rPr lang="en-US" altLang="zh-CN" sz="2800" dirty="0"/>
              <a:t>v</a:t>
            </a:r>
            <a:r>
              <a:rPr lang="zh-CN" altLang="en-US" sz="2800" dirty="0"/>
              <a:t>的弧，则活动</a:t>
            </a:r>
            <a:r>
              <a:rPr lang="en-US" altLang="zh-CN" sz="2800" dirty="0"/>
              <a:t>u</a:t>
            </a:r>
            <a:r>
              <a:rPr lang="zh-CN" altLang="en-US" sz="2800" dirty="0"/>
              <a:t>一定优先于活动</a:t>
            </a:r>
            <a:r>
              <a:rPr lang="en-US" altLang="zh-CN" sz="2800" dirty="0"/>
              <a:t>v</a:t>
            </a:r>
            <a:r>
              <a:rPr lang="zh-CN" altLang="en-US" sz="2800" dirty="0"/>
              <a:t>发生。</a:t>
            </a:r>
            <a:endParaRPr lang="zh-CN" altLang="en-US" sz="2800" dirty="0"/>
          </a:p>
          <a:p>
            <a:r>
              <a:rPr lang="en-US" altLang="zh-CN" sz="2800" dirty="0"/>
              <a:t>(7) </a:t>
            </a:r>
            <a:r>
              <a:rPr lang="zh-CN" altLang="en-US" sz="2800" dirty="0"/>
              <a:t>若以弧表示活动，弧上的权值表示进行该项活动需要的时间，顶点表示事件，这种有向网称为边活动网络，简称为</a:t>
            </a:r>
            <a:r>
              <a:rPr lang="en-US" altLang="zh-CN" sz="2800" dirty="0"/>
              <a:t>AOE</a:t>
            </a:r>
            <a:r>
              <a:rPr lang="zh-CN" altLang="en-US" sz="2800" dirty="0"/>
              <a:t>网。</a:t>
            </a:r>
            <a:r>
              <a:rPr lang="en-US" altLang="zh-CN" sz="2800" dirty="0"/>
              <a:t>AOE</a:t>
            </a:r>
            <a:r>
              <a:rPr lang="zh-CN" altLang="en-US" sz="2800" dirty="0"/>
              <a:t>网络常用来表示工程的进行，一个工程的</a:t>
            </a:r>
            <a:r>
              <a:rPr lang="en-US" altLang="zh-CN" sz="2800" dirty="0"/>
              <a:t>AOE</a:t>
            </a:r>
            <a:r>
              <a:rPr lang="zh-CN" altLang="en-US" sz="2800" dirty="0"/>
              <a:t>网应该是只有一个源点和一个汇点的有向无环图。由于</a:t>
            </a:r>
            <a:r>
              <a:rPr lang="en-US" altLang="zh-CN" sz="2800" dirty="0"/>
              <a:t>AOE</a:t>
            </a:r>
            <a:r>
              <a:rPr lang="zh-CN" altLang="en-US" sz="2800" dirty="0"/>
              <a:t>网中的某些活动可以并行进行，故完成整个工程的最短时间即从源点到汇点的最长路径的长度，这条路径称为关键路径，构成关键路径的弧即为关键活动。</a:t>
            </a:r>
            <a:endParaRPr lang="zh-CN" altLang="en-US" sz="2800"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Template>
  <TotalTime>0</TotalTime>
  <Words>11379</Words>
  <Application>WPS 演示</Application>
  <PresentationFormat>宽屏</PresentationFormat>
  <Paragraphs>718</Paragraphs>
  <Slides>82</Slides>
  <Notes>0</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82</vt:i4>
      </vt:variant>
    </vt:vector>
  </HeadingPairs>
  <TitlesOfParts>
    <vt:vector size="99" baseType="lpstr">
      <vt:lpstr>Arial</vt:lpstr>
      <vt:lpstr>宋体</vt:lpstr>
      <vt:lpstr>Wingdings</vt:lpstr>
      <vt:lpstr>Arial</vt:lpstr>
      <vt:lpstr>黑体</vt:lpstr>
      <vt:lpstr>Cambria Math</vt:lpstr>
      <vt:lpstr>微软雅黑</vt:lpstr>
      <vt:lpstr>Times New Roman</vt:lpstr>
      <vt:lpstr>Arial Unicode MS</vt:lpstr>
      <vt:lpstr>等线</vt:lpstr>
      <vt:lpstr>Cascadia Code</vt:lpstr>
      <vt:lpstr>Cambria</vt:lpstr>
      <vt:lpstr>Cascadia Code</vt:lpstr>
      <vt:lpstr>Calibri</vt:lpstr>
      <vt:lpstr>功能页</vt:lpstr>
      <vt:lpstr>内容样式</vt:lpstr>
      <vt:lpstr>1_内容样式</vt:lpstr>
      <vt:lpstr>第6章 图</vt:lpstr>
      <vt:lpstr>目录</vt:lpstr>
      <vt:lpstr>PowerPoint 演示文稿</vt:lpstr>
      <vt:lpstr>6.1 概述</vt:lpstr>
      <vt:lpstr>6.1.1 图的基本概念</vt:lpstr>
      <vt:lpstr>6.1.1 图的基本概念</vt:lpstr>
      <vt:lpstr>6.1.1 图的基本概念</vt:lpstr>
      <vt:lpstr>6.1.1 图的基本概念</vt:lpstr>
      <vt:lpstr>6.1.1 图的基本概念</vt:lpstr>
      <vt:lpstr>6.1.1 图的基本概念</vt:lpstr>
      <vt:lpstr>6.1.1 图的基本概念</vt:lpstr>
      <vt:lpstr>6.1.2 图的抽象数据类型描述</vt:lpstr>
      <vt:lpstr>PowerPoint 演示文稿</vt:lpstr>
      <vt:lpstr>6.2 概述</vt:lpstr>
      <vt:lpstr>6.2.1 邻接矩阵</vt:lpstr>
      <vt:lpstr>6.2.1 邻接矩阵</vt:lpstr>
      <vt:lpstr>6.2.1 邻接矩阵</vt:lpstr>
      <vt:lpstr>6.2.1 邻接矩阵</vt:lpstr>
      <vt:lpstr>6.2.1 邻接矩阵</vt:lpstr>
      <vt:lpstr>6.2.1 邻接矩阵</vt:lpstr>
      <vt:lpstr>6.2.1 邻接矩阵</vt:lpstr>
      <vt:lpstr>6.2.1 邻接矩阵</vt:lpstr>
      <vt:lpstr>6.2.1 邻接矩阵</vt:lpstr>
      <vt:lpstr>6.2.1 邻接矩阵</vt:lpstr>
      <vt:lpstr>6.2.1 邻接矩阵</vt:lpstr>
      <vt:lpstr>6.2.2 邻接表</vt:lpstr>
      <vt:lpstr>6.2.2 邻接表</vt:lpstr>
      <vt:lpstr>6.2.2 邻接表</vt:lpstr>
      <vt:lpstr>6.2.2 邻接表</vt:lpstr>
      <vt:lpstr>6.2.2 邻接表</vt:lpstr>
      <vt:lpstr>6.2.2 邻接表</vt:lpstr>
      <vt:lpstr>6.2.2 邻接表</vt:lpstr>
      <vt:lpstr>6.2.2 邻接表</vt:lpstr>
      <vt:lpstr>6.2.2 邻接表</vt:lpstr>
      <vt:lpstr>6.2.2 邻接表</vt:lpstr>
      <vt:lpstr>6.2.2 邻接表</vt:lpstr>
      <vt:lpstr>6.2.2 邻接表</vt:lpstr>
      <vt:lpstr>6.2.2 邻接表</vt:lpstr>
      <vt:lpstr>PowerPoint 演示文稿</vt:lpstr>
      <vt:lpstr>6.3 图的遍历</vt:lpstr>
      <vt:lpstr>6.3.1 图的广度优先搜索算法</vt:lpstr>
      <vt:lpstr>6.3.1 图的广度优先搜索算法</vt:lpstr>
      <vt:lpstr>6.3.1 图的广度优先搜索算法</vt:lpstr>
      <vt:lpstr>6.3.2 图的深度优先搜索算法</vt:lpstr>
      <vt:lpstr>6.3.2 图的深度优先搜索算法</vt:lpstr>
      <vt:lpstr>6.3 图的遍历</vt:lpstr>
      <vt:lpstr>6.3 图的遍历</vt:lpstr>
      <vt:lpstr>6.3 图的遍历</vt:lpstr>
      <vt:lpstr>6.3 图的遍历</vt:lpstr>
      <vt:lpstr>6.3 图的遍历</vt:lpstr>
      <vt:lpstr>6.3 图的遍历</vt:lpstr>
      <vt:lpstr>PowerPoint 演示文稿</vt:lpstr>
      <vt:lpstr>6.4.1 最小生成树的基本概念</vt:lpstr>
      <vt:lpstr>6.4.1 最小生成树的基本概念</vt:lpstr>
      <vt:lpstr>6.4.2 Kruskal算法</vt:lpstr>
      <vt:lpstr>6.4.3 Prim算法</vt:lpstr>
      <vt:lpstr>6.4.3 Prim算法</vt:lpstr>
      <vt:lpstr>6.4.3 Prim算法</vt:lpstr>
      <vt:lpstr>PowerPoint 演示文稿</vt:lpstr>
      <vt:lpstr>6.5 最短路径</vt:lpstr>
      <vt:lpstr>6.5.1 单源最短路径</vt:lpstr>
      <vt:lpstr>6.5.1 单源最短路径</vt:lpstr>
      <vt:lpstr>6.5.1 单源最短路径</vt:lpstr>
      <vt:lpstr>6.5.1 单源最短路径</vt:lpstr>
      <vt:lpstr>6.3 图的遍历</vt:lpstr>
      <vt:lpstr>6.3 图的遍历</vt:lpstr>
      <vt:lpstr>6.5.2 求任意两个顶点间的最短路径</vt:lpstr>
      <vt:lpstr>6.5.2 求任意两个顶点间的最短路径</vt:lpstr>
      <vt:lpstr>6.5.2 求任意两个顶点间的最短路径</vt:lpstr>
      <vt:lpstr>6.5.2 求任意两个顶点间的最短路径</vt:lpstr>
      <vt:lpstr>PowerPoint 演示文稿</vt:lpstr>
      <vt:lpstr>6.6 拓扑排序和关键路径</vt:lpstr>
      <vt:lpstr>6.6.1 拓扑排序</vt:lpstr>
      <vt:lpstr>6.6.1 拓扑排序</vt:lpstr>
      <vt:lpstr>6.6.1 拓扑排序</vt:lpstr>
      <vt:lpstr>6.6.2 关键路径</vt:lpstr>
      <vt:lpstr>6.6.2 关键路径</vt:lpstr>
      <vt:lpstr>6.6.2 关键路径</vt:lpstr>
      <vt:lpstr>6.6.2 关键路径</vt:lpstr>
      <vt:lpstr>PowerPoint 演示文稿</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云天</dc:creator>
  <cp:lastModifiedBy>邝昊鹏</cp:lastModifiedBy>
  <cp:revision>12</cp:revision>
  <dcterms:created xsi:type="dcterms:W3CDTF">2022-06-04T15:58:00Z</dcterms:created>
  <dcterms:modified xsi:type="dcterms:W3CDTF">2025-12-01T08:33:55Z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A8A2686550864B8380C449D8E72DC4C4_12</vt:lpwstr>
  </property>
  <property fmtid="{D5CDD505-2E9C-101B-9397-08002B2CF9AE}" pid="3" name="KSOProductBuildVer">
    <vt:lpwstr>2052-12.1.0.23542</vt:lpwstr>
  </property>
</Properties>
</file>