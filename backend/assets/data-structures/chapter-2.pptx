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 id="2147483662" r:id="rId4"/>
  </p:sldMasterIdLst>
  <p:notesMasterIdLst>
    <p:notesMasterId r:id="rId6"/>
  </p:notesMasterIdLst>
  <p:sldIdLst>
    <p:sldId id="338" r:id="rId5"/>
    <p:sldId id="257" r:id="rId7"/>
    <p:sldId id="259" r:id="rId8"/>
    <p:sldId id="267" r:id="rId9"/>
    <p:sldId id="268" r:id="rId10"/>
    <p:sldId id="269" r:id="rId11"/>
    <p:sldId id="270" r:id="rId12"/>
    <p:sldId id="260" r:id="rId13"/>
    <p:sldId id="271" r:id="rId14"/>
    <p:sldId id="272" r:id="rId15"/>
    <p:sldId id="273" r:id="rId16"/>
    <p:sldId id="274" r:id="rId17"/>
    <p:sldId id="275" r:id="rId18"/>
    <p:sldId id="276" r:id="rId19"/>
    <p:sldId id="277" r:id="rId20"/>
    <p:sldId id="279" r:id="rId21"/>
    <p:sldId id="278"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339" r:id="rId39"/>
    <p:sldId id="340" r:id="rId40"/>
    <p:sldId id="341" r:id="rId41"/>
    <p:sldId id="342" r:id="rId42"/>
    <p:sldId id="373" r:id="rId43"/>
    <p:sldId id="374" r:id="rId44"/>
    <p:sldId id="375" r:id="rId45"/>
    <p:sldId id="372" r:id="rId46"/>
    <p:sldId id="376" r:id="rId47"/>
    <p:sldId id="377" r:id="rId48"/>
    <p:sldId id="378" r:id="rId49"/>
    <p:sldId id="379" r:id="rId50"/>
    <p:sldId id="380" r:id="rId51"/>
    <p:sldId id="381" r:id="rId52"/>
    <p:sldId id="382" r:id="rId53"/>
    <p:sldId id="383" r:id="rId54"/>
    <p:sldId id="384" r:id="rId55"/>
    <p:sldId id="385" r:id="rId56"/>
    <p:sldId id="386" r:id="rId57"/>
    <p:sldId id="387" r:id="rId58"/>
    <p:sldId id="343" r:id="rId59"/>
    <p:sldId id="344" r:id="rId60"/>
    <p:sldId id="345" r:id="rId61"/>
    <p:sldId id="388" r:id="rId62"/>
    <p:sldId id="389" r:id="rId63"/>
    <p:sldId id="390" r:id="rId64"/>
    <p:sldId id="391" r:id="rId65"/>
    <p:sldId id="392" r:id="rId66"/>
    <p:sldId id="393" r:id="rId67"/>
    <p:sldId id="346" r:id="rId68"/>
    <p:sldId id="394"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B7BB"/>
    <a:srgbClr val="93C3D3"/>
    <a:srgbClr val="2F637E"/>
    <a:srgbClr val="11373F"/>
    <a:srgbClr val="000000"/>
    <a:srgbClr val="F88562"/>
    <a:srgbClr val="6D8B9A"/>
    <a:srgbClr val="A7B1B7"/>
    <a:srgbClr val="FED1A9"/>
    <a:srgbClr val="FAAA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8" d="100"/>
          <a:sy n="48" d="100"/>
        </p:scale>
        <p:origin x="-58" y="-99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2CE56-FD20-4103-ADB9-B95BDA7852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36526-45AC-413E-984C-CF37B41AA1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线性表是数据结构领域的基础且关键的概念，它就如同构建复杂数据大厦的基石，在计算机科学的众多领域都有着广泛应用。我们即将开启第二章线性表的深入学习。</a:t>
            </a:r>
            <a:r>
              <a:rPr lang="en-US" altLang="zh-CN"/>
              <a:t>
</a:t>
            </a:r>
            <a:r>
              <a:rPr lang="zh-CN" altLang="en-US"/>
              <a:t>线性表作为一种线性结构，其组成元素间具有线性关系。它由有限个具有相同数据类型的数据元素构成，这些元素按顺序排列，形成一个有序序列。线性表的概念看似简单，却蕴含着深刻的内涵和强大的功能。</a:t>
            </a:r>
            <a:r>
              <a:rPr lang="en-US" altLang="zh-CN"/>
              <a:t>
</a:t>
            </a:r>
            <a:r>
              <a:rPr lang="zh-CN" altLang="en-US"/>
              <a:t>我们会从线性表的基本概念入手，详细了解其定义、特点和表示方法。接着，探讨线性表的抽象数据类型描述，这将帮助我们从更高的层面理解线性表的本质和操作。然后，深入研究线性表的存储和实现方式，包括顺序存储和链式存储，这两种方式各有优劣，适用于不同的应用场景。</a:t>
            </a:r>
            <a:r>
              <a:rPr lang="en-US" altLang="zh-CN"/>
              <a:t>
</a:t>
            </a:r>
            <a:r>
              <a:rPr lang="zh-CN" altLang="en-US"/>
              <a:t>通过对线性表的学习，我们能够更好地理解数据的组织和管理方式，提高程序的效率和性能。同时，线性表的知识也为我们后续学习更复杂的数据结构和算法奠定了坚实的基础。</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本次演讲围绕线性表展开，本目录清晰呈现了后续内容的框架与重点。</a:t>
            </a:r>
            <a:r>
              <a:rPr lang="en-US" altLang="zh-CN"/>
              <a:t>
</a:t>
            </a:r>
            <a:r>
              <a:rPr lang="zh-CN" altLang="en-US"/>
              <a:t>首先会探讨线性表及其基本操作，这是理解线性表的基础，涵盖线性表的存储和实现、抽象数据类型描述以及顺序存储等方面。线性表的存储和实现是将理论应用于实际的关键环节，不同的存储方式会影响线性表的性能和适用场景；抽象数据类型描述则为线性表的定义和操作提供了规范和标准，有助于我们从更高层次理解线性表；线性表顺序存储是一种常见且重要的存储方式，它的特点和应用值得深入研究。</a:t>
            </a:r>
            <a:r>
              <a:rPr lang="en-US" altLang="zh-CN"/>
              <a:t>
</a:t>
            </a:r>
            <a:r>
              <a:rPr lang="zh-CN" altLang="en-US"/>
              <a:t>接着会介绍线性表的基本概念，这能让我们对线性表有一个全面的认识，明确其本质和特点。线性表的链式存储和实现也是重要内容，它与顺序存储形成对比，各有优劣，在不同的应用场景中发挥着不同的作用。</a:t>
            </a:r>
            <a:r>
              <a:rPr lang="en-US" altLang="zh-CN"/>
              <a:t>
</a:t>
            </a:r>
            <a:r>
              <a:rPr lang="zh-CN" altLang="en-US"/>
              <a:t>最后会对顺序表与链表进行比较，通过对比分析，我们能更清晰地了解它们的差异和适用范围，从而在实际应用中做出更合适的选择。通过这样的安排，我们能系统地学习线性表的相关知识，为后续的学习和实践打下坚实的基础。</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线性表作为一种重要的数据结构，其元素间具有线性关系。线性表由</a:t>
            </a:r>
            <a:r>
              <a:rPr lang="en-US" altLang="zh-CN"/>
              <a:t>n</a:t>
            </a:r>
            <a:r>
              <a:rPr lang="zh-CN" altLang="en-US"/>
              <a:t>个相同数据类型的数据元素构成有限序列，一般表示为</a:t>
            </a:r>
            <a:r>
              <a:rPr lang="en-US" altLang="zh-CN"/>
              <a:t>(a0, ai, …, ai, ai+1, …, an-1)</a:t>
            </a:r>
            <a:r>
              <a:rPr lang="zh-CN" altLang="en-US"/>
              <a:t>。</a:t>
            </a:r>
            <a:r>
              <a:rPr lang="en-US" altLang="zh-CN"/>
              <a:t>
</a:t>
            </a:r>
            <a:r>
              <a:rPr lang="zh-CN" altLang="en-US"/>
              <a:t>这里的数据元素</a:t>
            </a:r>
            <a:r>
              <a:rPr lang="en-US" altLang="zh-CN"/>
              <a:t>ai</a:t>
            </a:r>
            <a:r>
              <a:rPr lang="zh-CN" altLang="en-US"/>
              <a:t>形式多样，既可以是简单的字母、整数、浮点数，也能是复杂的对象或其他信息。位序号</a:t>
            </a:r>
            <a:r>
              <a:rPr lang="en-US" altLang="zh-CN"/>
              <a:t>i</a:t>
            </a:r>
            <a:r>
              <a:rPr lang="zh-CN" altLang="en-US"/>
              <a:t>代表数据元素在线性表中的位置，范围是</a:t>
            </a:r>
            <a:r>
              <a:rPr lang="en-US" altLang="zh-CN"/>
              <a:t>0≤i&lt;n</a:t>
            </a:r>
            <a:r>
              <a:rPr lang="zh-CN" altLang="en-US"/>
              <a:t>。而</a:t>
            </a:r>
            <a:r>
              <a:rPr lang="en-US" altLang="zh-CN"/>
              <a:t>n</a:t>
            </a:r>
            <a:r>
              <a:rPr lang="zh-CN" altLang="en-US"/>
              <a:t>作为线性表的元素个数，也就是线性表的长度。当</a:t>
            </a:r>
            <a:r>
              <a:rPr lang="en-US" altLang="zh-CN"/>
              <a:t>n</a:t>
            </a:r>
            <a:r>
              <a:rPr lang="zh-CN" altLang="en-US"/>
              <a:t>为</a:t>
            </a:r>
            <a:r>
              <a:rPr lang="en-US" altLang="zh-CN"/>
              <a:t>0</a:t>
            </a:r>
            <a:r>
              <a:rPr lang="zh-CN" altLang="en-US"/>
              <a:t>时，线性表就成为了空表。</a:t>
            </a:r>
            <a:r>
              <a:rPr lang="en-US" altLang="zh-CN"/>
              <a:t>
</a:t>
            </a:r>
            <a:r>
              <a:rPr lang="zh-CN" altLang="en-US"/>
              <a:t>线性表的这种定义具有广泛的应用价值。以英文字母表为例，它就是一个表长为</a:t>
            </a:r>
            <a:r>
              <a:rPr lang="en-US" altLang="zh-CN"/>
              <a:t>26</a:t>
            </a:r>
            <a:r>
              <a:rPr lang="zh-CN" altLang="en-US"/>
              <a:t>的线性表。这表明线性表的概念能很好地描述和组织具有线性关系的数据。理解线性表的基本概念，是进一步学习线性表存储、操作等知识的基础，为后续处理更复杂的数据问题奠定了基石。</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为进一步阐释线性表概念，这里列举两个典型示例。英文字母表</a:t>
            </a:r>
            <a:r>
              <a:rPr lang="en-US" altLang="zh-CN"/>
              <a:t>(A,B,…,Z)</a:t>
            </a:r>
            <a:r>
              <a:rPr lang="zh-CN" altLang="en-US"/>
              <a:t>是一个表长为</a:t>
            </a:r>
            <a:r>
              <a:rPr lang="en-US" altLang="zh-CN"/>
              <a:t>26</a:t>
            </a:r>
            <a:r>
              <a:rPr lang="zh-CN" altLang="en-US"/>
              <a:t>的线性表，每个字母作为数据元素，在表中具有明确的顺序，体现了线性表元素间线性的</a:t>
            </a:r>
            <a:r>
              <a:rPr lang="en-US" altLang="zh-CN"/>
              <a:t>“</a:t>
            </a:r>
            <a:r>
              <a:rPr lang="zh-CN" altLang="en-US"/>
              <a:t>一对一</a:t>
            </a:r>
            <a:r>
              <a:rPr lang="en-US" altLang="zh-CN"/>
              <a:t>”</a:t>
            </a:r>
            <a:r>
              <a:rPr lang="zh-CN" altLang="en-US"/>
              <a:t>逻辑关系。</a:t>
            </a:r>
            <a:r>
              <a:rPr lang="en-US" altLang="zh-CN"/>
              <a:t>
</a:t>
            </a:r>
            <a:r>
              <a:rPr lang="zh-CN" altLang="en-US"/>
              <a:t>另一个例子是书籍信息表，该表中的所有记录序列构成线性表，且每个数据元素由书名、作者、出版社、价格</a:t>
            </a:r>
            <a:r>
              <a:rPr lang="en-US" altLang="zh-CN"/>
              <a:t>4</a:t>
            </a:r>
            <a:r>
              <a:rPr lang="zh-CN" altLang="en-US"/>
              <a:t>个数据项构成记录。这表明线性表的数据元素可以是复杂的组合信息，并非局限于简单的字母或数字。</a:t>
            </a:r>
            <a:r>
              <a:rPr lang="en-US" altLang="zh-CN"/>
              <a:t>
</a:t>
            </a:r>
            <a:r>
              <a:rPr lang="zh-CN" altLang="en-US"/>
              <a:t>通过这两个例子能够看出，线性表在实际应用中十分广泛，既可以表示简单的字符序列，也能呈现具有多个数据项的复杂信息集合。这些例子有助于我们更好地理解线性表的概念及其在不同场景下的表现形式。</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线性表的数据元素间存在线性的</a:t>
            </a:r>
            <a:r>
              <a:rPr lang="en-US" altLang="zh-CN"/>
              <a:t>“</a:t>
            </a:r>
            <a:r>
              <a:rPr lang="zh-CN" altLang="en-US"/>
              <a:t>一对一</a:t>
            </a:r>
            <a:r>
              <a:rPr lang="en-US" altLang="zh-CN"/>
              <a:t>”</a:t>
            </a:r>
            <a:r>
              <a:rPr lang="zh-CN" altLang="en-US"/>
              <a:t>逻辑关系，这种关系与元素位置紧密相关。第</a:t>
            </a:r>
            <a:r>
              <a:rPr lang="en-US" altLang="zh-CN"/>
              <a:t>i</a:t>
            </a:r>
            <a:r>
              <a:rPr lang="zh-CN" altLang="en-US"/>
              <a:t>个元素</a:t>
            </a:r>
            <a:r>
              <a:rPr lang="en-US" altLang="zh-CN"/>
              <a:t>ai</a:t>
            </a:r>
            <a:r>
              <a:rPr lang="zh-CN" altLang="en-US"/>
              <a:t>处于第</a:t>
            </a:r>
            <a:r>
              <a:rPr lang="en-US" altLang="zh-CN"/>
              <a:t>i - 1</a:t>
            </a:r>
            <a:r>
              <a:rPr lang="zh-CN" altLang="en-US"/>
              <a:t>个元素</a:t>
            </a:r>
            <a:r>
              <a:rPr lang="en-US" altLang="zh-CN"/>
              <a:t>ai - 1</a:t>
            </a:r>
            <a:r>
              <a:rPr lang="zh-CN" altLang="en-US"/>
              <a:t>之后、第</a:t>
            </a:r>
            <a:r>
              <a:rPr lang="en-US" altLang="zh-CN"/>
              <a:t>i + 1</a:t>
            </a:r>
            <a:r>
              <a:rPr lang="zh-CN" altLang="en-US"/>
              <a:t>个元素</a:t>
            </a:r>
            <a:r>
              <a:rPr lang="en-US" altLang="zh-CN"/>
              <a:t>ai + 1</a:t>
            </a:r>
            <a:r>
              <a:rPr lang="zh-CN" altLang="en-US"/>
              <a:t>之前，位置的有序性形成了线性关系。</a:t>
            </a:r>
            <a:r>
              <a:rPr lang="en-US" altLang="zh-CN"/>
              <a:t>
</a:t>
            </a:r>
            <a:r>
              <a:rPr lang="zh-CN" altLang="en-US"/>
              <a:t>这种线性关系可以用二元组</a:t>
            </a:r>
            <a:r>
              <a:rPr lang="en-US" altLang="zh-CN"/>
              <a:t>L=(D,R)</a:t>
            </a:r>
            <a:r>
              <a:rPr lang="zh-CN" altLang="en-US"/>
              <a:t>来表示。集合</a:t>
            </a:r>
            <a:r>
              <a:rPr lang="en-US" altLang="zh-CN"/>
              <a:t>D={ai|0≤i&lt;n}</a:t>
            </a:r>
            <a:r>
              <a:rPr lang="zh-CN" altLang="en-US"/>
              <a:t>，它包含了线性表中的所有元素，代表了元素的集合。而集合</a:t>
            </a:r>
            <a:r>
              <a:rPr lang="en-US" altLang="zh-CN"/>
              <a:t>R={r}</a:t>
            </a:r>
            <a:r>
              <a:rPr lang="zh-CN" altLang="en-US"/>
              <a:t>，其中</a:t>
            </a:r>
            <a:r>
              <a:rPr lang="en-US" altLang="zh-CN"/>
              <a:t>r={&lt;ai,ai - 1&gt;|0≤i&lt;n - 1}</a:t>
            </a:r>
            <a:r>
              <a:rPr lang="zh-CN" altLang="en-US"/>
              <a:t>，它描述了元素之间的先后顺序关系。</a:t>
            </a:r>
            <a:r>
              <a:rPr lang="en-US" altLang="zh-CN"/>
              <a:t>
</a:t>
            </a:r>
            <a:r>
              <a:rPr lang="zh-CN" altLang="en-US"/>
              <a:t>从更深层次来看，这种二元组的表示方式体现了线性表逻辑结构的严谨性。它将元素集合和元素间的关系清晰地定义出来，使得我们能够更准确地理解和处理线性表。通过这种表示，我们可以方便地对线性表进行各种操作和分析，为后续的研究和应用奠定了坚实的基础。</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线性表的逻辑结构有着独特且清晰的特点。在一个线性表</a:t>
            </a:r>
            <a:r>
              <a:rPr lang="en-US" altLang="zh-CN"/>
              <a:t>(a0,a1,…,an - 1)</a:t>
            </a:r>
            <a:r>
              <a:rPr lang="zh-CN" altLang="en-US"/>
              <a:t>中，</a:t>
            </a:r>
            <a:r>
              <a:rPr lang="en-US" altLang="zh-CN"/>
              <a:t>a0</a:t>
            </a:r>
            <a:r>
              <a:rPr lang="zh-CN" altLang="en-US"/>
              <a:t>作为开始结点，它处于整个线性表的起始位置，如同一场比赛的发令员，不存在前驱元素。而</a:t>
            </a:r>
            <a:r>
              <a:rPr lang="en-US" altLang="zh-CN"/>
              <a:t>an - 1</a:t>
            </a:r>
            <a:r>
              <a:rPr lang="zh-CN" altLang="en-US"/>
              <a:t>作为终端结点，好比比赛的终点，没有后继元素。</a:t>
            </a:r>
            <a:r>
              <a:rPr lang="en-US" altLang="zh-CN"/>
              <a:t>
</a:t>
            </a:r>
            <a:r>
              <a:rPr lang="zh-CN" altLang="en-US"/>
              <a:t>除了开始结点和终端结点，每个数据元素</a:t>
            </a:r>
            <a:r>
              <a:rPr lang="en-US" altLang="zh-CN"/>
              <a:t>ai</a:t>
            </a:r>
            <a:r>
              <a:rPr lang="zh-CN" altLang="en-US"/>
              <a:t>都有且仅有一个前驱元素和后继元素。这种</a:t>
            </a:r>
            <a:r>
              <a:rPr lang="en-US" altLang="zh-CN"/>
              <a:t>“</a:t>
            </a:r>
            <a:r>
              <a:rPr lang="zh-CN" altLang="en-US"/>
              <a:t>一对一</a:t>
            </a:r>
            <a:r>
              <a:rPr lang="en-US" altLang="zh-CN"/>
              <a:t>”</a:t>
            </a:r>
            <a:r>
              <a:rPr lang="zh-CN" altLang="en-US"/>
              <a:t>的线性关系，使得线性表中的元素形成了一个有序的链条，元素之间的位置关系明确且固定。</a:t>
            </a:r>
            <a:r>
              <a:rPr lang="en-US" altLang="zh-CN"/>
              <a:t>
</a:t>
            </a:r>
            <a:r>
              <a:rPr lang="zh-CN" altLang="en-US"/>
              <a:t>这种逻辑结构的设计，为数据的存储和处理带来了极大的便利。它就像一座精心规划的城市，每条道路都有明确的连接方向，便于我们对数据进行查找、插入、删除等操作。正是因为这种有序性和确定性，线性表在计算机科学和数据处理领域得到了广泛的应用。我们可以根据线性表的这些特性，更好地理解和优化数据处理的过程，提高数据处理的效率和准确性。</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在探讨线性表及其基本操作的过程中，当前我们来到了关键的环节</a:t>
            </a:r>
            <a:r>
              <a:rPr lang="en-US" altLang="zh-CN"/>
              <a:t>——</a:t>
            </a:r>
            <a:r>
              <a:rPr lang="zh-CN" altLang="en-US"/>
              <a:t>线性表的抽象数据类型描述。在前面的内容里，我们已经了解了线性表的基本概念、实例以及其元素间的逻辑关系等基础知识。而抽象数据类型描述就像是为线性表搭建了一个通用的框架，它定义了线性表应该具备的操作和属性，却不涉及具体的实现细节。</a:t>
            </a:r>
            <a:r>
              <a:rPr lang="en-US" altLang="zh-CN"/>
              <a:t>
</a:t>
            </a:r>
            <a:r>
              <a:rPr lang="zh-CN" altLang="en-US"/>
              <a:t>线性表的抽象数据</a:t>
            </a:r>
            <a:r>
              <a:rPr lang="en-US" altLang="zh-CN"/>
              <a:t>Python</a:t>
            </a:r>
            <a:r>
              <a:rPr lang="zh-CN" altLang="en-US"/>
              <a:t>描述，为我们提供了一种标准化的方式来描述线性表的行为。通过这种抽象描述，我们可以在不考虑具体存储和实现方式的情况下，对线性表的操作进行规划和设计。它就像是一份蓝图，指导我们如何去构建和使用线性表。</a:t>
            </a:r>
            <a:r>
              <a:rPr lang="en-US" altLang="zh-CN"/>
              <a:t>
</a:t>
            </a:r>
            <a:r>
              <a:rPr lang="zh-CN" altLang="en-US"/>
              <a:t>有了这个抽象描述，后续无论是基于顺序存储还是链式存储来实现线性表，都有了明确的方向和规范。它使得我们能够更加高效地进行线性表的开发和应用，也为不同的实现方式提供了统一的接口。可以说，线性表的抽象数据类型描述是线性表知识体系中的重要基石，为我们深入理解和应用线性表奠定了坚实的基础。</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为深入理解线性表基本运算，现以线性表</a:t>
            </a:r>
            <a:r>
              <a:rPr lang="en-US" altLang="zh-CN"/>
              <a:t>A = (1, 2, 3, 4, 5, 6, 7)</a:t>
            </a:r>
            <a:r>
              <a:rPr lang="zh-CN" altLang="en-US"/>
              <a:t>为例进行分析。通过对该线性表执行一系列基本运算，可清晰展现线性表操作的特点与规律。</a:t>
            </a:r>
            <a:r>
              <a:rPr lang="en-US" altLang="zh-CN"/>
              <a:t>
</a:t>
            </a:r>
            <a:r>
              <a:rPr lang="zh-CN" altLang="en-US"/>
              <a:t>首先，</a:t>
            </a:r>
            <a:r>
              <a:rPr lang="en-US" altLang="zh-CN"/>
              <a:t>length()</a:t>
            </a:r>
            <a:r>
              <a:rPr lang="zh-CN" altLang="en-US"/>
              <a:t>运算用于获取线性表的长度，线性表</a:t>
            </a:r>
            <a:r>
              <a:rPr lang="en-US" altLang="zh-CN"/>
              <a:t>A</a:t>
            </a:r>
            <a:r>
              <a:rPr lang="zh-CN" altLang="en-US"/>
              <a:t>包含</a:t>
            </a:r>
            <a:r>
              <a:rPr lang="en-US" altLang="zh-CN"/>
              <a:t>7</a:t>
            </a:r>
            <a:r>
              <a:rPr lang="zh-CN" altLang="en-US"/>
              <a:t>个元素，因此</a:t>
            </a:r>
            <a:r>
              <a:rPr lang="en-US" altLang="zh-CN"/>
              <a:t>length()</a:t>
            </a:r>
            <a:r>
              <a:rPr lang="zh-CN" altLang="en-US"/>
              <a:t>的结果为</a:t>
            </a:r>
            <a:r>
              <a:rPr lang="en-US" altLang="zh-CN"/>
              <a:t>7</a:t>
            </a:r>
            <a:r>
              <a:rPr lang="zh-CN" altLang="en-US"/>
              <a:t>。</a:t>
            </a:r>
            <a:r>
              <a:rPr lang="en-US" altLang="zh-CN"/>
              <a:t>isEmpty()</a:t>
            </a:r>
            <a:r>
              <a:rPr lang="zh-CN" altLang="en-US"/>
              <a:t>运算用于判断线性表是否为空，显然线性表</a:t>
            </a:r>
            <a:r>
              <a:rPr lang="en-US" altLang="zh-CN"/>
              <a:t>A</a:t>
            </a:r>
            <a:r>
              <a:rPr lang="zh-CN" altLang="en-US"/>
              <a:t>并非空表，所以</a:t>
            </a:r>
            <a:r>
              <a:rPr lang="en-US" altLang="zh-CN"/>
              <a:t>isEmpty()</a:t>
            </a:r>
            <a:r>
              <a:rPr lang="zh-CN" altLang="en-US"/>
              <a:t>返回</a:t>
            </a:r>
            <a:r>
              <a:rPr lang="en-US" altLang="zh-CN"/>
              <a:t>false</a:t>
            </a:r>
            <a:r>
              <a:rPr lang="zh-CN" altLang="en-US"/>
              <a:t>。</a:t>
            </a:r>
            <a:r>
              <a:rPr lang="en-US" altLang="zh-CN"/>
              <a:t>
get(3)</a:t>
            </a:r>
            <a:r>
              <a:rPr lang="zh-CN" altLang="en-US"/>
              <a:t>运算旨在获取指定位置的元素，在计算机编程里，位置序号通常从</a:t>
            </a:r>
            <a:r>
              <a:rPr lang="en-US" altLang="zh-CN"/>
              <a:t>0</a:t>
            </a:r>
            <a:r>
              <a:rPr lang="zh-CN" altLang="en-US"/>
              <a:t>开始计数，所以</a:t>
            </a:r>
            <a:r>
              <a:rPr lang="en-US" altLang="zh-CN"/>
              <a:t>get(3)</a:t>
            </a:r>
            <a:r>
              <a:rPr lang="zh-CN" altLang="en-US"/>
              <a:t>返回的是线性表</a:t>
            </a:r>
            <a:r>
              <a:rPr lang="en-US" altLang="zh-CN"/>
              <a:t>A</a:t>
            </a:r>
            <a:r>
              <a:rPr lang="zh-CN" altLang="en-US"/>
              <a:t>中第</a:t>
            </a:r>
            <a:r>
              <a:rPr lang="en-US" altLang="zh-CN"/>
              <a:t>4</a:t>
            </a:r>
            <a:r>
              <a:rPr lang="zh-CN" altLang="en-US"/>
              <a:t>个元素，即</a:t>
            </a:r>
            <a:r>
              <a:rPr lang="en-US" altLang="zh-CN"/>
              <a:t>4</a:t>
            </a:r>
            <a:r>
              <a:rPr lang="zh-CN" altLang="en-US"/>
              <a:t>。</a:t>
            </a:r>
            <a:r>
              <a:rPr lang="en-US" altLang="zh-CN"/>
              <a:t>indexOf(4)</a:t>
            </a:r>
            <a:r>
              <a:rPr lang="zh-CN" altLang="en-US"/>
              <a:t>运算用于查找元素</a:t>
            </a:r>
            <a:r>
              <a:rPr lang="en-US" altLang="zh-CN"/>
              <a:t>4</a:t>
            </a:r>
            <a:r>
              <a:rPr lang="zh-CN" altLang="en-US"/>
              <a:t>在线性表</a:t>
            </a:r>
            <a:r>
              <a:rPr lang="en-US" altLang="zh-CN"/>
              <a:t>A</a:t>
            </a:r>
            <a:r>
              <a:rPr lang="zh-CN" altLang="en-US"/>
              <a:t>中的位置，其返回值为</a:t>
            </a:r>
            <a:r>
              <a:rPr lang="en-US" altLang="zh-CN"/>
              <a:t>3</a:t>
            </a:r>
            <a:r>
              <a:rPr lang="zh-CN" altLang="en-US"/>
              <a:t>，表明元素</a:t>
            </a:r>
            <a:r>
              <a:rPr lang="en-US" altLang="zh-CN"/>
              <a:t>4</a:t>
            </a:r>
            <a:r>
              <a:rPr lang="zh-CN" altLang="en-US"/>
              <a:t>处于线性表</a:t>
            </a:r>
            <a:r>
              <a:rPr lang="en-US" altLang="zh-CN"/>
              <a:t>A</a:t>
            </a:r>
            <a:r>
              <a:rPr lang="zh-CN" altLang="en-US"/>
              <a:t>的第</a:t>
            </a:r>
            <a:r>
              <a:rPr lang="en-US" altLang="zh-CN"/>
              <a:t>4</a:t>
            </a:r>
            <a:r>
              <a:rPr lang="zh-CN" altLang="en-US"/>
              <a:t>个位置。</a:t>
            </a:r>
            <a:r>
              <a:rPr lang="en-US" altLang="zh-CN"/>
              <a:t>
display()</a:t>
            </a:r>
            <a:r>
              <a:rPr lang="zh-CN" altLang="en-US"/>
              <a:t>运算的作用是输出线性表的所有元素，因此</a:t>
            </a:r>
            <a:r>
              <a:rPr lang="en-US" altLang="zh-CN"/>
              <a:t>display()</a:t>
            </a:r>
            <a:r>
              <a:rPr lang="zh-CN" altLang="en-US"/>
              <a:t>输出的是</a:t>
            </a:r>
            <a:r>
              <a:rPr lang="en-US" altLang="zh-CN"/>
              <a:t>1, 2, 3, 4, 5, 6, 7</a:t>
            </a:r>
            <a:r>
              <a:rPr lang="zh-CN" altLang="en-US"/>
              <a:t>。</a:t>
            </a:r>
            <a:r>
              <a:rPr lang="en-US" altLang="zh-CN"/>
              <a:t>insert(2, 7)</a:t>
            </a:r>
            <a:r>
              <a:rPr lang="zh-CN" altLang="en-US"/>
              <a:t>运算用于在线性表</a:t>
            </a:r>
            <a:r>
              <a:rPr lang="en-US" altLang="zh-CN"/>
              <a:t>A</a:t>
            </a:r>
            <a:r>
              <a:rPr lang="zh-CN" altLang="en-US"/>
              <a:t>的第</a:t>
            </a:r>
            <a:r>
              <a:rPr lang="en-US" altLang="zh-CN"/>
              <a:t>3</a:t>
            </a:r>
            <a:r>
              <a:rPr lang="zh-CN" altLang="en-US"/>
              <a:t>个位置插入元素</a:t>
            </a:r>
            <a:r>
              <a:rPr lang="en-US" altLang="zh-CN"/>
              <a:t>7</a:t>
            </a:r>
            <a:r>
              <a:rPr lang="zh-CN" altLang="en-US"/>
              <a:t>，执行后线性表</a:t>
            </a:r>
            <a:r>
              <a:rPr lang="en-US" altLang="zh-CN"/>
              <a:t>A</a:t>
            </a:r>
            <a:r>
              <a:rPr lang="zh-CN" altLang="en-US"/>
              <a:t>变为</a:t>
            </a:r>
            <a:r>
              <a:rPr lang="en-US" altLang="zh-CN"/>
              <a:t>1, 2, 7, 3, 4, 5, 6, 7</a:t>
            </a:r>
            <a:r>
              <a:rPr lang="zh-CN" altLang="en-US"/>
              <a:t>。</a:t>
            </a:r>
            <a:r>
              <a:rPr lang="en-US" altLang="zh-CN"/>
              <a:t>remove(4)</a:t>
            </a:r>
            <a:r>
              <a:rPr lang="zh-CN" altLang="en-US"/>
              <a:t>运算用于移除线性表</a:t>
            </a:r>
            <a:r>
              <a:rPr lang="en-US" altLang="zh-CN"/>
              <a:t>A</a:t>
            </a:r>
            <a:r>
              <a:rPr lang="zh-CN" altLang="en-US"/>
              <a:t>中第</a:t>
            </a:r>
            <a:r>
              <a:rPr lang="en-US" altLang="zh-CN"/>
              <a:t>5</a:t>
            </a:r>
            <a:r>
              <a:rPr lang="zh-CN" altLang="en-US"/>
              <a:t>个元素，执行后线性表</a:t>
            </a:r>
            <a:r>
              <a:rPr lang="en-US" altLang="zh-CN"/>
              <a:t>A</a:t>
            </a:r>
            <a:r>
              <a:rPr lang="zh-CN" altLang="en-US"/>
              <a:t>变为</a:t>
            </a:r>
            <a:r>
              <a:rPr lang="en-US" altLang="zh-CN"/>
              <a:t>1, 2, 3, 4, 6, 7</a:t>
            </a:r>
            <a:r>
              <a:rPr lang="zh-CN" altLang="en-US"/>
              <a:t>。</a:t>
            </a:r>
            <a:r>
              <a:rPr lang="en-US" altLang="zh-CN"/>
              <a:t>
</a:t>
            </a:r>
            <a:r>
              <a:rPr lang="zh-CN" altLang="en-US"/>
              <a:t>通过此实例，能直观地了解线性表基本运算的执行过程与结果，有助于我们更好地掌握线性表的操作与应用。</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在前面的内容中，我们介绍了线性表的抽象数据</a:t>
            </a:r>
            <a:r>
              <a:rPr lang="en-US" altLang="zh-CN"/>
              <a:t>Python</a:t>
            </a:r>
            <a:r>
              <a:rPr lang="zh-CN" altLang="en-US"/>
              <a:t>抽象类，它涵盖了线性表的主要基本操作。然而，若要实际运用这个接口，就需要借助具体的类来实现。线性表的</a:t>
            </a:r>
            <a:r>
              <a:rPr lang="en-US" altLang="zh-CN"/>
              <a:t>Python</a:t>
            </a:r>
            <a:r>
              <a:rPr lang="zh-CN" altLang="en-US"/>
              <a:t>抽象类主要有两种实现方法。</a:t>
            </a:r>
            <a:r>
              <a:rPr lang="en-US" altLang="zh-CN"/>
              <a:t>
</a:t>
            </a:r>
            <a:r>
              <a:rPr lang="zh-CN" altLang="en-US"/>
              <a:t>第一种是基于顺序存储的实现。顺序存储是把线性表的所有元素按照逻辑顺序，依次存到计算机内存单元中指定存储位置开始的一块连续存储空间里，也就是顺序表。顺序表的元素在内存中的物理存储次序和在线性表中的逻辑次序一致，存取任何一个数据元素的时间复杂度为</a:t>
            </a:r>
            <a:r>
              <a:rPr lang="en-US" altLang="zh-CN"/>
              <a:t>O(1)</a:t>
            </a:r>
            <a:r>
              <a:rPr lang="zh-CN" altLang="en-US"/>
              <a:t>，具有随机存取的特点。</a:t>
            </a:r>
            <a:r>
              <a:rPr lang="en-US" altLang="zh-CN"/>
              <a:t>
</a:t>
            </a:r>
            <a:r>
              <a:rPr lang="zh-CN" altLang="en-US"/>
              <a:t>第二种是基于链式存储的实现。与顺序存储不同，链式存储不需要连续的存储空间，它通过指针将各个数据元素连接起来。这种存储方式在插入和删除操作上具有优势，因为不需要像顺序存储那样移动大量元素。</a:t>
            </a:r>
            <a:r>
              <a:rPr lang="en-US" altLang="zh-CN"/>
              <a:t>
</a:t>
            </a:r>
            <a:r>
              <a:rPr lang="zh-CN" altLang="en-US"/>
              <a:t>这两种实现方法各有优劣，在实际应用中，需要根据具体的需求和场景来选择合适的实现方式。</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深入探讨线性表的顺序存储结构中的顺序表。顺序表是将线性表中的所有元素按照逻辑顺序，依次存于计算机内存单元中指定位置起的连续存储空间。这意味着顺序表用连续内存单元存放数据元素，元素物理存储次序与线性表逻辑次序一致。</a:t>
            </a:r>
            <a:r>
              <a:rPr lang="en-US" altLang="zh-CN"/>
              <a:t>
</a:t>
            </a:r>
            <a:r>
              <a:rPr lang="zh-CN" altLang="en-US"/>
              <a:t>以排队为例，若将线性表比作排队人群，顺序表就是按照排队先后顺序，将每个人依次安排在相邻的座位上，每个人的座位位置与其排队位置相对应。在顺序表中，元素</a:t>
            </a:r>
            <a:r>
              <a:rPr lang="en-US" altLang="zh-CN"/>
              <a:t> ai </a:t>
            </a:r>
            <a:r>
              <a:rPr lang="zh-CN" altLang="en-US"/>
              <a:t>与其前驱元素</a:t>
            </a:r>
            <a:r>
              <a:rPr lang="en-US" altLang="zh-CN"/>
              <a:t> ai - 1 </a:t>
            </a:r>
            <a:r>
              <a:rPr lang="zh-CN" altLang="en-US"/>
              <a:t>和后继元素</a:t>
            </a:r>
            <a:r>
              <a:rPr lang="en-US" altLang="zh-CN"/>
              <a:t> ai + 1 </a:t>
            </a:r>
            <a:r>
              <a:rPr lang="zh-CN" altLang="en-US"/>
              <a:t>的存储位置相邻，就如同排队中前后相邻的人座位也是相邻的。</a:t>
            </a:r>
            <a:r>
              <a:rPr lang="en-US" altLang="zh-CN"/>
              <a:t>
</a:t>
            </a:r>
            <a:r>
              <a:rPr lang="zh-CN" altLang="en-US"/>
              <a:t>这种存储方式有重要意义。它使数据元素的存储具有连续性和顺序性，方便对数据进行管理和操作。比如在查找元素时，可以根据元素的位置快速定位到其存储地址，提高查找效率。顺序表为后续的数据处理和分析奠定了良好基础，是数据存储和管理的重要方式。</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线性表顺序存储结构中，因数据表所有数据元素具有相同数据类型，故只需知晓顺序表基地址和数据元素所占存储空间大小，便可计算出第</a:t>
            </a:r>
            <a:r>
              <a:rPr lang="en-US" altLang="zh-CN"/>
              <a:t>i</a:t>
            </a:r>
            <a:r>
              <a:rPr lang="zh-CN" altLang="en-US"/>
              <a:t>个数据元素的地址，公式为</a:t>
            </a:r>
            <a:r>
              <a:rPr lang="en-US" altLang="zh-CN"/>
              <a:t>Loc(ai)=Loc(a0)+i</a:t>
            </a:r>
            <a:r>
              <a:rPr lang="zh-CN" altLang="en-US"/>
              <a:t>×</a:t>
            </a:r>
            <a:r>
              <a:rPr lang="en-US" altLang="zh-CN"/>
              <a:t>c</a:t>
            </a:r>
            <a:r>
              <a:rPr lang="zh-CN" altLang="en-US"/>
              <a:t>，其中</a:t>
            </a:r>
            <a:r>
              <a:rPr lang="en-US" altLang="zh-CN"/>
              <a:t>i</a:t>
            </a:r>
            <a:r>
              <a:rPr lang="zh-CN" altLang="en-US"/>
              <a:t>取值范围是</a:t>
            </a:r>
            <a:r>
              <a:rPr lang="en-US" altLang="zh-CN"/>
              <a:t>0≤i≤n - 1</a:t>
            </a:r>
            <a:r>
              <a:rPr lang="zh-CN" altLang="en-US"/>
              <a:t>。</a:t>
            </a:r>
            <a:r>
              <a:rPr lang="en-US" altLang="zh-CN"/>
              <a:t>
</a:t>
            </a:r>
            <a:r>
              <a:rPr lang="zh-CN" altLang="en-US"/>
              <a:t>具体而言，</a:t>
            </a:r>
            <a:r>
              <a:rPr lang="en-US" altLang="zh-CN"/>
              <a:t>Loc(ai)</a:t>
            </a:r>
            <a:r>
              <a:rPr lang="zh-CN" altLang="en-US"/>
              <a:t>代表数据元素</a:t>
            </a:r>
            <a:r>
              <a:rPr lang="en-US" altLang="zh-CN"/>
              <a:t>ai</a:t>
            </a:r>
            <a:r>
              <a:rPr lang="zh-CN" altLang="en-US"/>
              <a:t>的存储地址，</a:t>
            </a:r>
            <a:r>
              <a:rPr lang="en-US" altLang="zh-CN"/>
              <a:t>Loc(a0)</a:t>
            </a:r>
            <a:r>
              <a:rPr lang="zh-CN" altLang="en-US"/>
              <a:t>是数据元素</a:t>
            </a:r>
            <a:r>
              <a:rPr lang="en-US" altLang="zh-CN"/>
              <a:t>a0</a:t>
            </a:r>
            <a:r>
              <a:rPr lang="zh-CN" altLang="en-US"/>
              <a:t>的存储地址，即顺序表基地址，</a:t>
            </a:r>
            <a:r>
              <a:rPr lang="en-US" altLang="zh-CN"/>
              <a:t>i</a:t>
            </a:r>
            <a:r>
              <a:rPr lang="zh-CN" altLang="en-US"/>
              <a:t>为元素位置，</a:t>
            </a:r>
            <a:r>
              <a:rPr lang="en-US" altLang="zh-CN"/>
              <a:t>c</a:t>
            </a:r>
            <a:r>
              <a:rPr lang="zh-CN" altLang="en-US"/>
              <a:t>为一个数据元素占用的存储单元。由此可见，计算一个元素地址所需时间为常量，与顺序表长度</a:t>
            </a:r>
            <a:r>
              <a:rPr lang="en-US" altLang="zh-CN"/>
              <a:t>n</a:t>
            </a:r>
            <a:r>
              <a:rPr lang="zh-CN" altLang="en-US"/>
              <a:t>无关，且存储地址是数据元素位序号</a:t>
            </a:r>
            <a:r>
              <a:rPr lang="en-US" altLang="zh-CN"/>
              <a:t>i</a:t>
            </a:r>
            <a:r>
              <a:rPr lang="zh-CN" altLang="en-US"/>
              <a:t>的线性函数。</a:t>
            </a:r>
            <a:r>
              <a:rPr lang="en-US" altLang="zh-CN"/>
              <a:t>
</a:t>
            </a:r>
            <a:r>
              <a:rPr lang="zh-CN" altLang="en-US"/>
              <a:t>基于此特性，顺序表存取任何一个数据元素的时间复杂度为</a:t>
            </a:r>
            <a:r>
              <a:rPr lang="en-US" altLang="zh-CN"/>
              <a:t>O(1)</a:t>
            </a:r>
            <a:r>
              <a:rPr lang="zh-CN" altLang="en-US"/>
              <a:t>，属于按照数据元素位序号随机存取的结构。这一特性使得顺序表在数据存取方面效率较高，只要给定元素的位序号，就能快速定位到其存储地址，进而实现对数据的高效操作。</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线性表顺序存储具有四大显著特点。其一，逻辑相邻的元素在物理存储位置上同样相邻，这种特性使得线性表在存储时元素排列有序，便于理解和追踪元素之间的关系，为数据的有序组织提供了基础。</a:t>
            </a:r>
            <a:r>
              <a:rPr lang="en-US" altLang="zh-CN"/>
              <a:t>
</a:t>
            </a:r>
            <a:r>
              <a:rPr lang="zh-CN" altLang="en-US"/>
              <a:t>其二，可按照数据元素的位序号进行随机存取。由于只要知道顺序表的基地址和数据元素所占存储空间大小，就能计算出任意元素的地址，且计算时间为常量，与顺序表长度无关，所以存取任意元素的时间复杂度为</a:t>
            </a:r>
            <a:r>
              <a:rPr lang="en-US" altLang="zh-CN"/>
              <a:t>O(1)</a:t>
            </a:r>
            <a:r>
              <a:rPr lang="zh-CN" altLang="en-US"/>
              <a:t>，这极大地提高了数据的访问效率。</a:t>
            </a:r>
            <a:r>
              <a:rPr lang="en-US" altLang="zh-CN"/>
              <a:t>
</a:t>
            </a:r>
            <a:r>
              <a:rPr lang="zh-CN" altLang="en-US"/>
              <a:t>其三，进行插入、删除操作时需要移动大量的数据元素。因为元素在物理存储上是连续的，当插入或删除一个元素时，其后的元素都要相应地移动位置，这会导致操作的时间复杂度增加，影响了操作的效率。</a:t>
            </a:r>
            <a:r>
              <a:rPr lang="en-US" altLang="zh-CN"/>
              <a:t>
</a:t>
            </a:r>
            <a:r>
              <a:rPr lang="zh-CN" altLang="en-US"/>
              <a:t>其四，需要进行存储空间的预先分配，这可能会造成空间浪费。若预先分配的空间过大，会有部分空间闲置；若分配过小，又可能无法满足数据存储需求。不过，顺序表的存储密度较高，即数据元素本身所占的存储量与整个存储结构所占的存储量之比大，能够有效利用存储空间。</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的顺序存储结构可以用数组来描述。在程序设计语言里，数组是一种构造数据类型，它存储的是具有相同数据类型的元素集合。数组的存储单元个数就是数组长度，并且每个存储单元的地址是连续的，元素也是连续存储的。</a:t>
            </a:r>
            <a:r>
              <a:rPr lang="en-US" altLang="zh-CN"/>
              <a:t>
</a:t>
            </a:r>
            <a:r>
              <a:rPr lang="zh-CN" altLang="en-US"/>
              <a:t>数组通过下标来识别元素，元素的下标实际上就是其存储单元序号，它表示了元素在数组中的位置。这里需要着重强调的是，一维数组仅需使用一个下标就能唯一确定一个元素，而二维数组则需要使用两个下标来唯一确定一个元素。</a:t>
            </a:r>
            <a:r>
              <a:rPr lang="en-US" altLang="zh-CN"/>
              <a:t>
</a:t>
            </a:r>
            <a:r>
              <a:rPr lang="zh-CN" altLang="en-US"/>
              <a:t>用数组描述线性表的顺序存储结构，使得我们在访问元素时，能够依据下标快速定位到具体元素。这与顺序表的特性相契合，顺序表中的元素逻辑相邻，物理存储位置也相邻，能按照位序号随机存取。同时，数组的这种存储方式也体现了顺序表可根据基地址和元素所占存储空间大小计算元素地址的特点，进一步保证了存取元素的高效性。</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在探讨线性表的顺序存储相关内容后，接下来聚焦于顺序表类的</a:t>
            </a:r>
            <a:r>
              <a:rPr lang="en-US" altLang="zh-CN"/>
              <a:t>Python</a:t>
            </a:r>
            <a:r>
              <a:rPr lang="zh-CN" altLang="en-US"/>
              <a:t>语言描述。此前我们了解到线性表的顺序存储有顺序表这一结构，其具备诸多特性，如逻辑相邻元素物理位置也相邻、可按位序号随机存取、插入删除需移动大量元素以及存储方面的特点等，并且可以用数组描述其存储结构。</a:t>
            </a:r>
            <a:r>
              <a:rPr lang="en-US" altLang="zh-CN"/>
              <a:t>
</a:t>
            </a:r>
            <a:r>
              <a:rPr lang="zh-CN" altLang="en-US"/>
              <a:t>现在我们要深入到代码层面，使用</a:t>
            </a:r>
            <a:r>
              <a:rPr lang="en-US" altLang="zh-CN"/>
              <a:t>Python</a:t>
            </a:r>
            <a:r>
              <a:rPr lang="zh-CN" altLang="en-US"/>
              <a:t>语言来对顺序表类进行描述。通过</a:t>
            </a:r>
            <a:r>
              <a:rPr lang="en-US" altLang="zh-CN"/>
              <a:t>Python</a:t>
            </a:r>
            <a:r>
              <a:rPr lang="zh-CN" altLang="en-US"/>
              <a:t>语言描述顺序表类，能够将之前所讲的理论知识以代码的形式实现出来，使得我们可以在实际编程中运用顺序表。这不仅有助于我们更好地理解顺序表的工作原理和操作过程，还能为后续进行更复杂的程序设计和算法实现奠定基础。借助</a:t>
            </a:r>
            <a:r>
              <a:rPr lang="en-US" altLang="zh-CN"/>
              <a:t>Python</a:t>
            </a:r>
            <a:r>
              <a:rPr lang="zh-CN" altLang="en-US"/>
              <a:t>语言的描述，我们可以将顺序表的插入、删除等操作在代码中具体体现，从而更直观地感受顺序表在实际应用中的表现。</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处于线性表顺序存储内容的讲解进程中。前面我们了解到，线性表的顺序存储结构，是将线性表元素按逻辑顺序存于连续存储空间，形成顺序表。顺序表元素物理存储次序与逻辑次序一致，且能通过基地址和元素所占空间大小计算任意元素地址，存取时间复杂度为</a:t>
            </a:r>
            <a:r>
              <a:rPr lang="en-US" altLang="zh-CN"/>
              <a:t>O(1)</a:t>
            </a:r>
            <a:r>
              <a:rPr lang="zh-CN" altLang="en-US"/>
              <a:t>，属于随机存取结构。顺序表还具有逻辑相邻元素物理位置也相邻、可随机存取、插入删除需移动大量元素、需预先分配空间可能造成浪费但存储密度较高等特点，并且可以用数组来描述其存储结构。</a:t>
            </a:r>
            <a:r>
              <a:rPr lang="en-US" altLang="zh-CN"/>
              <a:t>
</a:t>
            </a:r>
            <a:r>
              <a:rPr lang="zh-CN" altLang="en-US"/>
              <a:t>接下来会着重探讨顺序表的基本操作实现，如插入操作。插入操作是在顺序表特定位置插入新元素，插入后表长会增加。插入操作有一系列严谨步骤，包括判断存储空间是否已满、插入位置是否合理、移动元素、插入新元素以及增加表长等。这些操作步骤是顺序表实际应用和程序设计的关键，对于理解和运用线性表的顺序存储结构至关重要。</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当前我们处于线性表顺序存储这一重要主题的探讨中。在前面的内容里，我们了解到线性表顺序存储可依据基地址和元素所占空间大小计算元素地址，存取元素时间复杂度为</a:t>
            </a:r>
            <a:r>
              <a:rPr lang="en-US" altLang="zh-CN"/>
              <a:t>O(1)</a:t>
            </a:r>
            <a:r>
              <a:rPr lang="zh-CN" altLang="en-US"/>
              <a:t>，是随机存取结构。还知晓了其特点，如逻辑相邻元素物理位置也相邻，可随机存取，但插入删除需移动大量元素，且要预先分配空间，可能造成浪费却存储密度高。同时也知道能用数组描述其存储结构。</a:t>
            </a:r>
            <a:r>
              <a:rPr lang="en-US" altLang="zh-CN"/>
              <a:t>
</a:t>
            </a:r>
            <a:r>
              <a:rPr lang="zh-CN" altLang="en-US"/>
              <a:t>虽然这一页幻灯片看似仅呈现了页码和章节标题，但它是知识体系中的关键过渡。它承接着前面对于线性表顺序存储概念、特点和描述方式的讲解，又预示着后续内容的深入。接下来我们将进入顺序表基本操作实现的内容，比如插入操作。插入操作有严格的步骤和条件，像要判断存储空间是否已满、插入位置是否合法等。这页就像是一座桥梁，连接着前面的理论基础和后面即将展开的实践操作，让我们对线性表顺序存储有更完整、更深入的理解。</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我们处于线性表顺序存储内容的讲解进程中。此前，我们探讨了线性表顺序存储的特点，了解到逻辑相邻元素物理位置也相邻，可随机存取，但插入删除需移动大量元素，且需预先分配空间，可能造成浪费不过存储密度高。还提及可用数组描述其存储结构，数组存储同类型元素，单元地址连续，通过下标识别元素。</a:t>
            </a:r>
            <a:r>
              <a:rPr lang="en-US" altLang="zh-CN"/>
              <a:t>
</a:t>
            </a:r>
            <a:r>
              <a:rPr lang="zh-CN" altLang="en-US"/>
              <a:t>接下来，我们将深入到顺序表基本操作实现的内容。从后续内容可知，会着重讲解插入操作，包括插入操作的定义与具体步骤。插入操作有特定的规则和范围，在不同位置插入会带来顺序表逻辑结构的变化。而插入操作执行时，有一系列严谨的步骤，如判断存储空间是否已满、参数是否合规、移动元素、插入新元素以及增加表长等。并且，对插入操作算法的时间复杂度也会进行分析，了解到在等概率情况下，插入一个数据元素平均需移动顺序表数据元素的一半，时间复杂度为</a:t>
            </a:r>
            <a:r>
              <a:rPr lang="en-US" altLang="zh-CN"/>
              <a:t>O(n)</a:t>
            </a:r>
            <a:r>
              <a:rPr lang="zh-CN" altLang="en-US"/>
              <a:t>。虽然</a:t>
            </a:r>
            <a:r>
              <a:rPr lang="en-US" altLang="zh-CN"/>
              <a:t> 17 </a:t>
            </a:r>
            <a:r>
              <a:rPr lang="zh-CN" altLang="en-US"/>
              <a:t>页本身没有具体内容，但它是整个知识体系中承上启下的关键一页，引导我们从顺序存储的基础概念迈向顺序表操作实现的深入探讨。</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在顺序表的基本操作实现中，插入操作是一项重要内容。插入操作</a:t>
            </a:r>
            <a:r>
              <a:rPr lang="en-US" altLang="zh-CN"/>
              <a:t> insert(i,x) </a:t>
            </a:r>
            <a:r>
              <a:rPr lang="zh-CN" altLang="en-US"/>
              <a:t>指在长度为</a:t>
            </a:r>
            <a:r>
              <a:rPr lang="en-US" altLang="zh-CN"/>
              <a:t> n </a:t>
            </a:r>
            <a:r>
              <a:rPr lang="zh-CN" altLang="en-US"/>
              <a:t>的顺序表的第</a:t>
            </a:r>
            <a:r>
              <a:rPr lang="en-US" altLang="zh-CN"/>
              <a:t> i </a:t>
            </a:r>
            <a:r>
              <a:rPr lang="zh-CN" altLang="en-US"/>
              <a:t>个数据元素之前插入值为</a:t>
            </a:r>
            <a:r>
              <a:rPr lang="en-US" altLang="zh-CN"/>
              <a:t> x </a:t>
            </a:r>
            <a:r>
              <a:rPr lang="zh-CN" altLang="en-US"/>
              <a:t>的数据元素，这里</a:t>
            </a:r>
            <a:r>
              <a:rPr lang="en-US" altLang="zh-CN"/>
              <a:t> 0≤i≤n</a:t>
            </a:r>
            <a:r>
              <a:rPr lang="zh-CN" altLang="en-US"/>
              <a:t>。当</a:t>
            </a:r>
            <a:r>
              <a:rPr lang="en-US" altLang="zh-CN"/>
              <a:t> i </a:t>
            </a:r>
            <a:r>
              <a:rPr lang="zh-CN" altLang="en-US"/>
              <a:t>取值不同时，插入位置也不同，</a:t>
            </a:r>
            <a:r>
              <a:rPr lang="en-US" altLang="zh-CN"/>
              <a:t>i = 0 </a:t>
            </a:r>
            <a:r>
              <a:rPr lang="zh-CN" altLang="en-US"/>
              <a:t>时在表头插入，</a:t>
            </a:r>
            <a:r>
              <a:rPr lang="en-US" altLang="zh-CN"/>
              <a:t>i = n </a:t>
            </a:r>
            <a:r>
              <a:rPr lang="zh-CN" altLang="en-US"/>
              <a:t>时在表尾插入。插入操作完成后，表长会加</a:t>
            </a:r>
            <a:r>
              <a:rPr lang="en-US" altLang="zh-CN"/>
              <a:t> 1</a:t>
            </a:r>
            <a:r>
              <a:rPr lang="zh-CN" altLang="en-US"/>
              <a:t>。</a:t>
            </a:r>
            <a:r>
              <a:rPr lang="en-US" altLang="zh-CN"/>
              <a:t>
</a:t>
            </a:r>
            <a:r>
              <a:rPr lang="zh-CN" altLang="en-US"/>
              <a:t>从逻辑结构变化来看，插入操作使顺序表从</a:t>
            </a:r>
            <a:r>
              <a:rPr lang="en-US" altLang="zh-CN"/>
              <a:t> (a0,a1,…,ai - 1,ai,…,a­n - 1) </a:t>
            </a:r>
            <a:r>
              <a:rPr lang="zh-CN" altLang="en-US"/>
              <a:t>变为</a:t>
            </a:r>
            <a:r>
              <a:rPr lang="en-US" altLang="zh-CN"/>
              <a:t> (a0,a1,…,ai - 1,x,ai,…,a­n - 1)</a:t>
            </a:r>
            <a:r>
              <a:rPr lang="zh-CN" altLang="en-US"/>
              <a:t>。这一变化看似简单，实则影响深远。比如在表头插入元素，会影响后续所有元素的位置；在表尾插入则相对简单。</a:t>
            </a:r>
            <a:r>
              <a:rPr lang="en-US" altLang="zh-CN"/>
              <a:t>
</a:t>
            </a:r>
            <a:r>
              <a:rPr lang="zh-CN" altLang="en-US"/>
              <a:t>插入操作的灵活性体现在可根据不同需求在不同位置插入元素，满足多样化的数据处理需求。同时，理解插入操作对理解顺序表的特性和应用有重要意义，为后续学习顺序表的其他操作奠定基础。</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顺序表插入操作主要包含五个关键步骤。第一步需判断顺序表的存储空间是否已满，若存储空间达到上限，意味着无法再插入新元素，此时要抛出异常，这是保障插入操作合理进行的重要前提。</a:t>
            </a:r>
            <a:r>
              <a:rPr lang="en-US" altLang="zh-CN"/>
              <a:t>
</a:t>
            </a:r>
            <a:r>
              <a:rPr lang="zh-CN" altLang="en-US"/>
              <a:t>第二步要判断参数</a:t>
            </a:r>
            <a:r>
              <a:rPr lang="en-US" altLang="zh-CN"/>
              <a:t> i </a:t>
            </a:r>
            <a:r>
              <a:rPr lang="zh-CN" altLang="en-US"/>
              <a:t>的值是否在</a:t>
            </a:r>
            <a:r>
              <a:rPr lang="en-US" altLang="zh-CN"/>
              <a:t> 0 </a:t>
            </a:r>
            <a:r>
              <a:rPr lang="zh-CN" altLang="en-US"/>
              <a:t>到</a:t>
            </a:r>
            <a:r>
              <a:rPr lang="en-US" altLang="zh-CN"/>
              <a:t> curLen </a:t>
            </a:r>
            <a:r>
              <a:rPr lang="zh-CN" altLang="en-US"/>
              <a:t>这个区间内。若</a:t>
            </a:r>
            <a:r>
              <a:rPr lang="en-US" altLang="zh-CN"/>
              <a:t> i </a:t>
            </a:r>
            <a:r>
              <a:rPr lang="zh-CN" altLang="en-US"/>
              <a:t>的值超出此范围，插入操作就不符合顺序表的逻辑结构，同样需要抛出异常，这一步骤确保了插入位置的有效性。</a:t>
            </a:r>
            <a:r>
              <a:rPr lang="en-US" altLang="zh-CN"/>
              <a:t>
</a:t>
            </a:r>
            <a:r>
              <a:rPr lang="zh-CN" altLang="en-US"/>
              <a:t>第三步是将插入位置及其之后的所有数据元素后移一个存储位置。这是插入操作中较为复杂的部分，需要对顺序表中的元素进行移动，为新元素腾出空间。</a:t>
            </a:r>
            <a:r>
              <a:rPr lang="en-US" altLang="zh-CN"/>
              <a:t>
</a:t>
            </a:r>
            <a:r>
              <a:rPr lang="zh-CN" altLang="en-US"/>
              <a:t>第四步是在位置</a:t>
            </a:r>
            <a:r>
              <a:rPr lang="en-US" altLang="zh-CN"/>
              <a:t> i </a:t>
            </a:r>
            <a:r>
              <a:rPr lang="zh-CN" altLang="en-US"/>
              <a:t>处插入新的数据元素</a:t>
            </a:r>
            <a:r>
              <a:rPr lang="en-US" altLang="zh-CN"/>
              <a:t> x</a:t>
            </a:r>
            <a:r>
              <a:rPr lang="zh-CN" altLang="en-US"/>
              <a:t>。当完成元素后移后，就可以将新元素准确地插入到指定位置，从而改变顺序表的内容。</a:t>
            </a:r>
            <a:r>
              <a:rPr lang="en-US" altLang="zh-CN"/>
              <a:t>
</a:t>
            </a:r>
            <a:r>
              <a:rPr lang="zh-CN" altLang="en-US"/>
              <a:t>最后一步是将表长加</a:t>
            </a:r>
            <a:r>
              <a:rPr lang="en-US" altLang="zh-CN"/>
              <a:t> 1</a:t>
            </a:r>
            <a:r>
              <a:rPr lang="zh-CN" altLang="en-US"/>
              <a:t>。插入新元素后，顺序表的长度自然增加，更新表长可以保证后续操作对顺序表长度的准确认知。这五个步骤环环相扣，共同构成了顺序表插入操作的完整流程，每个步骤都不可或缺，任何一个环节出现问题都可能导致插入操作失败。</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现在介绍【算法</a:t>
            </a:r>
            <a:r>
              <a:rPr lang="en-US" altLang="zh-CN"/>
              <a:t>2.1</a:t>
            </a:r>
            <a:r>
              <a:rPr lang="zh-CN" altLang="en-US"/>
              <a:t>】顺序表的插入操作算法。顺序表插入操作是线性表顺序存储中的重要内容。前面提到，插入操作</a:t>
            </a:r>
            <a:r>
              <a:rPr lang="en-US" altLang="zh-CN"/>
              <a:t>insert(i,x)</a:t>
            </a:r>
            <a:r>
              <a:rPr lang="zh-CN" altLang="en-US"/>
              <a:t>是在长度为</a:t>
            </a:r>
            <a:r>
              <a:rPr lang="en-US" altLang="zh-CN"/>
              <a:t>n</a:t>
            </a:r>
            <a:r>
              <a:rPr lang="zh-CN" altLang="en-US"/>
              <a:t>的顺序表的第</a:t>
            </a:r>
            <a:r>
              <a:rPr lang="en-US" altLang="zh-CN"/>
              <a:t>i</a:t>
            </a:r>
            <a:r>
              <a:rPr lang="zh-CN" altLang="en-US"/>
              <a:t>个数据元素之前插入值为</a:t>
            </a:r>
            <a:r>
              <a:rPr lang="en-US" altLang="zh-CN"/>
              <a:t>x</a:t>
            </a:r>
            <a:r>
              <a:rPr lang="zh-CN" altLang="en-US"/>
              <a:t>的数据元素。</a:t>
            </a:r>
            <a:r>
              <a:rPr lang="en-US" altLang="zh-CN"/>
              <a:t>
</a:t>
            </a:r>
            <a:r>
              <a:rPr lang="zh-CN" altLang="en-US"/>
              <a:t>该插入操作有明确的步骤。首先要判断顺序表的存储空间是否已满，若已满则抛出异常，这是确保插入操作能正常进行的基础条件。接着要判断参数</a:t>
            </a:r>
            <a:r>
              <a:rPr lang="en-US" altLang="zh-CN"/>
              <a:t>i</a:t>
            </a:r>
            <a:r>
              <a:rPr lang="zh-CN" altLang="en-US"/>
              <a:t>的值是否满足</a:t>
            </a:r>
            <a:r>
              <a:rPr lang="en-US" altLang="zh-CN"/>
              <a:t>0≤i≤curLen</a:t>
            </a:r>
            <a:r>
              <a:rPr lang="zh-CN" altLang="en-US"/>
              <a:t>，不满足就抛出异常，保证插入位置的合理性。然后将插入位置及其之后的所有数据元素后移一个存储位置，再在位置</a:t>
            </a:r>
            <a:r>
              <a:rPr lang="en-US" altLang="zh-CN"/>
              <a:t>i</a:t>
            </a:r>
            <a:r>
              <a:rPr lang="zh-CN" altLang="en-US"/>
              <a:t>处插入新的数据元素</a:t>
            </a:r>
            <a:r>
              <a:rPr lang="en-US" altLang="zh-CN"/>
              <a:t>x</a:t>
            </a:r>
            <a:r>
              <a:rPr lang="zh-CN" altLang="en-US"/>
              <a:t>，最后表长加</a:t>
            </a:r>
            <a:r>
              <a:rPr lang="en-US" altLang="zh-CN"/>
              <a:t>1</a:t>
            </a:r>
            <a:r>
              <a:rPr lang="zh-CN" altLang="en-US"/>
              <a:t>。</a:t>
            </a:r>
            <a:r>
              <a:rPr lang="en-US" altLang="zh-CN"/>
              <a:t>
</a:t>
            </a:r>
            <a:r>
              <a:rPr lang="zh-CN" altLang="en-US"/>
              <a:t>此算法时间复杂度的分析也很关键。在对顺序表进行插入操作时，时间主要花费在数据元素的移动上。在等概率情况下，插入一个数据元素平均需要移动顺序表数据元素的一半，算法的时间复杂度为</a:t>
            </a:r>
            <a:r>
              <a:rPr lang="en-US" altLang="zh-CN"/>
              <a:t>O(n)</a:t>
            </a:r>
            <a:r>
              <a:rPr lang="zh-CN" altLang="en-US"/>
              <a:t>。【算法</a:t>
            </a:r>
            <a:r>
              <a:rPr lang="en-US" altLang="zh-CN"/>
              <a:t>2.1</a:t>
            </a:r>
            <a:r>
              <a:rPr lang="zh-CN" altLang="en-US"/>
              <a:t>】对于理解和掌握顺序表的插入操作有着重要意义。</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对顺序表插入操作的算法进行时间复杂度分析，可知时间主要花费在数据元素的移动上。假设顺序表表长为</a:t>
            </a:r>
            <a:r>
              <a:rPr lang="en-US" altLang="zh-CN"/>
              <a:t>n</a:t>
            </a:r>
            <a:r>
              <a:rPr lang="zh-CN" altLang="en-US"/>
              <a:t>，插入位置不同，移动元素个数也不同。若在表头插入，需移动</a:t>
            </a:r>
            <a:r>
              <a:rPr lang="en-US" altLang="zh-CN"/>
              <a:t>n</a:t>
            </a:r>
            <a:r>
              <a:rPr lang="zh-CN" altLang="en-US"/>
              <a:t>个元素；若在表尾插入，则无需移动元素。设插入位置为</a:t>
            </a:r>
            <a:r>
              <a:rPr lang="en-US" altLang="zh-CN"/>
              <a:t>i</a:t>
            </a:r>
            <a:r>
              <a:rPr lang="zh-CN" altLang="en-US"/>
              <a:t>，对应语句执行次数为</a:t>
            </a:r>
            <a:r>
              <a:rPr lang="en-US" altLang="zh-CN"/>
              <a:t>n - i</a:t>
            </a:r>
            <a:r>
              <a:rPr lang="zh-CN" altLang="en-US"/>
              <a:t>。</a:t>
            </a:r>
            <a:r>
              <a:rPr lang="en-US" altLang="zh-CN"/>
              <a:t>
</a:t>
            </a:r>
            <a:r>
              <a:rPr lang="zh-CN" altLang="en-US"/>
              <a:t>每次插入操作数据元素的平均移动次数可用公式计算，其中插入概率用</a:t>
            </a:r>
            <a:r>
              <a:rPr lang="en-US" altLang="zh-CN"/>
              <a:t>pi</a:t>
            </a:r>
            <a:r>
              <a:rPr lang="zh-CN" altLang="en-US"/>
              <a:t>表示。假设每个插入位置出现概率相同，为</a:t>
            </a:r>
            <a:r>
              <a:rPr lang="en-US" altLang="zh-CN"/>
              <a:t>1/(n + 1)</a:t>
            </a:r>
            <a:r>
              <a:rPr lang="zh-CN" altLang="en-US"/>
              <a:t>，经过计算可得平均移动次数为</a:t>
            </a:r>
            <a:r>
              <a:rPr lang="en-US" altLang="zh-CN"/>
              <a:t>n/2</a:t>
            </a:r>
            <a:r>
              <a:rPr lang="zh-CN" altLang="en-US"/>
              <a:t>。这意味着在等概率情况下，插入一个数据元素平均要移动顺序表一半的数据元素。</a:t>
            </a:r>
            <a:r>
              <a:rPr lang="en-US" altLang="zh-CN"/>
              <a:t>
</a:t>
            </a:r>
            <a:r>
              <a:rPr lang="zh-CN" altLang="en-US"/>
              <a:t>从算法复杂度角度看，该算法的时间复杂度为</a:t>
            </a:r>
            <a:r>
              <a:rPr lang="en-US" altLang="zh-CN"/>
              <a:t>O(n)</a:t>
            </a:r>
            <a:r>
              <a:rPr lang="zh-CN" altLang="en-US"/>
              <a:t>。这表明随着顺序表长度</a:t>
            </a:r>
            <a:r>
              <a:rPr lang="en-US" altLang="zh-CN"/>
              <a:t>n</a:t>
            </a:r>
            <a:r>
              <a:rPr lang="zh-CN" altLang="en-US"/>
              <a:t>的增加，插入操作的时间大致呈线性增长。由此可见，顺序表插入操作在数据量较大时效率较低，需要进一步优化。</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本次探讨线性表顺序存储中插入元素移动元素个数的问题。在等概率前提下，要计算平均每插入一个元素需移动的元素个数。这是对顺序表插入操作的深入研究，可让我们了解在理想状态下插入元素的效率。</a:t>
            </a:r>
            <a:r>
              <a:rPr lang="en-US" altLang="zh-CN"/>
              <a:t>
</a:t>
            </a:r>
            <a:r>
              <a:rPr lang="zh-CN" altLang="en-US"/>
              <a:t>假设元素插在特定位置，即插在</a:t>
            </a:r>
            <a:r>
              <a:rPr lang="en-US" altLang="zh-CN"/>
              <a:t>\(a_i\)</a:t>
            </a:r>
            <a:r>
              <a:rPr lang="zh-CN" altLang="en-US"/>
              <a:t>与</a:t>
            </a:r>
            <a:r>
              <a:rPr lang="en-US" altLang="zh-CN"/>
              <a:t>\(a_{i + 1}\)</a:t>
            </a:r>
            <a:r>
              <a:rPr lang="zh-CN" altLang="en-US"/>
              <a:t>之间（</a:t>
            </a:r>
            <a:r>
              <a:rPr lang="en-US" altLang="zh-CN"/>
              <a:t>\(1\leq i\leq n\)</a:t>
            </a:r>
            <a:r>
              <a:rPr lang="zh-CN" altLang="en-US"/>
              <a:t>），且插入概率为</a:t>
            </a:r>
            <a:r>
              <a:rPr lang="en-US" altLang="zh-CN"/>
              <a:t>\(\frac{n - i}{\frac{n(n + 1)}{2}}\)</a:t>
            </a:r>
            <a:r>
              <a:rPr lang="zh-CN" altLang="en-US"/>
              <a:t>，还要计算此时平均每插入一个元素需移动的元素个数。这种情况更贴近实际应用，因为在实际操作中，插入位置的概率并非完全相等。</a:t>
            </a:r>
            <a:r>
              <a:rPr lang="en-US" altLang="zh-CN"/>
              <a:t>
</a:t>
            </a:r>
            <a:r>
              <a:rPr lang="zh-CN" altLang="en-US"/>
              <a:t>这两个问题具有重要意义。前者能让我们掌握等概率下顺序表插入操作的基本效率，为后续分析提供基础。后者则考虑了实际中插入位置概率不同的情况，使我们的分析更具实用性和针对性。通过解决这两个问题，我们可以更全面地了解顺序表插入操作的性能，为优化算法提供依据。</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这里给出了两个计算结果的求解过程。第一个等式，对从</a:t>
            </a:r>
            <a:r>
              <a:rPr lang="en-US" altLang="zh-CN"/>
              <a:t>1</a:t>
            </a:r>
            <a:r>
              <a:rPr lang="zh-CN" altLang="en-US"/>
              <a:t>到</a:t>
            </a:r>
            <a:r>
              <a:rPr lang="en-US" altLang="zh-CN"/>
              <a:t>n + 1</a:t>
            </a:r>
            <a:r>
              <a:rPr lang="zh-CN" altLang="en-US"/>
              <a:t>的</a:t>
            </a:r>
            <a:r>
              <a:rPr lang="en-US" altLang="zh-CN"/>
              <a:t>n - i + 1</a:t>
            </a:r>
            <a:r>
              <a:rPr lang="zh-CN" altLang="en-US"/>
              <a:t>求和，最终结果为</a:t>
            </a:r>
            <a:r>
              <a:rPr lang="en-US" altLang="zh-CN"/>
              <a:t>n / 2</a:t>
            </a:r>
            <a:r>
              <a:rPr lang="zh-CN" altLang="en-US"/>
              <a:t>。这个计算结果在等概率前提下，与平均每插入一个元素需要移动的元素个数相关，它反映了在顺序表插入操作中，数据元素移动的平均情况，是衡量插入操作效率的一个重要指标。</a:t>
            </a:r>
            <a:r>
              <a:rPr lang="en-US" altLang="zh-CN"/>
              <a:t>
</a:t>
            </a:r>
            <a:r>
              <a:rPr lang="zh-CN" altLang="en-US"/>
              <a:t>第二个等式，对从</a:t>
            </a:r>
            <a:r>
              <a:rPr lang="en-US" altLang="zh-CN"/>
              <a:t>1</a:t>
            </a:r>
            <a:r>
              <a:rPr lang="zh-CN" altLang="en-US"/>
              <a:t>到</a:t>
            </a:r>
            <a:r>
              <a:rPr lang="en-US" altLang="zh-CN"/>
              <a:t>n</a:t>
            </a:r>
            <a:r>
              <a:rPr lang="zh-CN" altLang="en-US"/>
              <a:t>的</a:t>
            </a:r>
            <a:r>
              <a:rPr lang="en-US" altLang="zh-CN"/>
              <a:t>(n - i)²</a:t>
            </a:r>
            <a:r>
              <a:rPr lang="zh-CN" altLang="en-US"/>
              <a:t>除以</a:t>
            </a:r>
            <a:r>
              <a:rPr lang="en-US" altLang="zh-CN"/>
              <a:t>n(n + 1) / 2</a:t>
            </a:r>
            <a:r>
              <a:rPr lang="zh-CN" altLang="en-US"/>
              <a:t>求和，结果为</a:t>
            </a:r>
            <a:r>
              <a:rPr lang="en-US" altLang="zh-CN"/>
              <a:t>(2n + 1) / 3</a:t>
            </a:r>
            <a:r>
              <a:rPr lang="zh-CN" altLang="en-US"/>
              <a:t>。这一结果是在元素插在</a:t>
            </a:r>
            <a:r>
              <a:rPr lang="en-US" altLang="zh-CN"/>
              <a:t>ai</a:t>
            </a:r>
            <a:r>
              <a:rPr lang="zh-CN" altLang="en-US"/>
              <a:t>与</a:t>
            </a:r>
            <a:r>
              <a:rPr lang="en-US" altLang="zh-CN"/>
              <a:t>ai + 1</a:t>
            </a:r>
            <a:r>
              <a:rPr lang="zh-CN" altLang="en-US"/>
              <a:t>之间的概率为</a:t>
            </a:r>
            <a:r>
              <a:rPr lang="en-US" altLang="zh-CN"/>
              <a:t>(n - i) / [n(n + 1) / 2]</a:t>
            </a:r>
            <a:r>
              <a:rPr lang="zh-CN" altLang="en-US"/>
              <a:t>的情况下得出的。它考虑了不同插入位置概率不同的情况，相比等概率情况更贴合实际应用场景，能够更精准地评估顺序表插入操作的数据元素移动平均次数，有助于我们更深入地理解顺序表插入操作的时间复杂度和效率。</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线性表顺序存储的删除操作是重要的基础操作。删除操作</a:t>
            </a:r>
            <a:r>
              <a:rPr lang="en-US" altLang="zh-CN"/>
              <a:t>remove(i,x)</a:t>
            </a:r>
            <a:r>
              <a:rPr lang="zh-CN" altLang="en-US"/>
              <a:t>旨在将长度为</a:t>
            </a:r>
            <a:r>
              <a:rPr lang="en-US" altLang="zh-CN"/>
              <a:t>n</a:t>
            </a:r>
            <a:r>
              <a:rPr lang="zh-CN" altLang="en-US"/>
              <a:t>的顺序表的第</a:t>
            </a:r>
            <a:r>
              <a:rPr lang="en-US" altLang="zh-CN"/>
              <a:t>i</a:t>
            </a:r>
            <a:r>
              <a:rPr lang="zh-CN" altLang="en-US"/>
              <a:t>个数据元素删除，这里</a:t>
            </a:r>
            <a:r>
              <a:rPr lang="en-US" altLang="zh-CN"/>
              <a:t>i</a:t>
            </a:r>
            <a:r>
              <a:rPr lang="zh-CN" altLang="en-US"/>
              <a:t>的取值范围为</a:t>
            </a:r>
            <a:r>
              <a:rPr lang="en-US" altLang="zh-CN"/>
              <a:t>0</a:t>
            </a:r>
            <a:r>
              <a:rPr lang="zh-CN" altLang="en-US"/>
              <a:t>到</a:t>
            </a:r>
            <a:r>
              <a:rPr lang="en-US" altLang="zh-CN"/>
              <a:t>n - 1</a:t>
            </a:r>
            <a:r>
              <a:rPr lang="zh-CN" altLang="en-US"/>
              <a:t>。此操作完成后，顺序表的表长会减</a:t>
            </a:r>
            <a:r>
              <a:rPr lang="en-US" altLang="zh-CN"/>
              <a:t>1</a:t>
            </a:r>
            <a:r>
              <a:rPr lang="zh-CN" altLang="en-US"/>
              <a:t>。</a:t>
            </a:r>
            <a:r>
              <a:rPr lang="en-US" altLang="zh-CN"/>
              <a:t>
</a:t>
            </a:r>
            <a:r>
              <a:rPr lang="zh-CN" altLang="en-US"/>
              <a:t>从逻辑结构上看，删除操作会让顺序表发生显著变化。原本顺序表的逻辑结构是</a:t>
            </a:r>
            <a:r>
              <a:rPr lang="en-US" altLang="zh-CN"/>
              <a:t>(a0,a1,…,ai - 1,ai,…,an - 1)</a:t>
            </a:r>
            <a:r>
              <a:rPr lang="zh-CN" altLang="en-US"/>
              <a:t>，删除第</a:t>
            </a:r>
            <a:r>
              <a:rPr lang="en-US" altLang="zh-CN"/>
              <a:t>i</a:t>
            </a:r>
            <a:r>
              <a:rPr lang="zh-CN" altLang="en-US"/>
              <a:t>个数据元素后，变成了</a:t>
            </a:r>
            <a:r>
              <a:rPr lang="en-US" altLang="zh-CN"/>
              <a:t>(a0,a1,…,ai - 1,ai + 1,…,an - 1)</a:t>
            </a:r>
            <a:r>
              <a:rPr lang="zh-CN" altLang="en-US"/>
              <a:t>。这就好比一条有序排列的队伍，中间某个人离开后，队伍的排列顺序自然会发生改变。</a:t>
            </a:r>
            <a:r>
              <a:rPr lang="en-US" altLang="zh-CN"/>
              <a:t>
</a:t>
            </a:r>
            <a:r>
              <a:rPr lang="zh-CN" altLang="en-US"/>
              <a:t>通过图</a:t>
            </a:r>
            <a:r>
              <a:rPr lang="en-US" altLang="zh-CN"/>
              <a:t>2.4</a:t>
            </a:r>
            <a:r>
              <a:rPr lang="zh-CN" altLang="en-US"/>
              <a:t>的删除操作前后的顺序表存储结构图，我们能更直观地看到这种结构变化。这种变化反映出顺序表在删除元素时，需要对后续元素进行调整，以保证顺序表的连续性和有序性。而这种调整必然会带来一定的操作成本，这也是后续分析删除操作时间复杂度的重要依据。</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顺序表删除操作的主要步骤具有严谨的逻辑和明确的目标。第一步，需判断参数</a:t>
            </a:r>
            <a:r>
              <a:rPr lang="en-US" altLang="zh-CN"/>
              <a:t> i </a:t>
            </a:r>
            <a:r>
              <a:rPr lang="zh-CN" altLang="en-US"/>
              <a:t>是否满足</a:t>
            </a:r>
            <a:r>
              <a:rPr lang="en-US" altLang="zh-CN"/>
              <a:t> 0≤i≤curLen - 1 </a:t>
            </a:r>
            <a:r>
              <a:rPr lang="zh-CN" altLang="en-US"/>
              <a:t>这一条件。这一判断至关重要，它是确保删除操作合法的基础。若不满足此条件，说明要删除的位置超出了当前顺序表的有效范围，此时抛出异常是合理且必要的，能避免程序出现不可预期的错误，保证系统的稳定性和可靠性。</a:t>
            </a:r>
            <a:r>
              <a:rPr lang="en-US" altLang="zh-CN"/>
              <a:t>
</a:t>
            </a:r>
            <a:r>
              <a:rPr lang="zh-CN" altLang="en-US"/>
              <a:t>第二步，将第</a:t>
            </a:r>
            <a:r>
              <a:rPr lang="en-US" altLang="zh-CN"/>
              <a:t> i </a:t>
            </a:r>
            <a:r>
              <a:rPr lang="zh-CN" altLang="en-US"/>
              <a:t>个数据元素之后的数据元素都向前移动一个存储单元。这是删除操作的核心步骤，通过数据元素的移动，填补了被删除元素的位置，使得顺序表在逻辑上保持连续。这一过程需要对数据元素进行精确的操作，以确保数据的完整性和顺序性。</a:t>
            </a:r>
            <a:r>
              <a:rPr lang="en-US" altLang="zh-CN"/>
              <a:t>
</a:t>
            </a:r>
            <a:r>
              <a:rPr lang="zh-CN" altLang="en-US"/>
              <a:t>第三步，表长减</a:t>
            </a:r>
            <a:r>
              <a:rPr lang="en-US" altLang="zh-CN"/>
              <a:t> 1</a:t>
            </a:r>
            <a:r>
              <a:rPr lang="zh-CN" altLang="en-US"/>
              <a:t>。当完成数据元素的移动后，顺序表的长度自然减少了</a:t>
            </a:r>
            <a:r>
              <a:rPr lang="en-US" altLang="zh-CN"/>
              <a:t> 1</a:t>
            </a:r>
            <a:r>
              <a:rPr lang="zh-CN" altLang="en-US"/>
              <a:t>。这一步骤体现了删除操作对顺序表结构的影响，准确反映了顺序表中元素数量的变化。这三个步骤紧密相连，缺一不可，共同构成了顺序表删除操作的完整流程，保证了顺序表在删除元素后仍能保持其结构的合理性和数据的一致性。</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现在我们来探讨【算法</a:t>
            </a:r>
            <a:r>
              <a:rPr lang="en-US" altLang="zh-CN"/>
              <a:t>2.2</a:t>
            </a:r>
            <a:r>
              <a:rPr lang="zh-CN" altLang="en-US"/>
              <a:t>】顺序表的删除操作算法。在顺序表的操作中，删除操作是一项关键且基础的操作。顺序表的删除操作，即</a:t>
            </a:r>
            <a:r>
              <a:rPr lang="en-US" altLang="zh-CN"/>
              <a:t>remove(i,x)</a:t>
            </a:r>
            <a:r>
              <a:rPr lang="zh-CN" altLang="en-US"/>
              <a:t>，是将长度为</a:t>
            </a:r>
            <a:r>
              <a:rPr lang="en-US" altLang="zh-CN"/>
              <a:t>n</a:t>
            </a:r>
            <a:r>
              <a:rPr lang="zh-CN" altLang="en-US"/>
              <a:t>的顺序表的第</a:t>
            </a:r>
            <a:r>
              <a:rPr lang="en-US" altLang="zh-CN"/>
              <a:t>i</a:t>
            </a:r>
            <a:r>
              <a:rPr lang="zh-CN" altLang="en-US"/>
              <a:t>个数据元素删除，完成后表长减</a:t>
            </a:r>
            <a:r>
              <a:rPr lang="en-US" altLang="zh-CN"/>
              <a:t>1</a:t>
            </a:r>
            <a:r>
              <a:rPr lang="zh-CN" altLang="en-US"/>
              <a:t>。这一操作会使顺序表的逻辑结构发生改变，从</a:t>
            </a:r>
            <a:r>
              <a:rPr lang="en-US" altLang="zh-CN"/>
              <a:t>(a0,a1,…,ai - 1,ai,…,an - 1)</a:t>
            </a:r>
            <a:r>
              <a:rPr lang="zh-CN" altLang="en-US"/>
              <a:t>变为</a:t>
            </a:r>
            <a:r>
              <a:rPr lang="en-US" altLang="zh-CN"/>
              <a:t>(a0,a1,…,ai - 1,ai + 1,…,an - 1)</a:t>
            </a:r>
            <a:r>
              <a:rPr lang="zh-CN" altLang="en-US"/>
              <a:t>。</a:t>
            </a:r>
            <a:r>
              <a:rPr lang="en-US" altLang="zh-CN"/>
              <a:t>
</a:t>
            </a:r>
            <a:r>
              <a:rPr lang="zh-CN" altLang="en-US"/>
              <a:t>删除操作有着明确的步骤。第一步要判断参数</a:t>
            </a:r>
            <a:r>
              <a:rPr lang="en-US" altLang="zh-CN"/>
              <a:t>i</a:t>
            </a:r>
            <a:r>
              <a:rPr lang="zh-CN" altLang="en-US"/>
              <a:t>是否在合理范围</a:t>
            </a:r>
            <a:r>
              <a:rPr lang="en-US" altLang="zh-CN"/>
              <a:t>0≤i≤curLen - 1</a:t>
            </a:r>
            <a:r>
              <a:rPr lang="zh-CN" altLang="en-US"/>
              <a:t>内，若不满足则抛出异常，这是保证操作合法的重要前提。第二步将第</a:t>
            </a:r>
            <a:r>
              <a:rPr lang="en-US" altLang="zh-CN"/>
              <a:t>i</a:t>
            </a:r>
            <a:r>
              <a:rPr lang="zh-CN" altLang="en-US"/>
              <a:t>个数据元素之后的数据元素都向前移动一个存储单元，此步骤是删除操作的核心动作，直接影响到顺序表的存储结构。第三步则是将表长减</a:t>
            </a:r>
            <a:r>
              <a:rPr lang="en-US" altLang="zh-CN"/>
              <a:t>1</a:t>
            </a:r>
            <a:r>
              <a:rPr lang="zh-CN" altLang="en-US"/>
              <a:t>，以反映删除操作后顺序表长度的变化。</a:t>
            </a:r>
            <a:r>
              <a:rPr lang="en-US" altLang="zh-CN"/>
              <a:t>
</a:t>
            </a:r>
            <a:r>
              <a:rPr lang="zh-CN" altLang="en-US"/>
              <a:t>对于该算法的时间复杂度分析，其时间花费主要集中在数据元素的移动上。在等概率情况下，删除一个数据元素平均需要移动</a:t>
            </a:r>
            <a:r>
              <a:rPr lang="en-US" altLang="zh-CN"/>
              <a:t>(n - 1)/2</a:t>
            </a:r>
            <a:r>
              <a:rPr lang="zh-CN" altLang="en-US"/>
              <a:t>个顺序表的数据元素，算法的时间复杂度为</a:t>
            </a:r>
            <a:r>
              <a:rPr lang="en-US" altLang="zh-CN"/>
              <a:t>O(n)</a:t>
            </a:r>
            <a:r>
              <a:rPr lang="zh-CN" altLang="en-US"/>
              <a:t>。这表明顺序表的删除操作在数据量较大时，可能会面临性能挑战。</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在顺序表的删除操作里，算法的时间复杂度分析至关重要。经过对算法的分析可知，删除数据元素的时间主要消耗在第</a:t>
            </a:r>
            <a:r>
              <a:rPr lang="en-US" altLang="zh-CN"/>
              <a:t>6</a:t>
            </a:r>
            <a:r>
              <a:rPr lang="zh-CN" altLang="en-US"/>
              <a:t>行的数据元素移动上。</a:t>
            </a:r>
            <a:r>
              <a:rPr lang="en-US" altLang="zh-CN"/>
              <a:t>
</a:t>
            </a:r>
            <a:r>
              <a:rPr lang="zh-CN" altLang="en-US"/>
              <a:t>对于表长为</a:t>
            </a:r>
            <a:r>
              <a:rPr lang="en-US" altLang="zh-CN"/>
              <a:t>n</a:t>
            </a:r>
            <a:r>
              <a:rPr lang="zh-CN" altLang="en-US"/>
              <a:t>的顺序表，删除表头数据元素时，需要移动</a:t>
            </a:r>
            <a:r>
              <a:rPr lang="en-US" altLang="zh-CN"/>
              <a:t>n</a:t>
            </a:r>
            <a:r>
              <a:rPr lang="zh-CN" altLang="en-US"/>
              <a:t>个数据元素，这是因为要将表头之后的所有元素依次向前移动一位；而删除表尾数据元素时，无需移动其他元素，即移动</a:t>
            </a:r>
            <a:r>
              <a:rPr lang="en-US" altLang="zh-CN"/>
              <a:t>0</a:t>
            </a:r>
            <a:r>
              <a:rPr lang="zh-CN" altLang="en-US"/>
              <a:t>个数据元素。若设删除位置为</a:t>
            </a:r>
            <a:r>
              <a:rPr lang="en-US" altLang="zh-CN"/>
              <a:t>i</a:t>
            </a:r>
            <a:r>
              <a:rPr lang="zh-CN" altLang="en-US"/>
              <a:t>，那么第</a:t>
            </a:r>
            <a:r>
              <a:rPr lang="en-US" altLang="zh-CN"/>
              <a:t>6</a:t>
            </a:r>
            <a:r>
              <a:rPr lang="zh-CN" altLang="en-US"/>
              <a:t>行语句的执行次数为</a:t>
            </a:r>
            <a:r>
              <a:rPr lang="en-US" altLang="zh-CN"/>
              <a:t>n - i - 1</a:t>
            </a:r>
            <a:r>
              <a:rPr lang="zh-CN" altLang="en-US"/>
              <a:t>。</a:t>
            </a:r>
            <a:r>
              <a:rPr lang="en-US" altLang="zh-CN"/>
              <a:t>
</a:t>
            </a:r>
            <a:r>
              <a:rPr lang="zh-CN" altLang="en-US"/>
              <a:t>基于此，每次删除操作数据元素的平均移动次数可用公式表示为从</a:t>
            </a:r>
            <a:r>
              <a:rPr lang="en-US" altLang="zh-CN"/>
              <a:t>i = 0</a:t>
            </a:r>
            <a:r>
              <a:rPr lang="zh-CN" altLang="en-US"/>
              <a:t>到</a:t>
            </a:r>
            <a:r>
              <a:rPr lang="en-US" altLang="zh-CN"/>
              <a:t>n - 1</a:t>
            </a:r>
            <a:r>
              <a:rPr lang="zh-CN" altLang="en-US"/>
              <a:t>对</a:t>
            </a:r>
            <a:r>
              <a:rPr lang="en-US" altLang="zh-CN"/>
              <a:t>p</a:t>
            </a:r>
            <a:r>
              <a:rPr lang="zh-CN" altLang="en-US"/>
              <a:t>ᵢ</a:t>
            </a:r>
            <a:r>
              <a:rPr lang="en-US" altLang="zh-CN"/>
              <a:t>(n - i - 1)</a:t>
            </a:r>
            <a:r>
              <a:rPr lang="zh-CN" altLang="en-US"/>
              <a:t>求和，其中</a:t>
            </a:r>
            <a:r>
              <a:rPr lang="en-US" altLang="zh-CN"/>
              <a:t>p</a:t>
            </a:r>
            <a:r>
              <a:rPr lang="zh-CN" altLang="en-US"/>
              <a:t>ᵢ为删除顺序表第</a:t>
            </a:r>
            <a:r>
              <a:rPr lang="en-US" altLang="zh-CN"/>
              <a:t>i</a:t>
            </a:r>
            <a:r>
              <a:rPr lang="zh-CN" altLang="en-US"/>
              <a:t>个存储位置数据元素的概率。假设每个删除位置出现的概率相同，均为</a:t>
            </a:r>
            <a:r>
              <a:rPr lang="en-US" altLang="zh-CN"/>
              <a:t>1/n</a:t>
            </a:r>
            <a:r>
              <a:rPr lang="zh-CN" altLang="en-US"/>
              <a:t>，经过计算可得，此公式的值为</a:t>
            </a:r>
            <a:r>
              <a:rPr lang="en-US" altLang="zh-CN"/>
              <a:t>(n - 1)/2</a:t>
            </a:r>
            <a:r>
              <a:rPr lang="zh-CN" altLang="en-US"/>
              <a:t>。</a:t>
            </a:r>
            <a:r>
              <a:rPr lang="en-US" altLang="zh-CN"/>
              <a:t>
</a:t>
            </a:r>
            <a:r>
              <a:rPr lang="zh-CN" altLang="en-US"/>
              <a:t>这表明，在等概率情况下，删除一个数据元素平均需要移动</a:t>
            </a:r>
            <a:r>
              <a:rPr lang="en-US" altLang="zh-CN"/>
              <a:t>(n - 1)/2</a:t>
            </a:r>
            <a:r>
              <a:rPr lang="zh-CN" altLang="en-US"/>
              <a:t>个顺序表的数据元素。由于平均移动次数与表长</a:t>
            </a:r>
            <a:r>
              <a:rPr lang="en-US" altLang="zh-CN"/>
              <a:t>n</a:t>
            </a:r>
            <a:r>
              <a:rPr lang="zh-CN" altLang="en-US"/>
              <a:t>呈线性关系，所以该算法的时间复杂度为</a:t>
            </a:r>
            <a:r>
              <a:rPr lang="en-US" altLang="zh-CN"/>
              <a:t>O(n)</a:t>
            </a:r>
            <a:r>
              <a:rPr lang="zh-CN" altLang="en-US"/>
              <a:t>。这一结论对于评估顺序表删除操作的效率具有重要意义，能帮助我们在实际应用中做出更合理的选择。</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当前探讨的是线性表顺序存储相关内容，此前已对线性表顺序存储的删除操作、算法及时间复杂度分析等有了详细阐述。删除操作需判断参数范围、移动元素并减表长，时间复杂度为</a:t>
            </a:r>
            <a:r>
              <a:rPr lang="en-US" altLang="zh-CN"/>
              <a:t>O(n)</a:t>
            </a:r>
            <a:r>
              <a:rPr lang="zh-CN" altLang="en-US"/>
              <a:t>。查找操作的时间花费集中在数据元素比较上，等概率情况下平均比较次数为</a:t>
            </a:r>
            <a:r>
              <a:rPr lang="en-US" altLang="zh-CN"/>
              <a:t>(n + 1) / 2</a:t>
            </a:r>
            <a:r>
              <a:rPr lang="zh-CN" altLang="en-US"/>
              <a:t>，时间复杂度同样为</a:t>
            </a:r>
            <a:r>
              <a:rPr lang="en-US" altLang="zh-CN"/>
              <a:t>O(n)</a:t>
            </a:r>
            <a:r>
              <a:rPr lang="zh-CN" altLang="en-US"/>
              <a:t>。</a:t>
            </a:r>
            <a:r>
              <a:rPr lang="en-US" altLang="zh-CN"/>
              <a:t>
</a:t>
            </a:r>
            <a:r>
              <a:rPr lang="zh-CN" altLang="en-US"/>
              <a:t>接下来很可能会进一步深入研究线性表顺序存储的其他操作，或者探讨不同操作之间的关联与影响。也可能会结合实际案例，分析线性表顺序存储在具体场景中的应用及优势。此外，或许会对时间复杂度进行更深入的探讨，研究如何优化算法以降低时间复杂度，提高线性表顺序存储的操作效率。这些内容对于全面理解线性表顺序存储的原理和应用具有重要意义。</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现在我们来关注【算法</a:t>
            </a:r>
            <a:r>
              <a:rPr lang="en-US" altLang="zh-CN"/>
              <a:t>2.3</a:t>
            </a:r>
            <a:r>
              <a:rPr lang="zh-CN" altLang="en-US"/>
              <a:t>】，即顺序表的查找操作算法。在前面，我们已经探讨了线性表顺序存储中的删除操作，了解了其操作步骤和时间复杂度。而查找操作同样是线性表顺序存储中的重要基本操作。</a:t>
            </a:r>
            <a:r>
              <a:rPr lang="en-US" altLang="zh-CN"/>
              <a:t>
</a:t>
            </a:r>
            <a:r>
              <a:rPr lang="zh-CN" altLang="en-US"/>
              <a:t>顺序表的查找操作，就是在给定的顺序表中找到满足特定条件的数据元素。其时间花费主要集中在数据元素的比较上。查找操作的比较次数取决于元素位置，设顺序表的数据元素个数为</a:t>
            </a:r>
            <a:r>
              <a:rPr lang="en-US" altLang="zh-CN"/>
              <a:t>n</a:t>
            </a:r>
            <a:r>
              <a:rPr lang="zh-CN" altLang="en-US"/>
              <a:t>，比较次数最少为</a:t>
            </a:r>
            <a:r>
              <a:rPr lang="en-US" altLang="zh-CN"/>
              <a:t>1</a:t>
            </a:r>
            <a:r>
              <a:rPr lang="zh-CN" altLang="en-US"/>
              <a:t>、最多为</a:t>
            </a:r>
            <a:r>
              <a:rPr lang="en-US" altLang="zh-CN"/>
              <a:t>n</a:t>
            </a:r>
            <a:r>
              <a:rPr lang="zh-CN" altLang="en-US"/>
              <a:t>。在等概率情况下，查找一个数据元素平均需要比较的顺序表的数据元素为</a:t>
            </a:r>
            <a:r>
              <a:rPr lang="en-US" altLang="zh-CN"/>
              <a:t>(n + 1) / 2</a:t>
            </a:r>
            <a:r>
              <a:rPr lang="zh-CN" altLang="en-US"/>
              <a:t>个，算法的时间复杂度为</a:t>
            </a:r>
            <a:r>
              <a:rPr lang="en-US" altLang="zh-CN"/>
              <a:t>O(n)</a:t>
            </a:r>
            <a:r>
              <a:rPr lang="zh-CN" altLang="en-US"/>
              <a:t>。</a:t>
            </a:r>
            <a:r>
              <a:rPr lang="en-US" altLang="zh-CN"/>
              <a:t>
</a:t>
            </a:r>
            <a:r>
              <a:rPr lang="zh-CN" altLang="en-US"/>
              <a:t>这个查找操作算法在实际应用中具有重要意义。比如在处理大量数据时，我们可以利用该算法快速定位所需的数据元素。它与之前讨论的删除操作一起，共同构成了线性表顺序存储的基本操作体系，为我们进一步理解和应用线性表提供了坚实的基础。</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接下来探讨顺序表查找操作算法的时间复杂度。查找操作的比较次数与元素位置密切相关，分析算法可知，时间花费主要集中在数据元素的比较上。若顺序表的数据元素个数为</a:t>
            </a:r>
            <a:r>
              <a:rPr lang="en-US" altLang="zh-CN"/>
              <a:t>n</a:t>
            </a:r>
            <a:r>
              <a:rPr lang="zh-CN" altLang="en-US"/>
              <a:t>，比较次数最少是</a:t>
            </a:r>
            <a:r>
              <a:rPr lang="en-US" altLang="zh-CN"/>
              <a:t>1</a:t>
            </a:r>
            <a:r>
              <a:rPr lang="zh-CN" altLang="en-US"/>
              <a:t>次，最多则达到</a:t>
            </a:r>
            <a:r>
              <a:rPr lang="en-US" altLang="zh-CN"/>
              <a:t>n</a:t>
            </a:r>
            <a:r>
              <a:rPr lang="zh-CN" altLang="en-US"/>
              <a:t>次。</a:t>
            </a:r>
            <a:r>
              <a:rPr lang="en-US" altLang="zh-CN"/>
              <a:t>
</a:t>
            </a:r>
            <a:r>
              <a:rPr lang="zh-CN" altLang="en-US"/>
              <a:t>假设各数据元素的查找概率相等，可计算出数据元素的平均比较次数。根据公式</a:t>
            </a:r>
            <a:r>
              <a:rPr lang="en-US" altLang="zh-CN"/>
              <a:t>_x001A_</a:t>
            </a:r>
            <a:r>
              <a:rPr lang="zh-CN" altLang="en-US"/>
              <a:t>𝑖</a:t>
            </a:r>
            <a:r>
              <a:rPr lang="en-US" altLang="zh-CN"/>
              <a:t>=1_x001B_</a:t>
            </a:r>
            <a:r>
              <a:rPr lang="zh-CN" altLang="en-US"/>
              <a:t>𝑛</a:t>
            </a:r>
            <a:r>
              <a:rPr lang="en-US" altLang="zh-CN"/>
              <a:t>_x001B__x001A_</a:t>
            </a:r>
            <a:r>
              <a:rPr lang="zh-CN" altLang="en-US"/>
              <a:t>𝑖</a:t>
            </a:r>
            <a:r>
              <a:rPr lang="en-US" altLang="zh-CN"/>
              <a:t>_x001B_</a:t>
            </a:r>
            <a:r>
              <a:rPr lang="zh-CN" altLang="en-US"/>
              <a:t>𝑛</a:t>
            </a:r>
            <a:r>
              <a:rPr lang="en-US" altLang="zh-CN"/>
              <a:t>_x001B_ </a:t>
            </a:r>
            <a:r>
              <a:rPr lang="zh-CN" altLang="en-US"/>
              <a:t>，其结果为</a:t>
            </a:r>
            <a:r>
              <a:rPr lang="en-US" altLang="zh-CN"/>
              <a:t>_x001A_</a:t>
            </a:r>
            <a:r>
              <a:rPr lang="zh-CN" altLang="en-US"/>
              <a:t>𝑛</a:t>
            </a:r>
            <a:r>
              <a:rPr lang="en-US" altLang="zh-CN"/>
              <a:t>+1_x001B_2_x001B_ </a:t>
            </a:r>
            <a:r>
              <a:rPr lang="zh-CN" altLang="en-US"/>
              <a:t>。这意味着在等概率情况下，查找一个数据元素平均需要比较顺序表中</a:t>
            </a:r>
            <a:r>
              <a:rPr lang="en-US" altLang="zh-CN"/>
              <a:t>_x001A_</a:t>
            </a:r>
            <a:r>
              <a:rPr lang="zh-CN" altLang="en-US"/>
              <a:t>𝑛</a:t>
            </a:r>
            <a:r>
              <a:rPr lang="en-US" altLang="zh-CN"/>
              <a:t>+1_x001B_2_x001B_ </a:t>
            </a:r>
            <a:r>
              <a:rPr lang="zh-CN" altLang="en-US"/>
              <a:t>个数据元素。</a:t>
            </a:r>
            <a:r>
              <a:rPr lang="en-US" altLang="zh-CN"/>
              <a:t>
</a:t>
            </a:r>
            <a:r>
              <a:rPr lang="zh-CN" altLang="en-US"/>
              <a:t>从时间复杂度的角度来看，由于平均比较次数与数据元素个数</a:t>
            </a:r>
            <a:r>
              <a:rPr lang="en-US" altLang="zh-CN"/>
              <a:t>n</a:t>
            </a:r>
            <a:r>
              <a:rPr lang="zh-CN" altLang="en-US"/>
              <a:t>呈线性关系，所以该算法的时间复杂度为</a:t>
            </a:r>
            <a:r>
              <a:rPr lang="en-US" altLang="zh-CN"/>
              <a:t>O(n)</a:t>
            </a:r>
            <a:r>
              <a:rPr lang="zh-CN" altLang="en-US"/>
              <a:t>。这一结果反映出顺序表查找操作在数据量增大时，所需的时间也会相应增加，体现了顺序表查找操作在大规模数据处理时可能存在的效率问题。不过，在数据量较小的情况下，顺序表查找操作仍然具有一定的优势。</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接下来我们来看一个关于线性表顺序存储的具体实例。【例</a:t>
            </a:r>
            <a:r>
              <a:rPr lang="en-US" altLang="zh-CN"/>
              <a:t>2.3</a:t>
            </a:r>
            <a:r>
              <a:rPr lang="zh-CN" altLang="en-US"/>
              <a:t>】要求我们建立一个由</a:t>
            </a:r>
            <a:r>
              <a:rPr lang="en-US" altLang="zh-CN"/>
              <a:t>a~z</a:t>
            </a:r>
            <a:r>
              <a:rPr lang="zh-CN" altLang="en-US"/>
              <a:t>这</a:t>
            </a:r>
            <a:r>
              <a:rPr lang="en-US" altLang="zh-CN"/>
              <a:t>26</a:t>
            </a:r>
            <a:r>
              <a:rPr lang="zh-CN" altLang="en-US"/>
              <a:t>个字母组成的字母顺序表，并且求出每个字母的直接前驱和直接后继，最后通过编程来实现。</a:t>
            </a:r>
            <a:r>
              <a:rPr lang="en-US" altLang="zh-CN"/>
              <a:t>
</a:t>
            </a:r>
            <a:r>
              <a:rPr lang="zh-CN" altLang="en-US"/>
              <a:t>这个例子具有一定的代表性和实用性。从理论层面看，它能帮助我们更深入地理解顺序表的结构和操作，因为字母顺序表本身就是一个典型的顺序表，每个字母在表中都有其特定的位置，我们可以通过位置关系来确定其直接前驱和直接后继。从实际应用角度讲，在很多场景下，我们可能需要对字符序列进行类似的操作，比如在文本处理、密码学等领域。</a:t>
            </a:r>
            <a:r>
              <a:rPr lang="en-US" altLang="zh-CN"/>
              <a:t>
</a:t>
            </a:r>
            <a:r>
              <a:rPr lang="zh-CN" altLang="en-US"/>
              <a:t>在编程实现时，我们可以利用顺序表的随机存储特性，通过数组来存储这</a:t>
            </a:r>
            <a:r>
              <a:rPr lang="en-US" altLang="zh-CN"/>
              <a:t>26</a:t>
            </a:r>
            <a:r>
              <a:rPr lang="zh-CN" altLang="en-US"/>
              <a:t>个字母，然后根据字母在数组中的索引位置来计算其直接前驱和直接后继。例如，对于字母</a:t>
            </a:r>
            <a:r>
              <a:rPr lang="en-US" altLang="zh-CN"/>
              <a:t>'b'</a:t>
            </a:r>
            <a:r>
              <a:rPr lang="zh-CN" altLang="en-US"/>
              <a:t>，它在数组中的索引为</a:t>
            </a:r>
            <a:r>
              <a:rPr lang="en-US" altLang="zh-CN"/>
              <a:t>1</a:t>
            </a:r>
            <a:r>
              <a:rPr lang="zh-CN" altLang="en-US"/>
              <a:t>，那么其直接前驱就是索引为</a:t>
            </a:r>
            <a:r>
              <a:rPr lang="en-US" altLang="zh-CN"/>
              <a:t>0</a:t>
            </a:r>
            <a:r>
              <a:rPr lang="zh-CN" altLang="en-US"/>
              <a:t>的字母</a:t>
            </a:r>
            <a:r>
              <a:rPr lang="en-US" altLang="zh-CN"/>
              <a:t>'a'</a:t>
            </a:r>
            <a:r>
              <a:rPr lang="zh-CN" altLang="en-US"/>
              <a:t>，直接后继就是索引为</a:t>
            </a:r>
            <a:r>
              <a:rPr lang="en-US" altLang="zh-CN"/>
              <a:t>2</a:t>
            </a:r>
            <a:r>
              <a:rPr lang="zh-CN" altLang="en-US"/>
              <a:t>的字母</a:t>
            </a:r>
            <a:r>
              <a:rPr lang="en-US" altLang="zh-CN"/>
              <a:t>'c'</a:t>
            </a:r>
            <a:r>
              <a:rPr lang="zh-CN" altLang="en-US"/>
              <a:t>。通过这样的实例，我们能更好地掌握顺序表的操作，也能体会到顺序表在实际问题中的应用。</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处于线性表顺序存储内容的讲解中，上一页探讨了建立字母顺序表并求字母前驱与后继的编程实现。顺序表作为线性表的一种重要存储方式，有着独特的特性。它借助元素物理存储次序体现线性表元素逻辑关系，无需额外空间表达元素间关系，是随机存储结构，存取元素时间复杂度为</a:t>
            </a:r>
            <a:r>
              <a:rPr lang="en-US" altLang="zh-CN"/>
              <a:t>O(1)</a:t>
            </a:r>
            <a:r>
              <a:rPr lang="zh-CN" altLang="en-US"/>
              <a:t>，能较好实现线性表基本操作。</a:t>
            </a:r>
            <a:r>
              <a:rPr lang="en-US" altLang="zh-CN"/>
              <a:t>
</a:t>
            </a:r>
            <a:r>
              <a:rPr lang="zh-CN" altLang="en-US"/>
              <a:t>然而，顺序表并非十全十美。插入和删除操作效率低下，每次操作平均需移动约一半的数据元素。并且数组容量固定，可能出现数据溢出或内存浪费问题。</a:t>
            </a:r>
            <a:r>
              <a:rPr lang="en-US" altLang="zh-CN"/>
              <a:t>
</a:t>
            </a:r>
            <a:r>
              <a:rPr lang="zh-CN" altLang="en-US"/>
              <a:t>后续将进入线性表链式存储的学习。链式存储用分散存储单元存储数据元素，逻辑相邻元素物理位置不一定相邻，需附加信息表示逻辑关系。单链表作为链式存储的一种，其结点含数据域和指针域，头指针是重要标识。我们可以对比顺序表和链式存储，进一步理解它们的优缺点和适用场景。</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线性表的顺序存储具有独特的特性，整体呈现出较好的静态特性与较差的动态特性。</a:t>
            </a:r>
            <a:r>
              <a:rPr lang="en-US" altLang="zh-CN"/>
              <a:t>
</a:t>
            </a:r>
            <a:r>
              <a:rPr lang="zh-CN" altLang="en-US"/>
              <a:t>从静态特性来看，顺序表利用元素的物理存储次序直接反映线性表元素的逻辑关系，这一设计避免了额外存储空间用于表达元素间关系，是一种高效的存储方式。顺序表属于随机存储结构，存取元素</a:t>
            </a:r>
            <a:r>
              <a:rPr lang="en-US" altLang="zh-CN"/>
              <a:t> ai </a:t>
            </a:r>
            <a:r>
              <a:rPr lang="zh-CN" altLang="en-US"/>
              <a:t>的时间复杂度为</a:t>
            </a:r>
            <a:r>
              <a:rPr lang="en-US" altLang="zh-CN"/>
              <a:t> O(1)</a:t>
            </a:r>
            <a:r>
              <a:rPr lang="zh-CN" altLang="en-US"/>
              <a:t>，能够实现线性表抽象数据类型所要求的基本操作，这意味着在对元素进行随机访问时，顺序表可以快速定位并获取所需元素，为数据处理提供了便利。</a:t>
            </a:r>
            <a:r>
              <a:rPr lang="en-US" altLang="zh-CN"/>
              <a:t>
</a:t>
            </a:r>
            <a:r>
              <a:rPr lang="zh-CN" altLang="en-US"/>
              <a:t>然而，顺序表的动态特性较差。插入和删除操作的效率极低，每进行一次插入或删除操作，元素的移动次数较多，平均需要移动顺序表中数据元素个数的一半。这不仅增加了操作的时间成本，还降低了数据处理的效率。此外，顺序表的数组容量不可更改，这会导致两个问题：当容量过小时，容易造成数据溢出，影响数据的完整性；当容量过大时，则会造成内存资源的浪费，降低系统的资源利用率。</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数据结构领域，线性表的链式存储是一种重要的存储方式。采用链式存储方式存储的线性表被称为链表。与顺序存储不同，链表使用若干地址分散的存储单元来存储数据元素，这意味着逻辑上相邻的数据元素在物理位置上不一定相邻。</a:t>
            </a:r>
            <a:r>
              <a:rPr lang="en-US" altLang="zh-CN"/>
              <a:t>
</a:t>
            </a:r>
            <a:r>
              <a:rPr lang="zh-CN" altLang="en-US"/>
              <a:t>由于物理位置缺乏直接关联，必须采用附加信息来表示数据元素之间的逻辑关系。因此，链表的每一个结点具有独特的结构，不仅包含元素本身的信息，即数据域，还包含元素之间逻辑关系的信息，也就是逻辑上相邻结点地址的指针域。</a:t>
            </a:r>
            <a:r>
              <a:rPr lang="en-US" altLang="zh-CN"/>
              <a:t>
</a:t>
            </a:r>
            <a:r>
              <a:rPr lang="zh-CN" altLang="en-US"/>
              <a:t>这种结构使得链表在处理数据时具有一定的灵活性。例如，在插入和删除操作中，链表不需要像顺序表那样移动大量元素，只需修改指针域的指向即可。同时，链表的结点存储空间是在插入和删除过程中动态申请和释放的，避免了顺序表可能出现的存储空间不足或浪费的问题。然而，链表也存在一些缺点，比如随机访问元素的效率较低，因为需要通过指针域依次遍历。总之，链表以其独特的存储方式和结构特点，在数据存储和处理中发挥着重要作用。</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的链式存储和实现时，单链表是重要的一环。单链表指结点仅含一个指针域的链表，该指针域存储着指向后继结点的指针。单链表的头指针代表线性表的起始地址，即第一个数据元素的存储地址，可作为单链表的唯一标识。单链表尾结点因无后继结点，其指针域值为</a:t>
            </a:r>
            <a:r>
              <a:rPr lang="en-US" altLang="zh-CN"/>
              <a:t>None</a:t>
            </a:r>
            <a:r>
              <a:rPr lang="zh-CN" altLang="en-US"/>
              <a:t>。</a:t>
            </a:r>
            <a:r>
              <a:rPr lang="en-US" altLang="zh-CN"/>
              <a:t>
</a:t>
            </a:r>
            <a:r>
              <a:rPr lang="zh-CN" altLang="en-US"/>
              <a:t>为了操作简便，通常在第一个结点前增设头结点。此时，单链表的头指针指向头结点，头结点的数据域不存储数据，指针域则存放指向第一个结点的指针。若单链表为空，其头指针</a:t>
            </a:r>
            <a:r>
              <a:rPr lang="en-US" altLang="zh-CN"/>
              <a:t>head</a:t>
            </a:r>
            <a:r>
              <a:rPr lang="zh-CN" altLang="en-US"/>
              <a:t>为</a:t>
            </a:r>
            <a:r>
              <a:rPr lang="en-US" altLang="zh-CN"/>
              <a:t>None</a:t>
            </a:r>
            <a:r>
              <a:rPr lang="zh-CN" altLang="en-US"/>
              <a:t>。</a:t>
            </a:r>
            <a:r>
              <a:rPr lang="en-US" altLang="zh-CN"/>
              <a:t>
</a:t>
            </a:r>
            <a:r>
              <a:rPr lang="zh-CN" altLang="en-US"/>
              <a:t>单链表有不带头结点和带头结点之分。不带头结点的单链表结构简洁，但其插入、删除等操作在处理首元结点时较为复杂；带头结点的单链表虽多了一个头结点，但操作更统一，可避免对首元结点的特殊处理，提高操作效率。</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在探讨线性表的链式存储和实现时，我们来到了不带头结点和带头结点的单链表这一关键部分。不带头结点的单链表，其头指针直接指向第一个数据元素的存储地址，这就好比一条没有</a:t>
            </a:r>
            <a:r>
              <a:rPr lang="en-US" altLang="zh-CN"/>
              <a:t>“</a:t>
            </a:r>
            <a:r>
              <a:rPr lang="zh-CN" altLang="en-US"/>
              <a:t>领头人</a:t>
            </a:r>
            <a:r>
              <a:rPr lang="en-US" altLang="zh-CN"/>
              <a:t>”</a:t>
            </a:r>
            <a:r>
              <a:rPr lang="zh-CN" altLang="en-US"/>
              <a:t>的队伍，头指针直接与第一个队员相连。这种结构简洁直观，但在操作时，对于第一个结点的插入和删除操作需要额外的判断，增加了代码的复杂度。</a:t>
            </a:r>
            <a:r>
              <a:rPr lang="en-US" altLang="zh-CN"/>
              <a:t>
</a:t>
            </a:r>
            <a:r>
              <a:rPr lang="zh-CN" altLang="en-US"/>
              <a:t>而带头结点的单链表则有所不同，它在第一个结点之前增加了一个头结点，头指针指向这个头结点，头结点的数据域不存放任何数据，指针域存放指向第一个结点的指针。这就如同给队伍安排了一个</a:t>
            </a:r>
            <a:r>
              <a:rPr lang="en-US" altLang="zh-CN"/>
              <a:t>“</a:t>
            </a:r>
            <a:r>
              <a:rPr lang="zh-CN" altLang="en-US"/>
              <a:t>领队</a:t>
            </a:r>
            <a:r>
              <a:rPr lang="en-US" altLang="zh-CN"/>
              <a:t>”</a:t>
            </a:r>
            <a:r>
              <a:rPr lang="zh-CN" altLang="en-US"/>
              <a:t>，头指针先与</a:t>
            </a:r>
            <a:r>
              <a:rPr lang="en-US" altLang="zh-CN"/>
              <a:t>“</a:t>
            </a:r>
            <a:r>
              <a:rPr lang="zh-CN" altLang="en-US"/>
              <a:t>领队</a:t>
            </a:r>
            <a:r>
              <a:rPr lang="en-US" altLang="zh-CN"/>
              <a:t>”</a:t>
            </a:r>
            <a:r>
              <a:rPr lang="zh-CN" altLang="en-US"/>
              <a:t>相连，再通过</a:t>
            </a:r>
            <a:r>
              <a:rPr lang="en-US" altLang="zh-CN"/>
              <a:t>“</a:t>
            </a:r>
            <a:r>
              <a:rPr lang="zh-CN" altLang="en-US"/>
              <a:t>领队</a:t>
            </a:r>
            <a:r>
              <a:rPr lang="en-US" altLang="zh-CN"/>
              <a:t>”</a:t>
            </a:r>
            <a:r>
              <a:rPr lang="zh-CN" altLang="en-US"/>
              <a:t>与第一个队员建立联系。这样做的好处是，对于第一个结点的插入和删除操作与其他结点的操作统一起来，简化了代码逻辑，提高了操作的一致性和效率。</a:t>
            </a:r>
            <a:r>
              <a:rPr lang="en-US" altLang="zh-CN"/>
              <a:t>
</a:t>
            </a:r>
            <a:r>
              <a:rPr lang="zh-CN" altLang="en-US"/>
              <a:t>通过对比这两种单链表的结构，我们能更清晰地理解它们各自的特点和适用场景。不带头结点的单链表适合对结构简洁性要求较高、操作简单的情况；而带头结点的单链表则在需要频繁进行插入和删除操作的场景中更具优势。</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单链表在结点存储空间的管理上展现出显著优势。其结点的存储空间在插入和删除时动态申请与释放，无需预先分配。这一特性有效规避了顺序表存在的诸多问题。</a:t>
            </a:r>
            <a:r>
              <a:rPr lang="en-US" altLang="zh-CN"/>
              <a:t>
</a:t>
            </a:r>
            <a:r>
              <a:rPr lang="zh-CN" altLang="en-US"/>
              <a:t>顺序表在存储空间不足时，需要进行扩充空间和复制元素的操作，这不仅耗费时间，还增加了操作的复杂性。而单链表无需此过程，避免了时间和资源的浪费，提高了运行效率。</a:t>
            </a:r>
            <a:r>
              <a:rPr lang="en-US" altLang="zh-CN"/>
              <a:t>
</a:t>
            </a:r>
            <a:r>
              <a:rPr lang="zh-CN" altLang="en-US"/>
              <a:t>同时，顺序表可能因容量过大造成内存资源的浪费。在实际应用中，若预先分配的空间过多，会导致大量内存闲置，降低了资源利用率。单链表则根据实际需求动态分配空间，不会出现这种情况，显著提高了存储空间的利用率。</a:t>
            </a:r>
            <a:r>
              <a:rPr lang="en-US" altLang="zh-CN"/>
              <a:t>
</a:t>
            </a:r>
            <a:r>
              <a:rPr lang="zh-CN" altLang="en-US"/>
              <a:t>综上所述，单链表在存储空间的动态管理上，比顺序表更具优势，能够更好地适应实际应用中的各种需求，在数据结构领域展现出独特的价值。</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在探讨线性表的链式存储和实现时，结点类描述是重要的一环。此前我们了解到单链表通过分散的存储单元存储数据元素，且每个结点包含数据域和指针域。结点类描述便是对单链表中结点的具体定义和刻画。</a:t>
            </a:r>
            <a:r>
              <a:rPr lang="en-US" altLang="zh-CN"/>
              <a:t>
</a:t>
            </a:r>
            <a:r>
              <a:rPr lang="zh-CN" altLang="en-US"/>
              <a:t>结点类明确了结点应具备的属性和行为。从属性上看，包含了数据域用于存储元素本身信息，以及指针域用于存储后继结点的地址。从行为方面，可能涉及对这些属性的操作，比如获取数据域的值、设置指针域指向等。</a:t>
            </a:r>
            <a:r>
              <a:rPr lang="en-US" altLang="zh-CN"/>
              <a:t>
</a:t>
            </a:r>
            <a:r>
              <a:rPr lang="zh-CN" altLang="en-US"/>
              <a:t>精确进行结点类描述至关重要。它是构建单链表类的基础，只有准确地定义了结点类，才能进一步实现单链表的各种操作，如查找、插入、删除等。合理的结点类描述能够提高代码的可读性和可维护性，让后续对单链表的扩展和优化变得更加容易。因此，结点类描述在单链表的实现过程中起到了基石般的作用。</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的链式存储和实现中，单链表类描述是重要环节。此前了解到单链表是结点含一个指向后继结点指针域的链表，其头指针可作唯一标识，且有带头结点和不带头结点之分，还知晓单链表结点存储空间动态申请和释放，避免顺序表相关问题。</a:t>
            </a:r>
            <a:r>
              <a:rPr lang="en-US" altLang="zh-CN"/>
              <a:t>
</a:t>
            </a:r>
            <a:r>
              <a:rPr lang="zh-CN" altLang="en-US"/>
              <a:t>单链表类描述是对单链表进一步抽象和封装。通过类描述，能将单链表的属性和操作进行整合，以更系统、规范的方式管理和使用单链表。从专业角度看，类描述可定义单链表的基本结构，如包含头指针等属性；还能定义操作方法，像插入、删除、查找等。这有助于提高代码的复用性和可维护性，让开发者在处理单链表时更高效、准确。单链表类描述是线性表链式存储实现中不可或缺的关键步骤，为后续操作和应用奠定坚实基础。</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目前我们处于线性表链式存储和实现这一主题的讲解进程中。此前，我们了解到单链表是结点仅含一个指针域，且该指针域指向后继结点的链表。为操作便捷，还会在首结点前增设头结点。单链表结点存储空间在插入和删除时动态申请与释放，避免了顺序表的一些问题，提升了运行效率与空间利用率。</a:t>
            </a:r>
            <a:r>
              <a:rPr lang="en-US" altLang="zh-CN"/>
              <a:t>
</a:t>
            </a:r>
            <a:r>
              <a:rPr lang="zh-CN" altLang="en-US"/>
              <a:t>接下来，我们会深入探究单链表的相关描述与操作。包括结点类描述和单链表类描述，这有助于我们从微观和宏观层面去认识单链表的结构与特性。而单链表的基本操作实现更是重点内容，比如查找操作。位序查找需从头结点开始沿后继结点依次查找，而查找特定值元素位置则要将该值与各数据元素的数据域逐一比较。</a:t>
            </a:r>
            <a:r>
              <a:rPr lang="en-US" altLang="zh-CN"/>
              <a:t>
</a:t>
            </a:r>
            <a:r>
              <a:rPr lang="zh-CN" altLang="en-US"/>
              <a:t>当前这一页虽看似简洁，但实则是知识体系中的重要过渡页，它承接着前面单链表基础概念和优势的介绍，又引领着后续单链表详细描述和操作的深入探讨。我们即将开启更细致的学习之旅，进一步揭开单链表的奥秘。</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当前聚焦于线性表的链式存储和实现这一重要主题。从前面的内容可知，单链表具有显著优势，其结点存储空间在插入和删除过程中动态申请和释放，无需预先分配，避免了顺序表存储空间不足时扩充空间与复制元素的繁琐，也防止了因容量过大造成的内存资源浪费，有效提高了运行效率和存储空间利用率。</a:t>
            </a:r>
            <a:r>
              <a:rPr lang="en-US" altLang="zh-CN"/>
              <a:t>
</a:t>
            </a:r>
            <a:r>
              <a:rPr lang="zh-CN" altLang="en-US"/>
              <a:t>在后续操作层面，我们将深入探讨单链表的各类基本操作实现。比如查找操作，包含位序查找和按值查找。位序查找需从头结点开始沿着后继结点依次进行，以返回单链表中第</a:t>
            </a:r>
            <a:r>
              <a:rPr lang="en-US" altLang="zh-CN"/>
              <a:t>i</a:t>
            </a:r>
            <a:r>
              <a:rPr lang="zh-CN" altLang="en-US"/>
              <a:t>个结点的数据域的值；按值查找则是将目标值与单链表中的每个数据元素的数据域进行比较，找到则返回位置，未找到则返回</a:t>
            </a:r>
            <a:r>
              <a:rPr lang="en-US" altLang="zh-CN"/>
              <a:t> -1</a:t>
            </a:r>
            <a:r>
              <a:rPr lang="zh-CN" altLang="en-US"/>
              <a:t>。</a:t>
            </a:r>
            <a:r>
              <a:rPr lang="en-US" altLang="zh-CN"/>
              <a:t>
</a:t>
            </a:r>
            <a:r>
              <a:rPr lang="zh-CN" altLang="en-US"/>
              <a:t>而当前所处的环节，是知识体系构建的重要过渡阶段。它承接着前面单链表特点的介绍，又引领着后续单链表基本操作实现的详细讲解。只有扎实掌握这一阶段的知识，才能更好地理解和运用单链表的各类操作，为解决实际问题提供有力的支持。</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在单链表的基本操作实现中，查找操作是重要的一环，其中位序查找尤为关键。位序查找</a:t>
            </a:r>
            <a:r>
              <a:rPr lang="en-US" altLang="zh-CN"/>
              <a:t>get(i)</a:t>
            </a:r>
            <a:r>
              <a:rPr lang="zh-CN" altLang="en-US"/>
              <a:t>的目的是返回长度为</a:t>
            </a:r>
            <a:r>
              <a:rPr lang="en-US" altLang="zh-CN"/>
              <a:t>n</a:t>
            </a:r>
            <a:r>
              <a:rPr lang="zh-CN" altLang="en-US"/>
              <a:t>的单链表中第</a:t>
            </a:r>
            <a:r>
              <a:rPr lang="en-US" altLang="zh-CN"/>
              <a:t>i</a:t>
            </a:r>
            <a:r>
              <a:rPr lang="zh-CN" altLang="en-US"/>
              <a:t>个结点的数据域的值，这里</a:t>
            </a:r>
            <a:r>
              <a:rPr lang="en-US" altLang="zh-CN"/>
              <a:t>i</a:t>
            </a:r>
            <a:r>
              <a:rPr lang="zh-CN" altLang="en-US"/>
              <a:t>的取值范围是</a:t>
            </a:r>
            <a:r>
              <a:rPr lang="en-US" altLang="zh-CN"/>
              <a:t>0≤i≤n - 1</a:t>
            </a:r>
            <a:r>
              <a:rPr lang="zh-CN" altLang="en-US"/>
              <a:t>。这一操作体现了单链表在数据访问上的特定规则，对于准确获取单链表中的数据具有重要意义。</a:t>
            </a:r>
            <a:r>
              <a:rPr lang="en-US" altLang="zh-CN"/>
              <a:t>
</a:t>
            </a:r>
            <a:r>
              <a:rPr lang="zh-CN" altLang="en-US"/>
              <a:t>单链表的存储空间具有不连续的特性，这与顺序表形成鲜明对比。顺序表的存储空间是连续的，能够直接通过索引快速定位到相应元素。而单链表由于其结点在内存中的分布是离散的，无法直接通过索引找到目标结点。因此，位序查找必须从头结点开始，沿着后继结点依次进行查找。这种查找方式虽然在效率上可能不如顺序表的随机访问，但也赋予了单链表在插入和删除操作上的优势，避免了顺序表因存储空间不足需要扩充空间和复制元素的过程，以及因容量过大造成内存资源浪费的问题。</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现在聚焦于线性表链式存储中位序查找算法的讲解。位序查找算法在单链表操作里至关重要，它的核心任务是返回长度为</a:t>
            </a:r>
            <a:r>
              <a:rPr lang="en-US" altLang="zh-CN"/>
              <a:t> n </a:t>
            </a:r>
            <a:r>
              <a:rPr lang="zh-CN" altLang="en-US"/>
              <a:t>的单链表中第</a:t>
            </a:r>
            <a:r>
              <a:rPr lang="en-US" altLang="zh-CN"/>
              <a:t> i </a:t>
            </a:r>
            <a:r>
              <a:rPr lang="zh-CN" altLang="en-US"/>
              <a:t>个结点的数据域的值，这里的</a:t>
            </a:r>
            <a:r>
              <a:rPr lang="en-US" altLang="zh-CN"/>
              <a:t> i </a:t>
            </a:r>
            <a:r>
              <a:rPr lang="zh-CN" altLang="en-US"/>
              <a:t>取值范围是</a:t>
            </a:r>
            <a:r>
              <a:rPr lang="en-US" altLang="zh-CN"/>
              <a:t> 0 </a:t>
            </a:r>
            <a:r>
              <a:rPr lang="zh-CN" altLang="en-US"/>
              <a:t>到</a:t>
            </a:r>
            <a:r>
              <a:rPr lang="en-US" altLang="zh-CN"/>
              <a:t> n - 1</a:t>
            </a:r>
            <a:r>
              <a:rPr lang="zh-CN" altLang="en-US"/>
              <a:t>。</a:t>
            </a:r>
            <a:r>
              <a:rPr lang="en-US" altLang="zh-CN"/>
              <a:t>
</a:t>
            </a:r>
            <a:r>
              <a:rPr lang="zh-CN" altLang="en-US"/>
              <a:t>由于单链表存储空间不连续，无法像顺序表那样直接定位结点。位序查找算法必须从头结点开始，沿着后继结点依次进行查找。这一过程如同在迷宫中按特定路线探寻目标，每一步都依赖于前一步的指引。</a:t>
            </a:r>
            <a:r>
              <a:rPr lang="en-US" altLang="zh-CN"/>
              <a:t>
</a:t>
            </a:r>
            <a:r>
              <a:rPr lang="zh-CN" altLang="en-US"/>
              <a:t>该算法的实现需要细致设计与精准操作。在代码层面，要借助循环结构，从链表头开始遍历，每遍历一个结点，计数器加</a:t>
            </a:r>
            <a:r>
              <a:rPr lang="en-US" altLang="zh-CN"/>
              <a:t> 1</a:t>
            </a:r>
            <a:r>
              <a:rPr lang="zh-CN" altLang="en-US"/>
              <a:t>，直至计数器的值等于</a:t>
            </a:r>
            <a:r>
              <a:rPr lang="en-US" altLang="zh-CN"/>
              <a:t> i</a:t>
            </a:r>
            <a:r>
              <a:rPr lang="zh-CN" altLang="en-US"/>
              <a:t>，此时获取该结点的数据域值。</a:t>
            </a:r>
            <a:r>
              <a:rPr lang="en-US" altLang="zh-CN"/>
              <a:t>
</a:t>
            </a:r>
            <a:r>
              <a:rPr lang="zh-CN" altLang="en-US"/>
              <a:t>位序查找算法是单链表操作的基础算法，为后续的插入、删除等操作提供了关键支持。只有掌握了位序查找算法，才能更好地理解和实现单链表的其他操作。</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在单链表的操作体系中，查找操作</a:t>
            </a:r>
            <a:r>
              <a:rPr lang="en-US" altLang="zh-CN"/>
              <a:t>indexOf(x)</a:t>
            </a:r>
            <a:r>
              <a:rPr lang="zh-CN" altLang="en-US"/>
              <a:t>是一项关键功能，其目的在于长度为</a:t>
            </a:r>
            <a:r>
              <a:rPr lang="en-US" altLang="zh-CN"/>
              <a:t>n</a:t>
            </a:r>
            <a:r>
              <a:rPr lang="zh-CN" altLang="en-US"/>
              <a:t>的单链表里，定位初次出现的数据域值为</a:t>
            </a:r>
            <a:r>
              <a:rPr lang="en-US" altLang="zh-CN"/>
              <a:t>x</a:t>
            </a:r>
            <a:r>
              <a:rPr lang="zh-CN" altLang="en-US"/>
              <a:t>的数据元素所在位置。此操作的主要步骤体现出严谨的逻辑流程。</a:t>
            </a:r>
            <a:r>
              <a:rPr lang="en-US" altLang="zh-CN"/>
              <a:t>
</a:t>
            </a:r>
            <a:r>
              <a:rPr lang="zh-CN" altLang="en-US"/>
              <a:t>首先，会将</a:t>
            </a:r>
            <a:r>
              <a:rPr lang="en-US" altLang="zh-CN"/>
              <a:t>x</a:t>
            </a:r>
            <a:r>
              <a:rPr lang="zh-CN" altLang="en-US"/>
              <a:t>与单链表中的每一个数据元素的数据域逐一进行比较。这种比较过程如同在一个有序的信息库中进行精准搜索，不放过任何一个可能匹配的元素。一旦发现</a:t>
            </a:r>
            <a:r>
              <a:rPr lang="en-US" altLang="zh-CN"/>
              <a:t>x</a:t>
            </a:r>
            <a:r>
              <a:rPr lang="zh-CN" altLang="en-US"/>
              <a:t>与某个数据元素的数据域相等，便会立即返回该数据元素在单链表中的位置，如同在茫茫数据海洋中成功定位到目标宝藏。</a:t>
            </a:r>
            <a:r>
              <a:rPr lang="en-US" altLang="zh-CN"/>
              <a:t>
</a:t>
            </a:r>
            <a:r>
              <a:rPr lang="zh-CN" altLang="en-US"/>
              <a:t>然而，如果遍历完整个单链表，也就是比较结束后，仍未找到与</a:t>
            </a:r>
            <a:r>
              <a:rPr lang="en-US" altLang="zh-CN"/>
              <a:t>x</a:t>
            </a:r>
            <a:r>
              <a:rPr lang="zh-CN" altLang="en-US"/>
              <a:t>等值的数据元素，那么就会返回</a:t>
            </a:r>
            <a:r>
              <a:rPr lang="en-US" altLang="zh-CN"/>
              <a:t> -1</a:t>
            </a:r>
            <a:r>
              <a:rPr lang="zh-CN" altLang="en-US"/>
              <a:t>。这一返回值代表着在本次查找操作中，未找到符合条件的元素，如同在既定范围内搜索无果，只能宣告此次探索暂时没有收获。</a:t>
            </a:r>
            <a:r>
              <a:rPr lang="en-US" altLang="zh-CN"/>
              <a:t>
</a:t>
            </a:r>
            <a:r>
              <a:rPr lang="zh-CN" altLang="en-US"/>
              <a:t>从实际应用的角度来看，</a:t>
            </a:r>
            <a:r>
              <a:rPr lang="en-US" altLang="zh-CN"/>
              <a:t>indexOf(x)</a:t>
            </a:r>
            <a:r>
              <a:rPr lang="zh-CN" altLang="en-US"/>
              <a:t>查找操作的意义重大。它为我们在处理单链表数据时提供了高效且准确的元素定位方式，无论是在数据检索、信息匹配还是算法实现等方面，都有着不可或缺的作用，是单链表数据处理过程中的重要工具。</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我们现在来深入探讨【算法</a:t>
            </a:r>
            <a:r>
              <a:rPr lang="en-US" altLang="zh-CN"/>
              <a:t>2.5</a:t>
            </a:r>
            <a:r>
              <a:rPr lang="zh-CN" altLang="en-US"/>
              <a:t>】按值查找。在单链表的操作体系中，按值查找是一项极为关键的操作。它的目的是在长度为</a:t>
            </a:r>
            <a:r>
              <a:rPr lang="en-US" altLang="zh-CN"/>
              <a:t>n</a:t>
            </a:r>
            <a:r>
              <a:rPr lang="zh-CN" altLang="en-US"/>
              <a:t>的单链表里，找出初次出现的数据域值为</a:t>
            </a:r>
            <a:r>
              <a:rPr lang="en-US" altLang="zh-CN"/>
              <a:t>x</a:t>
            </a:r>
            <a:r>
              <a:rPr lang="zh-CN" altLang="en-US"/>
              <a:t>的数据元素所在的位置。</a:t>
            </a:r>
            <a:r>
              <a:rPr lang="en-US" altLang="zh-CN"/>
              <a:t>
</a:t>
            </a:r>
            <a:r>
              <a:rPr lang="zh-CN" altLang="en-US"/>
              <a:t>这一操作具有独特的重要性。单链表的存储结构使得数据并非连续存放，按值查找就像是在一个复杂的迷宫中寻找特定的宝藏。它需要将</a:t>
            </a:r>
            <a:r>
              <a:rPr lang="en-US" altLang="zh-CN"/>
              <a:t>x</a:t>
            </a:r>
            <a:r>
              <a:rPr lang="zh-CN" altLang="en-US"/>
              <a:t>与单链表中的每一个数据元素的数据域进行细致比较。若找到相等的值，就如同找到了宝藏的位置，会返回该数据元素在单链表中的位置；若比较结束都未找到等值的数据元素，就如同在迷宫中找遍了所有角落都没发现宝藏，此时返回</a:t>
            </a:r>
            <a:r>
              <a:rPr lang="en-US" altLang="zh-CN"/>
              <a:t> -1</a:t>
            </a:r>
            <a:r>
              <a:rPr lang="zh-CN" altLang="en-US"/>
              <a:t>。</a:t>
            </a:r>
            <a:r>
              <a:rPr lang="en-US" altLang="zh-CN"/>
              <a:t>
</a:t>
            </a:r>
            <a:r>
              <a:rPr lang="zh-CN" altLang="en-US"/>
              <a:t>按值查找算法在实际应用中有着广泛的用途。比如在处理大量数据时，我们可能需要根据某个特定的值来查找相关的数据元素。通过这种按值查找的方式，能够高效地定位到我们所需要的数据，从而进行后续的操作，如修改、删除等。所以，掌握【算法</a:t>
            </a:r>
            <a:r>
              <a:rPr lang="en-US" altLang="zh-CN"/>
              <a:t>2.5</a:t>
            </a:r>
            <a:r>
              <a:rPr lang="zh-CN" altLang="en-US"/>
              <a:t>】按值查找对于理解和运用单链表的操作至关重要。</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单链表插入操作</a:t>
            </a:r>
            <a:r>
              <a:rPr lang="en-US" altLang="zh-CN"/>
              <a:t>insert(i,x)</a:t>
            </a:r>
            <a:r>
              <a:rPr lang="zh-CN" altLang="en-US"/>
              <a:t>指在长度为</a:t>
            </a:r>
            <a:r>
              <a:rPr lang="en-US" altLang="zh-CN"/>
              <a:t>n</a:t>
            </a:r>
            <a:r>
              <a:rPr lang="zh-CN" altLang="en-US"/>
              <a:t>的单链表第</a:t>
            </a:r>
            <a:r>
              <a:rPr lang="en-US" altLang="zh-CN"/>
              <a:t>i</a:t>
            </a:r>
            <a:r>
              <a:rPr lang="zh-CN" altLang="en-US"/>
              <a:t>个结点前插入数据域值为</a:t>
            </a:r>
            <a:r>
              <a:rPr lang="en-US" altLang="zh-CN"/>
              <a:t>x</a:t>
            </a:r>
            <a:r>
              <a:rPr lang="zh-CN" altLang="en-US"/>
              <a:t>的新结点，</a:t>
            </a:r>
            <a:r>
              <a:rPr lang="en-US" altLang="zh-CN"/>
              <a:t>i</a:t>
            </a:r>
            <a:r>
              <a:rPr lang="zh-CN" altLang="en-US"/>
              <a:t>取值范围为</a:t>
            </a:r>
            <a:r>
              <a:rPr lang="en-US" altLang="zh-CN"/>
              <a:t>0</a:t>
            </a:r>
            <a:r>
              <a:rPr lang="zh-CN" altLang="en-US"/>
              <a:t>到</a:t>
            </a:r>
            <a:r>
              <a:rPr lang="en-US" altLang="zh-CN"/>
              <a:t>n</a:t>
            </a:r>
            <a:r>
              <a:rPr lang="zh-CN" altLang="en-US"/>
              <a:t>。当</a:t>
            </a:r>
            <a:r>
              <a:rPr lang="en-US" altLang="zh-CN"/>
              <a:t>i</a:t>
            </a:r>
            <a:r>
              <a:rPr lang="zh-CN" altLang="en-US"/>
              <a:t>为</a:t>
            </a:r>
            <a:r>
              <a:rPr lang="en-US" altLang="zh-CN"/>
              <a:t>0</a:t>
            </a:r>
            <a:r>
              <a:rPr lang="zh-CN" altLang="en-US"/>
              <a:t>时，新结点在表头插入；当</a:t>
            </a:r>
            <a:r>
              <a:rPr lang="en-US" altLang="zh-CN"/>
              <a:t>i</a:t>
            </a:r>
            <a:r>
              <a:rPr lang="zh-CN" altLang="en-US"/>
              <a:t>为</a:t>
            </a:r>
            <a:r>
              <a:rPr lang="en-US" altLang="zh-CN"/>
              <a:t>n</a:t>
            </a:r>
            <a:r>
              <a:rPr lang="zh-CN" altLang="en-US"/>
              <a:t>时，新结点在表尾插入。</a:t>
            </a:r>
            <a:r>
              <a:rPr lang="en-US" altLang="zh-CN"/>
              <a:t>
</a:t>
            </a:r>
            <a:r>
              <a:rPr lang="zh-CN" altLang="en-US"/>
              <a:t>与顺序表插入操作相比，单链表优势显著。顺序表插入数据时，需移动大量数据元素，时间复杂度高，操作效率低。而单链表只需改变结点指针域和有序对，就能完成数据元素插入。具体而言，插入前有序对为</a:t>
            </a:r>
            <a:r>
              <a:rPr lang="en-US" altLang="zh-CN"/>
              <a:t>&lt;ai - 1, ai&gt;</a:t>
            </a:r>
            <a:r>
              <a:rPr lang="zh-CN" altLang="en-US"/>
              <a:t>，插入后转变为</a:t>
            </a:r>
            <a:r>
              <a:rPr lang="en-US" altLang="zh-CN"/>
              <a:t>&lt;ai - 1, x&gt;</a:t>
            </a:r>
            <a:r>
              <a:rPr lang="zh-CN" altLang="en-US"/>
              <a:t>和</a:t>
            </a:r>
            <a:r>
              <a:rPr lang="en-US" altLang="zh-CN"/>
              <a:t>&lt;x, ai&gt;</a:t>
            </a:r>
            <a:r>
              <a:rPr lang="zh-CN" altLang="en-US"/>
              <a:t>，通过这样的指针调整，新结点就融入单链表中，无需进行数据元素的移动。</a:t>
            </a:r>
            <a:r>
              <a:rPr lang="en-US" altLang="zh-CN"/>
              <a:t>
</a:t>
            </a:r>
            <a:r>
              <a:rPr lang="zh-CN" altLang="en-US"/>
              <a:t>这种操作方式极大地提高了插入效率，尤其是在处理大规模数据时，单链表插入操作的优势更加明显。它避免了顺序表因数据移动带来的性能损耗，使数据插入更加高效、灵活。</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我们来深入了解单链表上的插入操作。此前提到，插入操作</a:t>
            </a:r>
            <a:r>
              <a:rPr lang="en-US" altLang="zh-CN"/>
              <a:t>insert(i,x)</a:t>
            </a:r>
            <a:r>
              <a:rPr lang="zh-CN" altLang="en-US"/>
              <a:t>是在长度为</a:t>
            </a:r>
            <a:r>
              <a:rPr lang="en-US" altLang="zh-CN"/>
              <a:t>n</a:t>
            </a:r>
            <a:r>
              <a:rPr lang="zh-CN" altLang="en-US"/>
              <a:t>的单链表的第</a:t>
            </a:r>
            <a:r>
              <a:rPr lang="en-US" altLang="zh-CN"/>
              <a:t>i</a:t>
            </a:r>
            <a:r>
              <a:rPr lang="zh-CN" altLang="en-US"/>
              <a:t>个结点之前插入数据域值为</a:t>
            </a:r>
            <a:r>
              <a:rPr lang="en-US" altLang="zh-CN"/>
              <a:t>x</a:t>
            </a:r>
            <a:r>
              <a:rPr lang="zh-CN" altLang="en-US"/>
              <a:t>的新结点，范围是</a:t>
            </a:r>
            <a:r>
              <a:rPr lang="en-US" altLang="zh-CN"/>
              <a:t>0≤i≤n</a:t>
            </a:r>
            <a:r>
              <a:rPr lang="zh-CN" altLang="en-US"/>
              <a:t>。当</a:t>
            </a:r>
            <a:r>
              <a:rPr lang="en-US" altLang="zh-CN"/>
              <a:t>i=0</a:t>
            </a:r>
            <a:r>
              <a:rPr lang="zh-CN" altLang="en-US"/>
              <a:t>时在表头插入，</a:t>
            </a:r>
            <a:r>
              <a:rPr lang="en-US" altLang="zh-CN"/>
              <a:t>i=n</a:t>
            </a:r>
            <a:r>
              <a:rPr lang="zh-CN" altLang="en-US"/>
              <a:t>时在表尾插入。与顺序表不同，单链表插入无需移动大量数据元素，仅改变结点指针域即可。</a:t>
            </a:r>
            <a:r>
              <a:rPr lang="en-US" altLang="zh-CN"/>
              <a:t>
</a:t>
            </a:r>
            <a:r>
              <a:rPr lang="zh-CN" altLang="en-US"/>
              <a:t>具体而言，插入操作主要有三步。其一，查找到插入位置的前驱结点，即第</a:t>
            </a:r>
            <a:r>
              <a:rPr lang="en-US" altLang="zh-CN"/>
              <a:t>i - 1</a:t>
            </a:r>
            <a:r>
              <a:rPr lang="zh-CN" altLang="en-US"/>
              <a:t>个结点；其二，创建数据域值为</a:t>
            </a:r>
            <a:r>
              <a:rPr lang="en-US" altLang="zh-CN"/>
              <a:t>x</a:t>
            </a:r>
            <a:r>
              <a:rPr lang="zh-CN" altLang="en-US"/>
              <a:t>的新结点；其三，修改前驱结点的指针域指向新结点，新结点的指针域指向原第</a:t>
            </a:r>
            <a:r>
              <a:rPr lang="en-US" altLang="zh-CN"/>
              <a:t>i</a:t>
            </a:r>
            <a:r>
              <a:rPr lang="zh-CN" altLang="en-US"/>
              <a:t>个结点。</a:t>
            </a:r>
            <a:r>
              <a:rPr lang="en-US" altLang="zh-CN"/>
              <a:t>
</a:t>
            </a:r>
            <a:r>
              <a:rPr lang="zh-CN" altLang="en-US"/>
              <a:t>图</a:t>
            </a:r>
            <a:r>
              <a:rPr lang="en-US" altLang="zh-CN"/>
              <a:t>2.7</a:t>
            </a:r>
            <a:r>
              <a:rPr lang="zh-CN" altLang="en-US"/>
              <a:t>直观呈现了单链表上的插入过程，清晰展示了从</a:t>
            </a:r>
            <a:r>
              <a:rPr lang="en-US" altLang="zh-CN"/>
              <a:t>&lt;ai - 1,ai&gt;</a:t>
            </a:r>
            <a:r>
              <a:rPr lang="zh-CN" altLang="en-US"/>
              <a:t>转变为</a:t>
            </a:r>
            <a:r>
              <a:rPr lang="en-US" altLang="zh-CN"/>
              <a:t>&lt;ai - 1,x&gt;</a:t>
            </a:r>
            <a:r>
              <a:rPr lang="zh-CN" altLang="en-US"/>
              <a:t>和</a:t>
            </a:r>
            <a:r>
              <a:rPr lang="en-US" altLang="zh-CN"/>
              <a:t>&lt;x,ai&gt;</a:t>
            </a:r>
            <a:r>
              <a:rPr lang="zh-CN" altLang="en-US"/>
              <a:t>的有序对变化。通过此图，能更深刻理解单链表插入操作的原理和优势，即利用动态存储分配空间，插入前无需判断存储空间是否已满。</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线性表链式存储插入操作包含三步关键步骤。</a:t>
            </a:r>
            <a:r>
              <a:rPr lang="en-US" altLang="zh-CN"/>
              <a:t>
</a:t>
            </a:r>
            <a:r>
              <a:rPr lang="zh-CN" altLang="en-US"/>
              <a:t>第一步，查找到插入位置的前驱结点，即第</a:t>
            </a:r>
            <a:r>
              <a:rPr lang="en-US" altLang="zh-CN"/>
              <a:t>i - 1</a:t>
            </a:r>
            <a:r>
              <a:rPr lang="zh-CN" altLang="en-US"/>
              <a:t>个结点。这一步是插入操作的基础，就如同建造高楼需要稳固的地基一样。只有准确找到前驱结点，后续的插入才能顺利进行。如果找不到这个关键结点，插入位置就无法确定，整个插入操作也就无法完成。</a:t>
            </a:r>
            <a:r>
              <a:rPr lang="en-US" altLang="zh-CN"/>
              <a:t>
</a:t>
            </a:r>
            <a:r>
              <a:rPr lang="zh-CN" altLang="en-US"/>
              <a:t>第二步，创建数据域值为</a:t>
            </a:r>
            <a:r>
              <a:rPr lang="en-US" altLang="zh-CN"/>
              <a:t>x</a:t>
            </a:r>
            <a:r>
              <a:rPr lang="zh-CN" altLang="en-US"/>
              <a:t>的新结点。这个新结点是插入操作的核心对象，它将被插入到单链表中。创建新结点的过程就像是为新成员准备入场券，使其具备进入单链表这个</a:t>
            </a:r>
            <a:r>
              <a:rPr lang="en-US" altLang="zh-CN"/>
              <a:t>“</a:t>
            </a:r>
            <a:r>
              <a:rPr lang="zh-CN" altLang="en-US"/>
              <a:t>大家庭</a:t>
            </a:r>
            <a:r>
              <a:rPr lang="en-US" altLang="zh-CN"/>
              <a:t>”</a:t>
            </a:r>
            <a:r>
              <a:rPr lang="zh-CN" altLang="en-US"/>
              <a:t>的资格。</a:t>
            </a:r>
            <a:r>
              <a:rPr lang="en-US" altLang="zh-CN"/>
              <a:t>
</a:t>
            </a:r>
            <a:r>
              <a:rPr lang="zh-CN" altLang="en-US"/>
              <a:t>第三步，修改前驱结点的指针域为指向新结点的指针，新结点的指针域为指向原第</a:t>
            </a:r>
            <a:r>
              <a:rPr lang="en-US" altLang="zh-CN"/>
              <a:t>i</a:t>
            </a:r>
            <a:r>
              <a:rPr lang="zh-CN" altLang="en-US"/>
              <a:t>个结点的指针。这一步是插入操作的关键动作，通过修改指针域，改变了结点之间的连接关系，实现了新结点的插入。这就好比在排队时，将新成员插入到队伍中的特定位置，需要调整前后成员的连接顺序。</a:t>
            </a:r>
            <a:r>
              <a:rPr lang="en-US" altLang="zh-CN"/>
              <a:t>
</a:t>
            </a:r>
            <a:r>
              <a:rPr lang="zh-CN" altLang="en-US"/>
              <a:t>总之，这三个步骤环环相扣，共同完成了单链表的插入操作。每一步都至关重要，缺一不可。</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现在我们聚焦于带头结点的单链表插入操作这一重要算法。在之前的内容中，我们了解到插入操作</a:t>
            </a:r>
            <a:r>
              <a:rPr lang="en-US" altLang="zh-CN"/>
              <a:t>insert(i,x)</a:t>
            </a:r>
            <a:r>
              <a:rPr lang="zh-CN" altLang="en-US"/>
              <a:t>是在长度为</a:t>
            </a:r>
            <a:r>
              <a:rPr lang="en-US" altLang="zh-CN"/>
              <a:t>n</a:t>
            </a:r>
            <a:r>
              <a:rPr lang="zh-CN" altLang="en-US"/>
              <a:t>的单链表的第</a:t>
            </a:r>
            <a:r>
              <a:rPr lang="en-US" altLang="zh-CN"/>
              <a:t>i</a:t>
            </a:r>
            <a:r>
              <a:rPr lang="zh-CN" altLang="en-US"/>
              <a:t>个结点之前插入数据域值为</a:t>
            </a:r>
            <a:r>
              <a:rPr lang="en-US" altLang="zh-CN"/>
              <a:t>x</a:t>
            </a:r>
            <a:r>
              <a:rPr lang="zh-CN" altLang="en-US"/>
              <a:t>的新结点。而这一算法正是针对带头结点的单链表插入操作的具体实现。</a:t>
            </a:r>
            <a:r>
              <a:rPr lang="en-US" altLang="zh-CN"/>
              <a:t>
</a:t>
            </a:r>
            <a:r>
              <a:rPr lang="zh-CN" altLang="en-US"/>
              <a:t>带头结点的单链表插入操作具有一定的优势。由于链式存储采用动态存储分配空间，进行插入操作前无需判断存储空间是否已满。并且，在带头结点的单链表上进行插入操作时，无论插入位置是表头、表尾还是表中，操作语句都是一致的，这大大简化了操作流程，提高了代码的通用性和可维护性。</a:t>
            </a:r>
            <a:r>
              <a:rPr lang="en-US" altLang="zh-CN"/>
              <a:t>
</a:t>
            </a:r>
            <a:r>
              <a:rPr lang="zh-CN" altLang="en-US"/>
              <a:t>该算法涵盖了插入操作的主要步骤，如查找到插入位置的前驱结点，创建数据域值为</a:t>
            </a:r>
            <a:r>
              <a:rPr lang="en-US" altLang="zh-CN"/>
              <a:t>x</a:t>
            </a:r>
            <a:r>
              <a:rPr lang="zh-CN" altLang="en-US"/>
              <a:t>的新结点，修改前驱结点的指针域为指向新结点的指针，新结点的指针域为指向原第</a:t>
            </a:r>
            <a:r>
              <a:rPr lang="en-US" altLang="zh-CN"/>
              <a:t>i</a:t>
            </a:r>
            <a:r>
              <a:rPr lang="zh-CN" altLang="en-US"/>
              <a:t>个结点的指针。掌握这一算法，有助于我们更高效地实现单链表的插入操作，为后续的数据处理和应用奠定坚实基础。</a:t>
            </a:r>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我们现在探讨【算法</a:t>
            </a:r>
            <a:r>
              <a:rPr lang="en-US" altLang="zh-CN"/>
              <a:t>2.7</a:t>
            </a:r>
            <a:r>
              <a:rPr lang="zh-CN" altLang="en-US"/>
              <a:t>】不带头结点的单链表的插入操作。在单链表插入操作中，不带头结点的情况与带头结点的情况有所不同。</a:t>
            </a:r>
            <a:r>
              <a:rPr lang="en-US" altLang="zh-CN"/>
              <a:t>
</a:t>
            </a:r>
            <a:r>
              <a:rPr lang="zh-CN" altLang="en-US"/>
              <a:t>此前提到，单链表插入操作是在长度为</a:t>
            </a:r>
            <a:r>
              <a:rPr lang="en-US" altLang="zh-CN"/>
              <a:t>n</a:t>
            </a:r>
            <a:r>
              <a:rPr lang="zh-CN" altLang="en-US"/>
              <a:t>的单链表的第</a:t>
            </a:r>
            <a:r>
              <a:rPr lang="en-US" altLang="zh-CN"/>
              <a:t>i</a:t>
            </a:r>
            <a:r>
              <a:rPr lang="zh-CN" altLang="en-US"/>
              <a:t>个结点之前插入数据域值为</a:t>
            </a:r>
            <a:r>
              <a:rPr lang="en-US" altLang="zh-CN"/>
              <a:t>x</a:t>
            </a:r>
            <a:r>
              <a:rPr lang="zh-CN" altLang="en-US"/>
              <a:t>的新结点，范围是</a:t>
            </a:r>
            <a:r>
              <a:rPr lang="en-US" altLang="zh-CN"/>
              <a:t>0≤i≤n</a:t>
            </a:r>
            <a:r>
              <a:rPr lang="zh-CN" altLang="en-US"/>
              <a:t>。与顺序表相比，单链表插入只需改变结点指针域。</a:t>
            </a:r>
            <a:r>
              <a:rPr lang="en-US" altLang="zh-CN"/>
              <a:t>
</a:t>
            </a:r>
            <a:r>
              <a:rPr lang="zh-CN" altLang="en-US"/>
              <a:t>对于不带头结点的单链表插入操作，在表头插入和在其他位置插入新结点的语句不同，需要分情况处理。这是因为不带头结点时，表头插入没有头结点作为固定的起始点，需要额外的逻辑来处理。而在带头结点的单链表上，无论插入位置是表头、表尾还是表中，操作语句一致。</a:t>
            </a:r>
            <a:r>
              <a:rPr lang="en-US" altLang="zh-CN"/>
              <a:t>
</a:t>
            </a:r>
            <a:r>
              <a:rPr lang="zh-CN" altLang="en-US"/>
              <a:t>分析链式存储的特性，其采用动态存储分配空间，插入操作前无需判断存储空间是否已满。不带头结点的单链表插入操作虽然增加了处理的复杂度，但也为我们理解单链表的存储和操作提供了更全面的视角。</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分析线性表链式存储的插入操作代码时，我们能发现链式存储的显著优势。由于其采用动态存储分配空间，在进行插入操作前，无需像顺序存储那样判断存储空间是否已满。这意味着，链式存储能更灵活地应对数据插入需求，不会受到固定存储空间的限制，大大提高了存储效率和灵活性。</a:t>
            </a:r>
            <a:r>
              <a:rPr lang="en-US" altLang="zh-CN"/>
              <a:t>
</a:t>
            </a:r>
            <a:r>
              <a:rPr lang="zh-CN" altLang="en-US"/>
              <a:t>接下来探讨带头结点和不带头结点的单链表在插入操作上的差异。在带头结点的单链表中，无论插入位置是表头、表尾还是表中，操作语句都是一致的。这种一致性使得代码编写更加简洁，维护也更为方便，降低了出错的概率。例如，当我们需要在不同位置插入数据时，无需针对不同位置编写不同的代码逻辑，提高了代码的可复用性。</a:t>
            </a:r>
            <a:r>
              <a:rPr lang="en-US" altLang="zh-CN"/>
              <a:t>
</a:t>
            </a:r>
            <a:r>
              <a:rPr lang="zh-CN" altLang="en-US"/>
              <a:t>然而，不带头结点的单链表情况则不同。在进行插入操作时，表头插入和其他位置插入新结点的语句是不同的，需要分两种情况进行处理。这增加了代码的复杂度和编写难度，也容易在处理不同情况时出现错误。例如，在编写代码时，需要额外考虑表头插入的特殊情况，增加了代码的分支逻辑。</a:t>
            </a:r>
            <a:r>
              <a:rPr lang="en-US" altLang="zh-CN"/>
              <a:t>
</a:t>
            </a:r>
            <a:r>
              <a:rPr lang="zh-CN" altLang="en-US"/>
              <a:t>综上所述，带头结点的单链表在插入操作上具有明显的优势，这也体现了链式存储结构在设计上的灵活性和多样性。在实际应用中，我们应根据具体需求选择合适的链表结构，以提高程序的性能和可维护性。</a:t>
            </a:r>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线性表链式存储中的删除操作</a:t>
            </a:r>
            <a:r>
              <a:rPr lang="en-US" altLang="zh-CN"/>
              <a:t>remove(i,x)</a:t>
            </a:r>
            <a:r>
              <a:rPr lang="zh-CN" altLang="en-US"/>
              <a:t>，旨在将长度为</a:t>
            </a:r>
            <a:r>
              <a:rPr lang="en-US" altLang="zh-CN"/>
              <a:t>n</a:t>
            </a:r>
            <a:r>
              <a:rPr lang="zh-CN" altLang="en-US"/>
              <a:t>的单链表的第</a:t>
            </a:r>
            <a:r>
              <a:rPr lang="en-US" altLang="zh-CN"/>
              <a:t>i</a:t>
            </a:r>
            <a:r>
              <a:rPr lang="zh-CN" altLang="en-US"/>
              <a:t>个结点删除，这里</a:t>
            </a:r>
            <a:r>
              <a:rPr lang="en-US" altLang="zh-CN"/>
              <a:t>i</a:t>
            </a:r>
            <a:r>
              <a:rPr lang="zh-CN" altLang="en-US"/>
              <a:t>的取值范围是</a:t>
            </a:r>
            <a:r>
              <a:rPr lang="en-US" altLang="zh-CN"/>
              <a:t>0≤i≤n - 1</a:t>
            </a:r>
            <a:r>
              <a:rPr lang="zh-CN" altLang="en-US"/>
              <a:t>。这一操作与顺序表的删除操作形成鲜明对比。</a:t>
            </a:r>
            <a:r>
              <a:rPr lang="en-US" altLang="zh-CN"/>
              <a:t>
</a:t>
            </a:r>
            <a:r>
              <a:rPr lang="zh-CN" altLang="en-US"/>
              <a:t>顺序表删除元素时，需要移动一批数据元素，以填补被删除元素留下的空位，操作过程较为繁琐，时间复杂度较高。而单链表的删除操作则具有明显优势，仅需改变结点的指针域，实现有序对的改变，就能完成结点的删除。具体而言，就是将有序对</a:t>
            </a:r>
            <a:r>
              <a:rPr lang="en-US" altLang="zh-CN"/>
              <a:t>&lt;ai - 1, ai&gt;</a:t>
            </a:r>
            <a:r>
              <a:rPr lang="zh-CN" altLang="en-US"/>
              <a:t>和</a:t>
            </a:r>
            <a:r>
              <a:rPr lang="en-US" altLang="zh-CN"/>
              <a:t>&lt;ai, ai + 1&gt;</a:t>
            </a:r>
            <a:r>
              <a:rPr lang="zh-CN" altLang="en-US"/>
              <a:t>转变为</a:t>
            </a:r>
            <a:r>
              <a:rPr lang="en-US" altLang="zh-CN"/>
              <a:t>&lt;ai - 1, ai + 1&gt;</a:t>
            </a:r>
            <a:r>
              <a:rPr lang="zh-CN" altLang="en-US"/>
              <a:t>。</a:t>
            </a:r>
            <a:r>
              <a:rPr lang="en-US" altLang="zh-CN"/>
              <a:t>
</a:t>
            </a:r>
            <a:r>
              <a:rPr lang="zh-CN" altLang="en-US"/>
              <a:t>这种改变指针域的方式，避免了大量数据元素的移动，大大提高了删除操作的效率。从数据结构的角度来看，单链表的这种特性体现了其动态存储分配的灵活性。在实际应用中，当需要频繁进行删除操作时，单链表相较于顺序表更具实用性。例如在一些实时数据处理系统中，数据的删除操作较为频繁，采用单链表存储数据能更好地满足系统的性能需求。</a:t>
            </a:r>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单链表删除操作主要包含三个关键步骤。首先是判断单链表是否为空。这一步骤是整个删除操作的基础前提，若单链表为空，也就不存在可删除的结点，后续操作便无需进行，直接判定删除操作无法完成，这体现了操作的严谨性和逻辑性。</a:t>
            </a:r>
            <a:r>
              <a:rPr lang="en-US" altLang="zh-CN"/>
              <a:t>
</a:t>
            </a:r>
            <a:r>
              <a:rPr lang="zh-CN" altLang="en-US"/>
              <a:t>其次是查找待删除结点的前驱结点。在单链表中，每个结点通过指针域与其他结点相连，要删除一个结点，需要找到其前驱结点，因为后续的操作依赖于该前驱结点。只有准确找到这个前驱结点，才能为后续修改指针域做好准备，确保删除操作能够顺利进行。</a:t>
            </a:r>
            <a:r>
              <a:rPr lang="en-US" altLang="zh-CN"/>
              <a:t>
</a:t>
            </a:r>
            <a:r>
              <a:rPr lang="zh-CN" altLang="en-US"/>
              <a:t>最后是修改前驱结点的指针域为待删除结点的指针域。这是删除操作的核心步骤，通过修改指针域，改变了结点之间的连接关系，使得原本指向待删除结点的指针指向了待删除结点的下一个结点，从而将待删除结点从单链表中移除，实现了删除操作的目的。这三个步骤环环相扣，共同构成了单链表删除操作的完整流程。</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现在我们聚焦于线性表顺序存储中的【算法</a:t>
            </a:r>
            <a:r>
              <a:rPr lang="en-US" altLang="zh-CN"/>
              <a:t>2.8</a:t>
            </a:r>
            <a:r>
              <a:rPr lang="zh-CN" altLang="en-US"/>
              <a:t>】删除操作。线性表的顺序存储是一种基本的数据存储方式，而删除操作在其中至关重要。在顺序存储结构里，元素是按照顺序依次存放的，这就决定了删除操作会有其独特的特点和要求。</a:t>
            </a:r>
            <a:r>
              <a:rPr lang="en-US" altLang="zh-CN"/>
              <a:t>
</a:t>
            </a:r>
            <a:r>
              <a:rPr lang="zh-CN" altLang="en-US"/>
              <a:t>当执行删除操作时，需要考虑多个因素。首先，要明确删除元素的位置，这直接影响到后续的操作步骤。若删除的是中间元素，那么后续的元素都需要向前移动来填补空缺，这会涉及到大量的数据移动操作，时间复杂度相对较高。而如果删除的是末尾元素，操作则相对简单。</a:t>
            </a:r>
            <a:r>
              <a:rPr lang="en-US" altLang="zh-CN"/>
              <a:t>
</a:t>
            </a:r>
            <a:r>
              <a:rPr lang="zh-CN" altLang="en-US"/>
              <a:t>与链式存储的删除操作相比，顺序存储的删除操作因为需要移动元素，效率上可能会有所不同。链式存储只需修改指针域，而顺序存储要保证元素的连续性，必须进行元素的移动。</a:t>
            </a:r>
            <a:r>
              <a:rPr lang="en-US" altLang="zh-CN"/>
              <a:t>
</a:t>
            </a:r>
            <a:r>
              <a:rPr lang="zh-CN" altLang="en-US"/>
              <a:t>【算法</a:t>
            </a:r>
            <a:r>
              <a:rPr lang="en-US" altLang="zh-CN"/>
              <a:t>2.8</a:t>
            </a:r>
            <a:r>
              <a:rPr lang="zh-CN" altLang="en-US"/>
              <a:t>】的实现，需要严格遵循顺序存储的规则，确保删除操作后线性表的结构依然正确和稳定。它对于维护线性表的顺序性和数据的完整性有着重要意义，在实际的编程应用中，能帮助我们高效地处理数据的删除需求。</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接下来探讨单链表建立操作中的头插法。头插法是将新结点插入到单链表的表头，这一操作会使读入的数据顺序与结点顺序相反。</a:t>
            </a:r>
            <a:r>
              <a:rPr lang="en-US" altLang="zh-CN"/>
              <a:t>
</a:t>
            </a:r>
            <a:r>
              <a:rPr lang="zh-CN" altLang="en-US"/>
              <a:t>头插法的独特之处在于其插入方式的简洁与高效。每次插入新结点时，只需修改少量指针域，就能快速完成新结点的插入，无需遍历整个链表。然而，这种插入方式也带来了数据顺序的反转，这在某些应用场景中可能会产生影响。</a:t>
            </a:r>
            <a:r>
              <a:rPr lang="en-US" altLang="zh-CN"/>
              <a:t>
</a:t>
            </a:r>
            <a:r>
              <a:rPr lang="zh-CN" altLang="en-US"/>
              <a:t>例如，当我们需要按照数据读入的顺序来构建链表时，头插法就不太适用。但在一些特定的场景中，如需要对数据进行逆序处理时，头插法就展现出了其独特的优势。头插法作为单链表建立操作的一种重要方法，为我们在数据处理和存储方面提供了更多的选择和思路。我们需要根据具体的应用场景和需求，合理选择使用头插法或其他方法来构建单链表。【算法</a:t>
            </a:r>
            <a:r>
              <a:rPr lang="en-US" altLang="zh-CN"/>
              <a:t>2.9</a:t>
            </a:r>
            <a:r>
              <a:rPr lang="zh-CN" altLang="en-US"/>
              <a:t>】头插法，为我们实现这一操作提供了具体的算法支持。</a:t>
            </a:r>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的链式存储和实现时，尾插法是构建单链表的重要方法。尾插法将新结点插入到单链表的表尾，这意味着读入的数据顺序与结点顺序相同。与之前提到的头插法不同，头插法读入的数据顺序与结点顺序相反，而尾插法能保持数据读入顺序和结点顺序的一致性，这在实际应用中具有独特的优势。</a:t>
            </a:r>
            <a:r>
              <a:rPr lang="en-US" altLang="zh-CN"/>
              <a:t>
</a:t>
            </a:r>
            <a:r>
              <a:rPr lang="zh-CN" altLang="en-US"/>
              <a:t>尾插法使得链表中结点的顺序与数据输入顺序一致，这对于需要按照数据原始顺序进行处理的场景非常有用。例如，当我们需要按照数据录入的先后顺序进行操作时，尾插法构建的链表可以直接满足需求，避免了额外的排序或调整操作。</a:t>
            </a:r>
            <a:r>
              <a:rPr lang="en-US" altLang="zh-CN"/>
              <a:t>
</a:t>
            </a:r>
            <a:r>
              <a:rPr lang="zh-CN" altLang="en-US"/>
              <a:t>【算法</a:t>
            </a:r>
            <a:r>
              <a:rPr lang="en-US" altLang="zh-CN"/>
              <a:t>2.10</a:t>
            </a:r>
            <a:r>
              <a:rPr lang="zh-CN" altLang="en-US"/>
              <a:t>】尾插法为我们提供了实现这一操作的具体方法。通过该算法，我们能够高效地利用尾插法构建单链表，为后续的数据处理和分析奠定基础。掌握尾插法及其算法实现，对于深入理解线性表的链式存储结构和相关操作具有重要意义。</a:t>
            </a:r>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我们来看【例</a:t>
            </a:r>
            <a:r>
              <a:rPr lang="en-US" altLang="zh-CN"/>
              <a:t>2.5</a:t>
            </a:r>
            <a:r>
              <a:rPr lang="zh-CN" altLang="en-US"/>
              <a:t>】，其要求编程实现将列表中的元素构建成一个有序的单链表。在之前的学习中，我们已经了解了单链表的删除操作、建立操作（包括头插法和尾插法）等内容。而这个例子则聚焦于如何把列表元素转化为有序单链表，这是对单链表知识的综合应用。</a:t>
            </a:r>
            <a:r>
              <a:rPr lang="en-US" altLang="zh-CN"/>
              <a:t>
</a:t>
            </a:r>
            <a:r>
              <a:rPr lang="zh-CN" altLang="en-US"/>
              <a:t>有序单链表意味着链表中的元素是按照一定顺序排列的，这与我们之前学的普通单链表构建有所不同。在构建过程中，需要考虑元素的插入顺序，以保证链表的有序性。这要求我们在编程时，不仅要掌握单链表的基本操作，还要设计合适的算法来实现元素的有序插入。</a:t>
            </a:r>
            <a:r>
              <a:rPr lang="en-US" altLang="zh-CN"/>
              <a:t>
</a:t>
            </a:r>
            <a:r>
              <a:rPr lang="zh-CN" altLang="en-US"/>
              <a:t>通过这个例子的实践，我们能更深入地理解单链表的存储结构和操作原理，提高我们的编程能力和算法设计能力。同时，这也为后续学习更复杂的链表结构，如循环链表、双向链表等奠定了基础。</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数据结构领域，线性表的链式存储存在多种形式，循环链表便是其中一种特殊类型。它与单链表在结构上颇为相似，不过循环链表有一个显著特征，即将链表的首尾相连，也就是让尾结点的指针域指向头结点，从而形成一个环状结构。</a:t>
            </a:r>
            <a:r>
              <a:rPr lang="en-US" altLang="zh-CN"/>
              <a:t>
</a:t>
            </a:r>
            <a:r>
              <a:rPr lang="zh-CN" altLang="en-US"/>
              <a:t>从操作算法层面来看，循环链表与单链表基本一致。然而，在判定循环链表中某个结点是否为尾结点时，条件与单链表不同。单链表判断尾结点是看其后继结点是否为空，而循环链表则是看其后继结点是否为头结点。这一判定条件的改变，是由循环链表的环状结构所决定的。</a:t>
            </a:r>
            <a:r>
              <a:rPr lang="en-US" altLang="zh-CN"/>
              <a:t>
</a:t>
            </a:r>
            <a:r>
              <a:rPr lang="zh-CN" altLang="en-US"/>
              <a:t>在实现循环链表时，有多种标识方式可供选择，可以使用头指针、尾指针，或者二者同时使用。但通常情况下，会优先采用尾指针来标识。这是因为使用尾指针能简化某些操作，比如在进行某些插入或删除操作时，使用尾指针可以更方便快捷地定位到关键位置，提高操作效率。这种选择体现了在数据结构设计中，根据不同需求和操作特点来优化实现方式的重要性。</a:t>
            </a:r>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探讨线性表链式存储实现中的双向链表。双向链表作为一种重要的数据结构，其结点有两个指针域，一个指向前驱结点，另一个指向后继结点。这一特性具有重大意义，在传统单链表中，若要查找某个结点的前驱结点，只能从表头开始顺着链表依次查找，时间复杂度较高。而双向链表的出现改变了这一状况，它使得查找某个结点的前驱结点无需再从表头开始逐个遍历，大大减小了时间复杂度，提高了查找效率。</a:t>
            </a:r>
            <a:r>
              <a:rPr lang="en-US" altLang="zh-CN"/>
              <a:t>
</a:t>
            </a:r>
            <a:r>
              <a:rPr lang="zh-CN" altLang="en-US"/>
              <a:t>从实际应用角度看，双向链表在很多场景中都能发挥重要作用。例如在一些需要频繁查找前驱结点的算法中，使用双向链表可以显著提升算法的性能。对于结点类描述，它是实现双向链表的基础，精确的结点类描述能够确保双向链表的各项操作准确无误地执行。通过合理设计结点类，可以实现双向链表的插入、删除等基本操作，而这些操作的实现又依赖于对两个指针域的正确修改。</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讲解双向链表基本操作实现中的插入操作。双向链表与单链表的不同点，主要体现在插入和删除操作时，每个结点需要修改两个指针域。单链表只有一个指向后继结点的指针，插入和删除操作仅需调整这一个指针域。但双向链表结点有两个指针域，一个指向前驱结点，一个指向后继结点，插入操作时，不仅要让新结点的后继指针指向插入位置的后继结点，还要让插入位置的后继结点的前驱指针指向新结点；同时新结点的前驱指针要指向插入位置的前驱结点，插入位置的前驱结点的后继指针指向新结点。这一系列操作要保证指针修改的顺序正确，否则可能导致链表结构混乱、数据丢失。算法</a:t>
            </a:r>
            <a:r>
              <a:rPr lang="en-US" altLang="zh-CN"/>
              <a:t>2.11</a:t>
            </a:r>
            <a:r>
              <a:rPr lang="zh-CN" altLang="en-US"/>
              <a:t>就是针对双向链表插入操作的具体实现，它详细规定了插入操作的步骤和逻辑，确保双向链表在插入新结点后仍能保持正确的结构和顺序。掌握这一算法，能更好地理解和运用双向链表这种数据结构。</a:t>
            </a:r>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在探讨线性表的链式存储和实现时，我们来到了关于双向链表删除操作的环节，即【算法</a:t>
            </a:r>
            <a:r>
              <a:rPr lang="en-US" altLang="zh-CN"/>
              <a:t>2.12</a:t>
            </a:r>
            <a:r>
              <a:rPr lang="zh-CN" altLang="en-US"/>
              <a:t>】。</a:t>
            </a:r>
            <a:r>
              <a:rPr lang="en-US" altLang="zh-CN"/>
              <a:t>
</a:t>
            </a:r>
            <a:r>
              <a:rPr lang="zh-CN" altLang="en-US"/>
              <a:t>回顾之前的内容，双向链表的结点有两个指针域，分别指向前驱结点和后继结点，这使得查找前驱结点无需从表头依次查找，有效降低了时间复杂度。而双向链表与单链表的不同之处，主要体现在插入和删除操作时，每个结点需要修改两个指针域。</a:t>
            </a:r>
            <a:r>
              <a:rPr lang="en-US" altLang="zh-CN"/>
              <a:t>
</a:t>
            </a:r>
            <a:r>
              <a:rPr lang="zh-CN" altLang="en-US"/>
              <a:t>对于删除操作而言，它是链表操作中的一个重要环节。在双向链表中执行删除操作，需要精准地调整两个指针域，以确保链表的连续性和正确性。这一操作不仅要考虑被删除结点本身，还要兼顾其前驱结点和后继结点的指针调整。只有这样，才能保证链表在删除结点后仍能正常工作。</a:t>
            </a:r>
            <a:r>
              <a:rPr lang="en-US" altLang="zh-CN"/>
              <a:t>
</a:t>
            </a:r>
            <a:r>
              <a:rPr lang="zh-CN" altLang="en-US"/>
              <a:t>通过对【算法</a:t>
            </a:r>
            <a:r>
              <a:rPr lang="en-US" altLang="zh-CN"/>
              <a:t>2.12</a:t>
            </a:r>
            <a:r>
              <a:rPr lang="zh-CN" altLang="en-US"/>
              <a:t>】删除操作的学习和掌握，我们能够更深入地理解双向链表的特性和优势，为进一步运用和优化链式存储结构奠定坚实的基础。</a:t>
            </a:r>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现在我们进入线性表与链表比较的环节，这是数据结构中非常关键的一部分。顺序表和链表作为线性表的两种重要存储方式，各有其独特的优势和局限。</a:t>
            </a:r>
            <a:r>
              <a:rPr lang="en-US" altLang="zh-CN"/>
              <a:t>
</a:t>
            </a:r>
            <a:r>
              <a:rPr lang="zh-CN" altLang="en-US"/>
              <a:t>顺序表就像是整齐排列的书架，利用数组实现，能够对数据元素进行随机存取，存取时间复杂度为</a:t>
            </a:r>
            <a:r>
              <a:rPr lang="en-US" altLang="zh-CN"/>
              <a:t>O(1)</a:t>
            </a:r>
            <a:r>
              <a:rPr lang="zh-CN" altLang="en-US"/>
              <a:t>，就像我们可以直接从书架上找到想要的那本书。然而，当我们要插入或删除数据元素时，就如同在书架上挪动书籍，需要移动大量元素，时间复杂度为</a:t>
            </a:r>
            <a:r>
              <a:rPr lang="en-US" altLang="zh-CN"/>
              <a:t>O(n)</a:t>
            </a:r>
            <a:r>
              <a:rPr lang="zh-CN" altLang="en-US"/>
              <a:t>。</a:t>
            </a:r>
            <a:r>
              <a:rPr lang="en-US" altLang="zh-CN"/>
              <a:t>
</a:t>
            </a:r>
            <a:r>
              <a:rPr lang="zh-CN" altLang="en-US"/>
              <a:t>链表则像是一串珍珠项链，每个珍珠（结点）通过指针相连。它不能直接访问给定位置上的数据元素，必须从头结点开始沿着后继结点进行访问，时间复杂度为</a:t>
            </a:r>
            <a:r>
              <a:rPr lang="en-US" altLang="zh-CN"/>
              <a:t>O(n)</a:t>
            </a:r>
            <a:r>
              <a:rPr lang="zh-CN" altLang="en-US"/>
              <a:t>。但在插入或删除数据元素时，不需要移动任何数据元素，只需要更改结点的指针域，时间复杂度为</a:t>
            </a:r>
            <a:r>
              <a:rPr lang="en-US" altLang="zh-CN"/>
              <a:t>O(1)</a:t>
            </a:r>
            <a:r>
              <a:rPr lang="zh-CN" altLang="en-US"/>
              <a:t>，就像在项链中添加或移除一颗珍珠，操作相对简单。</a:t>
            </a:r>
            <a:r>
              <a:rPr lang="en-US" altLang="zh-CN"/>
              <a:t>
</a:t>
            </a:r>
            <a:r>
              <a:rPr lang="zh-CN" altLang="en-US"/>
              <a:t>接下来我们会通过表</a:t>
            </a:r>
            <a:r>
              <a:rPr lang="en-US" altLang="zh-CN"/>
              <a:t>2.2</a:t>
            </a:r>
            <a:r>
              <a:rPr lang="zh-CN" altLang="en-US"/>
              <a:t>详细对比顺序表与链表在不同方面的表现，了解它们在不同场景下的适用性，这对于我们在实际编程中选择合适的数据结构至关重要。</a:t>
            </a:r>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线性表是由具有线性关系的元素构成的线性结构，其实现方式主要有顺序存储和链式存储两种。顺序存储结构的线性表称为顺序表，通常用数组来实现。顺序表的优势在于能够对数据元素进行随机存取，时间复杂度为</a:t>
            </a:r>
            <a:r>
              <a:rPr lang="en-US" altLang="zh-CN"/>
              <a:t>O(1)</a:t>
            </a:r>
            <a:r>
              <a:rPr lang="zh-CN" altLang="en-US"/>
              <a:t>，这意味着可以快速定位和访问任意位置的数据。然而，顺序表在插入或删除数据元素时，需要移动大量元素，时间复杂度为</a:t>
            </a:r>
            <a:r>
              <a:rPr lang="en-US" altLang="zh-CN"/>
              <a:t>O(n)</a:t>
            </a:r>
            <a:r>
              <a:rPr lang="zh-CN" altLang="en-US"/>
              <a:t>，效率相对较低。</a:t>
            </a:r>
            <a:r>
              <a:rPr lang="en-US" altLang="zh-CN"/>
              <a:t>
</a:t>
            </a:r>
            <a:r>
              <a:rPr lang="zh-CN" altLang="en-US"/>
              <a:t>链式存储结构的线性表称为链表，链表不能直接访问给定位置的数据元素，必须从头结点开始，沿着后继结点依次访问，时间复杂度为</a:t>
            </a:r>
            <a:r>
              <a:rPr lang="en-US" altLang="zh-CN"/>
              <a:t>O(n)</a:t>
            </a:r>
            <a:r>
              <a:rPr lang="zh-CN" altLang="en-US"/>
              <a:t>。但链表在插入或删除数据元素时，不需要移动任何数据元素，只需要更改结点的指针域，时间复杂度为</a:t>
            </a:r>
            <a:r>
              <a:rPr lang="en-US" altLang="zh-CN"/>
              <a:t>O(1)</a:t>
            </a:r>
            <a:r>
              <a:rPr lang="zh-CN" altLang="en-US"/>
              <a:t>，在频繁进行插入和删除操作的场景中表现更优。</a:t>
            </a:r>
            <a:r>
              <a:rPr lang="en-US" altLang="zh-CN"/>
              <a:t>
</a:t>
            </a:r>
            <a:r>
              <a:rPr lang="zh-CN" altLang="en-US"/>
              <a:t>循环链表是一种特殊的链表，它将链表的首尾相连，尾结点的指针域指向头结点，形成一个环状结构。这种结构使得链表的遍历可以循环进行，在某些应用场景中具有独特的优势。</a:t>
            </a:r>
            <a:r>
              <a:rPr lang="en-US" altLang="zh-CN"/>
              <a:t>
</a:t>
            </a:r>
            <a:r>
              <a:rPr lang="zh-CN" altLang="en-US"/>
              <a:t>双向链表的结点具有两个指针域，分别指向前驱结点和后继结点。这一特性使得查找某个结点的前驱结点时，不需要从表头开始顺着链表依次查找，大大减小了时间复杂度。</a:t>
            </a:r>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本次关于线性表的讲解已接近尾声。我们系统探讨了线性表的顺序存储与链式存储实现方式。顺序表以数组实现，可随机存取元素，插入或删除元素时时间复杂度为</a:t>
            </a:r>
            <a:r>
              <a:rPr lang="en-US" altLang="zh-CN"/>
              <a:t>O(n)</a:t>
            </a:r>
            <a:r>
              <a:rPr lang="zh-CN" altLang="en-US"/>
              <a:t>；链表则需从头结点开始访问元素，插入或删除元素仅需更改指针域，时间复杂度为</a:t>
            </a:r>
            <a:r>
              <a:rPr lang="en-US" altLang="zh-CN"/>
              <a:t>O(1)</a:t>
            </a:r>
            <a:r>
              <a:rPr lang="zh-CN" altLang="en-US"/>
              <a:t>。</a:t>
            </a:r>
            <a:r>
              <a:rPr lang="en-US" altLang="zh-CN"/>
              <a:t>
</a:t>
            </a:r>
            <a:r>
              <a:rPr lang="zh-CN" altLang="en-US"/>
              <a:t>循环链表首尾相连形成环状，双向链表结点有两个指针域，可减小查找前驱结点的时间复杂度。</a:t>
            </a:r>
            <a:r>
              <a:rPr lang="en-US" altLang="zh-CN"/>
              <a:t>
</a:t>
            </a:r>
            <a:r>
              <a:rPr lang="zh-CN" altLang="en-US"/>
              <a:t>线性表的存储结构各有优劣，实际应用中，需依据具体场景选择恰当存储方式。希望大家能将所学知识运用到实际问题中，不断探索和实践。再次感谢大家的聆听，期待未来能继续与大家深入探讨更多专业知识。</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
        <p:nvSpPr>
          <p:cNvPr id="9" name="文本框 8"/>
          <p:cNvSpPr txBox="1"/>
          <p:nvPr userDrawn="1"/>
        </p:nvSpPr>
        <p:spPr>
          <a:xfrm>
            <a:off x="7912100" y="1626732"/>
            <a:ext cx="3873500" cy="707886"/>
          </a:xfrm>
          <a:prstGeom prst="rect">
            <a:avLst/>
          </a:prstGeom>
          <a:noFill/>
        </p:spPr>
        <p:txBody>
          <a:bodyPr wrap="square" rtlCol="0">
            <a:spAutoFit/>
          </a:bodyPr>
          <a:lstStyle/>
          <a:p>
            <a:pPr algn="r"/>
            <a:r>
              <a:rPr lang="zh-CN" altLang="en-US" sz="4000" dirty="0">
                <a:solidFill>
                  <a:schemeClr val="bg1"/>
                </a:solidFill>
              </a:rPr>
              <a:t>人工智能导论</a:t>
            </a:r>
            <a:endParaRPr lang="zh-CN" altLang="en-US" sz="40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0"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userDrawn="1"/>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Ls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5.jpeg"/><Relationship Id="rId1"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5.xml"/><Relationship Id="rId2" Type="http://schemas.openxmlformats.org/officeDocument/2006/relationships/image" Target="../media/image28.png"/><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image" Target="../media/image30.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5.xml"/><Relationship Id="rId2" Type="http://schemas.openxmlformats.org/officeDocument/2006/relationships/image" Target="../media/image32.png"/><Relationship Id="rId1"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image" Target="../media/image3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image" Target="../media/image3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image" Target="../media/image3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image" Target="../media/image38.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image" Target="../media/image3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image" Target="../media/image4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image" Target="../media/image4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image" Target="../media/image4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image" Target="../media/image4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5.xml"/><Relationship Id="rId1" Type="http://schemas.openxmlformats.org/officeDocument/2006/relationships/image" Target="../media/image44.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5.xml"/><Relationship Id="rId1" Type="http://schemas.openxmlformats.org/officeDocument/2006/relationships/image" Target="../media/image4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4294967295"/>
          </p:nvPr>
        </p:nvSpPr>
        <p:spPr>
          <a:xfrm>
            <a:off x="0" y="0"/>
            <a:ext cx="12192000" cy="6858000"/>
          </a:xfrm>
          <a:prstGeom prst="rect">
            <a:avLst/>
          </a:prstGeom>
        </p:spPr>
      </p:sp>
      <p:sp>
        <p:nvSpPr>
          <p:cNvPr id="3" name="标题 2"/>
          <p:cNvSpPr>
            <a:spLocks noGrp="1"/>
          </p:cNvSpPr>
          <p:nvPr>
            <p:ph type="title"/>
          </p:nvPr>
        </p:nvSpPr>
        <p:spPr>
          <a:xfrm>
            <a:off x="5626100" y="682176"/>
            <a:ext cx="6159500" cy="1586230"/>
          </a:xfrm>
        </p:spPr>
        <p:txBody>
          <a:bodyPr/>
          <a:lstStyle/>
          <a:p>
            <a:r>
              <a:rPr lang="zh-CN" altLang="en-US" b="0" dirty="0"/>
              <a:t>第</a:t>
            </a:r>
            <a:r>
              <a:rPr lang="en-US" altLang="zh-CN" b="0" dirty="0"/>
              <a:t>2</a:t>
            </a:r>
            <a:r>
              <a:rPr lang="zh-CN" altLang="en-US" b="0" dirty="0"/>
              <a:t>章 线性表</a:t>
            </a:r>
            <a:br>
              <a:rPr lang="zh-CN" altLang="en-US" b="0" dirty="0"/>
            </a:br>
            <a:endParaRPr lang="zh-CN" altLang="en-US" b="0" dirty="0"/>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endParaRPr lang="zh-CN" altLang="en-US" dirty="0"/>
          </a:p>
        </p:txBody>
      </p:sp>
      <p:sp>
        <p:nvSpPr>
          <p:cNvPr id="17" name="灯片编号占位符 16"/>
          <p:cNvSpPr>
            <a:spLocks noGrp="1"/>
          </p:cNvSpPr>
          <p:nvPr>
            <p:ph type="sldNum" sz="quarter" idx="12"/>
          </p:nvPr>
        </p:nvSpPr>
        <p:spPr>
          <a:xfrm>
            <a:off x="9249875" y="6376841"/>
            <a:ext cx="2743200" cy="365125"/>
          </a:xfrm>
        </p:spPr>
        <p:txBody>
          <a:bodyPr/>
          <a:lstStyle/>
          <a:p>
            <a:fld id="{D96DE7E8-BD74-40B2-922D-194240FC5D5C}" type="slidenum">
              <a:rPr lang="zh-CN" altLang="en-US" smtClean="0"/>
            </a:fld>
            <a:endParaRPr lang="zh-CN" altLang="en-US"/>
          </a:p>
        </p:txBody>
      </p:sp>
      <p:grpSp>
        <p:nvGrpSpPr>
          <p:cNvPr id="28" name="组合 27"/>
          <p:cNvGrpSpPr/>
          <p:nvPr/>
        </p:nvGrpSpPr>
        <p:grpSpPr>
          <a:xfrm>
            <a:off x="178797" y="1092509"/>
            <a:ext cx="6472259" cy="5284332"/>
            <a:chOff x="3558950" y="1473136"/>
            <a:chExt cx="4870899" cy="5284332"/>
          </a:xfrm>
        </p:grpSpPr>
        <p:grpSp>
          <p:nvGrpSpPr>
            <p:cNvPr id="10" name="组合 9"/>
            <p:cNvGrpSpPr/>
            <p:nvPr/>
          </p:nvGrpSpPr>
          <p:grpSpPr>
            <a:xfrm>
              <a:off x="3558951" y="1473136"/>
              <a:ext cx="4870897" cy="786687"/>
              <a:chOff x="4873175" y="2642313"/>
              <a:chExt cx="4870897" cy="786687"/>
            </a:xfrm>
          </p:grpSpPr>
          <p:sp>
            <p:nvSpPr>
              <p:cNvPr id="7"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a:p>
            </p:txBody>
          </p:sp>
          <p:sp>
            <p:nvSpPr>
              <p:cNvPr id="9" name="文本占位符 14"/>
              <p:cNvSpPr txBox="1"/>
              <p:nvPr/>
            </p:nvSpPr>
            <p:spPr>
              <a:xfrm>
                <a:off x="4873175" y="2642313"/>
                <a:ext cx="4870897" cy="58477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200" dirty="0"/>
                  <a:t>2.1</a:t>
                </a:r>
                <a:r>
                  <a:rPr lang="zh-CN" altLang="en-US" sz="3200" dirty="0"/>
                  <a:t>线性表及其基本操作</a:t>
                </a:r>
                <a:endParaRPr lang="zh-CN" altLang="en-US" sz="3200" dirty="0"/>
              </a:p>
            </p:txBody>
          </p:sp>
        </p:grpSp>
        <p:grpSp>
          <p:nvGrpSpPr>
            <p:cNvPr id="11" name="组合 10"/>
            <p:cNvGrpSpPr/>
            <p:nvPr/>
          </p:nvGrpSpPr>
          <p:grpSpPr>
            <a:xfrm>
              <a:off x="3558950" y="2890001"/>
              <a:ext cx="4870899" cy="786687"/>
              <a:chOff x="4873174" y="3035046"/>
              <a:chExt cx="4870899" cy="786687"/>
            </a:xfrm>
          </p:grpSpPr>
          <p:sp>
            <p:nvSpPr>
              <p:cNvPr id="12" name="任意多边形 126"/>
              <p:cNvSpPr/>
              <p:nvPr/>
            </p:nvSpPr>
            <p:spPr bwMode="auto">
              <a:xfrm>
                <a:off x="4873176" y="3650599"/>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a:p>
            </p:txBody>
          </p:sp>
          <p:sp>
            <p:nvSpPr>
              <p:cNvPr id="13" name="文本占位符 14"/>
              <p:cNvSpPr txBox="1"/>
              <p:nvPr/>
            </p:nvSpPr>
            <p:spPr>
              <a:xfrm>
                <a:off x="4873174" y="3035046"/>
                <a:ext cx="4870897" cy="58477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200" dirty="0"/>
                  <a:t>2.2 </a:t>
                </a:r>
                <a:r>
                  <a:rPr lang="zh-CN" altLang="en-US" sz="3200" dirty="0"/>
                  <a:t>线性表的线性表的基本概念</a:t>
                </a:r>
                <a:endParaRPr lang="zh-CN" altLang="en-US" sz="3200" dirty="0"/>
              </a:p>
            </p:txBody>
          </p:sp>
        </p:grpSp>
        <p:grpSp>
          <p:nvGrpSpPr>
            <p:cNvPr id="14" name="组合 13"/>
            <p:cNvGrpSpPr/>
            <p:nvPr/>
          </p:nvGrpSpPr>
          <p:grpSpPr>
            <a:xfrm>
              <a:off x="3558950" y="4286187"/>
              <a:ext cx="4870897" cy="786687"/>
              <a:chOff x="4873174" y="3407100"/>
              <a:chExt cx="4870897" cy="786687"/>
            </a:xfrm>
          </p:grpSpPr>
          <p:sp>
            <p:nvSpPr>
              <p:cNvPr id="15" name="任意多边形 126"/>
              <p:cNvSpPr/>
              <p:nvPr/>
            </p:nvSpPr>
            <p:spPr bwMode="auto">
              <a:xfrm>
                <a:off x="4873174" y="4022653"/>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6" name="文本占位符 14"/>
              <p:cNvSpPr txBox="1"/>
              <p:nvPr/>
            </p:nvSpPr>
            <p:spPr>
              <a:xfrm>
                <a:off x="4873174" y="3407100"/>
                <a:ext cx="4870897" cy="58477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200" dirty="0"/>
                  <a:t>2.3 </a:t>
                </a:r>
                <a:r>
                  <a:rPr lang="zh-CN" altLang="en-US" sz="3200" dirty="0"/>
                  <a:t>线性表的链式存储和实现</a:t>
                </a:r>
                <a:endParaRPr lang="zh-CN" altLang="en-US" sz="3200" dirty="0"/>
              </a:p>
            </p:txBody>
          </p:sp>
        </p:grpSp>
        <p:grpSp>
          <p:nvGrpSpPr>
            <p:cNvPr id="22" name="组合 21"/>
            <p:cNvGrpSpPr/>
            <p:nvPr/>
          </p:nvGrpSpPr>
          <p:grpSpPr>
            <a:xfrm>
              <a:off x="3558950" y="5970674"/>
              <a:ext cx="4870897" cy="786794"/>
              <a:chOff x="4873174" y="3043325"/>
              <a:chExt cx="4870897" cy="786794"/>
            </a:xfrm>
          </p:grpSpPr>
          <p:sp>
            <p:nvSpPr>
              <p:cNvPr id="23" name="任意多边形 126"/>
              <p:cNvSpPr/>
              <p:nvPr/>
            </p:nvSpPr>
            <p:spPr bwMode="auto">
              <a:xfrm>
                <a:off x="4873174" y="3658985"/>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dirty="0"/>
              </a:p>
            </p:txBody>
          </p:sp>
          <p:sp>
            <p:nvSpPr>
              <p:cNvPr id="24" name="文本占位符 14"/>
              <p:cNvSpPr txBox="1"/>
              <p:nvPr/>
            </p:nvSpPr>
            <p:spPr>
              <a:xfrm>
                <a:off x="4873174" y="3043325"/>
                <a:ext cx="4870897" cy="58477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200" dirty="0"/>
                  <a:t>2.4 </a:t>
                </a:r>
                <a:r>
                  <a:rPr lang="zh-CN" altLang="en-US" sz="3200" dirty="0"/>
                  <a:t>顺序表与链表的比较</a:t>
                </a:r>
                <a:endParaRPr lang="zh-CN" altLang="en-US" sz="3200" dirty="0"/>
              </a:p>
            </p:txBody>
          </p:sp>
        </p:grpSp>
      </p:grpSp>
      <p:cxnSp>
        <p:nvCxnSpPr>
          <p:cNvPr id="4" name="直接连接符 3"/>
          <p:cNvCxnSpPr/>
          <p:nvPr/>
        </p:nvCxnSpPr>
        <p:spPr>
          <a:xfrm>
            <a:off x="423508" y="2509374"/>
            <a:ext cx="5149519" cy="0"/>
          </a:xfrm>
          <a:prstGeom prst="line">
            <a:avLst/>
          </a:prstGeom>
        </p:spPr>
        <p:style>
          <a:lnRef idx="3">
            <a:schemeClr val="accent1"/>
          </a:lnRef>
          <a:fillRef idx="0">
            <a:schemeClr val="accent1"/>
          </a:fillRef>
          <a:effectRef idx="2">
            <a:schemeClr val="accent1"/>
          </a:effectRef>
          <a:fontRef idx="minor">
            <a:schemeClr val="tx1"/>
          </a:fontRef>
        </p:style>
      </p:cxnSp>
      <p:sp>
        <p:nvSpPr>
          <p:cNvPr id="6" name="文本框 5"/>
          <p:cNvSpPr txBox="1"/>
          <p:nvPr/>
        </p:nvSpPr>
        <p:spPr>
          <a:xfrm>
            <a:off x="423512" y="1992074"/>
            <a:ext cx="4610501" cy="461665"/>
          </a:xfrm>
          <a:prstGeom prst="rect">
            <a:avLst/>
          </a:prstGeom>
          <a:noFill/>
        </p:spPr>
        <p:txBody>
          <a:bodyPr wrap="square" rtlCol="0">
            <a:spAutoFit/>
          </a:bodyPr>
          <a:lstStyle/>
          <a:p>
            <a:r>
              <a:rPr lang="en-US" altLang="zh-CN" sz="2400" dirty="0">
                <a:latin typeface="+mj-ea"/>
                <a:ea typeface="+mj-ea"/>
              </a:rPr>
              <a:t>2.1.1 </a:t>
            </a:r>
            <a:r>
              <a:rPr lang="zh-CN" altLang="en-US" sz="2400" dirty="0">
                <a:latin typeface="+mj-ea"/>
                <a:ea typeface="+mj-ea"/>
              </a:rPr>
              <a:t>线性表的存储和实现</a:t>
            </a:r>
            <a:endParaRPr lang="zh-CN" altLang="en-US" sz="2400" dirty="0">
              <a:latin typeface="+mj-ea"/>
              <a:ea typeface="+mj-ea"/>
            </a:endParaRPr>
          </a:p>
        </p:txBody>
      </p:sp>
      <p:cxnSp>
        <p:nvCxnSpPr>
          <p:cNvPr id="29" name="直接连接符 28"/>
          <p:cNvCxnSpPr/>
          <p:nvPr/>
        </p:nvCxnSpPr>
        <p:spPr>
          <a:xfrm>
            <a:off x="6477799" y="3724473"/>
            <a:ext cx="5149518" cy="0"/>
          </a:xfrm>
          <a:prstGeom prst="line">
            <a:avLst/>
          </a:prstGeom>
        </p:spPr>
        <p:style>
          <a:lnRef idx="3">
            <a:schemeClr val="accent1"/>
          </a:lnRef>
          <a:fillRef idx="0">
            <a:schemeClr val="accent1"/>
          </a:fillRef>
          <a:effectRef idx="2">
            <a:schemeClr val="accent1"/>
          </a:effectRef>
          <a:fontRef idx="minor">
            <a:schemeClr val="tx1"/>
          </a:fontRef>
        </p:style>
      </p:cxnSp>
      <p:sp>
        <p:nvSpPr>
          <p:cNvPr id="30" name="文本框 29"/>
          <p:cNvSpPr txBox="1"/>
          <p:nvPr/>
        </p:nvSpPr>
        <p:spPr>
          <a:xfrm>
            <a:off x="6477798" y="3298171"/>
            <a:ext cx="4610501" cy="461665"/>
          </a:xfrm>
          <a:prstGeom prst="rect">
            <a:avLst/>
          </a:prstGeom>
          <a:noFill/>
        </p:spPr>
        <p:txBody>
          <a:bodyPr wrap="square" rtlCol="0">
            <a:spAutoFit/>
          </a:bodyPr>
          <a:lstStyle/>
          <a:p>
            <a:r>
              <a:rPr lang="en-US" altLang="zh-CN" sz="2400" dirty="0">
                <a:latin typeface="+mj-ea"/>
                <a:ea typeface="+mj-ea"/>
              </a:rPr>
              <a:t>2.1.3 </a:t>
            </a:r>
            <a:r>
              <a:rPr lang="zh-CN" altLang="en-US" sz="2400" dirty="0">
                <a:latin typeface="+mj-ea"/>
                <a:ea typeface="+mj-ea"/>
              </a:rPr>
              <a:t>线性表顺序存储</a:t>
            </a:r>
            <a:endParaRPr lang="zh-CN" altLang="en-US" sz="2400" dirty="0">
              <a:latin typeface="+mj-ea"/>
              <a:ea typeface="+mj-ea"/>
            </a:endParaRPr>
          </a:p>
        </p:txBody>
      </p:sp>
      <p:cxnSp>
        <p:nvCxnSpPr>
          <p:cNvPr id="31" name="直接连接符 30"/>
          <p:cNvCxnSpPr/>
          <p:nvPr/>
        </p:nvCxnSpPr>
        <p:spPr>
          <a:xfrm>
            <a:off x="423508" y="3729621"/>
            <a:ext cx="5149519" cy="0"/>
          </a:xfrm>
          <a:prstGeom prst="line">
            <a:avLst/>
          </a:prstGeom>
        </p:spPr>
        <p:style>
          <a:lnRef idx="3">
            <a:schemeClr val="accent1"/>
          </a:lnRef>
          <a:fillRef idx="0">
            <a:schemeClr val="accent1"/>
          </a:fillRef>
          <a:effectRef idx="2">
            <a:schemeClr val="accent1"/>
          </a:effectRef>
          <a:fontRef idx="minor">
            <a:schemeClr val="tx1"/>
          </a:fontRef>
        </p:style>
      </p:cxnSp>
      <p:sp>
        <p:nvSpPr>
          <p:cNvPr id="32" name="文本框 31"/>
          <p:cNvSpPr txBox="1"/>
          <p:nvPr/>
        </p:nvSpPr>
        <p:spPr>
          <a:xfrm>
            <a:off x="423508" y="3298172"/>
            <a:ext cx="4610501" cy="461665"/>
          </a:xfrm>
          <a:prstGeom prst="rect">
            <a:avLst/>
          </a:prstGeom>
          <a:noFill/>
        </p:spPr>
        <p:txBody>
          <a:bodyPr wrap="square" rtlCol="0">
            <a:spAutoFit/>
          </a:bodyPr>
          <a:lstStyle/>
          <a:p>
            <a:r>
              <a:rPr lang="en-US" altLang="zh-CN" sz="2400" dirty="0">
                <a:latin typeface="+mj-ea"/>
                <a:ea typeface="+mj-ea"/>
              </a:rPr>
              <a:t>2.1.2 </a:t>
            </a:r>
            <a:r>
              <a:rPr lang="zh-CN" altLang="en-US" sz="2400" dirty="0">
                <a:latin typeface="+mj-ea"/>
                <a:ea typeface="+mj-ea"/>
              </a:rPr>
              <a:t>抽象数据类型描述</a:t>
            </a:r>
            <a:endParaRPr lang="zh-CN" altLang="en-US" sz="2400" dirty="0">
              <a:latin typeface="+mj-ea"/>
              <a:ea typeface="+mj-ea"/>
            </a:endParaRPr>
          </a:p>
        </p:txBody>
      </p:sp>
      <p:cxnSp>
        <p:nvCxnSpPr>
          <p:cNvPr id="35" name="直接连接符 34"/>
          <p:cNvCxnSpPr/>
          <p:nvPr/>
        </p:nvCxnSpPr>
        <p:spPr>
          <a:xfrm>
            <a:off x="6477799" y="2742580"/>
            <a:ext cx="5544155" cy="0"/>
          </a:xfrm>
          <a:prstGeom prst="line">
            <a:avLst/>
          </a:prstGeom>
        </p:spPr>
        <p:style>
          <a:lnRef idx="3">
            <a:schemeClr val="accent1"/>
          </a:lnRef>
          <a:fillRef idx="0">
            <a:schemeClr val="accent1"/>
          </a:fillRef>
          <a:effectRef idx="2">
            <a:schemeClr val="accent1"/>
          </a:effectRef>
          <a:fontRef idx="minor">
            <a:schemeClr val="tx1"/>
          </a:fontRef>
        </p:style>
      </p:cxnSp>
      <p:sp>
        <p:nvSpPr>
          <p:cNvPr id="36" name="文本框 35"/>
          <p:cNvSpPr txBox="1"/>
          <p:nvPr/>
        </p:nvSpPr>
        <p:spPr>
          <a:xfrm>
            <a:off x="6477798" y="2316278"/>
            <a:ext cx="4610501" cy="461665"/>
          </a:xfrm>
          <a:prstGeom prst="rect">
            <a:avLst/>
          </a:prstGeom>
          <a:noFill/>
        </p:spPr>
        <p:txBody>
          <a:bodyPr wrap="square" rtlCol="0">
            <a:spAutoFit/>
          </a:bodyPr>
          <a:lstStyle/>
          <a:p>
            <a:r>
              <a:rPr lang="en-US" altLang="zh-CN" sz="2400" dirty="0">
                <a:latin typeface="+mj-ea"/>
                <a:ea typeface="+mj-ea"/>
              </a:rPr>
              <a:t>2.1.3 </a:t>
            </a:r>
            <a:r>
              <a:rPr lang="zh-CN" altLang="en-US" sz="2400" dirty="0">
                <a:latin typeface="+mj-ea"/>
                <a:ea typeface="+mj-ea"/>
              </a:rPr>
              <a:t>线性表顺序存储</a:t>
            </a:r>
            <a:endParaRPr lang="zh-CN" altLang="en-US" sz="2400" dirty="0">
              <a:latin typeface="+mj-ea"/>
              <a:ea typeface="+mj-ea"/>
            </a:endParaRPr>
          </a:p>
        </p:txBody>
      </p:sp>
      <p:cxnSp>
        <p:nvCxnSpPr>
          <p:cNvPr id="37" name="直接连接符 36"/>
          <p:cNvCxnSpPr/>
          <p:nvPr/>
        </p:nvCxnSpPr>
        <p:spPr>
          <a:xfrm>
            <a:off x="6477798" y="2218554"/>
            <a:ext cx="5544156" cy="0"/>
          </a:xfrm>
          <a:prstGeom prst="line">
            <a:avLst/>
          </a:prstGeom>
        </p:spPr>
        <p:style>
          <a:lnRef idx="3">
            <a:schemeClr val="accent1"/>
          </a:lnRef>
          <a:fillRef idx="0">
            <a:schemeClr val="accent1"/>
          </a:fillRef>
          <a:effectRef idx="2">
            <a:schemeClr val="accent1"/>
          </a:effectRef>
          <a:fontRef idx="minor">
            <a:schemeClr val="tx1"/>
          </a:fontRef>
        </p:style>
      </p:cxnSp>
      <p:sp>
        <p:nvSpPr>
          <p:cNvPr id="38" name="文本框 37"/>
          <p:cNvSpPr txBox="1"/>
          <p:nvPr/>
        </p:nvSpPr>
        <p:spPr>
          <a:xfrm>
            <a:off x="6477798" y="1787105"/>
            <a:ext cx="4610501" cy="461665"/>
          </a:xfrm>
          <a:prstGeom prst="rect">
            <a:avLst/>
          </a:prstGeom>
          <a:noFill/>
        </p:spPr>
        <p:txBody>
          <a:bodyPr wrap="square" rtlCol="0">
            <a:spAutoFit/>
          </a:bodyPr>
          <a:lstStyle/>
          <a:p>
            <a:r>
              <a:rPr lang="en-US" altLang="zh-CN" sz="2400" dirty="0">
                <a:latin typeface="+mj-ea"/>
                <a:ea typeface="+mj-ea"/>
              </a:rPr>
              <a:t>2.1.2 </a:t>
            </a:r>
            <a:r>
              <a:rPr lang="zh-CN" altLang="en-US" sz="2400" dirty="0">
                <a:latin typeface="+mj-ea"/>
                <a:ea typeface="+mj-ea"/>
              </a:rPr>
              <a:t>抽象数据类型描述</a:t>
            </a:r>
            <a:endParaRPr lang="zh-CN" altLang="en-US" sz="2400" dirty="0">
              <a:latin typeface="+mj-ea"/>
              <a:ea typeface="+mj-ea"/>
            </a:endParaRPr>
          </a:p>
        </p:txBody>
      </p:sp>
      <p:cxnSp>
        <p:nvCxnSpPr>
          <p:cNvPr id="52" name="直接连接符 51"/>
          <p:cNvCxnSpPr/>
          <p:nvPr/>
        </p:nvCxnSpPr>
        <p:spPr>
          <a:xfrm>
            <a:off x="292829" y="5321375"/>
            <a:ext cx="5149519" cy="0"/>
          </a:xfrm>
          <a:prstGeom prst="line">
            <a:avLst/>
          </a:prstGeom>
        </p:spPr>
        <p:style>
          <a:lnRef idx="3">
            <a:schemeClr val="accent1"/>
          </a:lnRef>
          <a:fillRef idx="0">
            <a:schemeClr val="accent1"/>
          </a:fillRef>
          <a:effectRef idx="2">
            <a:schemeClr val="accent1"/>
          </a:effectRef>
          <a:fontRef idx="minor">
            <a:schemeClr val="tx1"/>
          </a:fontRef>
        </p:style>
      </p:cxnSp>
      <p:sp>
        <p:nvSpPr>
          <p:cNvPr id="53" name="文本框 52"/>
          <p:cNvSpPr txBox="1"/>
          <p:nvPr/>
        </p:nvSpPr>
        <p:spPr>
          <a:xfrm>
            <a:off x="292833" y="4804075"/>
            <a:ext cx="4610501" cy="461665"/>
          </a:xfrm>
          <a:prstGeom prst="rect">
            <a:avLst/>
          </a:prstGeom>
          <a:noFill/>
        </p:spPr>
        <p:txBody>
          <a:bodyPr wrap="square" rtlCol="0">
            <a:spAutoFit/>
          </a:bodyPr>
          <a:lstStyle/>
          <a:p>
            <a:r>
              <a:rPr lang="en-US" altLang="zh-CN" sz="2400" dirty="0">
                <a:latin typeface="+mj-ea"/>
                <a:ea typeface="+mj-ea"/>
              </a:rPr>
              <a:t>2.1.1 </a:t>
            </a:r>
            <a:r>
              <a:rPr lang="zh-CN" altLang="en-US" sz="2400" dirty="0">
                <a:latin typeface="+mj-ea"/>
                <a:ea typeface="+mj-ea"/>
              </a:rPr>
              <a:t>线性表的存储和实现</a:t>
            </a:r>
            <a:endParaRPr lang="zh-CN" altLang="en-US" sz="2400" dirty="0">
              <a:latin typeface="+mj-ea"/>
              <a:ea typeface="+mj-ea"/>
            </a:endParaRPr>
          </a:p>
        </p:txBody>
      </p:sp>
      <p:cxnSp>
        <p:nvCxnSpPr>
          <p:cNvPr id="54" name="直接连接符 53"/>
          <p:cNvCxnSpPr/>
          <p:nvPr/>
        </p:nvCxnSpPr>
        <p:spPr>
          <a:xfrm>
            <a:off x="6477798" y="5556832"/>
            <a:ext cx="5544155" cy="0"/>
          </a:xfrm>
          <a:prstGeom prst="line">
            <a:avLst/>
          </a:prstGeom>
        </p:spPr>
        <p:style>
          <a:lnRef idx="3">
            <a:schemeClr val="accent1"/>
          </a:lnRef>
          <a:fillRef idx="0">
            <a:schemeClr val="accent1"/>
          </a:fillRef>
          <a:effectRef idx="2">
            <a:schemeClr val="accent1"/>
          </a:effectRef>
          <a:fontRef idx="minor">
            <a:schemeClr val="tx1"/>
          </a:fontRef>
        </p:style>
      </p:cxnSp>
      <p:sp>
        <p:nvSpPr>
          <p:cNvPr id="55" name="文本框 54"/>
          <p:cNvSpPr txBox="1"/>
          <p:nvPr/>
        </p:nvSpPr>
        <p:spPr>
          <a:xfrm>
            <a:off x="6477797" y="5130530"/>
            <a:ext cx="4610501" cy="461665"/>
          </a:xfrm>
          <a:prstGeom prst="rect">
            <a:avLst/>
          </a:prstGeom>
          <a:noFill/>
        </p:spPr>
        <p:txBody>
          <a:bodyPr wrap="square" rtlCol="0">
            <a:spAutoFit/>
          </a:bodyPr>
          <a:lstStyle/>
          <a:p>
            <a:r>
              <a:rPr lang="en-US" altLang="zh-CN" sz="2400" dirty="0">
                <a:latin typeface="+mj-ea"/>
                <a:ea typeface="+mj-ea"/>
              </a:rPr>
              <a:t>2.1.3 </a:t>
            </a:r>
            <a:r>
              <a:rPr lang="zh-CN" altLang="en-US" sz="2400" dirty="0">
                <a:latin typeface="+mj-ea"/>
                <a:ea typeface="+mj-ea"/>
              </a:rPr>
              <a:t>线性表顺序存储</a:t>
            </a:r>
            <a:endParaRPr lang="zh-CN" altLang="en-US" sz="2400" dirty="0">
              <a:latin typeface="+mj-ea"/>
              <a:ea typeface="+mj-ea"/>
            </a:endParaRPr>
          </a:p>
        </p:txBody>
      </p:sp>
      <p:cxnSp>
        <p:nvCxnSpPr>
          <p:cNvPr id="56" name="直接连接符 55"/>
          <p:cNvCxnSpPr/>
          <p:nvPr/>
        </p:nvCxnSpPr>
        <p:spPr>
          <a:xfrm>
            <a:off x="6477797" y="5032806"/>
            <a:ext cx="5544156" cy="0"/>
          </a:xfrm>
          <a:prstGeom prst="line">
            <a:avLst/>
          </a:prstGeom>
        </p:spPr>
        <p:style>
          <a:lnRef idx="3">
            <a:schemeClr val="accent1"/>
          </a:lnRef>
          <a:fillRef idx="0">
            <a:schemeClr val="accent1"/>
          </a:fillRef>
          <a:effectRef idx="2">
            <a:schemeClr val="accent1"/>
          </a:effectRef>
          <a:fontRef idx="minor">
            <a:schemeClr val="tx1"/>
          </a:fontRef>
        </p:style>
      </p:cxnSp>
      <p:sp>
        <p:nvSpPr>
          <p:cNvPr id="57" name="文本框 56"/>
          <p:cNvSpPr txBox="1"/>
          <p:nvPr/>
        </p:nvSpPr>
        <p:spPr>
          <a:xfrm>
            <a:off x="6477797" y="4601357"/>
            <a:ext cx="4610501" cy="461665"/>
          </a:xfrm>
          <a:prstGeom prst="rect">
            <a:avLst/>
          </a:prstGeom>
          <a:noFill/>
        </p:spPr>
        <p:txBody>
          <a:bodyPr wrap="square" rtlCol="0">
            <a:spAutoFit/>
          </a:bodyPr>
          <a:lstStyle/>
          <a:p>
            <a:r>
              <a:rPr lang="en-US" altLang="zh-CN" sz="2400" dirty="0">
                <a:latin typeface="+mj-ea"/>
                <a:ea typeface="+mj-ea"/>
              </a:rPr>
              <a:t>2.1.2 </a:t>
            </a:r>
            <a:r>
              <a:rPr lang="zh-CN" altLang="en-US" sz="2400" dirty="0">
                <a:latin typeface="+mj-ea"/>
                <a:ea typeface="+mj-ea"/>
              </a:rPr>
              <a:t>抽象数据类型描述</a:t>
            </a:r>
            <a:endParaRPr lang="zh-CN" altLang="en-US" sz="2400" dirty="0">
              <a:latin typeface="+mj-ea"/>
              <a:ea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线性表及其基本操作</a:t>
            </a:r>
            <a:endParaRPr lang="zh-CN" altLang="en-US" dirty="0"/>
          </a:p>
        </p:txBody>
      </p:sp>
      <p:sp>
        <p:nvSpPr>
          <p:cNvPr id="3" name="内容占位符 2"/>
          <p:cNvSpPr>
            <a:spLocks noGrp="1"/>
          </p:cNvSpPr>
          <p:nvPr>
            <p:ph idx="1"/>
          </p:nvPr>
        </p:nvSpPr>
        <p:spPr/>
        <p:txBody>
          <a:bodyPr/>
          <a:lstStyle/>
          <a:p>
            <a:r>
              <a:rPr lang="en-US" altLang="zh-CN" dirty="0"/>
              <a:t>2.1.1 </a:t>
            </a:r>
            <a:r>
              <a:rPr lang="zh-CN" altLang="en-US" dirty="0"/>
              <a:t>线性表的基本概念</a:t>
            </a:r>
            <a:endParaRPr lang="zh-CN" altLang="en-US" dirty="0"/>
          </a:p>
          <a:p>
            <a:r>
              <a:rPr lang="zh-CN" altLang="en-US" dirty="0"/>
              <a:t>线性表</a:t>
            </a:r>
            <a:r>
              <a:rPr lang="en-US" altLang="zh-CN" dirty="0"/>
              <a:t>(Linear List)</a:t>
            </a:r>
            <a:r>
              <a:rPr lang="zh-CN" altLang="en-US" dirty="0"/>
              <a:t>是其组成元素间具有线性关系的一种线性结构，是由</a:t>
            </a:r>
            <a:r>
              <a:rPr lang="en-US" altLang="zh-CN" dirty="0"/>
              <a:t>n</a:t>
            </a:r>
            <a:r>
              <a:rPr lang="zh-CN" altLang="en-US" dirty="0"/>
              <a:t>个具有相同数据类型的数据元素</a:t>
            </a:r>
            <a:r>
              <a:rPr lang="en-US" altLang="zh-CN" dirty="0"/>
              <a:t>a0</a:t>
            </a:r>
            <a:r>
              <a:rPr lang="zh-CN" altLang="en-US" dirty="0"/>
              <a:t>、</a:t>
            </a:r>
            <a:r>
              <a:rPr lang="en-US" altLang="zh-CN" dirty="0"/>
              <a:t>a1</a:t>
            </a:r>
            <a:r>
              <a:rPr lang="zh-CN" altLang="en-US" dirty="0"/>
              <a:t>、</a:t>
            </a:r>
            <a:r>
              <a:rPr lang="en-US" altLang="zh-CN" dirty="0"/>
              <a:t>…</a:t>
            </a:r>
            <a:r>
              <a:rPr lang="zh-CN" altLang="en-US" dirty="0"/>
              <a:t>、</a:t>
            </a:r>
            <a:r>
              <a:rPr lang="en-US" altLang="zh-CN" dirty="0"/>
              <a:t>an-1</a:t>
            </a:r>
            <a:r>
              <a:rPr lang="zh-CN" altLang="en-US" dirty="0"/>
              <a:t>构成的有限序列，一般表示为： </a:t>
            </a:r>
            <a:endParaRPr lang="zh-CN" altLang="en-US" dirty="0"/>
          </a:p>
          <a:p>
            <a:r>
              <a:rPr lang="zh-CN" altLang="en-US" dirty="0"/>
              <a:t>              </a:t>
            </a:r>
            <a:r>
              <a:rPr lang="en-US" altLang="zh-CN" dirty="0"/>
              <a:t>(a0,ai,…ai,ai+1,…,an-1)</a:t>
            </a:r>
            <a:endParaRPr lang="en-US" altLang="zh-CN" dirty="0"/>
          </a:p>
          <a:p>
            <a:r>
              <a:rPr lang="zh-CN" altLang="en-US" dirty="0"/>
              <a:t>其中，数据元素</a:t>
            </a:r>
            <a:r>
              <a:rPr lang="en-US" altLang="zh-CN" dirty="0"/>
              <a:t>ai</a:t>
            </a:r>
            <a:r>
              <a:rPr lang="zh-CN" altLang="en-US" dirty="0"/>
              <a:t>可以是字母、整数、浮点数、对象或其他更复杂的信息，</a:t>
            </a:r>
            <a:r>
              <a:rPr lang="en-US" altLang="zh-CN" dirty="0" err="1"/>
              <a:t>i</a:t>
            </a:r>
            <a:r>
              <a:rPr lang="zh-CN" altLang="en-US" dirty="0"/>
              <a:t>代表数据元素在线性表中的位序号</a:t>
            </a:r>
            <a:r>
              <a:rPr lang="en-US" altLang="zh-CN" dirty="0"/>
              <a:t>(0≤i&lt;n)</a:t>
            </a:r>
            <a:r>
              <a:rPr lang="zh-CN" altLang="en-US" dirty="0"/>
              <a:t>，</a:t>
            </a:r>
            <a:r>
              <a:rPr lang="en-US" altLang="zh-CN" dirty="0"/>
              <a:t>n</a:t>
            </a:r>
            <a:r>
              <a:rPr lang="zh-CN" altLang="en-US" dirty="0"/>
              <a:t>是线性表的元素个数，称为线性表的长度，当</a:t>
            </a:r>
            <a:r>
              <a:rPr lang="en-US" altLang="zh-CN" dirty="0"/>
              <a:t>n=0</a:t>
            </a:r>
            <a:r>
              <a:rPr lang="zh-CN" altLang="en-US" dirty="0"/>
              <a:t>时线性表为空表。</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线性表及其基本操作</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内容占位符 5"/>
          <p:cNvSpPr>
            <a:spLocks noGrp="1"/>
          </p:cNvSpPr>
          <p:nvPr>
            <p:ph idx="1"/>
          </p:nvPr>
        </p:nvSpPr>
        <p:spPr>
          <a:xfrm>
            <a:off x="3499945" y="1245575"/>
            <a:ext cx="7722587" cy="4584148"/>
          </a:xfrm>
        </p:spPr>
        <p:txBody>
          <a:bodyPr>
            <a:normAutofit/>
          </a:bodyPr>
          <a:lstStyle/>
          <a:p>
            <a:r>
              <a:rPr lang="zh-CN" altLang="zh-CN" dirty="0"/>
              <a:t>例如</a:t>
            </a:r>
            <a:r>
              <a:rPr lang="zh-CN" altLang="en-US" dirty="0"/>
              <a:t>：</a:t>
            </a:r>
            <a:r>
              <a:rPr lang="zh-CN" altLang="zh-CN" dirty="0"/>
              <a:t>英文字母表</a:t>
            </a:r>
            <a:r>
              <a:rPr lang="en-US" altLang="zh-CN" dirty="0"/>
              <a:t>(A,B,…,Z)</a:t>
            </a:r>
            <a:r>
              <a:rPr lang="zh-CN" altLang="zh-CN" dirty="0"/>
              <a:t>是一个表长为</a:t>
            </a:r>
            <a:r>
              <a:rPr lang="en-US" altLang="zh-CN" dirty="0"/>
              <a:t>26</a:t>
            </a:r>
            <a:r>
              <a:rPr lang="zh-CN" altLang="zh-CN" dirty="0"/>
              <a:t>的线性表。</a:t>
            </a:r>
            <a:endParaRPr lang="en-US" altLang="zh-CN" dirty="0"/>
          </a:p>
          <a:p>
            <a:r>
              <a:rPr lang="zh-CN" altLang="zh-CN" dirty="0"/>
              <a:t>又如表</a:t>
            </a:r>
            <a:r>
              <a:rPr lang="en-US" altLang="zh-CN" dirty="0"/>
              <a:t>2.1</a:t>
            </a:r>
            <a:r>
              <a:rPr lang="zh-CN" altLang="zh-CN" dirty="0"/>
              <a:t>所示的书籍信息表，这个信息表中的所有记录序列构成了一个线性表，线性表中的每个数据元素都是由书名、作者、出版社、价格</a:t>
            </a:r>
            <a:r>
              <a:rPr lang="en-US" altLang="zh-CN" dirty="0"/>
              <a:t>4</a:t>
            </a:r>
            <a:r>
              <a:rPr lang="zh-CN" altLang="zh-CN" dirty="0"/>
              <a:t>个数据项构成的记录。</a:t>
            </a:r>
            <a:endParaRPr lang="en-US" altLang="zh-CN" dirty="0"/>
          </a:p>
          <a:p>
            <a:pPr marL="0" indent="0">
              <a:buNone/>
            </a:pPr>
            <a:r>
              <a:rPr lang="en-US" altLang="zh-CN" dirty="0"/>
              <a:t>                                          </a:t>
            </a:r>
            <a:r>
              <a:rPr lang="zh-CN" altLang="zh-CN" sz="1800" dirty="0"/>
              <a:t>表</a:t>
            </a:r>
            <a:r>
              <a:rPr lang="en-US" altLang="zh-CN" sz="1800" dirty="0"/>
              <a:t>2.1 </a:t>
            </a:r>
            <a:r>
              <a:rPr lang="zh-CN" altLang="zh-CN" sz="1800" dirty="0"/>
              <a:t>书籍信息表</a:t>
            </a:r>
            <a:endParaRPr lang="zh-CN" altLang="zh-CN" sz="1800" dirty="0"/>
          </a:p>
          <a:p>
            <a:endParaRPr lang="en-US" altLang="zh-CN" dirty="0"/>
          </a:p>
          <a:p>
            <a:endParaRPr lang="zh-CN" altLang="en-US" dirty="0"/>
          </a:p>
        </p:txBody>
      </p:sp>
      <p:graphicFrame>
        <p:nvGraphicFramePr>
          <p:cNvPr id="10" name="表格 9"/>
          <p:cNvGraphicFramePr>
            <a:graphicFrameLocks noGrp="1"/>
          </p:cNvGraphicFramePr>
          <p:nvPr/>
        </p:nvGraphicFramePr>
        <p:xfrm>
          <a:off x="6397928" y="4498746"/>
          <a:ext cx="4224468" cy="1435892"/>
        </p:xfrm>
        <a:graphic>
          <a:graphicData uri="http://schemas.openxmlformats.org/drawingml/2006/table">
            <a:tbl>
              <a:tblPr firstRow="1" firstCol="1" bandRow="1">
                <a:tableStyleId>{5C22544A-7EE6-4342-B048-85BDC9FD1C3A}</a:tableStyleId>
              </a:tblPr>
              <a:tblGrid>
                <a:gridCol w="1056117"/>
                <a:gridCol w="1059335"/>
                <a:gridCol w="1052899"/>
                <a:gridCol w="1056117"/>
              </a:tblGrid>
              <a:tr h="522529">
                <a:tc>
                  <a:txBody>
                    <a:bodyPr/>
                    <a:lstStyle/>
                    <a:p>
                      <a:pPr algn="ctr">
                        <a:spcAft>
                          <a:spcPts val="0"/>
                        </a:spcAft>
                      </a:pPr>
                      <a:r>
                        <a:rPr lang="zh-CN" sz="1400" kern="100" dirty="0">
                          <a:effectLst/>
                        </a:rPr>
                        <a:t>书名</a:t>
                      </a:r>
                      <a:endParaRPr lang="zh-CN" sz="1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zh-CN" sz="1400" kern="100">
                          <a:effectLst/>
                        </a:rPr>
                        <a:t>作者</a:t>
                      </a:r>
                      <a:endParaRPr lang="zh-CN" sz="1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zh-CN" sz="1400" kern="100">
                          <a:effectLst/>
                        </a:rPr>
                        <a:t>出版社</a:t>
                      </a:r>
                      <a:endParaRPr lang="zh-CN" sz="1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zh-CN" sz="1400" kern="100">
                          <a:effectLst/>
                        </a:rPr>
                        <a:t>价格</a:t>
                      </a:r>
                      <a:endParaRPr lang="zh-CN" sz="1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r>
              <a:tr h="913363">
                <a:tc>
                  <a:txBody>
                    <a:bodyPr/>
                    <a:lstStyle/>
                    <a:p>
                      <a:pPr algn="ctr">
                        <a:spcAft>
                          <a:spcPts val="0"/>
                        </a:spcAft>
                      </a:pPr>
                      <a:r>
                        <a:rPr lang="zh-CN" sz="1400" kern="100">
                          <a:effectLst/>
                        </a:rPr>
                        <a:t>软件工程实用教程</a:t>
                      </a:r>
                      <a:endParaRPr lang="zh-CN" sz="1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zh-CN" sz="1400" kern="100" dirty="0">
                          <a:effectLst/>
                        </a:rPr>
                        <a:t>吕云翔</a:t>
                      </a:r>
                      <a:endParaRPr lang="zh-CN" sz="1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zh-CN" sz="1400" kern="100" dirty="0">
                          <a:effectLst/>
                        </a:rPr>
                        <a:t>清华大学出版社</a:t>
                      </a:r>
                      <a:endParaRPr lang="zh-CN" sz="1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en-US" sz="1400" kern="100" dirty="0">
                          <a:effectLst/>
                        </a:rPr>
                        <a:t>49.00</a:t>
                      </a:r>
                      <a:endParaRPr lang="zh-CN" sz="1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r>
            </a:tbl>
          </a:graphicData>
        </a:graphic>
      </p:graphicFrame>
      <p:pic>
        <p:nvPicPr>
          <p:cNvPr id="6" name="Picture 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015" y="1213945"/>
            <a:ext cx="2590800" cy="5337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线性表及其基本操作</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8" name="内容占位符 5"/>
          <p:cNvSpPr txBox="1"/>
          <p:nvPr/>
        </p:nvSpPr>
        <p:spPr>
          <a:xfrm>
            <a:off x="838200" y="1434164"/>
            <a:ext cx="10515600" cy="4742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线性表中的数据元素具有线性的“一对一”的逻辑关系，是与位置有关的，即第</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个元素</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处于第</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个元素</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ai-1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的后面和第</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个元素</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ai+1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的前面。这种位置上的有序性就是一种线性关系，可以用二元组表示为</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L=(D,R)</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，其中有以下关系： </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D={ai|0≤i&lt;n}</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R={r}</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r={&lt;ai,ai-1&gt;|0≤i&lt;n-1}</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381137" y="3831321"/>
            <a:ext cx="2743200" cy="2464803"/>
            <a:chOff x="3552668" y="726551"/>
            <a:chExt cx="5148000" cy="4487791"/>
          </a:xfrm>
        </p:grpSpPr>
        <p:sp>
          <p:nvSpPr>
            <p:cNvPr id="6" name="FLYING IMPRESSION FID FEIZHAO    qq:1964271550"/>
            <p:cNvSpPr/>
            <p:nvPr/>
          </p:nvSpPr>
          <p:spPr>
            <a:xfrm>
              <a:off x="3726648" y="4871204"/>
              <a:ext cx="4800040" cy="343138"/>
            </a:xfrm>
            <a:prstGeom prst="ellipse">
              <a:avLst/>
            </a:prstGeom>
            <a:gradFill flip="none" rotWithShape="1">
              <a:gsLst>
                <a:gs pos="0">
                  <a:schemeClr val="tx1">
                    <a:alpha val="60000"/>
                    <a:lumMod val="85000"/>
                    <a:lumOff val="15000"/>
                  </a:schemeClr>
                </a:gs>
                <a:gs pos="100000">
                  <a:srgbClr val="0D0D0D">
                    <a:alpha val="0"/>
                    <a:lumMod val="85000"/>
                    <a:lumOff val="15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FLYING IMPRESSION FID FEIZHAO    qq:1964271550"/>
            <p:cNvSpPr/>
            <p:nvPr/>
          </p:nvSpPr>
          <p:spPr>
            <a:xfrm>
              <a:off x="3552668" y="726551"/>
              <a:ext cx="5148000" cy="3132000"/>
            </a:xfrm>
            <a:custGeom>
              <a:avLst/>
              <a:gdLst>
                <a:gd name="connsiteX0" fmla="*/ 216000 w 5148000"/>
                <a:gd name="connsiteY0" fmla="*/ 216000 h 3132000"/>
                <a:gd name="connsiteX1" fmla="*/ 216000 w 5148000"/>
                <a:gd name="connsiteY1" fmla="*/ 2916000 h 3132000"/>
                <a:gd name="connsiteX2" fmla="*/ 4932000 w 5148000"/>
                <a:gd name="connsiteY2" fmla="*/ 2916000 h 3132000"/>
                <a:gd name="connsiteX3" fmla="*/ 4932000 w 5148000"/>
                <a:gd name="connsiteY3" fmla="*/ 216000 h 3132000"/>
                <a:gd name="connsiteX4" fmla="*/ 181341 w 5148000"/>
                <a:gd name="connsiteY4" fmla="*/ 0 h 3132000"/>
                <a:gd name="connsiteX5" fmla="*/ 4966659 w 5148000"/>
                <a:gd name="connsiteY5" fmla="*/ 0 h 3132000"/>
                <a:gd name="connsiteX6" fmla="*/ 5148000 w 5148000"/>
                <a:gd name="connsiteY6" fmla="*/ 181341 h 3132000"/>
                <a:gd name="connsiteX7" fmla="*/ 5148000 w 5148000"/>
                <a:gd name="connsiteY7" fmla="*/ 3132000 h 3132000"/>
                <a:gd name="connsiteX8" fmla="*/ 0 w 5148000"/>
                <a:gd name="connsiteY8" fmla="*/ 3132000 h 3132000"/>
                <a:gd name="connsiteX9" fmla="*/ 0 w 5148000"/>
                <a:gd name="connsiteY9" fmla="*/ 181341 h 3132000"/>
                <a:gd name="connsiteX10" fmla="*/ 181341 w 5148000"/>
                <a:gd name="connsiteY10" fmla="*/ 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48000" h="3132000">
                  <a:moveTo>
                    <a:pt x="216000" y="216000"/>
                  </a:moveTo>
                  <a:lnTo>
                    <a:pt x="216000" y="2916000"/>
                  </a:lnTo>
                  <a:lnTo>
                    <a:pt x="4932000" y="2916000"/>
                  </a:lnTo>
                  <a:lnTo>
                    <a:pt x="4932000" y="216000"/>
                  </a:lnTo>
                  <a:close/>
                  <a:moveTo>
                    <a:pt x="181341" y="0"/>
                  </a:moveTo>
                  <a:lnTo>
                    <a:pt x="4966659" y="0"/>
                  </a:lnTo>
                  <a:cubicBezTo>
                    <a:pt x="5066811" y="0"/>
                    <a:pt x="5148000" y="81189"/>
                    <a:pt x="5148000" y="181341"/>
                  </a:cubicBezTo>
                  <a:lnTo>
                    <a:pt x="5148000" y="3132000"/>
                  </a:lnTo>
                  <a:lnTo>
                    <a:pt x="0" y="3132000"/>
                  </a:lnTo>
                  <a:lnTo>
                    <a:pt x="0" y="181341"/>
                  </a:lnTo>
                  <a:cubicBezTo>
                    <a:pt x="0" y="81189"/>
                    <a:pt x="81189" y="0"/>
                    <a:pt x="18134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9" name="FLYING IMPRESSION FID FEIZHAO    qq:1964271550"/>
            <p:cNvSpPr/>
            <p:nvPr/>
          </p:nvSpPr>
          <p:spPr>
            <a:xfrm>
              <a:off x="3552668" y="3858551"/>
              <a:ext cx="5148000" cy="509665"/>
            </a:xfrm>
            <a:custGeom>
              <a:avLst/>
              <a:gdLst>
                <a:gd name="connsiteX0" fmla="*/ 0 w 5148000"/>
                <a:gd name="connsiteY0" fmla="*/ 0 h 509665"/>
                <a:gd name="connsiteX1" fmla="*/ 5148000 w 5148000"/>
                <a:gd name="connsiteY1" fmla="*/ 0 h 509665"/>
                <a:gd name="connsiteX2" fmla="*/ 5148000 w 5148000"/>
                <a:gd name="connsiteY2" fmla="*/ 328324 h 509665"/>
                <a:gd name="connsiteX3" fmla="*/ 4966659 w 5148000"/>
                <a:gd name="connsiteY3" fmla="*/ 509665 h 509665"/>
                <a:gd name="connsiteX4" fmla="*/ 181341 w 5148000"/>
                <a:gd name="connsiteY4" fmla="*/ 509665 h 509665"/>
                <a:gd name="connsiteX5" fmla="*/ 0 w 5148000"/>
                <a:gd name="connsiteY5" fmla="*/ 328324 h 50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8000" h="509665">
                  <a:moveTo>
                    <a:pt x="0" y="0"/>
                  </a:moveTo>
                  <a:lnTo>
                    <a:pt x="5148000" y="0"/>
                  </a:lnTo>
                  <a:lnTo>
                    <a:pt x="5148000" y="328324"/>
                  </a:lnTo>
                  <a:cubicBezTo>
                    <a:pt x="5148000" y="428476"/>
                    <a:pt x="5066811" y="509665"/>
                    <a:pt x="4966659" y="509665"/>
                  </a:cubicBezTo>
                  <a:lnTo>
                    <a:pt x="181341" y="509665"/>
                  </a:lnTo>
                  <a:cubicBezTo>
                    <a:pt x="81189" y="509665"/>
                    <a:pt x="0" y="428476"/>
                    <a:pt x="0" y="328324"/>
                  </a:cubicBezTo>
                  <a:close/>
                </a:path>
              </a:pathLst>
            </a:custGeom>
            <a:gradFill>
              <a:gsLst>
                <a:gs pos="0">
                  <a:srgbClr val="929398"/>
                </a:gs>
                <a:gs pos="100000">
                  <a:srgbClr val="D0D2D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FLYING IMPRESSION FID FEIZHAO    qq:1964271550"/>
            <p:cNvSpPr/>
            <p:nvPr/>
          </p:nvSpPr>
          <p:spPr>
            <a:xfrm>
              <a:off x="5126730" y="4368216"/>
              <a:ext cx="1999876" cy="674557"/>
            </a:xfrm>
            <a:custGeom>
              <a:avLst/>
              <a:gdLst>
                <a:gd name="connsiteX0" fmla="*/ 485189 w 2612038"/>
                <a:gd name="connsiteY0" fmla="*/ 0 h 1054155"/>
                <a:gd name="connsiteX1" fmla="*/ 2126847 w 2612038"/>
                <a:gd name="connsiteY1" fmla="*/ 0 h 1054155"/>
                <a:gd name="connsiteX2" fmla="*/ 2346146 w 2612038"/>
                <a:gd name="connsiteY2" fmla="*/ 776937 h 1054155"/>
                <a:gd name="connsiteX3" fmla="*/ 2612036 w 2612038"/>
                <a:gd name="connsiteY3" fmla="*/ 974364 h 1054155"/>
                <a:gd name="connsiteX4" fmla="*/ 2564864 w 2612038"/>
                <a:gd name="connsiteY4" fmla="*/ 974364 h 1054155"/>
                <a:gd name="connsiteX5" fmla="*/ 2585504 w 2612038"/>
                <a:gd name="connsiteY5" fmla="*/ 977608 h 1054155"/>
                <a:gd name="connsiteX6" fmla="*/ 2612038 w 2612038"/>
                <a:gd name="connsiteY6" fmla="*/ 990447 h 1054155"/>
                <a:gd name="connsiteX7" fmla="*/ 1306019 w 2612038"/>
                <a:gd name="connsiteY7" fmla="*/ 1054155 h 1054155"/>
                <a:gd name="connsiteX8" fmla="*/ 0 w 2612038"/>
                <a:gd name="connsiteY8" fmla="*/ 990447 h 1054155"/>
                <a:gd name="connsiteX9" fmla="*/ 26534 w 2612038"/>
                <a:gd name="connsiteY9" fmla="*/ 977608 h 1054155"/>
                <a:gd name="connsiteX10" fmla="*/ 47175 w 2612038"/>
                <a:gd name="connsiteY10" fmla="*/ 974364 h 1054155"/>
                <a:gd name="connsiteX11" fmla="*/ 0 w 2612038"/>
                <a:gd name="connsiteY11" fmla="*/ 974364 h 1054155"/>
                <a:gd name="connsiteX12" fmla="*/ 265890 w 2612038"/>
                <a:gd name="connsiteY12" fmla="*/ 776937 h 105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2038" h="1054155">
                  <a:moveTo>
                    <a:pt x="485189" y="0"/>
                  </a:moveTo>
                  <a:lnTo>
                    <a:pt x="2126847" y="0"/>
                  </a:lnTo>
                  <a:lnTo>
                    <a:pt x="2346146" y="776937"/>
                  </a:lnTo>
                  <a:lnTo>
                    <a:pt x="2612036" y="974364"/>
                  </a:lnTo>
                  <a:lnTo>
                    <a:pt x="2564864" y="974364"/>
                  </a:lnTo>
                  <a:lnTo>
                    <a:pt x="2585504" y="977608"/>
                  </a:lnTo>
                  <a:cubicBezTo>
                    <a:pt x="2602902" y="981755"/>
                    <a:pt x="2612038" y="986049"/>
                    <a:pt x="2612038" y="990447"/>
                  </a:cubicBezTo>
                  <a:cubicBezTo>
                    <a:pt x="2612038" y="1025632"/>
                    <a:pt x="2027313" y="1054155"/>
                    <a:pt x="1306019" y="1054155"/>
                  </a:cubicBezTo>
                  <a:cubicBezTo>
                    <a:pt x="584725" y="1054155"/>
                    <a:pt x="0" y="1025632"/>
                    <a:pt x="0" y="990447"/>
                  </a:cubicBezTo>
                  <a:cubicBezTo>
                    <a:pt x="0" y="986049"/>
                    <a:pt x="9136" y="981755"/>
                    <a:pt x="26534" y="977608"/>
                  </a:cubicBezTo>
                  <a:lnTo>
                    <a:pt x="47175" y="974364"/>
                  </a:lnTo>
                  <a:lnTo>
                    <a:pt x="0" y="974364"/>
                  </a:lnTo>
                  <a:lnTo>
                    <a:pt x="265890" y="776937"/>
                  </a:lnTo>
                  <a:close/>
                </a:path>
              </a:pathLst>
            </a:custGeom>
            <a:gradFill>
              <a:gsLst>
                <a:gs pos="31000">
                  <a:srgbClr val="F2F2F2"/>
                </a:gs>
                <a:gs pos="13000">
                  <a:srgbClr val="929398"/>
                </a:gs>
                <a:gs pos="67000">
                  <a:srgbClr val="CCCCCE"/>
                </a:gs>
                <a:gs pos="100000">
                  <a:srgbClr val="929398"/>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FLYING IMPRESSION FID FEIZHAO    qq:1964271550"/>
            <p:cNvSpPr/>
            <p:nvPr/>
          </p:nvSpPr>
          <p:spPr>
            <a:xfrm>
              <a:off x="5126730" y="5006773"/>
              <a:ext cx="1999876" cy="36000"/>
            </a:xfrm>
            <a:prstGeom prst="rect">
              <a:avLst/>
            </a:prstGeom>
            <a:gradFill>
              <a:gsLst>
                <a:gs pos="0">
                  <a:srgbClr val="262626"/>
                </a:gs>
                <a:gs pos="50000">
                  <a:srgbClr val="404040"/>
                </a:gs>
                <a:gs pos="100000">
                  <a:srgbClr val="262626"/>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FLYING IMPRESSION FID FEIZHAO    qq:1964271550"/>
            <p:cNvSpPr/>
            <p:nvPr/>
          </p:nvSpPr>
          <p:spPr>
            <a:xfrm>
              <a:off x="6424414" y="726551"/>
              <a:ext cx="2276254" cy="3132000"/>
            </a:xfrm>
            <a:custGeom>
              <a:avLst/>
              <a:gdLst>
                <a:gd name="connsiteX0" fmla="*/ 0 w 2276254"/>
                <a:gd name="connsiteY0" fmla="*/ 0 h 3132000"/>
                <a:gd name="connsiteX1" fmla="*/ 777237 w 2276254"/>
                <a:gd name="connsiteY1" fmla="*/ 0 h 3132000"/>
                <a:gd name="connsiteX2" fmla="*/ 1768840 w 2276254"/>
                <a:gd name="connsiteY2" fmla="*/ 0 h 3132000"/>
                <a:gd name="connsiteX3" fmla="*/ 2054039 w 2276254"/>
                <a:gd name="connsiteY3" fmla="*/ 0 h 3132000"/>
                <a:gd name="connsiteX4" fmla="*/ 2276254 w 2276254"/>
                <a:gd name="connsiteY4" fmla="*/ 222215 h 3132000"/>
                <a:gd name="connsiteX5" fmla="*/ 2276254 w 2276254"/>
                <a:gd name="connsiteY5" fmla="*/ 2909785 h 3132000"/>
                <a:gd name="connsiteX6" fmla="*/ 2054039 w 2276254"/>
                <a:gd name="connsiteY6" fmla="*/ 3132000 h 3132000"/>
                <a:gd name="connsiteX7" fmla="*/ 1326630 w 2276254"/>
                <a:gd name="connsiteY7" fmla="*/ 3132000 h 3132000"/>
                <a:gd name="connsiteX8" fmla="*/ 777237 w 2276254"/>
                <a:gd name="connsiteY8" fmla="*/ 3132000 h 3132000"/>
                <a:gd name="connsiteX9" fmla="*/ 442210 w 2276254"/>
                <a:gd name="connsiteY9" fmla="*/ 313200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6254" h="3132000">
                  <a:moveTo>
                    <a:pt x="0" y="0"/>
                  </a:moveTo>
                  <a:lnTo>
                    <a:pt x="777237" y="0"/>
                  </a:lnTo>
                  <a:lnTo>
                    <a:pt x="1768840" y="0"/>
                  </a:lnTo>
                  <a:lnTo>
                    <a:pt x="2054039" y="0"/>
                  </a:lnTo>
                  <a:cubicBezTo>
                    <a:pt x="2176765" y="0"/>
                    <a:pt x="2276254" y="99489"/>
                    <a:pt x="2276254" y="222215"/>
                  </a:cubicBezTo>
                  <a:lnTo>
                    <a:pt x="2276254" y="2909785"/>
                  </a:lnTo>
                  <a:cubicBezTo>
                    <a:pt x="2276254" y="3032511"/>
                    <a:pt x="2176765" y="3132000"/>
                    <a:pt x="2054039" y="3132000"/>
                  </a:cubicBezTo>
                  <a:lnTo>
                    <a:pt x="1326630" y="3132000"/>
                  </a:lnTo>
                  <a:lnTo>
                    <a:pt x="777237" y="3132000"/>
                  </a:lnTo>
                  <a:lnTo>
                    <a:pt x="442210" y="3132000"/>
                  </a:lnTo>
                  <a:close/>
                </a:path>
              </a:pathLst>
            </a:custGeom>
            <a:gradFill>
              <a:gsLst>
                <a:gs pos="0">
                  <a:srgbClr val="FFFFFF">
                    <a:alpha val="60000"/>
                  </a:srgbClr>
                </a:gs>
                <a:gs pos="67000">
                  <a:srgbClr val="FFFFFF">
                    <a:alpha val="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3" name="FLYING IMPRESSION FID FEIZHAO    qq:1964271550"/>
            <p:cNvPicPr>
              <a:picLocks noChangeAspect="1"/>
            </p:cNvPicPr>
            <p:nvPr/>
          </p:nvPicPr>
          <p:blipFill>
            <a:blip r:embed="rId1" cstate="email"/>
            <a:stretch>
              <a:fillRect/>
            </a:stretch>
          </p:blipFill>
          <p:spPr>
            <a:xfrm>
              <a:off x="6003655" y="3959266"/>
              <a:ext cx="246025" cy="299843"/>
            </a:xfrm>
            <a:prstGeom prst="rect">
              <a:avLst/>
            </a:prstGeom>
          </p:spPr>
        </p:pic>
      </p:gr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rcRect t="10543" b="21086"/>
          <a:stretch>
            <a:fillRect/>
          </a:stretch>
        </p:blipFill>
        <p:spPr>
          <a:xfrm>
            <a:off x="382543" y="3908804"/>
            <a:ext cx="2741794" cy="15652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线性表及其基本操作</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6" name="文本框 5"/>
          <p:cNvSpPr txBox="1"/>
          <p:nvPr/>
        </p:nvSpPr>
        <p:spPr>
          <a:xfrm>
            <a:off x="924884" y="1832034"/>
            <a:ext cx="9405257" cy="4524315"/>
          </a:xfrm>
          <a:prstGeom prst="rect">
            <a:avLst/>
          </a:prstGeom>
          <a:noFill/>
        </p:spPr>
        <p:txBody>
          <a:bodyPr wrap="square" rtlCol="0">
            <a:spAutoFit/>
          </a:bodyPr>
          <a:lstStyle/>
          <a:p>
            <a:r>
              <a:rPr lang="zh-CN" altLang="zh-CN" sz="2800" dirty="0">
                <a:solidFill>
                  <a:prstClr val="black"/>
                </a:solidFill>
                <a:latin typeface="等线" panose="02010600030101010101" charset="-122"/>
                <a:ea typeface="等线" panose="02010600030101010101" charset="-122"/>
              </a:rPr>
              <a:t>对应的逻辑结构如图</a:t>
            </a:r>
            <a:r>
              <a:rPr lang="en-US" altLang="zh-CN" sz="2800" dirty="0">
                <a:solidFill>
                  <a:prstClr val="black"/>
                </a:solidFill>
                <a:latin typeface="等线" panose="02010600030101010101" charset="-122"/>
                <a:ea typeface="等线" panose="02010600030101010101" charset="-122"/>
              </a:rPr>
              <a:t>2.1</a:t>
            </a:r>
            <a:r>
              <a:rPr lang="zh-CN" altLang="zh-CN" sz="2800" dirty="0">
                <a:solidFill>
                  <a:prstClr val="black"/>
                </a:solidFill>
                <a:latin typeface="等线" panose="02010600030101010101" charset="-122"/>
                <a:ea typeface="等线" panose="02010600030101010101" charset="-122"/>
              </a:rPr>
              <a:t>所示。</a:t>
            </a:r>
            <a:endParaRPr lang="en-US" altLang="zh-CN" sz="2800" dirty="0">
              <a:solidFill>
                <a:prstClr val="black"/>
              </a:solidFill>
              <a:latin typeface="等线" panose="02010600030101010101" charset="-122"/>
              <a:ea typeface="等线" panose="02010600030101010101" charset="-122"/>
            </a:endParaRPr>
          </a:p>
          <a:p>
            <a:endParaRPr lang="en-US" altLang="zh-CN" sz="2800" dirty="0">
              <a:solidFill>
                <a:prstClr val="black"/>
              </a:solidFill>
              <a:latin typeface="等线" panose="02010600030101010101" charset="-122"/>
              <a:ea typeface="等线" panose="02010600030101010101" charset="-122"/>
            </a:endParaRPr>
          </a:p>
          <a:p>
            <a:endParaRPr lang="en-US" altLang="zh-CN" sz="2800" dirty="0">
              <a:solidFill>
                <a:prstClr val="black"/>
              </a:solidFill>
              <a:latin typeface="等线" panose="02010600030101010101" charset="-122"/>
              <a:ea typeface="等线" panose="02010600030101010101" charset="-122"/>
            </a:endParaRPr>
          </a:p>
          <a:p>
            <a:endParaRPr lang="en-US" altLang="zh-CN" sz="2800" dirty="0">
              <a:solidFill>
                <a:prstClr val="black"/>
              </a:solidFill>
              <a:latin typeface="等线" panose="02010600030101010101" charset="-122"/>
              <a:ea typeface="等线" panose="02010600030101010101" charset="-122"/>
            </a:endParaRPr>
          </a:p>
          <a:p>
            <a:pPr algn="ctr"/>
            <a:r>
              <a:rPr lang="zh-CN" altLang="zh-CN" dirty="0">
                <a:solidFill>
                  <a:prstClr val="black"/>
                </a:solidFill>
                <a:latin typeface="等线" panose="02010600030101010101" charset="-122"/>
                <a:ea typeface="等线" panose="02010600030101010101" charset="-122"/>
              </a:rPr>
              <a:t>图</a:t>
            </a:r>
            <a:r>
              <a:rPr lang="en-US" altLang="zh-CN" dirty="0">
                <a:solidFill>
                  <a:prstClr val="black"/>
                </a:solidFill>
                <a:latin typeface="等线" panose="02010600030101010101" charset="-122"/>
                <a:ea typeface="等线" panose="02010600030101010101" charset="-122"/>
              </a:rPr>
              <a:t>2.1 </a:t>
            </a:r>
            <a:r>
              <a:rPr lang="zh-CN" altLang="zh-CN" dirty="0">
                <a:solidFill>
                  <a:prstClr val="black"/>
                </a:solidFill>
                <a:latin typeface="等线" panose="02010600030101010101" charset="-122"/>
                <a:ea typeface="等线" panose="02010600030101010101" charset="-122"/>
              </a:rPr>
              <a:t>线性表的逻辑结构图</a:t>
            </a:r>
            <a:endParaRPr lang="zh-CN" altLang="zh-CN" dirty="0">
              <a:solidFill>
                <a:prstClr val="black"/>
              </a:solidFill>
              <a:latin typeface="等线" panose="02010600030101010101" charset="-122"/>
              <a:ea typeface="等线" panose="02010600030101010101" charset="-122"/>
            </a:endParaRPr>
          </a:p>
          <a:p>
            <a:endParaRPr lang="en-US" altLang="zh-CN" sz="2800" dirty="0">
              <a:solidFill>
                <a:prstClr val="black"/>
              </a:solidFill>
              <a:latin typeface="等线" panose="02010600030101010101" charset="-122"/>
              <a:ea typeface="等线" panose="02010600030101010101" charset="-122"/>
            </a:endParaRPr>
          </a:p>
          <a:p>
            <a:r>
              <a:rPr lang="zh-CN" altLang="zh-CN" sz="2800" dirty="0">
                <a:solidFill>
                  <a:prstClr val="black"/>
                </a:solidFill>
                <a:latin typeface="等线" panose="02010600030101010101" charset="-122"/>
                <a:ea typeface="等线" panose="02010600030101010101" charset="-122"/>
              </a:rPr>
              <a:t>在线性表</a:t>
            </a:r>
            <a:r>
              <a:rPr lang="en-US" altLang="zh-CN" sz="2800" dirty="0">
                <a:solidFill>
                  <a:prstClr val="black"/>
                </a:solidFill>
                <a:latin typeface="等线" panose="02010600030101010101" charset="-122"/>
                <a:ea typeface="等线" panose="02010600030101010101" charset="-122"/>
              </a:rPr>
              <a:t>(a0,a1,…,an-1)</a:t>
            </a:r>
            <a:r>
              <a:rPr lang="zh-CN" altLang="zh-CN" sz="2800" dirty="0">
                <a:solidFill>
                  <a:prstClr val="black"/>
                </a:solidFill>
                <a:latin typeface="等线" panose="02010600030101010101" charset="-122"/>
                <a:ea typeface="等线" panose="02010600030101010101" charset="-122"/>
              </a:rPr>
              <a:t>中，</a:t>
            </a:r>
            <a:r>
              <a:rPr lang="en-US" altLang="zh-CN" sz="2800" dirty="0">
                <a:solidFill>
                  <a:prstClr val="black"/>
                </a:solidFill>
                <a:latin typeface="等线" panose="02010600030101010101" charset="-122"/>
                <a:ea typeface="等线" panose="02010600030101010101" charset="-122"/>
              </a:rPr>
              <a:t>a0</a:t>
            </a:r>
            <a:r>
              <a:rPr lang="zh-CN" altLang="zh-CN" sz="2800" dirty="0">
                <a:solidFill>
                  <a:prstClr val="black"/>
                </a:solidFill>
                <a:latin typeface="等线" panose="02010600030101010101" charset="-122"/>
                <a:ea typeface="等线" panose="02010600030101010101" charset="-122"/>
              </a:rPr>
              <a:t>为开始结点，没有前驱元素，</a:t>
            </a:r>
            <a:r>
              <a:rPr lang="en-US" altLang="zh-CN" sz="2800" dirty="0">
                <a:solidFill>
                  <a:prstClr val="black"/>
                </a:solidFill>
                <a:latin typeface="等线" panose="02010600030101010101" charset="-122"/>
                <a:ea typeface="等线" panose="02010600030101010101" charset="-122"/>
              </a:rPr>
              <a:t>an-1</a:t>
            </a:r>
            <a:r>
              <a:rPr lang="zh-CN" altLang="zh-CN" sz="2800" dirty="0">
                <a:solidFill>
                  <a:prstClr val="black"/>
                </a:solidFill>
                <a:latin typeface="等线" panose="02010600030101010101" charset="-122"/>
                <a:ea typeface="等线" panose="02010600030101010101" charset="-122"/>
              </a:rPr>
              <a:t>为终端结点，没有后继元素。除开始结点和终端结点外，每个数据元素</a:t>
            </a:r>
            <a:r>
              <a:rPr lang="en-US" altLang="zh-CN" sz="2800" dirty="0">
                <a:solidFill>
                  <a:prstClr val="black"/>
                </a:solidFill>
                <a:latin typeface="等线" panose="02010600030101010101" charset="-122"/>
                <a:ea typeface="等线" panose="02010600030101010101" charset="-122"/>
              </a:rPr>
              <a:t>ai</a:t>
            </a:r>
            <a:r>
              <a:rPr lang="zh-CN" altLang="zh-CN" sz="2800" dirty="0">
                <a:solidFill>
                  <a:prstClr val="black"/>
                </a:solidFill>
                <a:latin typeface="等线" panose="02010600030101010101" charset="-122"/>
                <a:ea typeface="等线" panose="02010600030101010101" charset="-122"/>
              </a:rPr>
              <a:t>都有且仅有一个前驱元素和后继元素。</a:t>
            </a:r>
            <a:endParaRPr lang="zh-CN" altLang="zh-CN" sz="2800" dirty="0">
              <a:solidFill>
                <a:prstClr val="black"/>
              </a:solidFill>
              <a:latin typeface="等线" panose="02010600030101010101" charset="-122"/>
              <a:ea typeface="等线" panose="02010600030101010101" charset="-122"/>
            </a:endParaRPr>
          </a:p>
          <a:p>
            <a:endParaRPr lang="zh-CN" altLang="zh-CN" dirty="0">
              <a:solidFill>
                <a:prstClr val="black"/>
              </a:solidFill>
              <a:latin typeface="等线" panose="02010600030101010101" charset="-122"/>
              <a:ea typeface="等线" panose="02010600030101010101" charset="-122"/>
            </a:endParaRPr>
          </a:p>
          <a:p>
            <a:endParaRPr lang="zh-CN" altLang="en-US" dirty="0">
              <a:solidFill>
                <a:prstClr val="black"/>
              </a:solidFill>
              <a:latin typeface="等线" panose="02010600030101010101" charset="-122"/>
              <a:ea typeface="等线" panose="02010600030101010101" charset="-122"/>
            </a:endParaRPr>
          </a:p>
        </p:txBody>
      </p:sp>
      <p:pic>
        <p:nvPicPr>
          <p:cNvPr id="3" name="图片 2"/>
          <p:cNvPicPr>
            <a:picLocks noChangeAspect="1"/>
          </p:cNvPicPr>
          <p:nvPr/>
        </p:nvPicPr>
        <p:blipFill>
          <a:blip r:embed="rId1"/>
          <a:stretch>
            <a:fillRect/>
          </a:stretch>
        </p:blipFill>
        <p:spPr>
          <a:xfrm>
            <a:off x="4181737" y="2788865"/>
            <a:ext cx="2731245" cy="640135"/>
          </a:xfrm>
          <a:prstGeom prst="rect">
            <a:avLst/>
          </a:prstGeom>
        </p:spPr>
      </p:pic>
      <p:grpSp>
        <p:nvGrpSpPr>
          <p:cNvPr id="7" name="组合 6"/>
          <p:cNvGrpSpPr/>
          <p:nvPr/>
        </p:nvGrpSpPr>
        <p:grpSpPr>
          <a:xfrm>
            <a:off x="8521805" y="927665"/>
            <a:ext cx="2975777" cy="2951513"/>
            <a:chOff x="12044" y="3348"/>
            <a:chExt cx="5144" cy="5789"/>
          </a:xfrm>
        </p:grpSpPr>
        <p:grpSp>
          <p:nvGrpSpPr>
            <p:cNvPr id="8" name="Group 19"/>
            <p:cNvGrpSpPr/>
            <p:nvPr/>
          </p:nvGrpSpPr>
          <p:grpSpPr>
            <a:xfrm>
              <a:off x="13298" y="6982"/>
              <a:ext cx="487" cy="2150"/>
              <a:chOff x="4980416" y="5037518"/>
              <a:chExt cx="412706" cy="1820482"/>
            </a:xfrm>
          </p:grpSpPr>
          <p:sp>
            <p:nvSpPr>
              <p:cNvPr id="128" name="Freeform: Shape 20"/>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21"/>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Freeform: Shape 22"/>
              <p:cNvSpPr/>
              <p:nvPr/>
            </p:nvSpPr>
            <p:spPr bwMode="auto">
              <a:xfrm>
                <a:off x="5078038" y="5468401"/>
                <a:ext cx="125899" cy="1386906"/>
              </a:xfrm>
              <a:custGeom>
                <a:avLst/>
                <a:gdLst>
                  <a:gd name="T0" fmla="*/ 79 w 79"/>
                  <a:gd name="T1" fmla="*/ 871 h 871"/>
                  <a:gd name="T2" fmla="*/ 0 w 79"/>
                  <a:gd name="T3" fmla="*/ 871 h 871"/>
                  <a:gd name="T4" fmla="*/ 0 w 79"/>
                  <a:gd name="T5" fmla="*/ 33 h 871"/>
                  <a:gd name="T6" fmla="*/ 39 w 79"/>
                  <a:gd name="T7" fmla="*/ 1 h 871"/>
                  <a:gd name="T8" fmla="*/ 79 w 79"/>
                  <a:gd name="T9" fmla="*/ 33 h 871"/>
                  <a:gd name="T10" fmla="*/ 79 w 79"/>
                  <a:gd name="T11" fmla="*/ 871 h 871"/>
                </a:gdLst>
                <a:ahLst/>
                <a:cxnLst>
                  <a:cxn ang="0">
                    <a:pos x="T0" y="T1"/>
                  </a:cxn>
                  <a:cxn ang="0">
                    <a:pos x="T2" y="T3"/>
                  </a:cxn>
                  <a:cxn ang="0">
                    <a:pos x="T4" y="T5"/>
                  </a:cxn>
                  <a:cxn ang="0">
                    <a:pos x="T6" y="T7"/>
                  </a:cxn>
                  <a:cxn ang="0">
                    <a:pos x="T8" y="T9"/>
                  </a:cxn>
                  <a:cxn ang="0">
                    <a:pos x="T10" y="T11"/>
                  </a:cxn>
                </a:cxnLst>
                <a:rect l="0" t="0" r="r" b="b"/>
                <a:pathLst>
                  <a:path w="79" h="871">
                    <a:moveTo>
                      <a:pt x="79" y="871"/>
                    </a:moveTo>
                    <a:cubicBezTo>
                      <a:pt x="0" y="871"/>
                      <a:pt x="0" y="871"/>
                      <a:pt x="0" y="871"/>
                    </a:cubicBezTo>
                    <a:cubicBezTo>
                      <a:pt x="0" y="33"/>
                      <a:pt x="0" y="33"/>
                      <a:pt x="0" y="33"/>
                    </a:cubicBezTo>
                    <a:cubicBezTo>
                      <a:pt x="0" y="33"/>
                      <a:pt x="5" y="2"/>
                      <a:pt x="39" y="1"/>
                    </a:cubicBezTo>
                    <a:cubicBezTo>
                      <a:pt x="73" y="0"/>
                      <a:pt x="79" y="33"/>
                      <a:pt x="79" y="33"/>
                    </a:cubicBezTo>
                    <a:cubicBezTo>
                      <a:pt x="79" y="871"/>
                      <a:pt x="79" y="871"/>
                      <a:pt x="79" y="871"/>
                    </a:cubicBezTo>
                  </a:path>
                </a:pathLst>
              </a:custGeom>
              <a:solidFill>
                <a:schemeClr val="accent1">
                  <a:lumMod val="60000"/>
                  <a:lumOff val="40000"/>
                </a:schemeClr>
              </a:solidFill>
              <a:ln>
                <a:noFill/>
              </a:ln>
            </p:spPr>
            <p:txBody>
              <a:bodyPr anchor="ctr"/>
              <a:lstStyle/>
              <a:p>
                <a:pPr algn="ctr"/>
              </a:p>
            </p:txBody>
          </p:sp>
          <p:sp>
            <p:nvSpPr>
              <p:cNvPr id="131" name="Freeform: Shape 23"/>
              <p:cNvSpPr/>
              <p:nvPr/>
            </p:nvSpPr>
            <p:spPr bwMode="auto">
              <a:xfrm>
                <a:off x="5200571" y="5465708"/>
                <a:ext cx="101662" cy="1387579"/>
              </a:xfrm>
              <a:custGeom>
                <a:avLst/>
                <a:gdLst>
                  <a:gd name="T0" fmla="*/ 64 w 64"/>
                  <a:gd name="T1" fmla="*/ 872 h 872"/>
                  <a:gd name="T2" fmla="*/ 0 w 64"/>
                  <a:gd name="T3" fmla="*/ 872 h 872"/>
                  <a:gd name="T4" fmla="*/ 0 w 64"/>
                  <a:gd name="T5" fmla="*/ 33 h 872"/>
                  <a:gd name="T6" fmla="*/ 31 w 64"/>
                  <a:gd name="T7" fmla="*/ 1 h 872"/>
                  <a:gd name="T8" fmla="*/ 64 w 64"/>
                  <a:gd name="T9" fmla="*/ 33 h 872"/>
                  <a:gd name="T10" fmla="*/ 64 w 64"/>
                  <a:gd name="T11" fmla="*/ 872 h 872"/>
                </a:gdLst>
                <a:ahLst/>
                <a:cxnLst>
                  <a:cxn ang="0">
                    <a:pos x="T0" y="T1"/>
                  </a:cxn>
                  <a:cxn ang="0">
                    <a:pos x="T2" y="T3"/>
                  </a:cxn>
                  <a:cxn ang="0">
                    <a:pos x="T4" y="T5"/>
                  </a:cxn>
                  <a:cxn ang="0">
                    <a:pos x="T6" y="T7"/>
                  </a:cxn>
                  <a:cxn ang="0">
                    <a:pos x="T8" y="T9"/>
                  </a:cxn>
                  <a:cxn ang="0">
                    <a:pos x="T10" y="T11"/>
                  </a:cxn>
                </a:cxnLst>
                <a:rect l="0" t="0" r="r" b="b"/>
                <a:pathLst>
                  <a:path w="64" h="872">
                    <a:moveTo>
                      <a:pt x="64" y="872"/>
                    </a:moveTo>
                    <a:cubicBezTo>
                      <a:pt x="0" y="872"/>
                      <a:pt x="0" y="872"/>
                      <a:pt x="0" y="872"/>
                    </a:cubicBezTo>
                    <a:cubicBezTo>
                      <a:pt x="0" y="33"/>
                      <a:pt x="0" y="33"/>
                      <a:pt x="0" y="33"/>
                    </a:cubicBezTo>
                    <a:cubicBezTo>
                      <a:pt x="0" y="33"/>
                      <a:pt x="4" y="2"/>
                      <a:pt x="31" y="1"/>
                    </a:cubicBezTo>
                    <a:cubicBezTo>
                      <a:pt x="58" y="0"/>
                      <a:pt x="64" y="33"/>
                      <a:pt x="64" y="33"/>
                    </a:cubicBezTo>
                    <a:cubicBezTo>
                      <a:pt x="64" y="872"/>
                      <a:pt x="64" y="872"/>
                      <a:pt x="64" y="872"/>
                    </a:cubicBezTo>
                  </a:path>
                </a:pathLst>
              </a:custGeom>
              <a:solidFill>
                <a:srgbClr val="ABA0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Freeform: Shape 24"/>
              <p:cNvSpPr/>
              <p:nvPr/>
            </p:nvSpPr>
            <p:spPr bwMode="auto">
              <a:xfrm>
                <a:off x="4980416" y="5465708"/>
                <a:ext cx="100315" cy="1387579"/>
              </a:xfrm>
              <a:custGeom>
                <a:avLst/>
                <a:gdLst>
                  <a:gd name="T0" fmla="*/ 63 w 63"/>
                  <a:gd name="T1" fmla="*/ 872 h 872"/>
                  <a:gd name="T2" fmla="*/ 0 w 63"/>
                  <a:gd name="T3" fmla="*/ 872 h 872"/>
                  <a:gd name="T4" fmla="*/ 0 w 63"/>
                  <a:gd name="T5" fmla="*/ 33 h 872"/>
                  <a:gd name="T6" fmla="*/ 31 w 63"/>
                  <a:gd name="T7" fmla="*/ 1 h 872"/>
                  <a:gd name="T8" fmla="*/ 63 w 63"/>
                  <a:gd name="T9" fmla="*/ 33 h 872"/>
                  <a:gd name="T10" fmla="*/ 63 w 63"/>
                  <a:gd name="T11" fmla="*/ 872 h 872"/>
                </a:gdLst>
                <a:ahLst/>
                <a:cxnLst>
                  <a:cxn ang="0">
                    <a:pos x="T0" y="T1"/>
                  </a:cxn>
                  <a:cxn ang="0">
                    <a:pos x="T2" y="T3"/>
                  </a:cxn>
                  <a:cxn ang="0">
                    <a:pos x="T4" y="T5"/>
                  </a:cxn>
                  <a:cxn ang="0">
                    <a:pos x="T6" y="T7"/>
                  </a:cxn>
                  <a:cxn ang="0">
                    <a:pos x="T8" y="T9"/>
                  </a:cxn>
                  <a:cxn ang="0">
                    <a:pos x="T10" y="T11"/>
                  </a:cxn>
                </a:cxnLst>
                <a:rect l="0" t="0" r="r" b="b"/>
                <a:pathLst>
                  <a:path w="63" h="872">
                    <a:moveTo>
                      <a:pt x="63" y="872"/>
                    </a:moveTo>
                    <a:cubicBezTo>
                      <a:pt x="0" y="872"/>
                      <a:pt x="0" y="872"/>
                      <a:pt x="0" y="872"/>
                    </a:cubicBezTo>
                    <a:cubicBezTo>
                      <a:pt x="0" y="33"/>
                      <a:pt x="0" y="33"/>
                      <a:pt x="0" y="33"/>
                    </a:cubicBezTo>
                    <a:cubicBezTo>
                      <a:pt x="0" y="33"/>
                      <a:pt x="4" y="2"/>
                      <a:pt x="31" y="1"/>
                    </a:cubicBezTo>
                    <a:cubicBezTo>
                      <a:pt x="57" y="0"/>
                      <a:pt x="63" y="33"/>
                      <a:pt x="63" y="33"/>
                    </a:cubicBezTo>
                    <a:lnTo>
                      <a:pt x="63" y="872"/>
                    </a:lnTo>
                    <a:close/>
                  </a:path>
                </a:pathLst>
              </a:custGeom>
              <a:solidFill>
                <a:schemeClr val="accent1">
                  <a:lumMod val="60000"/>
                  <a:lumOff val="40000"/>
                </a:schemeClr>
              </a:solidFill>
              <a:ln>
                <a:noFill/>
              </a:ln>
            </p:spPr>
            <p:txBody>
              <a:bodyPr anchor="ctr"/>
              <a:lstStyle/>
              <a:p>
                <a:pPr algn="ctr"/>
              </a:p>
            </p:txBody>
          </p:sp>
          <p:sp>
            <p:nvSpPr>
              <p:cNvPr id="133" name="Freeform: Shape 25"/>
              <p:cNvSpPr/>
              <p:nvPr/>
            </p:nvSpPr>
            <p:spPr bwMode="auto">
              <a:xfrm>
                <a:off x="5076019" y="5038865"/>
                <a:ext cx="132631" cy="192551"/>
              </a:xfrm>
              <a:custGeom>
                <a:avLst/>
                <a:gdLst>
                  <a:gd name="T0" fmla="*/ 0 w 83"/>
                  <a:gd name="T1" fmla="*/ 111 h 121"/>
                  <a:gd name="T2" fmla="*/ 83 w 83"/>
                  <a:gd name="T3" fmla="*/ 113 h 121"/>
                  <a:gd name="T4" fmla="*/ 49 w 83"/>
                  <a:gd name="T5" fmla="*/ 0 h 121"/>
                  <a:gd name="T6" fmla="*/ 29 w 83"/>
                  <a:gd name="T7" fmla="*/ 0 h 121"/>
                  <a:gd name="T8" fmla="*/ 0 w 83"/>
                  <a:gd name="T9" fmla="*/ 111 h 121"/>
                </a:gdLst>
                <a:ahLst/>
                <a:cxnLst>
                  <a:cxn ang="0">
                    <a:pos x="T0" y="T1"/>
                  </a:cxn>
                  <a:cxn ang="0">
                    <a:pos x="T2" y="T3"/>
                  </a:cxn>
                  <a:cxn ang="0">
                    <a:pos x="T4" y="T5"/>
                  </a:cxn>
                  <a:cxn ang="0">
                    <a:pos x="T6" y="T7"/>
                  </a:cxn>
                  <a:cxn ang="0">
                    <a:pos x="T8" y="T9"/>
                  </a:cxn>
                </a:cxnLst>
                <a:rect l="0" t="0" r="r" b="b"/>
                <a:pathLst>
                  <a:path w="83" h="121">
                    <a:moveTo>
                      <a:pt x="0" y="111"/>
                    </a:moveTo>
                    <a:cubicBezTo>
                      <a:pt x="0" y="111"/>
                      <a:pt x="40" y="121"/>
                      <a:pt x="83" y="113"/>
                    </a:cubicBezTo>
                    <a:cubicBezTo>
                      <a:pt x="49" y="0"/>
                      <a:pt x="49" y="0"/>
                      <a:pt x="49" y="0"/>
                    </a:cubicBezTo>
                    <a:cubicBezTo>
                      <a:pt x="29" y="0"/>
                      <a:pt x="29" y="0"/>
                      <a:pt x="29" y="0"/>
                    </a:cubicBezTo>
                    <a:cubicBezTo>
                      <a:pt x="0" y="111"/>
                      <a:pt x="0" y="111"/>
                      <a:pt x="0" y="111"/>
                    </a:cubicBezTo>
                  </a:path>
                </a:pathLst>
              </a:custGeom>
              <a:solidFill>
                <a:schemeClr val="accent1">
                  <a:lumMod val="60000"/>
                  <a:lumOff val="40000"/>
                </a:schemeClr>
              </a:solidFill>
              <a:ln>
                <a:noFill/>
              </a:ln>
            </p:spPr>
            <p:txBody>
              <a:bodyPr anchor="ctr"/>
              <a:lstStyle/>
              <a:p>
                <a:pPr algn="ctr"/>
              </a:p>
            </p:txBody>
          </p:sp>
          <p:sp>
            <p:nvSpPr>
              <p:cNvPr id="134" name="Freeform: Shape 26"/>
              <p:cNvSpPr/>
              <p:nvPr/>
            </p:nvSpPr>
            <p:spPr bwMode="auto">
              <a:xfrm>
                <a:off x="5143344" y="5037518"/>
                <a:ext cx="249778" cy="1820482"/>
              </a:xfrm>
              <a:custGeom>
                <a:avLst/>
                <a:gdLst>
                  <a:gd name="T0" fmla="*/ 34 w 157"/>
                  <a:gd name="T1" fmla="*/ 0 h 1144"/>
                  <a:gd name="T2" fmla="*/ 0 w 157"/>
                  <a:gd name="T3" fmla="*/ 1 h 1144"/>
                  <a:gd name="T4" fmla="*/ 7 w 157"/>
                  <a:gd name="T5" fmla="*/ 1 h 1144"/>
                  <a:gd name="T6" fmla="*/ 41 w 157"/>
                  <a:gd name="T7" fmla="*/ 114 h 1144"/>
                  <a:gd name="T8" fmla="*/ 41 w 157"/>
                  <a:gd name="T9" fmla="*/ 114 h 1144"/>
                  <a:gd name="T10" fmla="*/ 94 w 157"/>
                  <a:gd name="T11" fmla="*/ 285 h 1144"/>
                  <a:gd name="T12" fmla="*/ 94 w 157"/>
                  <a:gd name="T13" fmla="*/ 286 h 1144"/>
                  <a:gd name="T14" fmla="*/ 100 w 157"/>
                  <a:gd name="T15" fmla="*/ 302 h 1144"/>
                  <a:gd name="T16" fmla="*/ 100 w 157"/>
                  <a:gd name="T17" fmla="*/ 1141 h 1144"/>
                  <a:gd name="T18" fmla="*/ 38 w 157"/>
                  <a:gd name="T19" fmla="*/ 1141 h 1144"/>
                  <a:gd name="T20" fmla="*/ 38 w 157"/>
                  <a:gd name="T21" fmla="*/ 1142 h 1144"/>
                  <a:gd name="T22" fmla="*/ 0 w 157"/>
                  <a:gd name="T23" fmla="*/ 1142 h 1144"/>
                  <a:gd name="T24" fmla="*/ 0 w 157"/>
                  <a:gd name="T25" fmla="*/ 1144 h 1144"/>
                  <a:gd name="T26" fmla="*/ 157 w 157"/>
                  <a:gd name="T27" fmla="*/ 1142 h 1144"/>
                  <a:gd name="T28" fmla="*/ 142 w 157"/>
                  <a:gd name="T29" fmla="*/ 290 h 1144"/>
                  <a:gd name="T30" fmla="*/ 34 w 157"/>
                  <a:gd name="T31" fmla="*/ 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144">
                    <a:moveTo>
                      <a:pt x="34" y="0"/>
                    </a:moveTo>
                    <a:cubicBezTo>
                      <a:pt x="0" y="1"/>
                      <a:pt x="0" y="1"/>
                      <a:pt x="0" y="1"/>
                    </a:cubicBezTo>
                    <a:cubicBezTo>
                      <a:pt x="7" y="1"/>
                      <a:pt x="7" y="1"/>
                      <a:pt x="7" y="1"/>
                    </a:cubicBezTo>
                    <a:cubicBezTo>
                      <a:pt x="41" y="114"/>
                      <a:pt x="41" y="114"/>
                      <a:pt x="41" y="114"/>
                    </a:cubicBezTo>
                    <a:cubicBezTo>
                      <a:pt x="41" y="114"/>
                      <a:pt x="41" y="114"/>
                      <a:pt x="41" y="114"/>
                    </a:cubicBezTo>
                    <a:cubicBezTo>
                      <a:pt x="94" y="285"/>
                      <a:pt x="94" y="285"/>
                      <a:pt x="94" y="285"/>
                    </a:cubicBezTo>
                    <a:cubicBezTo>
                      <a:pt x="94" y="286"/>
                      <a:pt x="94" y="286"/>
                      <a:pt x="94" y="286"/>
                    </a:cubicBezTo>
                    <a:cubicBezTo>
                      <a:pt x="98" y="294"/>
                      <a:pt x="100" y="302"/>
                      <a:pt x="100" y="302"/>
                    </a:cubicBezTo>
                    <a:cubicBezTo>
                      <a:pt x="100" y="1141"/>
                      <a:pt x="100" y="1141"/>
                      <a:pt x="100" y="1141"/>
                    </a:cubicBezTo>
                    <a:cubicBezTo>
                      <a:pt x="38" y="1141"/>
                      <a:pt x="38" y="1141"/>
                      <a:pt x="38" y="1141"/>
                    </a:cubicBezTo>
                    <a:cubicBezTo>
                      <a:pt x="38" y="1142"/>
                      <a:pt x="38" y="1142"/>
                      <a:pt x="38" y="1142"/>
                    </a:cubicBezTo>
                    <a:cubicBezTo>
                      <a:pt x="0" y="1142"/>
                      <a:pt x="0" y="1142"/>
                      <a:pt x="0" y="1142"/>
                    </a:cubicBezTo>
                    <a:cubicBezTo>
                      <a:pt x="0" y="1144"/>
                      <a:pt x="0" y="1144"/>
                      <a:pt x="0" y="1144"/>
                    </a:cubicBezTo>
                    <a:cubicBezTo>
                      <a:pt x="157" y="1142"/>
                      <a:pt x="157" y="1142"/>
                      <a:pt x="157" y="11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Freeform: Shape 27"/>
              <p:cNvSpPr/>
              <p:nvPr/>
            </p:nvSpPr>
            <p:spPr bwMode="auto">
              <a:xfrm>
                <a:off x="5143344" y="5218624"/>
                <a:ext cx="149463" cy="294886"/>
              </a:xfrm>
              <a:custGeom>
                <a:avLst/>
                <a:gdLst>
                  <a:gd name="T0" fmla="*/ 41 w 94"/>
                  <a:gd name="T1" fmla="*/ 0 h 185"/>
                  <a:gd name="T2" fmla="*/ 6 w 94"/>
                  <a:gd name="T3" fmla="*/ 3 h 185"/>
                  <a:gd name="T4" fmla="*/ 0 w 94"/>
                  <a:gd name="T5" fmla="*/ 3 h 185"/>
                  <a:gd name="T6" fmla="*/ 0 w 94"/>
                  <a:gd name="T7" fmla="*/ 158 h 185"/>
                  <a:gd name="T8" fmla="*/ 37 w 94"/>
                  <a:gd name="T9" fmla="*/ 185 h 185"/>
                  <a:gd name="T10" fmla="*/ 67 w 94"/>
                  <a:gd name="T11" fmla="*/ 156 h 185"/>
                  <a:gd name="T12" fmla="*/ 68 w 94"/>
                  <a:gd name="T13" fmla="*/ 156 h 185"/>
                  <a:gd name="T14" fmla="*/ 94 w 94"/>
                  <a:gd name="T15" fmla="*/ 172 h 185"/>
                  <a:gd name="T16" fmla="*/ 94 w 94"/>
                  <a:gd name="T17" fmla="*/ 171 h 185"/>
                  <a:gd name="T18" fmla="*/ 41 w 94"/>
                  <a:gd name="T19"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85">
                    <a:moveTo>
                      <a:pt x="41" y="0"/>
                    </a:moveTo>
                    <a:cubicBezTo>
                      <a:pt x="28" y="2"/>
                      <a:pt x="16" y="3"/>
                      <a:pt x="6" y="3"/>
                    </a:cubicBezTo>
                    <a:cubicBezTo>
                      <a:pt x="4" y="3"/>
                      <a:pt x="2" y="3"/>
                      <a:pt x="0" y="3"/>
                    </a:cubicBezTo>
                    <a:cubicBezTo>
                      <a:pt x="0" y="158"/>
                      <a:pt x="0" y="158"/>
                      <a:pt x="0" y="158"/>
                    </a:cubicBezTo>
                    <a:cubicBezTo>
                      <a:pt x="24" y="159"/>
                      <a:pt x="34" y="177"/>
                      <a:pt x="37" y="185"/>
                    </a:cubicBezTo>
                    <a:cubicBezTo>
                      <a:pt x="38" y="178"/>
                      <a:pt x="45" y="157"/>
                      <a:pt x="67" y="156"/>
                    </a:cubicBezTo>
                    <a:cubicBezTo>
                      <a:pt x="68" y="156"/>
                      <a:pt x="68" y="156"/>
                      <a:pt x="68" y="156"/>
                    </a:cubicBezTo>
                    <a:cubicBezTo>
                      <a:pt x="81" y="156"/>
                      <a:pt x="89" y="164"/>
                      <a:pt x="94" y="172"/>
                    </a:cubicBezTo>
                    <a:cubicBezTo>
                      <a:pt x="94" y="171"/>
                      <a:pt x="94" y="171"/>
                      <a:pt x="94" y="171"/>
                    </a:cubicBezTo>
                    <a:cubicBezTo>
                      <a:pt x="41" y="0"/>
                      <a:pt x="41" y="0"/>
                      <a:pt x="41"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Freeform: Shape 28"/>
              <p:cNvSpPr/>
              <p:nvPr/>
            </p:nvSpPr>
            <p:spPr bwMode="auto">
              <a:xfrm>
                <a:off x="5143344" y="5470421"/>
                <a:ext cx="60593" cy="1384886"/>
              </a:xfrm>
              <a:custGeom>
                <a:avLst/>
                <a:gdLst>
                  <a:gd name="T0" fmla="*/ 0 w 38"/>
                  <a:gd name="T1" fmla="*/ 0 h 870"/>
                  <a:gd name="T2" fmla="*/ 0 w 38"/>
                  <a:gd name="T3" fmla="*/ 870 h 870"/>
                  <a:gd name="T4" fmla="*/ 38 w 38"/>
                  <a:gd name="T5" fmla="*/ 870 h 870"/>
                  <a:gd name="T6" fmla="*/ 38 w 38"/>
                  <a:gd name="T7" fmla="*/ 869 h 870"/>
                  <a:gd name="T8" fmla="*/ 36 w 38"/>
                  <a:gd name="T9" fmla="*/ 869 h 870"/>
                  <a:gd name="T10" fmla="*/ 36 w 38"/>
                  <a:gd name="T11" fmla="*/ 30 h 870"/>
                  <a:gd name="T12" fmla="*/ 37 w 38"/>
                  <a:gd name="T13" fmla="*/ 27 h 870"/>
                  <a:gd name="T14" fmla="*/ 0 w 38"/>
                  <a:gd name="T15" fmla="*/ 0 h 8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870">
                    <a:moveTo>
                      <a:pt x="0" y="0"/>
                    </a:moveTo>
                    <a:cubicBezTo>
                      <a:pt x="0" y="870"/>
                      <a:pt x="0" y="870"/>
                      <a:pt x="0" y="870"/>
                    </a:cubicBezTo>
                    <a:cubicBezTo>
                      <a:pt x="38" y="870"/>
                      <a:pt x="38" y="870"/>
                      <a:pt x="38" y="870"/>
                    </a:cubicBezTo>
                    <a:cubicBezTo>
                      <a:pt x="38" y="869"/>
                      <a:pt x="38" y="869"/>
                      <a:pt x="38" y="869"/>
                    </a:cubicBezTo>
                    <a:cubicBezTo>
                      <a:pt x="36" y="869"/>
                      <a:pt x="36" y="869"/>
                      <a:pt x="36" y="869"/>
                    </a:cubicBezTo>
                    <a:cubicBezTo>
                      <a:pt x="36" y="30"/>
                      <a:pt x="36" y="30"/>
                      <a:pt x="36" y="30"/>
                    </a:cubicBezTo>
                    <a:cubicBezTo>
                      <a:pt x="36" y="30"/>
                      <a:pt x="37" y="29"/>
                      <a:pt x="37" y="27"/>
                    </a:cubicBezTo>
                    <a:cubicBezTo>
                      <a:pt x="34" y="19"/>
                      <a:pt x="24" y="1"/>
                      <a:pt x="0" y="0"/>
                    </a:cubicBezTo>
                  </a:path>
                </a:pathLst>
              </a:custGeom>
              <a:solidFill>
                <a:schemeClr val="accent1"/>
              </a:solidFill>
              <a:ln>
                <a:noFill/>
              </a:ln>
            </p:spPr>
            <p:txBody>
              <a:bodyPr anchor="ctr"/>
              <a:lstStyle/>
              <a:p>
                <a:pPr algn="ctr"/>
              </a:p>
            </p:txBody>
          </p:sp>
          <p:sp>
            <p:nvSpPr>
              <p:cNvPr id="137" name="Freeform: Shape 29"/>
              <p:cNvSpPr/>
              <p:nvPr/>
            </p:nvSpPr>
            <p:spPr bwMode="auto">
              <a:xfrm>
                <a:off x="5200571" y="5467055"/>
                <a:ext cx="101662" cy="1386232"/>
              </a:xfrm>
              <a:custGeom>
                <a:avLst/>
                <a:gdLst>
                  <a:gd name="T0" fmla="*/ 32 w 64"/>
                  <a:gd name="T1" fmla="*/ 0 h 871"/>
                  <a:gd name="T2" fmla="*/ 31 w 64"/>
                  <a:gd name="T3" fmla="*/ 0 h 871"/>
                  <a:gd name="T4" fmla="*/ 1 w 64"/>
                  <a:gd name="T5" fmla="*/ 29 h 871"/>
                  <a:gd name="T6" fmla="*/ 0 w 64"/>
                  <a:gd name="T7" fmla="*/ 32 h 871"/>
                  <a:gd name="T8" fmla="*/ 0 w 64"/>
                  <a:gd name="T9" fmla="*/ 871 h 871"/>
                  <a:gd name="T10" fmla="*/ 2 w 64"/>
                  <a:gd name="T11" fmla="*/ 871 h 871"/>
                  <a:gd name="T12" fmla="*/ 64 w 64"/>
                  <a:gd name="T13" fmla="*/ 871 h 871"/>
                  <a:gd name="T14" fmla="*/ 64 w 64"/>
                  <a:gd name="T15" fmla="*/ 32 h 871"/>
                  <a:gd name="T16" fmla="*/ 58 w 64"/>
                  <a:gd name="T17" fmla="*/ 16 h 871"/>
                  <a:gd name="T18" fmla="*/ 32 w 64"/>
                  <a:gd name="T19" fmla="*/ 0 h 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871">
                    <a:moveTo>
                      <a:pt x="32" y="0"/>
                    </a:moveTo>
                    <a:cubicBezTo>
                      <a:pt x="32" y="0"/>
                      <a:pt x="32" y="0"/>
                      <a:pt x="31" y="0"/>
                    </a:cubicBezTo>
                    <a:cubicBezTo>
                      <a:pt x="9" y="1"/>
                      <a:pt x="2" y="22"/>
                      <a:pt x="1" y="29"/>
                    </a:cubicBezTo>
                    <a:cubicBezTo>
                      <a:pt x="1" y="31"/>
                      <a:pt x="0" y="32"/>
                      <a:pt x="0" y="32"/>
                    </a:cubicBezTo>
                    <a:cubicBezTo>
                      <a:pt x="0" y="871"/>
                      <a:pt x="0" y="871"/>
                      <a:pt x="0" y="871"/>
                    </a:cubicBezTo>
                    <a:cubicBezTo>
                      <a:pt x="2" y="871"/>
                      <a:pt x="2" y="871"/>
                      <a:pt x="2" y="871"/>
                    </a:cubicBezTo>
                    <a:cubicBezTo>
                      <a:pt x="64" y="871"/>
                      <a:pt x="64" y="871"/>
                      <a:pt x="64" y="871"/>
                    </a:cubicBezTo>
                    <a:cubicBezTo>
                      <a:pt x="64" y="32"/>
                      <a:pt x="64" y="32"/>
                      <a:pt x="64" y="32"/>
                    </a:cubicBezTo>
                    <a:cubicBezTo>
                      <a:pt x="64" y="32"/>
                      <a:pt x="62" y="24"/>
                      <a:pt x="58" y="16"/>
                    </a:cubicBezTo>
                    <a:cubicBezTo>
                      <a:pt x="53" y="8"/>
                      <a:pt x="45" y="0"/>
                      <a:pt x="32" y="0"/>
                    </a:cubicBezTo>
                  </a:path>
                </a:pathLst>
              </a:custGeom>
              <a:solidFill>
                <a:schemeClr val="accent1"/>
              </a:solidFill>
              <a:ln>
                <a:noFill/>
              </a:ln>
            </p:spPr>
            <p:txBody>
              <a:bodyPr anchor="ctr"/>
              <a:lstStyle/>
              <a:p>
                <a:pPr algn="ctr"/>
              </a:p>
            </p:txBody>
          </p:sp>
          <p:sp>
            <p:nvSpPr>
              <p:cNvPr id="138" name="Freeform: Shape 30"/>
              <p:cNvSpPr/>
              <p:nvPr/>
            </p:nvSpPr>
            <p:spPr bwMode="auto">
              <a:xfrm>
                <a:off x="5143344" y="5038865"/>
                <a:ext cx="65306" cy="184472"/>
              </a:xfrm>
              <a:custGeom>
                <a:avLst/>
                <a:gdLst>
                  <a:gd name="T0" fmla="*/ 7 w 41"/>
                  <a:gd name="T1" fmla="*/ 0 h 116"/>
                  <a:gd name="T2" fmla="*/ 0 w 41"/>
                  <a:gd name="T3" fmla="*/ 0 h 116"/>
                  <a:gd name="T4" fmla="*/ 0 w 41"/>
                  <a:gd name="T5" fmla="*/ 116 h 116"/>
                  <a:gd name="T6" fmla="*/ 6 w 41"/>
                  <a:gd name="T7" fmla="*/ 116 h 116"/>
                  <a:gd name="T8" fmla="*/ 41 w 41"/>
                  <a:gd name="T9" fmla="*/ 113 h 116"/>
                  <a:gd name="T10" fmla="*/ 41 w 41"/>
                  <a:gd name="T11" fmla="*/ 113 h 116"/>
                  <a:gd name="T12" fmla="*/ 7 w 41"/>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1" h="116">
                    <a:moveTo>
                      <a:pt x="7" y="0"/>
                    </a:moveTo>
                    <a:cubicBezTo>
                      <a:pt x="0" y="0"/>
                      <a:pt x="0" y="0"/>
                      <a:pt x="0" y="0"/>
                    </a:cubicBezTo>
                    <a:cubicBezTo>
                      <a:pt x="0" y="116"/>
                      <a:pt x="0" y="116"/>
                      <a:pt x="0" y="116"/>
                    </a:cubicBezTo>
                    <a:cubicBezTo>
                      <a:pt x="2" y="116"/>
                      <a:pt x="4" y="116"/>
                      <a:pt x="6" y="116"/>
                    </a:cubicBezTo>
                    <a:cubicBezTo>
                      <a:pt x="16" y="116"/>
                      <a:pt x="28" y="115"/>
                      <a:pt x="41" y="113"/>
                    </a:cubicBezTo>
                    <a:cubicBezTo>
                      <a:pt x="41" y="113"/>
                      <a:pt x="41" y="113"/>
                      <a:pt x="41" y="113"/>
                    </a:cubicBezTo>
                    <a:cubicBezTo>
                      <a:pt x="7" y="0"/>
                      <a:pt x="7" y="0"/>
                      <a:pt x="7" y="0"/>
                    </a:cubicBezTo>
                  </a:path>
                </a:pathLst>
              </a:custGeom>
              <a:solidFill>
                <a:schemeClr val="accent1"/>
              </a:solidFill>
              <a:ln>
                <a:noFill/>
              </a:ln>
            </p:spPr>
            <p:txBody>
              <a:bodyPr anchor="ctr"/>
              <a:lstStyle/>
              <a:p>
                <a:pPr algn="ctr"/>
              </a:p>
            </p:txBody>
          </p:sp>
        </p:grpSp>
        <p:grpSp>
          <p:nvGrpSpPr>
            <p:cNvPr id="9" name="Group 31"/>
            <p:cNvGrpSpPr/>
            <p:nvPr/>
          </p:nvGrpSpPr>
          <p:grpSpPr>
            <a:xfrm>
              <a:off x="13915" y="7357"/>
              <a:ext cx="487" cy="1775"/>
              <a:chOff x="5502862" y="5355294"/>
              <a:chExt cx="412706" cy="1502706"/>
            </a:xfrm>
          </p:grpSpPr>
          <p:sp>
            <p:nvSpPr>
              <p:cNvPr id="117"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20"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122"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123"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126"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127"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10" name="Group 43"/>
            <p:cNvGrpSpPr/>
            <p:nvPr/>
          </p:nvGrpSpPr>
          <p:grpSpPr>
            <a:xfrm>
              <a:off x="15649" y="7363"/>
              <a:ext cx="481" cy="1775"/>
              <a:chOff x="6959786" y="5355294"/>
              <a:chExt cx="407320" cy="1502706"/>
            </a:xfrm>
          </p:grpSpPr>
          <p:sp>
            <p:nvSpPr>
              <p:cNvPr id="106"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algn="ctr"/>
              </a:p>
            </p:txBody>
          </p:sp>
          <p:sp>
            <p:nvSpPr>
              <p:cNvPr id="109"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algn="ctr"/>
              </a:p>
            </p:txBody>
          </p:sp>
          <p:sp>
            <p:nvSpPr>
              <p:cNvPr id="111"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algn="ctr"/>
              </a:p>
            </p:txBody>
          </p:sp>
          <p:sp>
            <p:nvSpPr>
              <p:cNvPr id="112"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algn="ctr"/>
              </a:p>
            </p:txBody>
          </p:sp>
          <p:sp>
            <p:nvSpPr>
              <p:cNvPr id="115"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algn="ctr"/>
              </a:p>
            </p:txBody>
          </p:sp>
          <p:sp>
            <p:nvSpPr>
              <p:cNvPr id="116"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algn="ctr"/>
              </a:p>
            </p:txBody>
          </p:sp>
        </p:grpSp>
        <p:grpSp>
          <p:nvGrpSpPr>
            <p:cNvPr id="11" name="Group 55"/>
            <p:cNvGrpSpPr/>
            <p:nvPr/>
          </p:nvGrpSpPr>
          <p:grpSpPr>
            <a:xfrm>
              <a:off x="14512" y="6071"/>
              <a:ext cx="477" cy="3057"/>
              <a:chOff x="6007804" y="4266641"/>
              <a:chExt cx="403952" cy="2588666"/>
            </a:xfrm>
          </p:grpSpPr>
          <p:sp>
            <p:nvSpPr>
              <p:cNvPr id="95"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98"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00"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01"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04"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05"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12" name="Group 67"/>
            <p:cNvGrpSpPr/>
            <p:nvPr/>
          </p:nvGrpSpPr>
          <p:grpSpPr>
            <a:xfrm>
              <a:off x="15070" y="5418"/>
              <a:ext cx="483" cy="3711"/>
              <a:chOff x="6480429" y="3713225"/>
              <a:chExt cx="409339" cy="3142082"/>
            </a:xfrm>
          </p:grpSpPr>
          <p:sp>
            <p:nvSpPr>
              <p:cNvPr id="84"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87"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89"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90"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93"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94"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13" name="Group 79"/>
            <p:cNvGrpSpPr/>
            <p:nvPr/>
          </p:nvGrpSpPr>
          <p:grpSpPr>
            <a:xfrm>
              <a:off x="13184" y="4346"/>
              <a:ext cx="1431" cy="1418"/>
              <a:chOff x="4883468" y="2805677"/>
              <a:chExt cx="1211858" cy="1200415"/>
            </a:xfrm>
          </p:grpSpPr>
          <p:sp>
            <p:nvSpPr>
              <p:cNvPr id="80" name="Freeform: Shape 80"/>
              <p:cNvSpPr/>
              <p:nvPr/>
            </p:nvSpPr>
            <p:spPr bwMode="auto">
              <a:xfrm>
                <a:off x="4964931" y="2888488"/>
                <a:ext cx="1130395" cy="1117604"/>
              </a:xfrm>
              <a:custGeom>
                <a:avLst/>
                <a:gdLst>
                  <a:gd name="T0" fmla="*/ 363 w 710"/>
                  <a:gd name="T1" fmla="*/ 0 h 702"/>
                  <a:gd name="T2" fmla="*/ 270 w 710"/>
                  <a:gd name="T3" fmla="*/ 13 h 702"/>
                  <a:gd name="T4" fmla="*/ 51 w 710"/>
                  <a:gd name="T5" fmla="*/ 418 h 702"/>
                  <a:gd name="T6" fmla="*/ 363 w 710"/>
                  <a:gd name="T7" fmla="*/ 651 h 702"/>
                  <a:gd name="T8" fmla="*/ 456 w 710"/>
                  <a:gd name="T9" fmla="*/ 637 h 702"/>
                  <a:gd name="T10" fmla="*/ 470 w 710"/>
                  <a:gd name="T11" fmla="*/ 633 h 702"/>
                  <a:gd name="T12" fmla="*/ 628 w 710"/>
                  <a:gd name="T13" fmla="*/ 702 h 702"/>
                  <a:gd name="T14" fmla="*/ 597 w 710"/>
                  <a:gd name="T15" fmla="*/ 551 h 702"/>
                  <a:gd name="T16" fmla="*/ 675 w 710"/>
                  <a:gd name="T17" fmla="*/ 232 h 702"/>
                  <a:gd name="T18" fmla="*/ 363 w 710"/>
                  <a:gd name="T19" fmla="*/ 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0" h="702">
                    <a:moveTo>
                      <a:pt x="363" y="0"/>
                    </a:moveTo>
                    <a:cubicBezTo>
                      <a:pt x="332" y="0"/>
                      <a:pt x="301" y="4"/>
                      <a:pt x="270" y="13"/>
                    </a:cubicBezTo>
                    <a:cubicBezTo>
                      <a:pt x="98" y="65"/>
                      <a:pt x="0" y="246"/>
                      <a:pt x="51" y="418"/>
                    </a:cubicBezTo>
                    <a:cubicBezTo>
                      <a:pt x="93" y="560"/>
                      <a:pt x="223" y="651"/>
                      <a:pt x="363" y="651"/>
                    </a:cubicBezTo>
                    <a:cubicBezTo>
                      <a:pt x="394" y="651"/>
                      <a:pt x="425" y="647"/>
                      <a:pt x="456" y="637"/>
                    </a:cubicBezTo>
                    <a:cubicBezTo>
                      <a:pt x="461" y="636"/>
                      <a:pt x="465" y="634"/>
                      <a:pt x="470" y="633"/>
                    </a:cubicBezTo>
                    <a:cubicBezTo>
                      <a:pt x="628" y="702"/>
                      <a:pt x="628" y="702"/>
                      <a:pt x="628" y="702"/>
                    </a:cubicBezTo>
                    <a:cubicBezTo>
                      <a:pt x="597" y="551"/>
                      <a:pt x="597" y="551"/>
                      <a:pt x="597" y="551"/>
                    </a:cubicBezTo>
                    <a:cubicBezTo>
                      <a:pt x="676" y="469"/>
                      <a:pt x="710" y="349"/>
                      <a:pt x="675" y="232"/>
                    </a:cubicBezTo>
                    <a:cubicBezTo>
                      <a:pt x="633" y="91"/>
                      <a:pt x="503" y="0"/>
                      <a:pt x="363"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Freeform: Shape 81"/>
              <p:cNvSpPr/>
              <p:nvPr/>
            </p:nvSpPr>
            <p:spPr bwMode="auto">
              <a:xfrm>
                <a:off x="4883468" y="2805677"/>
                <a:ext cx="1130395" cy="1178197"/>
              </a:xfrm>
              <a:custGeom>
                <a:avLst/>
                <a:gdLst>
                  <a:gd name="T0" fmla="*/ 675 w 710"/>
                  <a:gd name="T1" fmla="*/ 271 h 740"/>
                  <a:gd name="T2" fmla="*/ 270 w 710"/>
                  <a:gd name="T3" fmla="*/ 52 h 740"/>
                  <a:gd name="T4" fmla="*/ 52 w 710"/>
                  <a:gd name="T5" fmla="*/ 457 h 740"/>
                  <a:gd name="T6" fmla="*/ 456 w 710"/>
                  <a:gd name="T7" fmla="*/ 676 h 740"/>
                  <a:gd name="T8" fmla="*/ 471 w 710"/>
                  <a:gd name="T9" fmla="*/ 671 h 740"/>
                  <a:gd name="T10" fmla="*/ 628 w 710"/>
                  <a:gd name="T11" fmla="*/ 740 h 740"/>
                  <a:gd name="T12" fmla="*/ 598 w 710"/>
                  <a:gd name="T13" fmla="*/ 589 h 740"/>
                  <a:gd name="T14" fmla="*/ 675 w 710"/>
                  <a:gd name="T15" fmla="*/ 271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40">
                    <a:moveTo>
                      <a:pt x="675" y="271"/>
                    </a:moveTo>
                    <a:cubicBezTo>
                      <a:pt x="624" y="98"/>
                      <a:pt x="443" y="0"/>
                      <a:pt x="270" y="52"/>
                    </a:cubicBezTo>
                    <a:cubicBezTo>
                      <a:pt x="98" y="103"/>
                      <a:pt x="0" y="285"/>
                      <a:pt x="52" y="457"/>
                    </a:cubicBezTo>
                    <a:cubicBezTo>
                      <a:pt x="103" y="629"/>
                      <a:pt x="284" y="727"/>
                      <a:pt x="456" y="676"/>
                    </a:cubicBezTo>
                    <a:cubicBezTo>
                      <a:pt x="461" y="674"/>
                      <a:pt x="466" y="673"/>
                      <a:pt x="471" y="671"/>
                    </a:cubicBezTo>
                    <a:cubicBezTo>
                      <a:pt x="628" y="740"/>
                      <a:pt x="628" y="740"/>
                      <a:pt x="628" y="740"/>
                    </a:cubicBezTo>
                    <a:cubicBezTo>
                      <a:pt x="598" y="589"/>
                      <a:pt x="598" y="589"/>
                      <a:pt x="598" y="589"/>
                    </a:cubicBezTo>
                    <a:cubicBezTo>
                      <a:pt x="676" y="508"/>
                      <a:pt x="710" y="387"/>
                      <a:pt x="675" y="271"/>
                    </a:cubicBezTo>
                    <a:close/>
                  </a:path>
                </a:pathLst>
              </a:custGeom>
              <a:solidFill>
                <a:schemeClr val="accent3"/>
              </a:solidFill>
              <a:ln>
                <a:noFill/>
              </a:ln>
            </p:spPr>
            <p:txBody>
              <a:bodyPr anchor="ctr"/>
              <a:lstStyle/>
              <a:p>
                <a:pPr algn="ctr"/>
              </a:p>
            </p:txBody>
          </p:sp>
          <p:sp>
            <p:nvSpPr>
              <p:cNvPr id="82" name="Freeform: Shape 82"/>
              <p:cNvSpPr/>
              <p:nvPr/>
            </p:nvSpPr>
            <p:spPr bwMode="auto">
              <a:xfrm>
                <a:off x="5276649" y="3155770"/>
                <a:ext cx="407993" cy="299599"/>
              </a:xfrm>
              <a:custGeom>
                <a:avLst/>
                <a:gdLst>
                  <a:gd name="T0" fmla="*/ 256 w 256"/>
                  <a:gd name="T1" fmla="*/ 7 h 188"/>
                  <a:gd name="T2" fmla="*/ 249 w 256"/>
                  <a:gd name="T3" fmla="*/ 0 h 188"/>
                  <a:gd name="T4" fmla="*/ 7 w 256"/>
                  <a:gd name="T5" fmla="*/ 0 h 188"/>
                  <a:gd name="T6" fmla="*/ 0 w 256"/>
                  <a:gd name="T7" fmla="*/ 7 h 188"/>
                  <a:gd name="T8" fmla="*/ 0 w 256"/>
                  <a:gd name="T9" fmla="*/ 181 h 188"/>
                  <a:gd name="T10" fmla="*/ 7 w 256"/>
                  <a:gd name="T11" fmla="*/ 188 h 188"/>
                  <a:gd name="T12" fmla="*/ 249 w 256"/>
                  <a:gd name="T13" fmla="*/ 188 h 188"/>
                  <a:gd name="T14" fmla="*/ 256 w 256"/>
                  <a:gd name="T15" fmla="*/ 181 h 188"/>
                  <a:gd name="T16" fmla="*/ 256 w 256"/>
                  <a:gd name="T17" fmla="*/ 7 h 188"/>
                  <a:gd name="T18" fmla="*/ 219 w 256"/>
                  <a:gd name="T19" fmla="*/ 155 h 188"/>
                  <a:gd name="T20" fmla="*/ 214 w 256"/>
                  <a:gd name="T21" fmla="*/ 160 h 188"/>
                  <a:gd name="T22" fmla="*/ 37 w 256"/>
                  <a:gd name="T23" fmla="*/ 160 h 188"/>
                  <a:gd name="T24" fmla="*/ 32 w 256"/>
                  <a:gd name="T25" fmla="*/ 155 h 188"/>
                  <a:gd name="T26" fmla="*/ 32 w 256"/>
                  <a:gd name="T27" fmla="*/ 29 h 188"/>
                  <a:gd name="T28" fmla="*/ 37 w 256"/>
                  <a:gd name="T29" fmla="*/ 24 h 188"/>
                  <a:gd name="T30" fmla="*/ 214 w 256"/>
                  <a:gd name="T31" fmla="*/ 24 h 188"/>
                  <a:gd name="T32" fmla="*/ 219 w 256"/>
                  <a:gd name="T33" fmla="*/ 29 h 188"/>
                  <a:gd name="T34" fmla="*/ 219 w 256"/>
                  <a:gd name="T35" fmla="*/ 15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88">
                    <a:moveTo>
                      <a:pt x="256" y="7"/>
                    </a:moveTo>
                    <a:cubicBezTo>
                      <a:pt x="256" y="3"/>
                      <a:pt x="253" y="0"/>
                      <a:pt x="249" y="0"/>
                    </a:cubicBezTo>
                    <a:cubicBezTo>
                      <a:pt x="7" y="0"/>
                      <a:pt x="7" y="0"/>
                      <a:pt x="7" y="0"/>
                    </a:cubicBezTo>
                    <a:cubicBezTo>
                      <a:pt x="3" y="0"/>
                      <a:pt x="0" y="3"/>
                      <a:pt x="0" y="7"/>
                    </a:cubicBezTo>
                    <a:cubicBezTo>
                      <a:pt x="0" y="181"/>
                      <a:pt x="0" y="181"/>
                      <a:pt x="0" y="181"/>
                    </a:cubicBezTo>
                    <a:cubicBezTo>
                      <a:pt x="0" y="185"/>
                      <a:pt x="3" y="188"/>
                      <a:pt x="7" y="188"/>
                    </a:cubicBezTo>
                    <a:cubicBezTo>
                      <a:pt x="249" y="188"/>
                      <a:pt x="249" y="188"/>
                      <a:pt x="249" y="188"/>
                    </a:cubicBezTo>
                    <a:cubicBezTo>
                      <a:pt x="253" y="188"/>
                      <a:pt x="256" y="185"/>
                      <a:pt x="256" y="181"/>
                    </a:cubicBezTo>
                    <a:lnTo>
                      <a:pt x="256" y="7"/>
                    </a:lnTo>
                    <a:close/>
                    <a:moveTo>
                      <a:pt x="219" y="155"/>
                    </a:moveTo>
                    <a:cubicBezTo>
                      <a:pt x="219" y="158"/>
                      <a:pt x="217" y="160"/>
                      <a:pt x="214" y="160"/>
                    </a:cubicBezTo>
                    <a:cubicBezTo>
                      <a:pt x="37" y="160"/>
                      <a:pt x="37" y="160"/>
                      <a:pt x="37" y="160"/>
                    </a:cubicBezTo>
                    <a:cubicBezTo>
                      <a:pt x="34" y="160"/>
                      <a:pt x="32" y="158"/>
                      <a:pt x="32" y="155"/>
                    </a:cubicBezTo>
                    <a:cubicBezTo>
                      <a:pt x="32" y="29"/>
                      <a:pt x="32" y="29"/>
                      <a:pt x="32" y="29"/>
                    </a:cubicBezTo>
                    <a:cubicBezTo>
                      <a:pt x="32" y="26"/>
                      <a:pt x="34" y="24"/>
                      <a:pt x="37" y="24"/>
                    </a:cubicBezTo>
                    <a:cubicBezTo>
                      <a:pt x="214" y="24"/>
                      <a:pt x="214" y="24"/>
                      <a:pt x="214" y="24"/>
                    </a:cubicBezTo>
                    <a:cubicBezTo>
                      <a:pt x="217" y="24"/>
                      <a:pt x="219" y="26"/>
                      <a:pt x="219" y="29"/>
                    </a:cubicBezTo>
                    <a:lnTo>
                      <a:pt x="219" y="155"/>
                    </a:lnTo>
                    <a:close/>
                  </a:path>
                </a:pathLst>
              </a:custGeom>
              <a:solidFill>
                <a:schemeClr val="bg2"/>
              </a:solidFill>
              <a:ln>
                <a:noFill/>
              </a:ln>
            </p:spPr>
            <p:txBody>
              <a:bodyPr anchor="ctr"/>
              <a:lstStyle/>
              <a:p>
                <a:pPr algn="ctr"/>
              </a:p>
            </p:txBody>
          </p:sp>
          <p:sp>
            <p:nvSpPr>
              <p:cNvPr id="83" name="Freeform: Shape 83"/>
              <p:cNvSpPr/>
              <p:nvPr/>
            </p:nvSpPr>
            <p:spPr bwMode="auto">
              <a:xfrm>
                <a:off x="5191145" y="3474220"/>
                <a:ext cx="578999" cy="127245"/>
              </a:xfrm>
              <a:custGeom>
                <a:avLst/>
                <a:gdLst>
                  <a:gd name="T0" fmla="*/ 317 w 364"/>
                  <a:gd name="T1" fmla="*/ 7 h 80"/>
                  <a:gd name="T2" fmla="*/ 310 w 364"/>
                  <a:gd name="T3" fmla="*/ 0 h 80"/>
                  <a:gd name="T4" fmla="*/ 54 w 364"/>
                  <a:gd name="T5" fmla="*/ 0 h 80"/>
                  <a:gd name="T6" fmla="*/ 47 w 364"/>
                  <a:gd name="T7" fmla="*/ 7 h 80"/>
                  <a:gd name="T8" fmla="*/ 0 w 364"/>
                  <a:gd name="T9" fmla="*/ 74 h 80"/>
                  <a:gd name="T10" fmla="*/ 7 w 364"/>
                  <a:gd name="T11" fmla="*/ 80 h 80"/>
                  <a:gd name="T12" fmla="*/ 357 w 364"/>
                  <a:gd name="T13" fmla="*/ 80 h 80"/>
                  <a:gd name="T14" fmla="*/ 364 w 364"/>
                  <a:gd name="T15" fmla="*/ 74 h 80"/>
                  <a:gd name="T16" fmla="*/ 317 w 364"/>
                  <a:gd name="T17" fmla="*/ 7 h 80"/>
                  <a:gd name="T18" fmla="*/ 162 w 364"/>
                  <a:gd name="T19" fmla="*/ 75 h 80"/>
                  <a:gd name="T20" fmla="*/ 162 w 364"/>
                  <a:gd name="T21" fmla="*/ 60 h 80"/>
                  <a:gd name="T22" fmla="*/ 203 w 364"/>
                  <a:gd name="T23" fmla="*/ 60 h 80"/>
                  <a:gd name="T24" fmla="*/ 205 w 364"/>
                  <a:gd name="T25" fmla="*/ 74 h 80"/>
                  <a:gd name="T26" fmla="*/ 162 w 364"/>
                  <a:gd name="T27" fmla="*/ 75 h 80"/>
                  <a:gd name="T28" fmla="*/ 322 w 364"/>
                  <a:gd name="T29" fmla="*/ 56 h 80"/>
                  <a:gd name="T30" fmla="*/ 46 w 364"/>
                  <a:gd name="T31" fmla="*/ 56 h 80"/>
                  <a:gd name="T32" fmla="*/ 41 w 364"/>
                  <a:gd name="T33" fmla="*/ 52 h 80"/>
                  <a:gd name="T34" fmla="*/ 60 w 364"/>
                  <a:gd name="T35" fmla="*/ 12 h 80"/>
                  <a:gd name="T36" fmla="*/ 65 w 364"/>
                  <a:gd name="T37" fmla="*/ 8 h 80"/>
                  <a:gd name="T38" fmla="*/ 299 w 364"/>
                  <a:gd name="T39" fmla="*/ 8 h 80"/>
                  <a:gd name="T40" fmla="*/ 304 w 364"/>
                  <a:gd name="T41" fmla="*/ 11 h 80"/>
                  <a:gd name="T42" fmla="*/ 328 w 364"/>
                  <a:gd name="T43" fmla="*/ 52 h 80"/>
                  <a:gd name="T44" fmla="*/ 322 w 364"/>
                  <a:gd name="T45" fmla="*/ 5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4" h="80">
                    <a:moveTo>
                      <a:pt x="317" y="7"/>
                    </a:moveTo>
                    <a:cubicBezTo>
                      <a:pt x="317" y="3"/>
                      <a:pt x="314" y="0"/>
                      <a:pt x="310" y="0"/>
                    </a:cubicBezTo>
                    <a:cubicBezTo>
                      <a:pt x="54" y="0"/>
                      <a:pt x="54" y="0"/>
                      <a:pt x="54" y="0"/>
                    </a:cubicBezTo>
                    <a:cubicBezTo>
                      <a:pt x="50" y="0"/>
                      <a:pt x="47" y="3"/>
                      <a:pt x="47" y="7"/>
                    </a:cubicBezTo>
                    <a:cubicBezTo>
                      <a:pt x="0" y="74"/>
                      <a:pt x="0" y="74"/>
                      <a:pt x="0" y="74"/>
                    </a:cubicBezTo>
                    <a:cubicBezTo>
                      <a:pt x="0" y="78"/>
                      <a:pt x="3" y="80"/>
                      <a:pt x="7" y="80"/>
                    </a:cubicBezTo>
                    <a:cubicBezTo>
                      <a:pt x="357" y="80"/>
                      <a:pt x="357" y="80"/>
                      <a:pt x="357" y="80"/>
                    </a:cubicBezTo>
                    <a:cubicBezTo>
                      <a:pt x="361" y="80"/>
                      <a:pt x="364" y="78"/>
                      <a:pt x="364" y="74"/>
                    </a:cubicBezTo>
                    <a:lnTo>
                      <a:pt x="317" y="7"/>
                    </a:lnTo>
                    <a:close/>
                    <a:moveTo>
                      <a:pt x="162" y="75"/>
                    </a:moveTo>
                    <a:cubicBezTo>
                      <a:pt x="162" y="60"/>
                      <a:pt x="162" y="60"/>
                      <a:pt x="162" y="60"/>
                    </a:cubicBezTo>
                    <a:cubicBezTo>
                      <a:pt x="203" y="60"/>
                      <a:pt x="203" y="60"/>
                      <a:pt x="203" y="60"/>
                    </a:cubicBezTo>
                    <a:cubicBezTo>
                      <a:pt x="205" y="74"/>
                      <a:pt x="205" y="74"/>
                      <a:pt x="205" y="74"/>
                    </a:cubicBezTo>
                    <a:lnTo>
                      <a:pt x="162" y="75"/>
                    </a:lnTo>
                    <a:close/>
                    <a:moveTo>
                      <a:pt x="322" y="56"/>
                    </a:moveTo>
                    <a:cubicBezTo>
                      <a:pt x="46" y="56"/>
                      <a:pt x="46" y="56"/>
                      <a:pt x="46" y="56"/>
                    </a:cubicBezTo>
                    <a:cubicBezTo>
                      <a:pt x="43" y="56"/>
                      <a:pt x="41" y="54"/>
                      <a:pt x="41" y="52"/>
                    </a:cubicBezTo>
                    <a:cubicBezTo>
                      <a:pt x="60" y="12"/>
                      <a:pt x="60" y="12"/>
                      <a:pt x="60" y="12"/>
                    </a:cubicBezTo>
                    <a:cubicBezTo>
                      <a:pt x="60" y="10"/>
                      <a:pt x="62" y="8"/>
                      <a:pt x="65" y="8"/>
                    </a:cubicBezTo>
                    <a:cubicBezTo>
                      <a:pt x="299" y="8"/>
                      <a:pt x="299" y="8"/>
                      <a:pt x="299" y="8"/>
                    </a:cubicBezTo>
                    <a:cubicBezTo>
                      <a:pt x="301" y="8"/>
                      <a:pt x="304" y="9"/>
                      <a:pt x="304" y="11"/>
                    </a:cubicBezTo>
                    <a:cubicBezTo>
                      <a:pt x="328" y="52"/>
                      <a:pt x="328" y="52"/>
                      <a:pt x="328" y="52"/>
                    </a:cubicBezTo>
                    <a:cubicBezTo>
                      <a:pt x="328" y="54"/>
                      <a:pt x="325" y="56"/>
                      <a:pt x="322" y="56"/>
                    </a:cubicBezTo>
                    <a:close/>
                  </a:path>
                </a:pathLst>
              </a:custGeom>
              <a:solidFill>
                <a:schemeClr val="bg2"/>
              </a:solidFill>
              <a:ln>
                <a:noFill/>
              </a:ln>
            </p:spPr>
            <p:txBody>
              <a:bodyPr anchor="ctr"/>
              <a:lstStyle/>
              <a:p>
                <a:pPr algn="ctr"/>
              </a:p>
            </p:txBody>
          </p:sp>
        </p:grpSp>
        <p:grpSp>
          <p:nvGrpSpPr>
            <p:cNvPr id="14" name="Group 84"/>
            <p:cNvGrpSpPr/>
            <p:nvPr/>
          </p:nvGrpSpPr>
          <p:grpSpPr>
            <a:xfrm>
              <a:off x="13440" y="5878"/>
              <a:ext cx="872" cy="1030"/>
              <a:chOff x="5100256" y="4103040"/>
              <a:chExt cx="738560" cy="871865"/>
            </a:xfrm>
          </p:grpSpPr>
          <p:sp>
            <p:nvSpPr>
              <p:cNvPr id="72" name="Freeform: Shape 85"/>
              <p:cNvSpPr/>
              <p:nvPr/>
            </p:nvSpPr>
            <p:spPr bwMode="auto">
              <a:xfrm>
                <a:off x="5125839" y="4141415"/>
                <a:ext cx="712977" cy="833490"/>
              </a:xfrm>
              <a:custGeom>
                <a:avLst/>
                <a:gdLst>
                  <a:gd name="T0" fmla="*/ 224 w 448"/>
                  <a:gd name="T1" fmla="*/ 0 h 524"/>
                  <a:gd name="T2" fmla="*/ 0 w 448"/>
                  <a:gd name="T3" fmla="*/ 224 h 524"/>
                  <a:gd name="T4" fmla="*/ 224 w 448"/>
                  <a:gd name="T5" fmla="*/ 448 h 524"/>
                  <a:gd name="T6" fmla="*/ 234 w 448"/>
                  <a:gd name="T7" fmla="*/ 448 h 524"/>
                  <a:gd name="T8" fmla="*/ 324 w 448"/>
                  <a:gd name="T9" fmla="*/ 524 h 524"/>
                  <a:gd name="T10" fmla="*/ 334 w 448"/>
                  <a:gd name="T11" fmla="*/ 419 h 524"/>
                  <a:gd name="T12" fmla="*/ 448 w 448"/>
                  <a:gd name="T13" fmla="*/ 224 h 524"/>
                  <a:gd name="T14" fmla="*/ 224 w 448"/>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224" y="0"/>
                    </a:move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ubicBezTo>
                      <a:pt x="448" y="100"/>
                      <a:pt x="348" y="0"/>
                      <a:pt x="224"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Freeform: Shape 86"/>
              <p:cNvSpPr/>
              <p:nvPr/>
            </p:nvSpPr>
            <p:spPr bwMode="auto">
              <a:xfrm>
                <a:off x="5100256" y="4103040"/>
                <a:ext cx="712977" cy="834163"/>
              </a:xfrm>
              <a:custGeom>
                <a:avLst/>
                <a:gdLst>
                  <a:gd name="T0" fmla="*/ 448 w 448"/>
                  <a:gd name="T1" fmla="*/ 224 h 524"/>
                  <a:gd name="T2" fmla="*/ 224 w 448"/>
                  <a:gd name="T3" fmla="*/ 0 h 524"/>
                  <a:gd name="T4" fmla="*/ 0 w 448"/>
                  <a:gd name="T5" fmla="*/ 224 h 524"/>
                  <a:gd name="T6" fmla="*/ 224 w 448"/>
                  <a:gd name="T7" fmla="*/ 448 h 524"/>
                  <a:gd name="T8" fmla="*/ 234 w 448"/>
                  <a:gd name="T9" fmla="*/ 448 h 524"/>
                  <a:gd name="T10" fmla="*/ 324 w 448"/>
                  <a:gd name="T11" fmla="*/ 524 h 524"/>
                  <a:gd name="T12" fmla="*/ 334 w 448"/>
                  <a:gd name="T13" fmla="*/ 419 h 524"/>
                  <a:gd name="T14" fmla="*/ 448 w 448"/>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448" y="224"/>
                    </a:moveTo>
                    <a:cubicBezTo>
                      <a:pt x="448" y="100"/>
                      <a:pt x="348" y="0"/>
                      <a:pt x="224" y="0"/>
                    </a:cubicBez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lose/>
                  </a:path>
                </a:pathLst>
              </a:custGeom>
              <a:solidFill>
                <a:schemeClr val="accent2"/>
              </a:solidFill>
              <a:ln>
                <a:noFill/>
              </a:ln>
            </p:spPr>
            <p:txBody>
              <a:bodyPr anchor="ctr"/>
              <a:lstStyle/>
              <a:p>
                <a:pPr algn="ctr"/>
              </a:p>
            </p:txBody>
          </p:sp>
          <p:sp>
            <p:nvSpPr>
              <p:cNvPr id="74" name="Freeform: Shape 87"/>
              <p:cNvSpPr/>
              <p:nvPr/>
            </p:nvSpPr>
            <p:spPr bwMode="auto">
              <a:xfrm>
                <a:off x="5361479" y="4274720"/>
                <a:ext cx="205343" cy="388468"/>
              </a:xfrm>
              <a:custGeom>
                <a:avLst/>
                <a:gdLst>
                  <a:gd name="T0" fmla="*/ 8 w 129"/>
                  <a:gd name="T1" fmla="*/ 244 h 244"/>
                  <a:gd name="T2" fmla="*/ 8 w 129"/>
                  <a:gd name="T3" fmla="*/ 244 h 244"/>
                  <a:gd name="T4" fmla="*/ 0 w 129"/>
                  <a:gd name="T5" fmla="*/ 236 h 244"/>
                  <a:gd name="T6" fmla="*/ 67 w 129"/>
                  <a:gd name="T7" fmla="*/ 163 h 244"/>
                  <a:gd name="T8" fmla="*/ 112 w 129"/>
                  <a:gd name="T9" fmla="*/ 119 h 244"/>
                  <a:gd name="T10" fmla="*/ 64 w 129"/>
                  <a:gd name="T11" fmla="*/ 75 h 244"/>
                  <a:gd name="T12" fmla="*/ 3 w 129"/>
                  <a:gd name="T13" fmla="*/ 7 h 244"/>
                  <a:gd name="T14" fmla="*/ 12 w 129"/>
                  <a:gd name="T15" fmla="*/ 0 h 244"/>
                  <a:gd name="T16" fmla="*/ 19 w 129"/>
                  <a:gd name="T17" fmla="*/ 9 h 244"/>
                  <a:gd name="T18" fmla="*/ 71 w 129"/>
                  <a:gd name="T19" fmla="*/ 61 h 244"/>
                  <a:gd name="T20" fmla="*/ 127 w 129"/>
                  <a:gd name="T21" fmla="*/ 119 h 244"/>
                  <a:gd name="T22" fmla="*/ 72 w 129"/>
                  <a:gd name="T23" fmla="*/ 178 h 244"/>
                  <a:gd name="T24" fmla="*/ 16 w 129"/>
                  <a:gd name="T25" fmla="*/ 237 h 244"/>
                  <a:gd name="T26" fmla="*/ 8 w 129"/>
                  <a:gd name="T2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244">
                    <a:moveTo>
                      <a:pt x="8" y="244"/>
                    </a:moveTo>
                    <a:cubicBezTo>
                      <a:pt x="8" y="244"/>
                      <a:pt x="8" y="244"/>
                      <a:pt x="8" y="244"/>
                    </a:cubicBezTo>
                    <a:cubicBezTo>
                      <a:pt x="3" y="244"/>
                      <a:pt x="0" y="240"/>
                      <a:pt x="0" y="236"/>
                    </a:cubicBezTo>
                    <a:cubicBezTo>
                      <a:pt x="4" y="186"/>
                      <a:pt x="39" y="174"/>
                      <a:pt x="67" y="163"/>
                    </a:cubicBezTo>
                    <a:cubicBezTo>
                      <a:pt x="95" y="153"/>
                      <a:pt x="112" y="146"/>
                      <a:pt x="112" y="119"/>
                    </a:cubicBezTo>
                    <a:cubicBezTo>
                      <a:pt x="113" y="98"/>
                      <a:pt x="94" y="88"/>
                      <a:pt x="64" y="75"/>
                    </a:cubicBezTo>
                    <a:cubicBezTo>
                      <a:pt x="34" y="63"/>
                      <a:pt x="0" y="48"/>
                      <a:pt x="3" y="7"/>
                    </a:cubicBezTo>
                    <a:cubicBezTo>
                      <a:pt x="4" y="3"/>
                      <a:pt x="8" y="0"/>
                      <a:pt x="12" y="0"/>
                    </a:cubicBezTo>
                    <a:cubicBezTo>
                      <a:pt x="16" y="0"/>
                      <a:pt x="20" y="4"/>
                      <a:pt x="19" y="9"/>
                    </a:cubicBezTo>
                    <a:cubicBezTo>
                      <a:pt x="17" y="36"/>
                      <a:pt x="37" y="46"/>
                      <a:pt x="71" y="61"/>
                    </a:cubicBezTo>
                    <a:cubicBezTo>
                      <a:pt x="98" y="73"/>
                      <a:pt x="129" y="86"/>
                      <a:pt x="127" y="119"/>
                    </a:cubicBezTo>
                    <a:cubicBezTo>
                      <a:pt x="127" y="158"/>
                      <a:pt x="98" y="169"/>
                      <a:pt x="72" y="178"/>
                    </a:cubicBezTo>
                    <a:cubicBezTo>
                      <a:pt x="45" y="188"/>
                      <a:pt x="19" y="198"/>
                      <a:pt x="16" y="237"/>
                    </a:cubicBezTo>
                    <a:cubicBezTo>
                      <a:pt x="16" y="241"/>
                      <a:pt x="12" y="244"/>
                      <a:pt x="8"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Freeform: Shape 88"/>
              <p:cNvSpPr/>
              <p:nvPr/>
            </p:nvSpPr>
            <p:spPr bwMode="auto">
              <a:xfrm>
                <a:off x="5359459" y="4274720"/>
                <a:ext cx="205343" cy="388468"/>
              </a:xfrm>
              <a:custGeom>
                <a:avLst/>
                <a:gdLst>
                  <a:gd name="T0" fmla="*/ 121 w 129"/>
                  <a:gd name="T1" fmla="*/ 244 h 244"/>
                  <a:gd name="T2" fmla="*/ 113 w 129"/>
                  <a:gd name="T3" fmla="*/ 237 h 244"/>
                  <a:gd name="T4" fmla="*/ 57 w 129"/>
                  <a:gd name="T5" fmla="*/ 178 h 244"/>
                  <a:gd name="T6" fmla="*/ 1 w 129"/>
                  <a:gd name="T7" fmla="*/ 119 h 244"/>
                  <a:gd name="T8" fmla="*/ 58 w 129"/>
                  <a:gd name="T9" fmla="*/ 61 h 244"/>
                  <a:gd name="T10" fmla="*/ 110 w 129"/>
                  <a:gd name="T11" fmla="*/ 9 h 244"/>
                  <a:gd name="T12" fmla="*/ 117 w 129"/>
                  <a:gd name="T13" fmla="*/ 0 h 244"/>
                  <a:gd name="T14" fmla="*/ 126 w 129"/>
                  <a:gd name="T15" fmla="*/ 7 h 244"/>
                  <a:gd name="T16" fmla="*/ 64 w 129"/>
                  <a:gd name="T17" fmla="*/ 75 h 244"/>
                  <a:gd name="T18" fmla="*/ 17 w 129"/>
                  <a:gd name="T19" fmla="*/ 119 h 244"/>
                  <a:gd name="T20" fmla="*/ 62 w 129"/>
                  <a:gd name="T21" fmla="*/ 163 h 244"/>
                  <a:gd name="T22" fmla="*/ 129 w 129"/>
                  <a:gd name="T23" fmla="*/ 236 h 244"/>
                  <a:gd name="T24" fmla="*/ 121 w 129"/>
                  <a:gd name="T25"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244">
                    <a:moveTo>
                      <a:pt x="121" y="244"/>
                    </a:moveTo>
                    <a:cubicBezTo>
                      <a:pt x="116" y="244"/>
                      <a:pt x="113" y="241"/>
                      <a:pt x="113" y="237"/>
                    </a:cubicBezTo>
                    <a:cubicBezTo>
                      <a:pt x="110" y="198"/>
                      <a:pt x="84" y="188"/>
                      <a:pt x="57" y="178"/>
                    </a:cubicBezTo>
                    <a:cubicBezTo>
                      <a:pt x="31" y="169"/>
                      <a:pt x="1" y="158"/>
                      <a:pt x="1" y="119"/>
                    </a:cubicBezTo>
                    <a:cubicBezTo>
                      <a:pt x="0" y="86"/>
                      <a:pt x="31" y="73"/>
                      <a:pt x="58" y="61"/>
                    </a:cubicBezTo>
                    <a:cubicBezTo>
                      <a:pt x="92" y="46"/>
                      <a:pt x="112" y="36"/>
                      <a:pt x="110" y="9"/>
                    </a:cubicBezTo>
                    <a:cubicBezTo>
                      <a:pt x="109" y="4"/>
                      <a:pt x="113" y="0"/>
                      <a:pt x="117" y="0"/>
                    </a:cubicBezTo>
                    <a:cubicBezTo>
                      <a:pt x="121" y="0"/>
                      <a:pt x="125" y="3"/>
                      <a:pt x="126" y="7"/>
                    </a:cubicBezTo>
                    <a:cubicBezTo>
                      <a:pt x="129" y="48"/>
                      <a:pt x="95" y="63"/>
                      <a:pt x="64" y="75"/>
                    </a:cubicBezTo>
                    <a:cubicBezTo>
                      <a:pt x="34" y="88"/>
                      <a:pt x="16" y="98"/>
                      <a:pt x="17" y="119"/>
                    </a:cubicBezTo>
                    <a:cubicBezTo>
                      <a:pt x="17" y="146"/>
                      <a:pt x="34" y="153"/>
                      <a:pt x="62" y="163"/>
                    </a:cubicBezTo>
                    <a:cubicBezTo>
                      <a:pt x="90" y="174"/>
                      <a:pt x="125" y="186"/>
                      <a:pt x="129" y="236"/>
                    </a:cubicBezTo>
                    <a:cubicBezTo>
                      <a:pt x="129" y="240"/>
                      <a:pt x="126" y="244"/>
                      <a:pt x="121"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Freeform: Shape 89"/>
              <p:cNvSpPr/>
              <p:nvPr/>
            </p:nvSpPr>
            <p:spPr bwMode="auto">
              <a:xfrm>
                <a:off x="5407260" y="4301650"/>
                <a:ext cx="116473" cy="19524"/>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Freeform: Shape 90"/>
              <p:cNvSpPr/>
              <p:nvPr/>
            </p:nvSpPr>
            <p:spPr bwMode="auto">
              <a:xfrm>
                <a:off x="5407260" y="4614041"/>
                <a:ext cx="116473" cy="12792"/>
              </a:xfrm>
              <a:custGeom>
                <a:avLst/>
                <a:gdLst>
                  <a:gd name="T0" fmla="*/ 68 w 73"/>
                  <a:gd name="T1" fmla="*/ 8 h 8"/>
                  <a:gd name="T2" fmla="*/ 5 w 73"/>
                  <a:gd name="T3" fmla="*/ 8 h 8"/>
                  <a:gd name="T4" fmla="*/ 0 w 73"/>
                  <a:gd name="T5" fmla="*/ 4 h 8"/>
                  <a:gd name="T6" fmla="*/ 5 w 73"/>
                  <a:gd name="T7" fmla="*/ 0 h 8"/>
                  <a:gd name="T8" fmla="*/ 68 w 73"/>
                  <a:gd name="T9" fmla="*/ 0 h 8"/>
                  <a:gd name="T10" fmla="*/ 73 w 73"/>
                  <a:gd name="T11" fmla="*/ 4 h 8"/>
                  <a:gd name="T12" fmla="*/ 68 w 7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3" h="8">
                    <a:moveTo>
                      <a:pt x="68" y="8"/>
                    </a:moveTo>
                    <a:cubicBezTo>
                      <a:pt x="5" y="8"/>
                      <a:pt x="5" y="8"/>
                      <a:pt x="5" y="8"/>
                    </a:cubicBezTo>
                    <a:cubicBezTo>
                      <a:pt x="2" y="8"/>
                      <a:pt x="0" y="7"/>
                      <a:pt x="0" y="4"/>
                    </a:cubicBezTo>
                    <a:cubicBezTo>
                      <a:pt x="0" y="1"/>
                      <a:pt x="2" y="0"/>
                      <a:pt x="5" y="0"/>
                    </a:cubicBezTo>
                    <a:cubicBezTo>
                      <a:pt x="68" y="0"/>
                      <a:pt x="68" y="0"/>
                      <a:pt x="68" y="0"/>
                    </a:cubicBezTo>
                    <a:cubicBezTo>
                      <a:pt x="71" y="0"/>
                      <a:pt x="73" y="1"/>
                      <a:pt x="73" y="4"/>
                    </a:cubicBezTo>
                    <a:cubicBezTo>
                      <a:pt x="73" y="7"/>
                      <a:pt x="71" y="8"/>
                      <a:pt x="68" y="8"/>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Freeform: Shape 91"/>
              <p:cNvSpPr/>
              <p:nvPr/>
            </p:nvSpPr>
            <p:spPr bwMode="auto">
              <a:xfrm>
                <a:off x="5407260" y="4429569"/>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Freeform: Shape 92"/>
              <p:cNvSpPr/>
              <p:nvPr/>
            </p:nvSpPr>
            <p:spPr bwMode="auto">
              <a:xfrm>
                <a:off x="5407260" y="4474003"/>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5" name="Group 93"/>
            <p:cNvGrpSpPr/>
            <p:nvPr/>
          </p:nvGrpSpPr>
          <p:grpSpPr>
            <a:xfrm>
              <a:off x="15576" y="3900"/>
              <a:ext cx="1612" cy="1752"/>
              <a:chOff x="6908619" y="2428654"/>
              <a:chExt cx="1364688" cy="1483182"/>
            </a:xfrm>
          </p:grpSpPr>
          <p:sp>
            <p:nvSpPr>
              <p:cNvPr id="67" name="Freeform: Shape 94"/>
              <p:cNvSpPr/>
              <p:nvPr/>
            </p:nvSpPr>
            <p:spPr bwMode="auto">
              <a:xfrm>
                <a:off x="6908619" y="2555900"/>
                <a:ext cx="1320253" cy="1355936"/>
              </a:xfrm>
              <a:custGeom>
                <a:avLst/>
                <a:gdLst>
                  <a:gd name="T0" fmla="*/ 407 w 829"/>
                  <a:gd name="T1" fmla="*/ 0 h 852"/>
                  <a:gd name="T2" fmla="*/ 31 w 829"/>
                  <a:gd name="T3" fmla="*/ 301 h 852"/>
                  <a:gd name="T4" fmla="*/ 149 w 829"/>
                  <a:gd name="T5" fmla="*/ 671 h 852"/>
                  <a:gd name="T6" fmla="*/ 125 w 829"/>
                  <a:gd name="T7" fmla="*/ 852 h 852"/>
                  <a:gd name="T8" fmla="*/ 306 w 829"/>
                  <a:gd name="T9" fmla="*/ 757 h 852"/>
                  <a:gd name="T10" fmla="*/ 323 w 829"/>
                  <a:gd name="T11" fmla="*/ 761 h 852"/>
                  <a:gd name="T12" fmla="*/ 408 w 829"/>
                  <a:gd name="T13" fmla="*/ 771 h 852"/>
                  <a:gd name="T14" fmla="*/ 783 w 829"/>
                  <a:gd name="T15" fmla="*/ 470 h 852"/>
                  <a:gd name="T16" fmla="*/ 491 w 829"/>
                  <a:gd name="T17" fmla="*/ 10 h 852"/>
                  <a:gd name="T18" fmla="*/ 407 w 829"/>
                  <a:gd name="T19" fmla="*/ 0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852">
                    <a:moveTo>
                      <a:pt x="407" y="0"/>
                    </a:moveTo>
                    <a:cubicBezTo>
                      <a:pt x="231" y="0"/>
                      <a:pt x="72" y="122"/>
                      <a:pt x="31" y="301"/>
                    </a:cubicBezTo>
                    <a:cubicBezTo>
                      <a:pt x="0" y="442"/>
                      <a:pt x="49" y="581"/>
                      <a:pt x="149" y="671"/>
                    </a:cubicBezTo>
                    <a:cubicBezTo>
                      <a:pt x="125" y="852"/>
                      <a:pt x="125" y="852"/>
                      <a:pt x="125" y="852"/>
                    </a:cubicBezTo>
                    <a:cubicBezTo>
                      <a:pt x="306" y="757"/>
                      <a:pt x="306" y="757"/>
                      <a:pt x="306" y="757"/>
                    </a:cubicBezTo>
                    <a:cubicBezTo>
                      <a:pt x="312" y="759"/>
                      <a:pt x="317" y="760"/>
                      <a:pt x="323" y="761"/>
                    </a:cubicBezTo>
                    <a:cubicBezTo>
                      <a:pt x="351" y="768"/>
                      <a:pt x="380" y="771"/>
                      <a:pt x="408" y="771"/>
                    </a:cubicBezTo>
                    <a:cubicBezTo>
                      <a:pt x="584" y="771"/>
                      <a:pt x="743" y="649"/>
                      <a:pt x="783" y="470"/>
                    </a:cubicBezTo>
                    <a:cubicBezTo>
                      <a:pt x="829" y="262"/>
                      <a:pt x="699" y="56"/>
                      <a:pt x="491" y="10"/>
                    </a:cubicBezTo>
                    <a:cubicBezTo>
                      <a:pt x="463" y="4"/>
                      <a:pt x="435" y="0"/>
                      <a:pt x="4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Freeform: Shape 95"/>
              <p:cNvSpPr/>
              <p:nvPr/>
            </p:nvSpPr>
            <p:spPr bwMode="auto">
              <a:xfrm>
                <a:off x="6951707" y="2428654"/>
                <a:ext cx="1321600" cy="1413163"/>
              </a:xfrm>
              <a:custGeom>
                <a:avLst/>
                <a:gdLst>
                  <a:gd name="T0" fmla="*/ 492 w 830"/>
                  <a:gd name="T1" fmla="*/ 46 h 888"/>
                  <a:gd name="T2" fmla="*/ 32 w 830"/>
                  <a:gd name="T3" fmla="*/ 338 h 888"/>
                  <a:gd name="T4" fmla="*/ 149 w 830"/>
                  <a:gd name="T5" fmla="*/ 708 h 888"/>
                  <a:gd name="T6" fmla="*/ 126 w 830"/>
                  <a:gd name="T7" fmla="*/ 888 h 888"/>
                  <a:gd name="T8" fmla="*/ 306 w 830"/>
                  <a:gd name="T9" fmla="*/ 793 h 888"/>
                  <a:gd name="T10" fmla="*/ 323 w 830"/>
                  <a:gd name="T11" fmla="*/ 798 h 888"/>
                  <a:gd name="T12" fmla="*/ 783 w 830"/>
                  <a:gd name="T13" fmla="*/ 506 h 888"/>
                  <a:gd name="T14" fmla="*/ 492 w 830"/>
                  <a:gd name="T15" fmla="*/ 46 h 8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888">
                    <a:moveTo>
                      <a:pt x="492" y="46"/>
                    </a:moveTo>
                    <a:cubicBezTo>
                      <a:pt x="284" y="0"/>
                      <a:pt x="78" y="130"/>
                      <a:pt x="32" y="338"/>
                    </a:cubicBezTo>
                    <a:cubicBezTo>
                      <a:pt x="0" y="478"/>
                      <a:pt x="50" y="618"/>
                      <a:pt x="149" y="708"/>
                    </a:cubicBezTo>
                    <a:cubicBezTo>
                      <a:pt x="126" y="888"/>
                      <a:pt x="126" y="888"/>
                      <a:pt x="126" y="888"/>
                    </a:cubicBezTo>
                    <a:cubicBezTo>
                      <a:pt x="306" y="793"/>
                      <a:pt x="306" y="793"/>
                      <a:pt x="306" y="793"/>
                    </a:cubicBezTo>
                    <a:cubicBezTo>
                      <a:pt x="312" y="795"/>
                      <a:pt x="317" y="796"/>
                      <a:pt x="323" y="798"/>
                    </a:cubicBezTo>
                    <a:cubicBezTo>
                      <a:pt x="531" y="844"/>
                      <a:pt x="737" y="714"/>
                      <a:pt x="783" y="506"/>
                    </a:cubicBezTo>
                    <a:cubicBezTo>
                      <a:pt x="830" y="299"/>
                      <a:pt x="699" y="93"/>
                      <a:pt x="492" y="46"/>
                    </a:cubicBezTo>
                    <a:close/>
                  </a:path>
                </a:pathLst>
              </a:custGeom>
              <a:solidFill>
                <a:schemeClr val="accent4"/>
              </a:solidFill>
              <a:ln>
                <a:noFill/>
              </a:ln>
            </p:spPr>
            <p:txBody>
              <a:bodyPr anchor="ctr"/>
              <a:lstStyle/>
              <a:p>
                <a:pPr algn="ctr"/>
              </a:p>
            </p:txBody>
          </p:sp>
          <p:sp>
            <p:nvSpPr>
              <p:cNvPr id="69" name="Freeform: Shape 96"/>
              <p:cNvSpPr/>
              <p:nvPr/>
            </p:nvSpPr>
            <p:spPr bwMode="auto">
              <a:xfrm>
                <a:off x="7359700" y="2754510"/>
                <a:ext cx="493496" cy="681334"/>
              </a:xfrm>
              <a:custGeom>
                <a:avLst/>
                <a:gdLst>
                  <a:gd name="T0" fmla="*/ 200 w 310"/>
                  <a:gd name="T1" fmla="*/ 39 h 428"/>
                  <a:gd name="T2" fmla="*/ 205 w 310"/>
                  <a:gd name="T3" fmla="*/ 40 h 428"/>
                  <a:gd name="T4" fmla="*/ 215 w 310"/>
                  <a:gd name="T5" fmla="*/ 23 h 428"/>
                  <a:gd name="T6" fmla="*/ 206 w 310"/>
                  <a:gd name="T7" fmla="*/ 5 h 428"/>
                  <a:gd name="T8" fmla="*/ 196 w 310"/>
                  <a:gd name="T9" fmla="*/ 9 h 428"/>
                  <a:gd name="T10" fmla="*/ 123 w 310"/>
                  <a:gd name="T11" fmla="*/ 0 h 428"/>
                  <a:gd name="T12" fmla="*/ 97 w 310"/>
                  <a:gd name="T13" fmla="*/ 11 h 428"/>
                  <a:gd name="T14" fmla="*/ 104 w 310"/>
                  <a:gd name="T15" fmla="*/ 17 h 428"/>
                  <a:gd name="T16" fmla="*/ 99 w 310"/>
                  <a:gd name="T17" fmla="*/ 35 h 428"/>
                  <a:gd name="T18" fmla="*/ 120 w 310"/>
                  <a:gd name="T19" fmla="*/ 38 h 428"/>
                  <a:gd name="T20" fmla="*/ 120 w 310"/>
                  <a:gd name="T21" fmla="*/ 182 h 428"/>
                  <a:gd name="T22" fmla="*/ 13 w 310"/>
                  <a:gd name="T23" fmla="*/ 347 h 428"/>
                  <a:gd name="T24" fmla="*/ 3 w 310"/>
                  <a:gd name="T25" fmla="*/ 399 h 428"/>
                  <a:gd name="T26" fmla="*/ 89 w 310"/>
                  <a:gd name="T27" fmla="*/ 426 h 428"/>
                  <a:gd name="T28" fmla="*/ 286 w 310"/>
                  <a:gd name="T29" fmla="*/ 414 h 428"/>
                  <a:gd name="T30" fmla="*/ 310 w 310"/>
                  <a:gd name="T31" fmla="*/ 388 h 428"/>
                  <a:gd name="T32" fmla="*/ 199 w 310"/>
                  <a:gd name="T33" fmla="*/ 178 h 428"/>
                  <a:gd name="T34" fmla="*/ 192 w 310"/>
                  <a:gd name="T35" fmla="*/ 182 h 428"/>
                  <a:gd name="T36" fmla="*/ 284 w 310"/>
                  <a:gd name="T37" fmla="*/ 354 h 428"/>
                  <a:gd name="T38" fmla="*/ 293 w 310"/>
                  <a:gd name="T39" fmla="*/ 391 h 428"/>
                  <a:gd name="T40" fmla="*/ 219 w 310"/>
                  <a:gd name="T41" fmla="*/ 410 h 428"/>
                  <a:gd name="T42" fmla="*/ 29 w 310"/>
                  <a:gd name="T43" fmla="*/ 399 h 428"/>
                  <a:gd name="T44" fmla="*/ 16 w 310"/>
                  <a:gd name="T45" fmla="*/ 388 h 428"/>
                  <a:gd name="T46" fmla="*/ 81 w 310"/>
                  <a:gd name="T47" fmla="*/ 260 h 428"/>
                  <a:gd name="T48" fmla="*/ 128 w 310"/>
                  <a:gd name="T49" fmla="*/ 38 h 428"/>
                  <a:gd name="T50" fmla="*/ 121 w 310"/>
                  <a:gd name="T51" fmla="*/ 30 h 428"/>
                  <a:gd name="T52" fmla="*/ 121 w 310"/>
                  <a:gd name="T53" fmla="*/ 30 h 428"/>
                  <a:gd name="T54" fmla="*/ 112 w 310"/>
                  <a:gd name="T55" fmla="*/ 25 h 428"/>
                  <a:gd name="T56" fmla="*/ 112 w 310"/>
                  <a:gd name="T57" fmla="*/ 17 h 428"/>
                  <a:gd name="T58" fmla="*/ 112 w 310"/>
                  <a:gd name="T59" fmla="*/ 18 h 428"/>
                  <a:gd name="T60" fmla="*/ 112 w 310"/>
                  <a:gd name="T61" fmla="*/ 18 h 428"/>
                  <a:gd name="T62" fmla="*/ 112 w 310"/>
                  <a:gd name="T63" fmla="*/ 18 h 428"/>
                  <a:gd name="T64" fmla="*/ 111 w 310"/>
                  <a:gd name="T65" fmla="*/ 18 h 428"/>
                  <a:gd name="T66" fmla="*/ 111 w 310"/>
                  <a:gd name="T67" fmla="*/ 18 h 428"/>
                  <a:gd name="T68" fmla="*/ 117 w 310"/>
                  <a:gd name="T69" fmla="*/ 16 h 428"/>
                  <a:gd name="T70" fmla="*/ 122 w 310"/>
                  <a:gd name="T71" fmla="*/ 16 h 428"/>
                  <a:gd name="T72" fmla="*/ 196 w 310"/>
                  <a:gd name="T73" fmla="*/ 14 h 428"/>
                  <a:gd name="T74" fmla="*/ 196 w 310"/>
                  <a:gd name="T75" fmla="*/ 14 h 428"/>
                  <a:gd name="T76" fmla="*/ 195 w 310"/>
                  <a:gd name="T77" fmla="*/ 17 h 428"/>
                  <a:gd name="T78" fmla="*/ 195 w 310"/>
                  <a:gd name="T79" fmla="*/ 17 h 428"/>
                  <a:gd name="T80" fmla="*/ 199 w 310"/>
                  <a:gd name="T81" fmla="*/ 23 h 428"/>
                  <a:gd name="T82" fmla="*/ 200 w 310"/>
                  <a:gd name="T83" fmla="*/ 25 h 428"/>
                  <a:gd name="T84" fmla="*/ 200 w 310"/>
                  <a:gd name="T85" fmla="*/ 25 h 428"/>
                  <a:gd name="T86" fmla="*/ 207 w 310"/>
                  <a:gd name="T87" fmla="*/ 23 h 428"/>
                  <a:gd name="T88" fmla="*/ 200 w 310"/>
                  <a:gd name="T89" fmla="*/ 22 h 428"/>
                  <a:gd name="T90" fmla="*/ 200 w 310"/>
                  <a:gd name="T91" fmla="*/ 22 h 428"/>
                  <a:gd name="T92" fmla="*/ 200 w 310"/>
                  <a:gd name="T93" fmla="*/ 22 h 428"/>
                  <a:gd name="T94" fmla="*/ 200 w 310"/>
                  <a:gd name="T95" fmla="*/ 22 h 428"/>
                  <a:gd name="T96" fmla="*/ 200 w 310"/>
                  <a:gd name="T97" fmla="*/ 22 h 428"/>
                  <a:gd name="T98" fmla="*/ 192 w 310"/>
                  <a:gd name="T99" fmla="*/ 29 h 428"/>
                  <a:gd name="T100" fmla="*/ 188 w 310"/>
                  <a:gd name="T101" fmla="*/ 32 h 428"/>
                  <a:gd name="T102" fmla="*/ 188 w 310"/>
                  <a:gd name="T103" fmla="*/ 32 h 428"/>
                  <a:gd name="T104" fmla="*/ 188 w 310"/>
                  <a:gd name="T105" fmla="*/ 32 h 428"/>
                  <a:gd name="T106" fmla="*/ 185 w 310"/>
                  <a:gd name="T107" fmla="*/ 187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428">
                    <a:moveTo>
                      <a:pt x="192" y="182"/>
                    </a:moveTo>
                    <a:cubicBezTo>
                      <a:pt x="200" y="182"/>
                      <a:pt x="200" y="182"/>
                      <a:pt x="200" y="182"/>
                    </a:cubicBezTo>
                    <a:cubicBezTo>
                      <a:pt x="200" y="39"/>
                      <a:pt x="200" y="39"/>
                      <a:pt x="200" y="39"/>
                    </a:cubicBezTo>
                    <a:cubicBezTo>
                      <a:pt x="192" y="39"/>
                      <a:pt x="192" y="39"/>
                      <a:pt x="192" y="39"/>
                    </a:cubicBezTo>
                    <a:cubicBezTo>
                      <a:pt x="196" y="46"/>
                      <a:pt x="196" y="46"/>
                      <a:pt x="196" y="46"/>
                    </a:cubicBezTo>
                    <a:cubicBezTo>
                      <a:pt x="196" y="45"/>
                      <a:pt x="200" y="43"/>
                      <a:pt x="205" y="40"/>
                    </a:cubicBezTo>
                    <a:cubicBezTo>
                      <a:pt x="207" y="38"/>
                      <a:pt x="209" y="36"/>
                      <a:pt x="211" y="34"/>
                    </a:cubicBezTo>
                    <a:cubicBezTo>
                      <a:pt x="212" y="32"/>
                      <a:pt x="213" y="31"/>
                      <a:pt x="214" y="29"/>
                    </a:cubicBezTo>
                    <a:cubicBezTo>
                      <a:pt x="215" y="28"/>
                      <a:pt x="215" y="25"/>
                      <a:pt x="215" y="23"/>
                    </a:cubicBezTo>
                    <a:cubicBezTo>
                      <a:pt x="215" y="22"/>
                      <a:pt x="215" y="22"/>
                      <a:pt x="215" y="21"/>
                    </a:cubicBezTo>
                    <a:cubicBezTo>
                      <a:pt x="215" y="21"/>
                      <a:pt x="214" y="17"/>
                      <a:pt x="211" y="12"/>
                    </a:cubicBezTo>
                    <a:cubicBezTo>
                      <a:pt x="210" y="10"/>
                      <a:pt x="209" y="7"/>
                      <a:pt x="206" y="5"/>
                    </a:cubicBezTo>
                    <a:cubicBezTo>
                      <a:pt x="205" y="4"/>
                      <a:pt x="204" y="3"/>
                      <a:pt x="202" y="2"/>
                    </a:cubicBezTo>
                    <a:cubicBezTo>
                      <a:pt x="200" y="1"/>
                      <a:pt x="198" y="1"/>
                      <a:pt x="196" y="1"/>
                    </a:cubicBezTo>
                    <a:cubicBezTo>
                      <a:pt x="196" y="9"/>
                      <a:pt x="196" y="9"/>
                      <a:pt x="196" y="9"/>
                    </a:cubicBezTo>
                    <a:cubicBezTo>
                      <a:pt x="196" y="1"/>
                      <a:pt x="196" y="1"/>
                      <a:pt x="196" y="1"/>
                    </a:cubicBezTo>
                    <a:cubicBezTo>
                      <a:pt x="123" y="0"/>
                      <a:pt x="123" y="0"/>
                      <a:pt x="123" y="0"/>
                    </a:cubicBezTo>
                    <a:cubicBezTo>
                      <a:pt x="123" y="0"/>
                      <a:pt x="123" y="0"/>
                      <a:pt x="123" y="0"/>
                    </a:cubicBezTo>
                    <a:cubicBezTo>
                      <a:pt x="118" y="0"/>
                      <a:pt x="113" y="0"/>
                      <a:pt x="108" y="2"/>
                    </a:cubicBezTo>
                    <a:cubicBezTo>
                      <a:pt x="105" y="3"/>
                      <a:pt x="103" y="4"/>
                      <a:pt x="100" y="7"/>
                    </a:cubicBezTo>
                    <a:cubicBezTo>
                      <a:pt x="99" y="8"/>
                      <a:pt x="98" y="9"/>
                      <a:pt x="97" y="11"/>
                    </a:cubicBezTo>
                    <a:cubicBezTo>
                      <a:pt x="96" y="13"/>
                      <a:pt x="96" y="15"/>
                      <a:pt x="96" y="17"/>
                    </a:cubicBezTo>
                    <a:cubicBezTo>
                      <a:pt x="96" y="17"/>
                      <a:pt x="96" y="17"/>
                      <a:pt x="96" y="17"/>
                    </a:cubicBezTo>
                    <a:cubicBezTo>
                      <a:pt x="104" y="17"/>
                      <a:pt x="104" y="17"/>
                      <a:pt x="104" y="17"/>
                    </a:cubicBezTo>
                    <a:cubicBezTo>
                      <a:pt x="96" y="15"/>
                      <a:pt x="96" y="15"/>
                      <a:pt x="96" y="15"/>
                    </a:cubicBezTo>
                    <a:cubicBezTo>
                      <a:pt x="96" y="17"/>
                      <a:pt x="95" y="20"/>
                      <a:pt x="95" y="22"/>
                    </a:cubicBezTo>
                    <a:cubicBezTo>
                      <a:pt x="95" y="27"/>
                      <a:pt x="97" y="31"/>
                      <a:pt x="99" y="35"/>
                    </a:cubicBezTo>
                    <a:cubicBezTo>
                      <a:pt x="103" y="40"/>
                      <a:pt x="108" y="43"/>
                      <a:pt x="112" y="44"/>
                    </a:cubicBezTo>
                    <a:cubicBezTo>
                      <a:pt x="116" y="46"/>
                      <a:pt x="118" y="46"/>
                      <a:pt x="119" y="46"/>
                    </a:cubicBezTo>
                    <a:cubicBezTo>
                      <a:pt x="120" y="38"/>
                      <a:pt x="120" y="38"/>
                      <a:pt x="120" y="38"/>
                    </a:cubicBezTo>
                    <a:cubicBezTo>
                      <a:pt x="112" y="38"/>
                      <a:pt x="112" y="38"/>
                      <a:pt x="112" y="38"/>
                    </a:cubicBezTo>
                    <a:cubicBezTo>
                      <a:pt x="112" y="182"/>
                      <a:pt x="112" y="182"/>
                      <a:pt x="112" y="182"/>
                    </a:cubicBezTo>
                    <a:cubicBezTo>
                      <a:pt x="120" y="182"/>
                      <a:pt x="120" y="182"/>
                      <a:pt x="120" y="182"/>
                    </a:cubicBezTo>
                    <a:cubicBezTo>
                      <a:pt x="113" y="178"/>
                      <a:pt x="113" y="178"/>
                      <a:pt x="113" y="178"/>
                    </a:cubicBezTo>
                    <a:cubicBezTo>
                      <a:pt x="93" y="210"/>
                      <a:pt x="65" y="253"/>
                      <a:pt x="42" y="292"/>
                    </a:cubicBezTo>
                    <a:cubicBezTo>
                      <a:pt x="30" y="312"/>
                      <a:pt x="20" y="331"/>
                      <a:pt x="13" y="347"/>
                    </a:cubicBezTo>
                    <a:cubicBezTo>
                      <a:pt x="9" y="355"/>
                      <a:pt x="6" y="363"/>
                      <a:pt x="4" y="370"/>
                    </a:cubicBezTo>
                    <a:cubicBezTo>
                      <a:pt x="2" y="376"/>
                      <a:pt x="0" y="382"/>
                      <a:pt x="0" y="388"/>
                    </a:cubicBezTo>
                    <a:cubicBezTo>
                      <a:pt x="0" y="392"/>
                      <a:pt x="1" y="396"/>
                      <a:pt x="3" y="399"/>
                    </a:cubicBezTo>
                    <a:cubicBezTo>
                      <a:pt x="5" y="403"/>
                      <a:pt x="8" y="406"/>
                      <a:pt x="11" y="408"/>
                    </a:cubicBezTo>
                    <a:cubicBezTo>
                      <a:pt x="18" y="412"/>
                      <a:pt x="26" y="415"/>
                      <a:pt x="36" y="417"/>
                    </a:cubicBezTo>
                    <a:cubicBezTo>
                      <a:pt x="50" y="421"/>
                      <a:pt x="69" y="424"/>
                      <a:pt x="89" y="426"/>
                    </a:cubicBezTo>
                    <a:cubicBezTo>
                      <a:pt x="110" y="427"/>
                      <a:pt x="132" y="428"/>
                      <a:pt x="155" y="428"/>
                    </a:cubicBezTo>
                    <a:cubicBezTo>
                      <a:pt x="189" y="428"/>
                      <a:pt x="224" y="426"/>
                      <a:pt x="251" y="422"/>
                    </a:cubicBezTo>
                    <a:cubicBezTo>
                      <a:pt x="265" y="420"/>
                      <a:pt x="277" y="417"/>
                      <a:pt x="286" y="414"/>
                    </a:cubicBezTo>
                    <a:cubicBezTo>
                      <a:pt x="291" y="412"/>
                      <a:pt x="295" y="410"/>
                      <a:pt x="299" y="408"/>
                    </a:cubicBezTo>
                    <a:cubicBezTo>
                      <a:pt x="302" y="406"/>
                      <a:pt x="305" y="403"/>
                      <a:pt x="307" y="399"/>
                    </a:cubicBezTo>
                    <a:cubicBezTo>
                      <a:pt x="309" y="396"/>
                      <a:pt x="310" y="392"/>
                      <a:pt x="310" y="388"/>
                    </a:cubicBezTo>
                    <a:cubicBezTo>
                      <a:pt x="310" y="383"/>
                      <a:pt x="309" y="377"/>
                      <a:pt x="307" y="370"/>
                    </a:cubicBezTo>
                    <a:cubicBezTo>
                      <a:pt x="303" y="358"/>
                      <a:pt x="297" y="344"/>
                      <a:pt x="289" y="329"/>
                    </a:cubicBezTo>
                    <a:cubicBezTo>
                      <a:pt x="266" y="282"/>
                      <a:pt x="228" y="222"/>
                      <a:pt x="199" y="178"/>
                    </a:cubicBezTo>
                    <a:cubicBezTo>
                      <a:pt x="192" y="182"/>
                      <a:pt x="192" y="182"/>
                      <a:pt x="192" y="182"/>
                    </a:cubicBezTo>
                    <a:cubicBezTo>
                      <a:pt x="200" y="182"/>
                      <a:pt x="200" y="182"/>
                      <a:pt x="200" y="182"/>
                    </a:cubicBezTo>
                    <a:cubicBezTo>
                      <a:pt x="192" y="182"/>
                      <a:pt x="192" y="182"/>
                      <a:pt x="192" y="182"/>
                    </a:cubicBezTo>
                    <a:cubicBezTo>
                      <a:pt x="185" y="187"/>
                      <a:pt x="185" y="187"/>
                      <a:pt x="185" y="187"/>
                    </a:cubicBezTo>
                    <a:cubicBezTo>
                      <a:pt x="207" y="220"/>
                      <a:pt x="235" y="263"/>
                      <a:pt x="257" y="301"/>
                    </a:cubicBezTo>
                    <a:cubicBezTo>
                      <a:pt x="267" y="321"/>
                      <a:pt x="277" y="339"/>
                      <a:pt x="284" y="354"/>
                    </a:cubicBezTo>
                    <a:cubicBezTo>
                      <a:pt x="287" y="362"/>
                      <a:pt x="290" y="369"/>
                      <a:pt x="291" y="375"/>
                    </a:cubicBezTo>
                    <a:cubicBezTo>
                      <a:pt x="293" y="381"/>
                      <a:pt x="294" y="385"/>
                      <a:pt x="294" y="388"/>
                    </a:cubicBezTo>
                    <a:cubicBezTo>
                      <a:pt x="294" y="390"/>
                      <a:pt x="293" y="391"/>
                      <a:pt x="293" y="391"/>
                    </a:cubicBezTo>
                    <a:cubicBezTo>
                      <a:pt x="293" y="392"/>
                      <a:pt x="292" y="393"/>
                      <a:pt x="290" y="394"/>
                    </a:cubicBezTo>
                    <a:cubicBezTo>
                      <a:pt x="286" y="397"/>
                      <a:pt x="279" y="400"/>
                      <a:pt x="270" y="402"/>
                    </a:cubicBezTo>
                    <a:cubicBezTo>
                      <a:pt x="257" y="405"/>
                      <a:pt x="239" y="408"/>
                      <a:pt x="219" y="410"/>
                    </a:cubicBezTo>
                    <a:cubicBezTo>
                      <a:pt x="199" y="411"/>
                      <a:pt x="177" y="412"/>
                      <a:pt x="155" y="412"/>
                    </a:cubicBezTo>
                    <a:cubicBezTo>
                      <a:pt x="121" y="412"/>
                      <a:pt x="88" y="410"/>
                      <a:pt x="62" y="406"/>
                    </a:cubicBezTo>
                    <a:cubicBezTo>
                      <a:pt x="48" y="404"/>
                      <a:pt x="37" y="402"/>
                      <a:pt x="29" y="399"/>
                    </a:cubicBezTo>
                    <a:cubicBezTo>
                      <a:pt x="25" y="397"/>
                      <a:pt x="22" y="396"/>
                      <a:pt x="20" y="394"/>
                    </a:cubicBezTo>
                    <a:cubicBezTo>
                      <a:pt x="18" y="393"/>
                      <a:pt x="17" y="392"/>
                      <a:pt x="17" y="391"/>
                    </a:cubicBezTo>
                    <a:cubicBezTo>
                      <a:pt x="17" y="391"/>
                      <a:pt x="16" y="390"/>
                      <a:pt x="16" y="388"/>
                    </a:cubicBezTo>
                    <a:cubicBezTo>
                      <a:pt x="16" y="385"/>
                      <a:pt x="17" y="380"/>
                      <a:pt x="19" y="374"/>
                    </a:cubicBezTo>
                    <a:cubicBezTo>
                      <a:pt x="22" y="364"/>
                      <a:pt x="28" y="350"/>
                      <a:pt x="36" y="335"/>
                    </a:cubicBezTo>
                    <a:cubicBezTo>
                      <a:pt x="48" y="312"/>
                      <a:pt x="64" y="286"/>
                      <a:pt x="81" y="260"/>
                    </a:cubicBezTo>
                    <a:cubicBezTo>
                      <a:pt x="97" y="233"/>
                      <a:pt x="113" y="208"/>
                      <a:pt x="127" y="186"/>
                    </a:cubicBezTo>
                    <a:cubicBezTo>
                      <a:pt x="128" y="185"/>
                      <a:pt x="128" y="184"/>
                      <a:pt x="128" y="182"/>
                    </a:cubicBezTo>
                    <a:cubicBezTo>
                      <a:pt x="128" y="38"/>
                      <a:pt x="128" y="38"/>
                      <a:pt x="128" y="38"/>
                    </a:cubicBezTo>
                    <a:cubicBezTo>
                      <a:pt x="128" y="34"/>
                      <a:pt x="125" y="31"/>
                      <a:pt x="121" y="30"/>
                    </a:cubicBezTo>
                    <a:cubicBezTo>
                      <a:pt x="121" y="35"/>
                      <a:pt x="121" y="35"/>
                      <a:pt x="121" y="35"/>
                    </a:cubicBezTo>
                    <a:cubicBezTo>
                      <a:pt x="121" y="30"/>
                      <a:pt x="121" y="30"/>
                      <a:pt x="121" y="30"/>
                    </a:cubicBezTo>
                    <a:cubicBezTo>
                      <a:pt x="121" y="30"/>
                      <a:pt x="121" y="30"/>
                      <a:pt x="121" y="30"/>
                    </a:cubicBezTo>
                    <a:cubicBezTo>
                      <a:pt x="121" y="35"/>
                      <a:pt x="121" y="35"/>
                      <a:pt x="121" y="35"/>
                    </a:cubicBezTo>
                    <a:cubicBezTo>
                      <a:pt x="121" y="30"/>
                      <a:pt x="121" y="30"/>
                      <a:pt x="121" y="30"/>
                    </a:cubicBezTo>
                    <a:cubicBezTo>
                      <a:pt x="121" y="30"/>
                      <a:pt x="121" y="30"/>
                      <a:pt x="121" y="30"/>
                    </a:cubicBezTo>
                    <a:cubicBezTo>
                      <a:pt x="120" y="30"/>
                      <a:pt x="117" y="29"/>
                      <a:pt x="115" y="28"/>
                    </a:cubicBezTo>
                    <a:cubicBezTo>
                      <a:pt x="114" y="27"/>
                      <a:pt x="113" y="26"/>
                      <a:pt x="112" y="25"/>
                    </a:cubicBezTo>
                    <a:cubicBezTo>
                      <a:pt x="112" y="24"/>
                      <a:pt x="111" y="23"/>
                      <a:pt x="111" y="22"/>
                    </a:cubicBezTo>
                    <a:cubicBezTo>
                      <a:pt x="111" y="21"/>
                      <a:pt x="112" y="20"/>
                      <a:pt x="112" y="19"/>
                    </a:cubicBezTo>
                    <a:cubicBezTo>
                      <a:pt x="112" y="18"/>
                      <a:pt x="112" y="18"/>
                      <a:pt x="112" y="17"/>
                    </a:cubicBezTo>
                    <a:cubicBezTo>
                      <a:pt x="112" y="17"/>
                      <a:pt x="112" y="17"/>
                      <a:pt x="112" y="17"/>
                    </a:cubicBezTo>
                    <a:cubicBezTo>
                      <a:pt x="110" y="17"/>
                      <a:pt x="110" y="17"/>
                      <a:pt x="110" y="17"/>
                    </a:cubicBezTo>
                    <a:cubicBezTo>
                      <a:pt x="112" y="18"/>
                      <a:pt x="112" y="18"/>
                      <a:pt x="112" y="18"/>
                    </a:cubicBezTo>
                    <a:cubicBezTo>
                      <a:pt x="112" y="17"/>
                      <a:pt x="112" y="17"/>
                      <a:pt x="112" y="17"/>
                    </a:cubicBezTo>
                    <a:cubicBezTo>
                      <a:pt x="110" y="17"/>
                      <a:pt x="110" y="17"/>
                      <a:pt x="110" y="17"/>
                    </a:cubicBezTo>
                    <a:cubicBezTo>
                      <a:pt x="112" y="18"/>
                      <a:pt x="112" y="18"/>
                      <a:pt x="112" y="18"/>
                    </a:cubicBezTo>
                    <a:cubicBezTo>
                      <a:pt x="110" y="17"/>
                      <a:pt x="110" y="17"/>
                      <a:pt x="110" y="17"/>
                    </a:cubicBezTo>
                    <a:cubicBezTo>
                      <a:pt x="112" y="18"/>
                      <a:pt x="112" y="18"/>
                      <a:pt x="112" y="18"/>
                    </a:cubicBezTo>
                    <a:cubicBezTo>
                      <a:pt x="112" y="18"/>
                      <a:pt x="112" y="18"/>
                      <a:pt x="112" y="18"/>
                    </a:cubicBezTo>
                    <a:cubicBezTo>
                      <a:pt x="110" y="17"/>
                      <a:pt x="110" y="17"/>
                      <a:pt x="110" y="17"/>
                    </a:cubicBezTo>
                    <a:cubicBezTo>
                      <a:pt x="112" y="18"/>
                      <a:pt x="112" y="18"/>
                      <a:pt x="112" y="18"/>
                    </a:cubicBezTo>
                    <a:cubicBezTo>
                      <a:pt x="111" y="18"/>
                      <a:pt x="111" y="18"/>
                      <a:pt x="111" y="18"/>
                    </a:cubicBezTo>
                    <a:cubicBezTo>
                      <a:pt x="112" y="18"/>
                      <a:pt x="112" y="18"/>
                      <a:pt x="112" y="18"/>
                    </a:cubicBezTo>
                    <a:cubicBezTo>
                      <a:pt x="112" y="18"/>
                      <a:pt x="112" y="18"/>
                      <a:pt x="112" y="18"/>
                    </a:cubicBezTo>
                    <a:cubicBezTo>
                      <a:pt x="111" y="18"/>
                      <a:pt x="111" y="18"/>
                      <a:pt x="111" y="18"/>
                    </a:cubicBezTo>
                    <a:cubicBezTo>
                      <a:pt x="112" y="18"/>
                      <a:pt x="112" y="18"/>
                      <a:pt x="112" y="18"/>
                    </a:cubicBezTo>
                    <a:cubicBezTo>
                      <a:pt x="112" y="18"/>
                      <a:pt x="112" y="18"/>
                      <a:pt x="113" y="17"/>
                    </a:cubicBezTo>
                    <a:cubicBezTo>
                      <a:pt x="114" y="17"/>
                      <a:pt x="115" y="16"/>
                      <a:pt x="117" y="16"/>
                    </a:cubicBezTo>
                    <a:cubicBezTo>
                      <a:pt x="119" y="16"/>
                      <a:pt x="121" y="16"/>
                      <a:pt x="123" y="16"/>
                    </a:cubicBezTo>
                    <a:cubicBezTo>
                      <a:pt x="123" y="8"/>
                      <a:pt x="123" y="8"/>
                      <a:pt x="123" y="8"/>
                    </a:cubicBezTo>
                    <a:cubicBezTo>
                      <a:pt x="122" y="16"/>
                      <a:pt x="122" y="16"/>
                      <a:pt x="122" y="16"/>
                    </a:cubicBezTo>
                    <a:cubicBezTo>
                      <a:pt x="196" y="17"/>
                      <a:pt x="196" y="17"/>
                      <a:pt x="196" y="17"/>
                    </a:cubicBezTo>
                    <a:cubicBezTo>
                      <a:pt x="196" y="17"/>
                      <a:pt x="196" y="17"/>
                      <a:pt x="196" y="17"/>
                    </a:cubicBezTo>
                    <a:cubicBezTo>
                      <a:pt x="196" y="14"/>
                      <a:pt x="196" y="14"/>
                      <a:pt x="196" y="14"/>
                    </a:cubicBezTo>
                    <a:cubicBezTo>
                      <a:pt x="195" y="17"/>
                      <a:pt x="195" y="17"/>
                      <a:pt x="195" y="17"/>
                    </a:cubicBezTo>
                    <a:cubicBezTo>
                      <a:pt x="195" y="17"/>
                      <a:pt x="196" y="17"/>
                      <a:pt x="196" y="17"/>
                    </a:cubicBezTo>
                    <a:cubicBezTo>
                      <a:pt x="196" y="14"/>
                      <a:pt x="196" y="14"/>
                      <a:pt x="196" y="14"/>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7"/>
                      <a:pt x="196" y="17"/>
                      <a:pt x="197" y="18"/>
                    </a:cubicBezTo>
                    <a:cubicBezTo>
                      <a:pt x="197" y="20"/>
                      <a:pt x="198" y="22"/>
                      <a:pt x="199" y="23"/>
                    </a:cubicBezTo>
                    <a:cubicBezTo>
                      <a:pt x="199" y="24"/>
                      <a:pt x="199" y="24"/>
                      <a:pt x="200"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7" y="23"/>
                      <a:pt x="207" y="23"/>
                      <a:pt x="207" y="23"/>
                    </a:cubicBezTo>
                    <a:cubicBezTo>
                      <a:pt x="199" y="23"/>
                      <a:pt x="199" y="23"/>
                      <a:pt x="199" y="23"/>
                    </a:cubicBezTo>
                    <a:cubicBezTo>
                      <a:pt x="202" y="23"/>
                      <a:pt x="202" y="23"/>
                      <a:pt x="202" y="23"/>
                    </a:cubicBezTo>
                    <a:cubicBezTo>
                      <a:pt x="200" y="22"/>
                      <a:pt x="200" y="22"/>
                      <a:pt x="200" y="22"/>
                    </a:cubicBezTo>
                    <a:cubicBezTo>
                      <a:pt x="199" y="23"/>
                      <a:pt x="199" y="23"/>
                      <a:pt x="199" y="23"/>
                    </a:cubicBezTo>
                    <a:cubicBezTo>
                      <a:pt x="202" y="23"/>
                      <a:pt x="202" y="23"/>
                      <a:pt x="202" y="23"/>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199" y="23"/>
                      <a:pt x="198" y="25"/>
                    </a:cubicBezTo>
                    <a:cubicBezTo>
                      <a:pt x="196" y="26"/>
                      <a:pt x="194" y="28"/>
                      <a:pt x="192" y="29"/>
                    </a:cubicBezTo>
                    <a:cubicBezTo>
                      <a:pt x="191" y="30"/>
                      <a:pt x="190" y="31"/>
                      <a:pt x="189" y="31"/>
                    </a:cubicBezTo>
                    <a:cubicBezTo>
                      <a:pt x="188" y="31"/>
                      <a:pt x="188" y="31"/>
                      <a:pt x="188" y="31"/>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6" y="33"/>
                      <a:pt x="184" y="36"/>
                      <a:pt x="184" y="39"/>
                    </a:cubicBezTo>
                    <a:cubicBezTo>
                      <a:pt x="184" y="182"/>
                      <a:pt x="184" y="182"/>
                      <a:pt x="184" y="182"/>
                    </a:cubicBezTo>
                    <a:cubicBezTo>
                      <a:pt x="184" y="184"/>
                      <a:pt x="184" y="185"/>
                      <a:pt x="185" y="187"/>
                    </a:cubicBezTo>
                    <a:lnTo>
                      <a:pt x="192" y="182"/>
                    </a:lnTo>
                    <a:close/>
                  </a:path>
                </a:pathLst>
              </a:custGeom>
              <a:solidFill>
                <a:schemeClr val="bg2"/>
              </a:solidFill>
              <a:ln>
                <a:noFill/>
              </a:ln>
            </p:spPr>
            <p:txBody>
              <a:bodyPr anchor="ctr"/>
              <a:lstStyle/>
              <a:p>
                <a:pPr algn="ctr"/>
              </a:p>
            </p:txBody>
          </p:sp>
          <p:sp>
            <p:nvSpPr>
              <p:cNvPr id="70" name="Oval 97"/>
              <p:cNvSpPr/>
              <p:nvPr/>
            </p:nvSpPr>
            <p:spPr bwMode="auto">
              <a:xfrm>
                <a:off x="7588607" y="3060168"/>
                <a:ext cx="66652" cy="67326"/>
              </a:xfrm>
              <a:prstGeom prst="ellipse">
                <a:avLst/>
              </a:prstGeom>
              <a:solidFill>
                <a:schemeClr val="bg2"/>
              </a:solidFill>
              <a:ln>
                <a:noFill/>
              </a:ln>
            </p:spPr>
            <p:txBody>
              <a:bodyPr anchor="ctr"/>
              <a:lstStyle/>
              <a:p>
                <a:pPr algn="ctr"/>
              </a:p>
            </p:txBody>
          </p:sp>
          <p:sp>
            <p:nvSpPr>
              <p:cNvPr id="71" name="Freeform: Shape 98"/>
              <p:cNvSpPr/>
              <p:nvPr/>
            </p:nvSpPr>
            <p:spPr bwMode="auto">
              <a:xfrm>
                <a:off x="7429718" y="3157116"/>
                <a:ext cx="350093" cy="229580"/>
              </a:xfrm>
              <a:custGeom>
                <a:avLst/>
                <a:gdLst>
                  <a:gd name="T0" fmla="*/ 161 w 220"/>
                  <a:gd name="T1" fmla="*/ 0 h 144"/>
                  <a:gd name="T2" fmla="*/ 65 w 220"/>
                  <a:gd name="T3" fmla="*/ 3 h 144"/>
                  <a:gd name="T4" fmla="*/ 0 w 220"/>
                  <a:gd name="T5" fmla="*/ 118 h 144"/>
                  <a:gd name="T6" fmla="*/ 220 w 220"/>
                  <a:gd name="T7" fmla="*/ 119 h 144"/>
                  <a:gd name="T8" fmla="*/ 161 w 220"/>
                  <a:gd name="T9" fmla="*/ 0 h 144"/>
                  <a:gd name="T10" fmla="*/ 87 w 220"/>
                  <a:gd name="T11" fmla="*/ 87 h 144"/>
                  <a:gd name="T12" fmla="*/ 62 w 220"/>
                  <a:gd name="T13" fmla="*/ 63 h 144"/>
                  <a:gd name="T14" fmla="*/ 87 w 220"/>
                  <a:gd name="T15" fmla="*/ 39 h 144"/>
                  <a:gd name="T16" fmla="*/ 111 w 220"/>
                  <a:gd name="T17" fmla="*/ 63 h 144"/>
                  <a:gd name="T18" fmla="*/ 87 w 220"/>
                  <a:gd name="T19" fmla="*/ 87 h 144"/>
                  <a:gd name="T20" fmla="*/ 147 w 220"/>
                  <a:gd name="T21" fmla="*/ 103 h 144"/>
                  <a:gd name="T22" fmla="*/ 132 w 220"/>
                  <a:gd name="T23" fmla="*/ 88 h 144"/>
                  <a:gd name="T24" fmla="*/ 147 w 220"/>
                  <a:gd name="T25" fmla="*/ 74 h 144"/>
                  <a:gd name="T26" fmla="*/ 161 w 220"/>
                  <a:gd name="T27" fmla="*/ 88 h 144"/>
                  <a:gd name="T28" fmla="*/ 147 w 220"/>
                  <a:gd name="T29"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0" h="144">
                    <a:moveTo>
                      <a:pt x="161" y="0"/>
                    </a:moveTo>
                    <a:cubicBezTo>
                      <a:pt x="65" y="3"/>
                      <a:pt x="65" y="3"/>
                      <a:pt x="65" y="3"/>
                    </a:cubicBezTo>
                    <a:cubicBezTo>
                      <a:pt x="0" y="118"/>
                      <a:pt x="0" y="118"/>
                      <a:pt x="0" y="118"/>
                    </a:cubicBezTo>
                    <a:cubicBezTo>
                      <a:pt x="39" y="134"/>
                      <a:pt x="147" y="144"/>
                      <a:pt x="220" y="119"/>
                    </a:cubicBezTo>
                    <a:lnTo>
                      <a:pt x="161" y="0"/>
                    </a:lnTo>
                    <a:close/>
                    <a:moveTo>
                      <a:pt x="87" y="87"/>
                    </a:moveTo>
                    <a:cubicBezTo>
                      <a:pt x="73" y="87"/>
                      <a:pt x="62" y="76"/>
                      <a:pt x="62" y="63"/>
                    </a:cubicBezTo>
                    <a:cubicBezTo>
                      <a:pt x="62" y="49"/>
                      <a:pt x="73" y="39"/>
                      <a:pt x="87" y="39"/>
                    </a:cubicBezTo>
                    <a:cubicBezTo>
                      <a:pt x="100" y="39"/>
                      <a:pt x="111" y="49"/>
                      <a:pt x="111" y="63"/>
                    </a:cubicBezTo>
                    <a:cubicBezTo>
                      <a:pt x="111" y="76"/>
                      <a:pt x="100" y="87"/>
                      <a:pt x="87" y="87"/>
                    </a:cubicBezTo>
                    <a:close/>
                    <a:moveTo>
                      <a:pt x="147" y="103"/>
                    </a:moveTo>
                    <a:cubicBezTo>
                      <a:pt x="139" y="103"/>
                      <a:pt x="132" y="96"/>
                      <a:pt x="132" y="88"/>
                    </a:cubicBezTo>
                    <a:cubicBezTo>
                      <a:pt x="132" y="81"/>
                      <a:pt x="139" y="74"/>
                      <a:pt x="147" y="74"/>
                    </a:cubicBezTo>
                    <a:cubicBezTo>
                      <a:pt x="155" y="74"/>
                      <a:pt x="161" y="81"/>
                      <a:pt x="161" y="88"/>
                    </a:cubicBezTo>
                    <a:cubicBezTo>
                      <a:pt x="161" y="96"/>
                      <a:pt x="155" y="103"/>
                      <a:pt x="147" y="103"/>
                    </a:cubicBezTo>
                    <a:close/>
                  </a:path>
                </a:pathLst>
              </a:custGeom>
              <a:solidFill>
                <a:schemeClr val="bg2"/>
              </a:solidFill>
              <a:ln>
                <a:noFill/>
              </a:ln>
            </p:spPr>
            <p:txBody>
              <a:bodyPr anchor="ctr"/>
              <a:lstStyle/>
              <a:p>
                <a:pPr algn="ctr"/>
              </a:p>
            </p:txBody>
          </p:sp>
        </p:grpSp>
        <p:grpSp>
          <p:nvGrpSpPr>
            <p:cNvPr id="16" name="Group 99"/>
            <p:cNvGrpSpPr/>
            <p:nvPr/>
          </p:nvGrpSpPr>
          <p:grpSpPr>
            <a:xfrm>
              <a:off x="15689" y="5919"/>
              <a:ext cx="1068" cy="1156"/>
              <a:chOff x="7004221" y="4138049"/>
              <a:chExt cx="904182" cy="978913"/>
            </a:xfrm>
          </p:grpSpPr>
          <p:sp>
            <p:nvSpPr>
              <p:cNvPr id="62" name="Freeform: Shape 100"/>
              <p:cNvSpPr/>
              <p:nvPr/>
            </p:nvSpPr>
            <p:spPr bwMode="auto">
              <a:xfrm>
                <a:off x="7088378" y="4158920"/>
                <a:ext cx="820025" cy="958042"/>
              </a:xfrm>
              <a:custGeom>
                <a:avLst/>
                <a:gdLst>
                  <a:gd name="T0" fmla="*/ 258 w 515"/>
                  <a:gd name="T1" fmla="*/ 0 h 602"/>
                  <a:gd name="T2" fmla="*/ 0 w 515"/>
                  <a:gd name="T3" fmla="*/ 257 h 602"/>
                  <a:gd name="T4" fmla="*/ 131 w 515"/>
                  <a:gd name="T5" fmla="*/ 481 h 602"/>
                  <a:gd name="T6" fmla="*/ 142 w 515"/>
                  <a:gd name="T7" fmla="*/ 602 h 602"/>
                  <a:gd name="T8" fmla="*/ 246 w 515"/>
                  <a:gd name="T9" fmla="*/ 514 h 602"/>
                  <a:gd name="T10" fmla="*/ 258 w 515"/>
                  <a:gd name="T11" fmla="*/ 514 h 602"/>
                  <a:gd name="T12" fmla="*/ 515 w 515"/>
                  <a:gd name="T13" fmla="*/ 257 h 602"/>
                  <a:gd name="T14" fmla="*/ 258 w 515"/>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602">
                    <a:moveTo>
                      <a:pt x="258" y="0"/>
                    </a:moveTo>
                    <a:cubicBezTo>
                      <a:pt x="116" y="0"/>
                      <a:pt x="0" y="115"/>
                      <a:pt x="0" y="257"/>
                    </a:cubicBezTo>
                    <a:cubicBezTo>
                      <a:pt x="0" y="353"/>
                      <a:pt x="53" y="437"/>
                      <a:pt x="131" y="481"/>
                    </a:cubicBezTo>
                    <a:cubicBezTo>
                      <a:pt x="142" y="602"/>
                      <a:pt x="142" y="602"/>
                      <a:pt x="142" y="602"/>
                    </a:cubicBezTo>
                    <a:cubicBezTo>
                      <a:pt x="246" y="514"/>
                      <a:pt x="246" y="514"/>
                      <a:pt x="246" y="514"/>
                    </a:cubicBezTo>
                    <a:cubicBezTo>
                      <a:pt x="250" y="514"/>
                      <a:pt x="254" y="514"/>
                      <a:pt x="258" y="514"/>
                    </a:cubicBezTo>
                    <a:cubicBezTo>
                      <a:pt x="400" y="514"/>
                      <a:pt x="515" y="399"/>
                      <a:pt x="515" y="257"/>
                    </a:cubicBezTo>
                    <a:cubicBezTo>
                      <a:pt x="515" y="115"/>
                      <a:pt x="400" y="0"/>
                      <a:pt x="258"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Freeform: Shape 101"/>
              <p:cNvSpPr/>
              <p:nvPr/>
            </p:nvSpPr>
            <p:spPr bwMode="auto">
              <a:xfrm>
                <a:off x="7004221" y="4138049"/>
                <a:ext cx="818678" cy="958042"/>
              </a:xfrm>
              <a:custGeom>
                <a:avLst/>
                <a:gdLst>
                  <a:gd name="T0" fmla="*/ 257 w 514"/>
                  <a:gd name="T1" fmla="*/ 0 h 602"/>
                  <a:gd name="T2" fmla="*/ 0 w 514"/>
                  <a:gd name="T3" fmla="*/ 257 h 602"/>
                  <a:gd name="T4" fmla="*/ 131 w 514"/>
                  <a:gd name="T5" fmla="*/ 481 h 602"/>
                  <a:gd name="T6" fmla="*/ 142 w 514"/>
                  <a:gd name="T7" fmla="*/ 602 h 602"/>
                  <a:gd name="T8" fmla="*/ 246 w 514"/>
                  <a:gd name="T9" fmla="*/ 514 h 602"/>
                  <a:gd name="T10" fmla="*/ 257 w 514"/>
                  <a:gd name="T11" fmla="*/ 514 h 602"/>
                  <a:gd name="T12" fmla="*/ 514 w 514"/>
                  <a:gd name="T13" fmla="*/ 257 h 602"/>
                  <a:gd name="T14" fmla="*/ 257 w 514"/>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 h="602">
                    <a:moveTo>
                      <a:pt x="257" y="0"/>
                    </a:moveTo>
                    <a:cubicBezTo>
                      <a:pt x="115" y="0"/>
                      <a:pt x="0" y="115"/>
                      <a:pt x="0" y="257"/>
                    </a:cubicBezTo>
                    <a:cubicBezTo>
                      <a:pt x="0" y="353"/>
                      <a:pt x="53" y="437"/>
                      <a:pt x="131" y="481"/>
                    </a:cubicBezTo>
                    <a:cubicBezTo>
                      <a:pt x="142" y="602"/>
                      <a:pt x="142" y="602"/>
                      <a:pt x="142" y="602"/>
                    </a:cubicBezTo>
                    <a:cubicBezTo>
                      <a:pt x="246" y="514"/>
                      <a:pt x="246" y="514"/>
                      <a:pt x="246" y="514"/>
                    </a:cubicBezTo>
                    <a:cubicBezTo>
                      <a:pt x="249" y="514"/>
                      <a:pt x="253" y="514"/>
                      <a:pt x="257" y="514"/>
                    </a:cubicBezTo>
                    <a:cubicBezTo>
                      <a:pt x="399" y="514"/>
                      <a:pt x="514" y="399"/>
                      <a:pt x="514" y="257"/>
                    </a:cubicBezTo>
                    <a:cubicBezTo>
                      <a:pt x="514" y="115"/>
                      <a:pt x="399" y="0"/>
                      <a:pt x="257" y="0"/>
                    </a:cubicBezTo>
                    <a:close/>
                  </a:path>
                </a:pathLst>
              </a:custGeom>
              <a:solidFill>
                <a:schemeClr val="tx2"/>
              </a:solidFill>
              <a:ln>
                <a:noFill/>
              </a:ln>
            </p:spPr>
            <p:txBody>
              <a:bodyPr anchor="ctr"/>
              <a:lstStyle/>
              <a:p>
                <a:pPr algn="ctr"/>
              </a:p>
            </p:txBody>
          </p:sp>
          <p:sp>
            <p:nvSpPr>
              <p:cNvPr id="64" name="Freeform: Shape 102"/>
              <p:cNvSpPr/>
              <p:nvPr/>
            </p:nvSpPr>
            <p:spPr bwMode="auto">
              <a:xfrm>
                <a:off x="7138199" y="4430915"/>
                <a:ext cx="154175" cy="216115"/>
              </a:xfrm>
              <a:custGeom>
                <a:avLst/>
                <a:gdLst>
                  <a:gd name="T0" fmla="*/ 3 w 97"/>
                  <a:gd name="T1" fmla="*/ 54 h 136"/>
                  <a:gd name="T2" fmla="*/ 51 w 97"/>
                  <a:gd name="T3" fmla="*/ 0 h 136"/>
                  <a:gd name="T4" fmla="*/ 97 w 97"/>
                  <a:gd name="T5" fmla="*/ 42 h 136"/>
                  <a:gd name="T6" fmla="*/ 73 w 97"/>
                  <a:gd name="T7" fmla="*/ 82 h 136"/>
                  <a:gd name="T8" fmla="*/ 34 w 97"/>
                  <a:gd name="T9" fmla="*/ 113 h 136"/>
                  <a:gd name="T10" fmla="*/ 97 w 97"/>
                  <a:gd name="T11" fmla="*/ 113 h 136"/>
                  <a:gd name="T12" fmla="*/ 97 w 97"/>
                  <a:gd name="T13" fmla="*/ 136 h 136"/>
                  <a:gd name="T14" fmla="*/ 0 w 97"/>
                  <a:gd name="T15" fmla="*/ 136 h 136"/>
                  <a:gd name="T16" fmla="*/ 42 w 97"/>
                  <a:gd name="T17" fmla="*/ 76 h 136"/>
                  <a:gd name="T18" fmla="*/ 70 w 97"/>
                  <a:gd name="T19" fmla="*/ 43 h 136"/>
                  <a:gd name="T20" fmla="*/ 51 w 97"/>
                  <a:gd name="T21" fmla="*/ 23 h 136"/>
                  <a:gd name="T22" fmla="*/ 28 w 97"/>
                  <a:gd name="T23" fmla="*/ 54 h 136"/>
                  <a:gd name="T24" fmla="*/ 3 w 97"/>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36">
                    <a:moveTo>
                      <a:pt x="3" y="54"/>
                    </a:moveTo>
                    <a:cubicBezTo>
                      <a:pt x="2" y="23"/>
                      <a:pt x="19" y="0"/>
                      <a:pt x="51" y="0"/>
                    </a:cubicBezTo>
                    <a:cubicBezTo>
                      <a:pt x="75" y="0"/>
                      <a:pt x="97" y="16"/>
                      <a:pt x="97" y="42"/>
                    </a:cubicBezTo>
                    <a:cubicBezTo>
                      <a:pt x="97" y="62"/>
                      <a:pt x="86" y="73"/>
                      <a:pt x="73" y="82"/>
                    </a:cubicBezTo>
                    <a:cubicBezTo>
                      <a:pt x="60" y="91"/>
                      <a:pt x="44" y="99"/>
                      <a:pt x="34" y="113"/>
                    </a:cubicBezTo>
                    <a:cubicBezTo>
                      <a:pt x="97" y="113"/>
                      <a:pt x="97" y="113"/>
                      <a:pt x="97" y="113"/>
                    </a:cubicBezTo>
                    <a:cubicBezTo>
                      <a:pt x="97" y="136"/>
                      <a:pt x="97" y="136"/>
                      <a:pt x="97" y="136"/>
                    </a:cubicBezTo>
                    <a:cubicBezTo>
                      <a:pt x="0" y="136"/>
                      <a:pt x="0" y="136"/>
                      <a:pt x="0" y="136"/>
                    </a:cubicBezTo>
                    <a:cubicBezTo>
                      <a:pt x="0" y="105"/>
                      <a:pt x="19" y="92"/>
                      <a:pt x="42" y="76"/>
                    </a:cubicBezTo>
                    <a:cubicBezTo>
                      <a:pt x="60" y="64"/>
                      <a:pt x="70" y="57"/>
                      <a:pt x="70" y="43"/>
                    </a:cubicBezTo>
                    <a:cubicBezTo>
                      <a:pt x="70" y="32"/>
                      <a:pt x="61" y="23"/>
                      <a:pt x="51" y="23"/>
                    </a:cubicBezTo>
                    <a:cubicBezTo>
                      <a:pt x="33" y="23"/>
                      <a:pt x="28" y="40"/>
                      <a:pt x="28" y="54"/>
                    </a:cubicBezTo>
                    <a:lnTo>
                      <a:pt x="3" y="54"/>
                    </a:lnTo>
                    <a:close/>
                  </a:path>
                </a:pathLst>
              </a:custGeom>
              <a:solidFill>
                <a:schemeClr val="bg2"/>
              </a:solidFill>
              <a:ln>
                <a:noFill/>
              </a:ln>
            </p:spPr>
            <p:txBody>
              <a:bodyPr anchor="ctr"/>
              <a:lstStyle/>
              <a:p>
                <a:pPr algn="ctr"/>
              </a:p>
            </p:txBody>
          </p:sp>
          <p:sp>
            <p:nvSpPr>
              <p:cNvPr id="65" name="Freeform: Shape 103"/>
              <p:cNvSpPr/>
              <p:nvPr/>
            </p:nvSpPr>
            <p:spPr bwMode="auto">
              <a:xfrm>
                <a:off x="7335463" y="4476697"/>
                <a:ext cx="159561" cy="157542"/>
              </a:xfrm>
              <a:custGeom>
                <a:avLst/>
                <a:gdLst>
                  <a:gd name="T0" fmla="*/ 0 w 237"/>
                  <a:gd name="T1" fmla="*/ 102 h 234"/>
                  <a:gd name="T2" fmla="*/ 104 w 237"/>
                  <a:gd name="T3" fmla="*/ 102 h 234"/>
                  <a:gd name="T4" fmla="*/ 104 w 237"/>
                  <a:gd name="T5" fmla="*/ 0 h 234"/>
                  <a:gd name="T6" fmla="*/ 132 w 237"/>
                  <a:gd name="T7" fmla="*/ 0 h 234"/>
                  <a:gd name="T8" fmla="*/ 132 w 237"/>
                  <a:gd name="T9" fmla="*/ 102 h 234"/>
                  <a:gd name="T10" fmla="*/ 237 w 237"/>
                  <a:gd name="T11" fmla="*/ 102 h 234"/>
                  <a:gd name="T12" fmla="*/ 237 w 237"/>
                  <a:gd name="T13" fmla="*/ 130 h 234"/>
                  <a:gd name="T14" fmla="*/ 132 w 237"/>
                  <a:gd name="T15" fmla="*/ 130 h 234"/>
                  <a:gd name="T16" fmla="*/ 132 w 237"/>
                  <a:gd name="T17" fmla="*/ 234 h 234"/>
                  <a:gd name="T18" fmla="*/ 104 w 237"/>
                  <a:gd name="T19" fmla="*/ 234 h 234"/>
                  <a:gd name="T20" fmla="*/ 104 w 237"/>
                  <a:gd name="T21" fmla="*/ 130 h 234"/>
                  <a:gd name="T22" fmla="*/ 0 w 237"/>
                  <a:gd name="T23" fmla="*/ 130 h 234"/>
                  <a:gd name="T24" fmla="*/ 0 w 237"/>
                  <a:gd name="T25" fmla="*/ 102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34">
                    <a:moveTo>
                      <a:pt x="0" y="102"/>
                    </a:moveTo>
                    <a:lnTo>
                      <a:pt x="104" y="102"/>
                    </a:lnTo>
                    <a:lnTo>
                      <a:pt x="104" y="0"/>
                    </a:lnTo>
                    <a:lnTo>
                      <a:pt x="132" y="0"/>
                    </a:lnTo>
                    <a:lnTo>
                      <a:pt x="132" y="102"/>
                    </a:lnTo>
                    <a:lnTo>
                      <a:pt x="237" y="102"/>
                    </a:lnTo>
                    <a:lnTo>
                      <a:pt x="237" y="130"/>
                    </a:lnTo>
                    <a:lnTo>
                      <a:pt x="132" y="130"/>
                    </a:lnTo>
                    <a:lnTo>
                      <a:pt x="132" y="234"/>
                    </a:lnTo>
                    <a:lnTo>
                      <a:pt x="104" y="234"/>
                    </a:lnTo>
                    <a:lnTo>
                      <a:pt x="104" y="130"/>
                    </a:lnTo>
                    <a:lnTo>
                      <a:pt x="0" y="130"/>
                    </a:lnTo>
                    <a:lnTo>
                      <a:pt x="0" y="102"/>
                    </a:lnTo>
                    <a:close/>
                  </a:path>
                </a:pathLst>
              </a:custGeom>
              <a:solidFill>
                <a:schemeClr val="bg2"/>
              </a:solidFill>
              <a:ln>
                <a:noFill/>
              </a:ln>
            </p:spPr>
            <p:txBody>
              <a:bodyPr anchor="ctr"/>
              <a:lstStyle/>
              <a:p>
                <a:pPr algn="ctr"/>
              </a:p>
            </p:txBody>
          </p:sp>
          <p:sp>
            <p:nvSpPr>
              <p:cNvPr id="66" name="Freeform: Shape 104"/>
              <p:cNvSpPr/>
              <p:nvPr/>
            </p:nvSpPr>
            <p:spPr bwMode="auto">
              <a:xfrm>
                <a:off x="7528014" y="4430915"/>
                <a:ext cx="156195" cy="216115"/>
              </a:xfrm>
              <a:custGeom>
                <a:avLst/>
                <a:gdLst>
                  <a:gd name="T0" fmla="*/ 3 w 98"/>
                  <a:gd name="T1" fmla="*/ 54 h 136"/>
                  <a:gd name="T2" fmla="*/ 51 w 98"/>
                  <a:gd name="T3" fmla="*/ 0 h 136"/>
                  <a:gd name="T4" fmla="*/ 97 w 98"/>
                  <a:gd name="T5" fmla="*/ 42 h 136"/>
                  <a:gd name="T6" fmla="*/ 73 w 98"/>
                  <a:gd name="T7" fmla="*/ 82 h 136"/>
                  <a:gd name="T8" fmla="*/ 35 w 98"/>
                  <a:gd name="T9" fmla="*/ 113 h 136"/>
                  <a:gd name="T10" fmla="*/ 98 w 98"/>
                  <a:gd name="T11" fmla="*/ 113 h 136"/>
                  <a:gd name="T12" fmla="*/ 98 w 98"/>
                  <a:gd name="T13" fmla="*/ 136 h 136"/>
                  <a:gd name="T14" fmla="*/ 0 w 98"/>
                  <a:gd name="T15" fmla="*/ 136 h 136"/>
                  <a:gd name="T16" fmla="*/ 42 w 98"/>
                  <a:gd name="T17" fmla="*/ 76 h 136"/>
                  <a:gd name="T18" fmla="*/ 70 w 98"/>
                  <a:gd name="T19" fmla="*/ 43 h 136"/>
                  <a:gd name="T20" fmla="*/ 51 w 98"/>
                  <a:gd name="T21" fmla="*/ 23 h 136"/>
                  <a:gd name="T22" fmla="*/ 29 w 98"/>
                  <a:gd name="T23" fmla="*/ 54 h 136"/>
                  <a:gd name="T24" fmla="*/ 3 w 98"/>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6">
                    <a:moveTo>
                      <a:pt x="3" y="54"/>
                    </a:moveTo>
                    <a:cubicBezTo>
                      <a:pt x="2" y="23"/>
                      <a:pt x="19" y="0"/>
                      <a:pt x="51" y="0"/>
                    </a:cubicBezTo>
                    <a:cubicBezTo>
                      <a:pt x="75" y="0"/>
                      <a:pt x="97" y="16"/>
                      <a:pt x="97" y="42"/>
                    </a:cubicBezTo>
                    <a:cubicBezTo>
                      <a:pt x="97" y="62"/>
                      <a:pt x="86" y="73"/>
                      <a:pt x="73" y="82"/>
                    </a:cubicBezTo>
                    <a:cubicBezTo>
                      <a:pt x="60" y="91"/>
                      <a:pt x="44" y="99"/>
                      <a:pt x="35" y="113"/>
                    </a:cubicBezTo>
                    <a:cubicBezTo>
                      <a:pt x="98" y="113"/>
                      <a:pt x="98" y="113"/>
                      <a:pt x="98" y="113"/>
                    </a:cubicBezTo>
                    <a:cubicBezTo>
                      <a:pt x="98" y="136"/>
                      <a:pt x="98" y="136"/>
                      <a:pt x="98" y="136"/>
                    </a:cubicBezTo>
                    <a:cubicBezTo>
                      <a:pt x="0" y="136"/>
                      <a:pt x="0" y="136"/>
                      <a:pt x="0" y="136"/>
                    </a:cubicBezTo>
                    <a:cubicBezTo>
                      <a:pt x="0" y="105"/>
                      <a:pt x="19" y="92"/>
                      <a:pt x="42" y="76"/>
                    </a:cubicBezTo>
                    <a:cubicBezTo>
                      <a:pt x="60" y="64"/>
                      <a:pt x="70" y="57"/>
                      <a:pt x="70" y="43"/>
                    </a:cubicBezTo>
                    <a:cubicBezTo>
                      <a:pt x="70" y="32"/>
                      <a:pt x="62" y="23"/>
                      <a:pt x="51" y="23"/>
                    </a:cubicBezTo>
                    <a:cubicBezTo>
                      <a:pt x="33" y="23"/>
                      <a:pt x="29" y="40"/>
                      <a:pt x="29" y="54"/>
                    </a:cubicBezTo>
                    <a:lnTo>
                      <a:pt x="3" y="54"/>
                    </a:lnTo>
                    <a:close/>
                  </a:path>
                </a:pathLst>
              </a:custGeom>
              <a:solidFill>
                <a:schemeClr val="bg2"/>
              </a:solidFill>
              <a:ln>
                <a:noFill/>
              </a:ln>
            </p:spPr>
            <p:txBody>
              <a:bodyPr anchor="ctr"/>
              <a:lstStyle/>
              <a:p>
                <a:pPr algn="ctr"/>
              </a:p>
            </p:txBody>
          </p:sp>
        </p:grpSp>
        <p:grpSp>
          <p:nvGrpSpPr>
            <p:cNvPr id="17" name="Group 105"/>
            <p:cNvGrpSpPr/>
            <p:nvPr/>
          </p:nvGrpSpPr>
          <p:grpSpPr>
            <a:xfrm>
              <a:off x="14341" y="3475"/>
              <a:ext cx="1276" cy="1382"/>
              <a:chOff x="5863054" y="2068463"/>
              <a:chExt cx="1080574" cy="1170118"/>
            </a:xfrm>
          </p:grpSpPr>
          <p:sp>
            <p:nvSpPr>
              <p:cNvPr id="55" name="Freeform: Shape 106"/>
              <p:cNvSpPr/>
              <p:nvPr/>
            </p:nvSpPr>
            <p:spPr bwMode="auto">
              <a:xfrm>
                <a:off x="5966062" y="2094047"/>
                <a:ext cx="977566" cy="1144534"/>
              </a:xfrm>
              <a:custGeom>
                <a:avLst/>
                <a:gdLst>
                  <a:gd name="T0" fmla="*/ 307 w 614"/>
                  <a:gd name="T1" fmla="*/ 0 h 719"/>
                  <a:gd name="T2" fmla="*/ 0 w 614"/>
                  <a:gd name="T3" fmla="*/ 307 h 719"/>
                  <a:gd name="T4" fmla="*/ 307 w 614"/>
                  <a:gd name="T5" fmla="*/ 615 h 719"/>
                  <a:gd name="T6" fmla="*/ 321 w 614"/>
                  <a:gd name="T7" fmla="*/ 614 h 719"/>
                  <a:gd name="T8" fmla="*/ 445 w 614"/>
                  <a:gd name="T9" fmla="*/ 719 h 719"/>
                  <a:gd name="T10" fmla="*/ 458 w 614"/>
                  <a:gd name="T11" fmla="*/ 575 h 719"/>
                  <a:gd name="T12" fmla="*/ 614 w 614"/>
                  <a:gd name="T13" fmla="*/ 307 h 719"/>
                  <a:gd name="T14" fmla="*/ 307 w 614"/>
                  <a:gd name="T15" fmla="*/ 0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307" y="0"/>
                    </a:moveTo>
                    <a:cubicBezTo>
                      <a:pt x="137" y="0"/>
                      <a:pt x="0" y="138"/>
                      <a:pt x="0" y="307"/>
                    </a:cubicBezTo>
                    <a:cubicBezTo>
                      <a:pt x="0" y="477"/>
                      <a:pt x="137" y="615"/>
                      <a:pt x="307" y="615"/>
                    </a:cubicBezTo>
                    <a:cubicBezTo>
                      <a:pt x="312" y="615"/>
                      <a:pt x="316" y="615"/>
                      <a:pt x="321" y="614"/>
                    </a:cubicBezTo>
                    <a:cubicBezTo>
                      <a:pt x="445" y="719"/>
                      <a:pt x="445" y="719"/>
                      <a:pt x="445" y="719"/>
                    </a:cubicBezTo>
                    <a:cubicBezTo>
                      <a:pt x="458" y="575"/>
                      <a:pt x="458" y="575"/>
                      <a:pt x="458" y="575"/>
                    </a:cubicBezTo>
                    <a:cubicBezTo>
                      <a:pt x="551" y="522"/>
                      <a:pt x="614" y="422"/>
                      <a:pt x="614" y="307"/>
                    </a:cubicBezTo>
                    <a:cubicBezTo>
                      <a:pt x="614" y="138"/>
                      <a:pt x="477" y="0"/>
                      <a:pt x="3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Freeform: Shape 107"/>
              <p:cNvSpPr/>
              <p:nvPr/>
            </p:nvSpPr>
            <p:spPr bwMode="auto">
              <a:xfrm>
                <a:off x="5863054" y="2068463"/>
                <a:ext cx="977566" cy="1144534"/>
              </a:xfrm>
              <a:custGeom>
                <a:avLst/>
                <a:gdLst>
                  <a:gd name="T0" fmla="*/ 614 w 614"/>
                  <a:gd name="T1" fmla="*/ 307 h 719"/>
                  <a:gd name="T2" fmla="*/ 307 w 614"/>
                  <a:gd name="T3" fmla="*/ 0 h 719"/>
                  <a:gd name="T4" fmla="*/ 0 w 614"/>
                  <a:gd name="T5" fmla="*/ 307 h 719"/>
                  <a:gd name="T6" fmla="*/ 307 w 614"/>
                  <a:gd name="T7" fmla="*/ 614 h 719"/>
                  <a:gd name="T8" fmla="*/ 321 w 614"/>
                  <a:gd name="T9" fmla="*/ 614 h 719"/>
                  <a:gd name="T10" fmla="*/ 445 w 614"/>
                  <a:gd name="T11" fmla="*/ 719 h 719"/>
                  <a:gd name="T12" fmla="*/ 458 w 614"/>
                  <a:gd name="T13" fmla="*/ 575 h 719"/>
                  <a:gd name="T14" fmla="*/ 614 w 614"/>
                  <a:gd name="T15" fmla="*/ 307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614" y="307"/>
                    </a:moveTo>
                    <a:cubicBezTo>
                      <a:pt x="614" y="138"/>
                      <a:pt x="477" y="0"/>
                      <a:pt x="307" y="0"/>
                    </a:cubicBezTo>
                    <a:cubicBezTo>
                      <a:pt x="137" y="0"/>
                      <a:pt x="0" y="138"/>
                      <a:pt x="0" y="307"/>
                    </a:cubicBezTo>
                    <a:cubicBezTo>
                      <a:pt x="0" y="477"/>
                      <a:pt x="137" y="614"/>
                      <a:pt x="307" y="614"/>
                    </a:cubicBezTo>
                    <a:cubicBezTo>
                      <a:pt x="312" y="614"/>
                      <a:pt x="316" y="614"/>
                      <a:pt x="321" y="614"/>
                    </a:cubicBezTo>
                    <a:cubicBezTo>
                      <a:pt x="445" y="719"/>
                      <a:pt x="445" y="719"/>
                      <a:pt x="445" y="719"/>
                    </a:cubicBezTo>
                    <a:cubicBezTo>
                      <a:pt x="458" y="575"/>
                      <a:pt x="458" y="575"/>
                      <a:pt x="458" y="575"/>
                    </a:cubicBezTo>
                    <a:cubicBezTo>
                      <a:pt x="551" y="522"/>
                      <a:pt x="614" y="422"/>
                      <a:pt x="614" y="307"/>
                    </a:cubicBezTo>
                    <a:close/>
                  </a:path>
                </a:pathLst>
              </a:custGeom>
              <a:solidFill>
                <a:schemeClr val="accent4"/>
              </a:solidFill>
              <a:ln>
                <a:noFill/>
              </a:ln>
            </p:spPr>
            <p:txBody>
              <a:bodyPr anchor="ctr"/>
              <a:lstStyle/>
              <a:p>
                <a:pPr algn="ctr"/>
              </a:p>
            </p:txBody>
          </p:sp>
          <p:sp>
            <p:nvSpPr>
              <p:cNvPr id="57" name="Freeform: Shape 108"/>
              <p:cNvSpPr/>
              <p:nvPr/>
            </p:nvSpPr>
            <p:spPr bwMode="auto">
              <a:xfrm>
                <a:off x="6063684" y="2215232"/>
                <a:ext cx="486763" cy="555436"/>
              </a:xfrm>
              <a:custGeom>
                <a:avLst/>
                <a:gdLst>
                  <a:gd name="T0" fmla="*/ 0 w 723"/>
                  <a:gd name="T1" fmla="*/ 338 h 825"/>
                  <a:gd name="T2" fmla="*/ 305 w 723"/>
                  <a:gd name="T3" fmla="*/ 825 h 825"/>
                  <a:gd name="T4" fmla="*/ 723 w 723"/>
                  <a:gd name="T5" fmla="*/ 0 h 825"/>
                  <a:gd name="T6" fmla="*/ 0 w 723"/>
                  <a:gd name="T7" fmla="*/ 338 h 825"/>
                  <a:gd name="T8" fmla="*/ 198 w 723"/>
                  <a:gd name="T9" fmla="*/ 383 h 825"/>
                  <a:gd name="T10" fmla="*/ 482 w 723"/>
                  <a:gd name="T11" fmla="*/ 250 h 825"/>
                  <a:gd name="T12" fmla="*/ 319 w 723"/>
                  <a:gd name="T13" fmla="*/ 574 h 825"/>
                  <a:gd name="T14" fmla="*/ 198 w 723"/>
                  <a:gd name="T15" fmla="*/ 383 h 8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3" h="825">
                    <a:moveTo>
                      <a:pt x="0" y="338"/>
                    </a:moveTo>
                    <a:lnTo>
                      <a:pt x="305" y="825"/>
                    </a:lnTo>
                    <a:lnTo>
                      <a:pt x="723" y="0"/>
                    </a:lnTo>
                    <a:lnTo>
                      <a:pt x="0" y="338"/>
                    </a:lnTo>
                    <a:close/>
                    <a:moveTo>
                      <a:pt x="198" y="383"/>
                    </a:moveTo>
                    <a:lnTo>
                      <a:pt x="482" y="250"/>
                    </a:lnTo>
                    <a:lnTo>
                      <a:pt x="319" y="574"/>
                    </a:lnTo>
                    <a:lnTo>
                      <a:pt x="198" y="383"/>
                    </a:lnTo>
                    <a:close/>
                  </a:path>
                </a:pathLst>
              </a:custGeom>
              <a:solidFill>
                <a:schemeClr val="bg2"/>
              </a:solidFill>
              <a:ln>
                <a:noFill/>
              </a:ln>
            </p:spPr>
            <p:txBody>
              <a:bodyPr anchor="ctr"/>
              <a:lstStyle/>
              <a:p>
                <a:pPr algn="ctr"/>
              </a:p>
            </p:txBody>
          </p:sp>
          <p:sp>
            <p:nvSpPr>
              <p:cNvPr id="58" name="Freeform: Shape 109"/>
              <p:cNvSpPr/>
              <p:nvPr/>
            </p:nvSpPr>
            <p:spPr bwMode="auto">
              <a:xfrm>
                <a:off x="6383480" y="2531662"/>
                <a:ext cx="200630" cy="207363"/>
              </a:xfrm>
              <a:custGeom>
                <a:avLst/>
                <a:gdLst>
                  <a:gd name="T0" fmla="*/ 0 w 298"/>
                  <a:gd name="T1" fmla="*/ 194 h 308"/>
                  <a:gd name="T2" fmla="*/ 184 w 298"/>
                  <a:gd name="T3" fmla="*/ 0 h 308"/>
                  <a:gd name="T4" fmla="*/ 298 w 298"/>
                  <a:gd name="T5" fmla="*/ 116 h 308"/>
                  <a:gd name="T6" fmla="*/ 113 w 298"/>
                  <a:gd name="T7" fmla="*/ 308 h 308"/>
                  <a:gd name="T8" fmla="*/ 0 w 298"/>
                  <a:gd name="T9" fmla="*/ 194 h 308"/>
                </a:gdLst>
                <a:ahLst/>
                <a:cxnLst>
                  <a:cxn ang="0">
                    <a:pos x="T0" y="T1"/>
                  </a:cxn>
                  <a:cxn ang="0">
                    <a:pos x="T2" y="T3"/>
                  </a:cxn>
                  <a:cxn ang="0">
                    <a:pos x="T4" y="T5"/>
                  </a:cxn>
                  <a:cxn ang="0">
                    <a:pos x="T6" y="T7"/>
                  </a:cxn>
                  <a:cxn ang="0">
                    <a:pos x="T8" y="T9"/>
                  </a:cxn>
                </a:cxnLst>
                <a:rect l="0" t="0" r="r" b="b"/>
                <a:pathLst>
                  <a:path w="298" h="308">
                    <a:moveTo>
                      <a:pt x="0" y="194"/>
                    </a:moveTo>
                    <a:lnTo>
                      <a:pt x="184" y="0"/>
                    </a:lnTo>
                    <a:lnTo>
                      <a:pt x="298" y="116"/>
                    </a:lnTo>
                    <a:lnTo>
                      <a:pt x="113" y="308"/>
                    </a:lnTo>
                    <a:lnTo>
                      <a:pt x="0" y="194"/>
                    </a:lnTo>
                    <a:close/>
                  </a:path>
                </a:pathLst>
              </a:custGeom>
              <a:solidFill>
                <a:schemeClr val="bg2"/>
              </a:solidFill>
              <a:ln>
                <a:noFill/>
              </a:ln>
            </p:spPr>
            <p:txBody>
              <a:bodyPr anchor="ctr"/>
              <a:lstStyle/>
              <a:p>
                <a:pPr algn="ctr"/>
              </a:p>
            </p:txBody>
          </p:sp>
          <p:sp>
            <p:nvSpPr>
              <p:cNvPr id="59" name="Freeform: Shape 110"/>
              <p:cNvSpPr/>
              <p:nvPr/>
            </p:nvSpPr>
            <p:spPr bwMode="auto">
              <a:xfrm>
                <a:off x="6351837" y="2675066"/>
                <a:ext cx="94929" cy="87523"/>
              </a:xfrm>
              <a:custGeom>
                <a:avLst/>
                <a:gdLst>
                  <a:gd name="T0" fmla="*/ 16 w 60"/>
                  <a:gd name="T1" fmla="*/ 0 h 55"/>
                  <a:gd name="T2" fmla="*/ 60 w 60"/>
                  <a:gd name="T3" fmla="*/ 45 h 55"/>
                  <a:gd name="T4" fmla="*/ 0 w 60"/>
                  <a:gd name="T5" fmla="*/ 55 h 55"/>
                  <a:gd name="T6" fmla="*/ 16 w 60"/>
                  <a:gd name="T7" fmla="*/ 0 h 55"/>
                </a:gdLst>
                <a:ahLst/>
                <a:cxnLst>
                  <a:cxn ang="0">
                    <a:pos x="T0" y="T1"/>
                  </a:cxn>
                  <a:cxn ang="0">
                    <a:pos x="T2" y="T3"/>
                  </a:cxn>
                  <a:cxn ang="0">
                    <a:pos x="T4" y="T5"/>
                  </a:cxn>
                  <a:cxn ang="0">
                    <a:pos x="T6" y="T7"/>
                  </a:cxn>
                </a:cxnLst>
                <a:rect l="0" t="0" r="r" b="b"/>
                <a:pathLst>
                  <a:path w="60" h="55">
                    <a:moveTo>
                      <a:pt x="16" y="0"/>
                    </a:moveTo>
                    <a:cubicBezTo>
                      <a:pt x="17" y="1"/>
                      <a:pt x="60" y="45"/>
                      <a:pt x="60" y="45"/>
                    </a:cubicBezTo>
                    <a:cubicBezTo>
                      <a:pt x="0" y="55"/>
                      <a:pt x="0" y="55"/>
                      <a:pt x="0" y="55"/>
                    </a:cubicBezTo>
                    <a:lnTo>
                      <a:pt x="16" y="0"/>
                    </a:lnTo>
                    <a:close/>
                  </a:path>
                </a:pathLst>
              </a:custGeom>
              <a:solidFill>
                <a:schemeClr val="bg2"/>
              </a:solidFill>
              <a:ln>
                <a:noFill/>
              </a:ln>
            </p:spPr>
            <p:txBody>
              <a:bodyPr anchor="ctr"/>
              <a:lstStyle/>
              <a:p>
                <a:pPr algn="ctr"/>
              </a:p>
            </p:txBody>
          </p:sp>
          <p:sp>
            <p:nvSpPr>
              <p:cNvPr id="60" name="Freeform: Shape 111"/>
              <p:cNvSpPr/>
              <p:nvPr/>
            </p:nvSpPr>
            <p:spPr bwMode="auto">
              <a:xfrm>
                <a:off x="6502646" y="2476455"/>
                <a:ext cx="135324" cy="133305"/>
              </a:xfrm>
              <a:custGeom>
                <a:avLst/>
                <a:gdLst>
                  <a:gd name="T0" fmla="*/ 156 w 201"/>
                  <a:gd name="T1" fmla="*/ 198 h 198"/>
                  <a:gd name="T2" fmla="*/ 0 w 201"/>
                  <a:gd name="T3" fmla="*/ 44 h 198"/>
                  <a:gd name="T4" fmla="*/ 45 w 201"/>
                  <a:gd name="T5" fmla="*/ 0 h 198"/>
                  <a:gd name="T6" fmla="*/ 201 w 201"/>
                  <a:gd name="T7" fmla="*/ 153 h 198"/>
                  <a:gd name="T8" fmla="*/ 156 w 201"/>
                  <a:gd name="T9" fmla="*/ 198 h 198"/>
                </a:gdLst>
                <a:ahLst/>
                <a:cxnLst>
                  <a:cxn ang="0">
                    <a:pos x="T0" y="T1"/>
                  </a:cxn>
                  <a:cxn ang="0">
                    <a:pos x="T2" y="T3"/>
                  </a:cxn>
                  <a:cxn ang="0">
                    <a:pos x="T4" y="T5"/>
                  </a:cxn>
                  <a:cxn ang="0">
                    <a:pos x="T6" y="T7"/>
                  </a:cxn>
                  <a:cxn ang="0">
                    <a:pos x="T8" y="T9"/>
                  </a:cxn>
                </a:cxnLst>
                <a:rect l="0" t="0" r="r" b="b"/>
                <a:pathLst>
                  <a:path w="201" h="198">
                    <a:moveTo>
                      <a:pt x="156" y="198"/>
                    </a:moveTo>
                    <a:lnTo>
                      <a:pt x="0" y="44"/>
                    </a:lnTo>
                    <a:lnTo>
                      <a:pt x="45" y="0"/>
                    </a:lnTo>
                    <a:lnTo>
                      <a:pt x="201" y="153"/>
                    </a:lnTo>
                    <a:lnTo>
                      <a:pt x="156" y="198"/>
                    </a:lnTo>
                    <a:close/>
                  </a:path>
                </a:pathLst>
              </a:custGeom>
              <a:solidFill>
                <a:schemeClr val="bg2"/>
              </a:solidFill>
              <a:ln>
                <a:noFill/>
              </a:ln>
            </p:spPr>
            <p:txBody>
              <a:bodyPr anchor="ctr"/>
              <a:lstStyle/>
              <a:p>
                <a:pPr algn="ctr"/>
              </a:p>
            </p:txBody>
          </p:sp>
          <p:sp>
            <p:nvSpPr>
              <p:cNvPr id="61" name="Rectangle 112"/>
              <p:cNvSpPr/>
              <p:nvPr/>
            </p:nvSpPr>
            <p:spPr bwMode="auto">
              <a:xfrm>
                <a:off x="6200355" y="2799618"/>
                <a:ext cx="311717" cy="31643"/>
              </a:xfrm>
              <a:prstGeom prst="rect">
                <a:avLst/>
              </a:prstGeom>
              <a:solidFill>
                <a:schemeClr val="bg2"/>
              </a:solidFill>
              <a:ln>
                <a:noFill/>
              </a:ln>
            </p:spPr>
            <p:txBody>
              <a:bodyPr anchor="ctr"/>
              <a:lstStyle/>
              <a:p>
                <a:pPr algn="ctr"/>
              </a:p>
            </p:txBody>
          </p:sp>
        </p:grpSp>
        <p:grpSp>
          <p:nvGrpSpPr>
            <p:cNvPr id="18" name="Group 113"/>
            <p:cNvGrpSpPr/>
            <p:nvPr/>
          </p:nvGrpSpPr>
          <p:grpSpPr>
            <a:xfrm>
              <a:off x="12257" y="6074"/>
              <a:ext cx="1149" cy="1252"/>
              <a:chOff x="4098452" y="4268661"/>
              <a:chExt cx="972853" cy="1059703"/>
            </a:xfrm>
          </p:grpSpPr>
          <p:sp>
            <p:nvSpPr>
              <p:cNvPr id="48" name="Freeform: Shape 114"/>
              <p:cNvSpPr/>
              <p:nvPr/>
            </p:nvSpPr>
            <p:spPr bwMode="auto">
              <a:xfrm>
                <a:off x="4354962" y="4408698"/>
                <a:ext cx="334608" cy="624108"/>
              </a:xfrm>
              <a:custGeom>
                <a:avLst/>
                <a:gdLst>
                  <a:gd name="T0" fmla="*/ 210 w 210"/>
                  <a:gd name="T1" fmla="*/ 261 h 392"/>
                  <a:gd name="T2" fmla="*/ 204 w 210"/>
                  <a:gd name="T3" fmla="*/ 290 h 392"/>
                  <a:gd name="T4" fmla="*/ 187 w 210"/>
                  <a:gd name="T5" fmla="*/ 318 h 392"/>
                  <a:gd name="T6" fmla="*/ 159 w 210"/>
                  <a:gd name="T7" fmla="*/ 341 h 392"/>
                  <a:gd name="T8" fmla="*/ 123 w 210"/>
                  <a:gd name="T9" fmla="*/ 355 h 392"/>
                  <a:gd name="T10" fmla="*/ 123 w 210"/>
                  <a:gd name="T11" fmla="*/ 392 h 392"/>
                  <a:gd name="T12" fmla="*/ 96 w 210"/>
                  <a:gd name="T13" fmla="*/ 392 h 392"/>
                  <a:gd name="T14" fmla="*/ 96 w 210"/>
                  <a:gd name="T15" fmla="*/ 358 h 392"/>
                  <a:gd name="T16" fmla="*/ 94 w 210"/>
                  <a:gd name="T17" fmla="*/ 358 h 392"/>
                  <a:gd name="T18" fmla="*/ 91 w 210"/>
                  <a:gd name="T19" fmla="*/ 358 h 392"/>
                  <a:gd name="T20" fmla="*/ 64 w 210"/>
                  <a:gd name="T21" fmla="*/ 357 h 392"/>
                  <a:gd name="T22" fmla="*/ 41 w 210"/>
                  <a:gd name="T23" fmla="*/ 352 h 392"/>
                  <a:gd name="T24" fmla="*/ 20 w 210"/>
                  <a:gd name="T25" fmla="*/ 345 h 392"/>
                  <a:gd name="T26" fmla="*/ 0 w 210"/>
                  <a:gd name="T27" fmla="*/ 335 h 392"/>
                  <a:gd name="T28" fmla="*/ 15 w 210"/>
                  <a:gd name="T29" fmla="*/ 288 h 392"/>
                  <a:gd name="T30" fmla="*/ 31 w 210"/>
                  <a:gd name="T31" fmla="*/ 297 h 392"/>
                  <a:gd name="T32" fmla="*/ 51 w 210"/>
                  <a:gd name="T33" fmla="*/ 306 h 392"/>
                  <a:gd name="T34" fmla="*/ 74 w 210"/>
                  <a:gd name="T35" fmla="*/ 314 h 392"/>
                  <a:gd name="T36" fmla="*/ 96 w 210"/>
                  <a:gd name="T37" fmla="*/ 318 h 392"/>
                  <a:gd name="T38" fmla="*/ 96 w 210"/>
                  <a:gd name="T39" fmla="*/ 219 h 392"/>
                  <a:gd name="T40" fmla="*/ 66 w 210"/>
                  <a:gd name="T41" fmla="*/ 206 h 392"/>
                  <a:gd name="T42" fmla="*/ 39 w 210"/>
                  <a:gd name="T43" fmla="*/ 188 h 392"/>
                  <a:gd name="T44" fmla="*/ 19 w 210"/>
                  <a:gd name="T45" fmla="*/ 160 h 392"/>
                  <a:gd name="T46" fmla="*/ 11 w 210"/>
                  <a:gd name="T47" fmla="*/ 119 h 392"/>
                  <a:gd name="T48" fmla="*/ 17 w 210"/>
                  <a:gd name="T49" fmla="*/ 94 h 392"/>
                  <a:gd name="T50" fmla="*/ 33 w 210"/>
                  <a:gd name="T51" fmla="*/ 69 h 392"/>
                  <a:gd name="T52" fmla="*/ 60 w 210"/>
                  <a:gd name="T53" fmla="*/ 48 h 392"/>
                  <a:gd name="T54" fmla="*/ 96 w 210"/>
                  <a:gd name="T55" fmla="*/ 35 h 392"/>
                  <a:gd name="T56" fmla="*/ 96 w 210"/>
                  <a:gd name="T57" fmla="*/ 0 h 392"/>
                  <a:gd name="T58" fmla="*/ 123 w 210"/>
                  <a:gd name="T59" fmla="*/ 0 h 392"/>
                  <a:gd name="T60" fmla="*/ 123 w 210"/>
                  <a:gd name="T61" fmla="*/ 32 h 392"/>
                  <a:gd name="T62" fmla="*/ 123 w 210"/>
                  <a:gd name="T63" fmla="*/ 32 h 392"/>
                  <a:gd name="T64" fmla="*/ 161 w 210"/>
                  <a:gd name="T65" fmla="*/ 34 h 392"/>
                  <a:gd name="T66" fmla="*/ 196 w 210"/>
                  <a:gd name="T67" fmla="*/ 40 h 392"/>
                  <a:gd name="T68" fmla="*/ 187 w 210"/>
                  <a:gd name="T69" fmla="*/ 87 h 392"/>
                  <a:gd name="T70" fmla="*/ 155 w 210"/>
                  <a:gd name="T71" fmla="*/ 77 h 392"/>
                  <a:gd name="T72" fmla="*/ 123 w 210"/>
                  <a:gd name="T73" fmla="*/ 72 h 392"/>
                  <a:gd name="T74" fmla="*/ 123 w 210"/>
                  <a:gd name="T75" fmla="*/ 159 h 392"/>
                  <a:gd name="T76" fmla="*/ 153 w 210"/>
                  <a:gd name="T77" fmla="*/ 172 h 392"/>
                  <a:gd name="T78" fmla="*/ 181 w 210"/>
                  <a:gd name="T79" fmla="*/ 191 h 392"/>
                  <a:gd name="T80" fmla="*/ 202 w 210"/>
                  <a:gd name="T81" fmla="*/ 219 h 392"/>
                  <a:gd name="T82" fmla="*/ 210 w 210"/>
                  <a:gd name="T83" fmla="*/ 261 h 392"/>
                  <a:gd name="T84" fmla="*/ 65 w 210"/>
                  <a:gd name="T85" fmla="*/ 110 h 392"/>
                  <a:gd name="T86" fmla="*/ 74 w 210"/>
                  <a:gd name="T87" fmla="*/ 133 h 392"/>
                  <a:gd name="T88" fmla="*/ 96 w 210"/>
                  <a:gd name="T89" fmla="*/ 148 h 392"/>
                  <a:gd name="T90" fmla="*/ 96 w 210"/>
                  <a:gd name="T91" fmla="*/ 73 h 392"/>
                  <a:gd name="T92" fmla="*/ 77 w 210"/>
                  <a:gd name="T93" fmla="*/ 79 h 392"/>
                  <a:gd name="T94" fmla="*/ 68 w 210"/>
                  <a:gd name="T95" fmla="*/ 90 h 392"/>
                  <a:gd name="T96" fmla="*/ 65 w 210"/>
                  <a:gd name="T97" fmla="*/ 110 h 392"/>
                  <a:gd name="T98" fmla="*/ 155 w 210"/>
                  <a:gd name="T99" fmla="*/ 269 h 392"/>
                  <a:gd name="T100" fmla="*/ 146 w 210"/>
                  <a:gd name="T101" fmla="*/ 246 h 392"/>
                  <a:gd name="T102" fmla="*/ 123 w 210"/>
                  <a:gd name="T103" fmla="*/ 230 h 392"/>
                  <a:gd name="T104" fmla="*/ 123 w 210"/>
                  <a:gd name="T105" fmla="*/ 316 h 392"/>
                  <a:gd name="T106" fmla="*/ 132 w 210"/>
                  <a:gd name="T107" fmla="*/ 314 h 392"/>
                  <a:gd name="T108" fmla="*/ 140 w 210"/>
                  <a:gd name="T109" fmla="*/ 311 h 392"/>
                  <a:gd name="T110" fmla="*/ 151 w 210"/>
                  <a:gd name="T111" fmla="*/ 298 h 392"/>
                  <a:gd name="T112" fmla="*/ 155 w 210"/>
                  <a:gd name="T113" fmla="*/ 2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210" y="261"/>
                    </a:moveTo>
                    <a:cubicBezTo>
                      <a:pt x="210" y="271"/>
                      <a:pt x="208" y="281"/>
                      <a:pt x="204" y="290"/>
                    </a:cubicBezTo>
                    <a:cubicBezTo>
                      <a:pt x="200" y="300"/>
                      <a:pt x="194" y="310"/>
                      <a:pt x="187" y="318"/>
                    </a:cubicBezTo>
                    <a:cubicBezTo>
                      <a:pt x="179" y="327"/>
                      <a:pt x="170" y="334"/>
                      <a:pt x="159" y="341"/>
                    </a:cubicBezTo>
                    <a:cubicBezTo>
                      <a:pt x="148" y="347"/>
                      <a:pt x="136" y="352"/>
                      <a:pt x="123" y="355"/>
                    </a:cubicBezTo>
                    <a:cubicBezTo>
                      <a:pt x="123" y="392"/>
                      <a:pt x="123" y="392"/>
                      <a:pt x="123" y="392"/>
                    </a:cubicBezTo>
                    <a:cubicBezTo>
                      <a:pt x="96" y="392"/>
                      <a:pt x="96" y="392"/>
                      <a:pt x="96" y="392"/>
                    </a:cubicBezTo>
                    <a:cubicBezTo>
                      <a:pt x="96" y="358"/>
                      <a:pt x="96" y="358"/>
                      <a:pt x="96" y="358"/>
                    </a:cubicBezTo>
                    <a:cubicBezTo>
                      <a:pt x="95" y="358"/>
                      <a:pt x="94" y="358"/>
                      <a:pt x="94" y="358"/>
                    </a:cubicBezTo>
                    <a:cubicBezTo>
                      <a:pt x="93" y="358"/>
                      <a:pt x="92" y="358"/>
                      <a:pt x="91" y="358"/>
                    </a:cubicBezTo>
                    <a:cubicBezTo>
                      <a:pt x="82" y="358"/>
                      <a:pt x="73" y="358"/>
                      <a:pt x="64" y="357"/>
                    </a:cubicBezTo>
                    <a:cubicBezTo>
                      <a:pt x="56" y="356"/>
                      <a:pt x="48" y="354"/>
                      <a:pt x="41" y="352"/>
                    </a:cubicBezTo>
                    <a:cubicBezTo>
                      <a:pt x="34" y="350"/>
                      <a:pt x="27" y="348"/>
                      <a:pt x="20" y="345"/>
                    </a:cubicBezTo>
                    <a:cubicBezTo>
                      <a:pt x="13" y="342"/>
                      <a:pt x="7" y="339"/>
                      <a:pt x="0" y="335"/>
                    </a:cubicBezTo>
                    <a:cubicBezTo>
                      <a:pt x="15" y="288"/>
                      <a:pt x="15" y="288"/>
                      <a:pt x="15" y="288"/>
                    </a:cubicBezTo>
                    <a:cubicBezTo>
                      <a:pt x="19" y="291"/>
                      <a:pt x="25" y="294"/>
                      <a:pt x="31" y="297"/>
                    </a:cubicBezTo>
                    <a:cubicBezTo>
                      <a:pt x="37" y="301"/>
                      <a:pt x="44" y="304"/>
                      <a:pt x="51" y="306"/>
                    </a:cubicBezTo>
                    <a:cubicBezTo>
                      <a:pt x="59" y="309"/>
                      <a:pt x="66" y="312"/>
                      <a:pt x="74" y="314"/>
                    </a:cubicBezTo>
                    <a:cubicBezTo>
                      <a:pt x="82" y="316"/>
                      <a:pt x="89" y="317"/>
                      <a:pt x="96" y="318"/>
                    </a:cubicBezTo>
                    <a:cubicBezTo>
                      <a:pt x="96" y="219"/>
                      <a:pt x="96" y="219"/>
                      <a:pt x="96" y="219"/>
                    </a:cubicBezTo>
                    <a:cubicBezTo>
                      <a:pt x="86" y="215"/>
                      <a:pt x="76" y="211"/>
                      <a:pt x="66" y="206"/>
                    </a:cubicBezTo>
                    <a:cubicBezTo>
                      <a:pt x="56" y="201"/>
                      <a:pt x="47" y="195"/>
                      <a:pt x="39" y="188"/>
                    </a:cubicBezTo>
                    <a:cubicBezTo>
                      <a:pt x="30" y="180"/>
                      <a:pt x="24" y="171"/>
                      <a:pt x="19" y="160"/>
                    </a:cubicBezTo>
                    <a:cubicBezTo>
                      <a:pt x="13" y="149"/>
                      <a:pt x="11" y="136"/>
                      <a:pt x="11" y="119"/>
                    </a:cubicBezTo>
                    <a:cubicBezTo>
                      <a:pt x="11" y="111"/>
                      <a:pt x="13" y="103"/>
                      <a:pt x="17" y="94"/>
                    </a:cubicBezTo>
                    <a:cubicBezTo>
                      <a:pt x="21" y="85"/>
                      <a:pt x="26" y="77"/>
                      <a:pt x="33" y="69"/>
                    </a:cubicBezTo>
                    <a:cubicBezTo>
                      <a:pt x="41" y="61"/>
                      <a:pt x="50" y="54"/>
                      <a:pt x="60" y="48"/>
                    </a:cubicBezTo>
                    <a:cubicBezTo>
                      <a:pt x="71" y="42"/>
                      <a:pt x="83" y="37"/>
                      <a:pt x="96" y="35"/>
                    </a:cubicBezTo>
                    <a:cubicBezTo>
                      <a:pt x="96" y="0"/>
                      <a:pt x="96" y="0"/>
                      <a:pt x="96" y="0"/>
                    </a:cubicBezTo>
                    <a:cubicBezTo>
                      <a:pt x="123" y="0"/>
                      <a:pt x="123" y="0"/>
                      <a:pt x="123" y="0"/>
                    </a:cubicBezTo>
                    <a:cubicBezTo>
                      <a:pt x="123" y="32"/>
                      <a:pt x="123" y="32"/>
                      <a:pt x="123" y="32"/>
                    </a:cubicBezTo>
                    <a:cubicBezTo>
                      <a:pt x="123" y="32"/>
                      <a:pt x="123" y="32"/>
                      <a:pt x="123" y="32"/>
                    </a:cubicBezTo>
                    <a:cubicBezTo>
                      <a:pt x="137" y="32"/>
                      <a:pt x="149" y="33"/>
                      <a:pt x="161" y="34"/>
                    </a:cubicBezTo>
                    <a:cubicBezTo>
                      <a:pt x="172" y="36"/>
                      <a:pt x="184" y="38"/>
                      <a:pt x="196" y="40"/>
                    </a:cubicBezTo>
                    <a:cubicBezTo>
                      <a:pt x="187" y="87"/>
                      <a:pt x="187" y="87"/>
                      <a:pt x="187" y="87"/>
                    </a:cubicBezTo>
                    <a:cubicBezTo>
                      <a:pt x="176" y="83"/>
                      <a:pt x="166" y="80"/>
                      <a:pt x="155" y="77"/>
                    </a:cubicBezTo>
                    <a:cubicBezTo>
                      <a:pt x="143" y="74"/>
                      <a:pt x="133" y="73"/>
                      <a:pt x="123" y="72"/>
                    </a:cubicBezTo>
                    <a:cubicBezTo>
                      <a:pt x="123" y="159"/>
                      <a:pt x="123" y="159"/>
                      <a:pt x="123" y="159"/>
                    </a:cubicBezTo>
                    <a:cubicBezTo>
                      <a:pt x="132" y="163"/>
                      <a:pt x="143" y="168"/>
                      <a:pt x="153" y="172"/>
                    </a:cubicBezTo>
                    <a:cubicBezTo>
                      <a:pt x="163" y="177"/>
                      <a:pt x="173" y="183"/>
                      <a:pt x="181" y="191"/>
                    </a:cubicBezTo>
                    <a:cubicBezTo>
                      <a:pt x="190" y="198"/>
                      <a:pt x="197" y="208"/>
                      <a:pt x="202" y="219"/>
                    </a:cubicBezTo>
                    <a:cubicBezTo>
                      <a:pt x="207" y="230"/>
                      <a:pt x="210" y="244"/>
                      <a:pt x="210" y="261"/>
                    </a:cubicBezTo>
                    <a:moveTo>
                      <a:pt x="65" y="110"/>
                    </a:moveTo>
                    <a:cubicBezTo>
                      <a:pt x="65" y="119"/>
                      <a:pt x="68" y="127"/>
                      <a:pt x="74" y="133"/>
                    </a:cubicBezTo>
                    <a:cubicBezTo>
                      <a:pt x="80" y="139"/>
                      <a:pt x="87" y="144"/>
                      <a:pt x="96" y="148"/>
                    </a:cubicBezTo>
                    <a:cubicBezTo>
                      <a:pt x="96" y="73"/>
                      <a:pt x="96" y="73"/>
                      <a:pt x="96" y="73"/>
                    </a:cubicBezTo>
                    <a:cubicBezTo>
                      <a:pt x="88" y="74"/>
                      <a:pt x="82" y="76"/>
                      <a:pt x="77" y="79"/>
                    </a:cubicBezTo>
                    <a:cubicBezTo>
                      <a:pt x="73" y="81"/>
                      <a:pt x="70" y="85"/>
                      <a:pt x="68" y="90"/>
                    </a:cubicBezTo>
                    <a:cubicBezTo>
                      <a:pt x="66" y="95"/>
                      <a:pt x="65" y="102"/>
                      <a:pt x="65" y="110"/>
                    </a:cubicBezTo>
                    <a:moveTo>
                      <a:pt x="155" y="269"/>
                    </a:moveTo>
                    <a:cubicBezTo>
                      <a:pt x="155" y="260"/>
                      <a:pt x="152" y="252"/>
                      <a:pt x="146" y="246"/>
                    </a:cubicBezTo>
                    <a:cubicBezTo>
                      <a:pt x="140" y="240"/>
                      <a:pt x="132" y="235"/>
                      <a:pt x="123" y="230"/>
                    </a:cubicBezTo>
                    <a:cubicBezTo>
                      <a:pt x="123" y="316"/>
                      <a:pt x="123" y="316"/>
                      <a:pt x="123" y="316"/>
                    </a:cubicBezTo>
                    <a:cubicBezTo>
                      <a:pt x="126" y="316"/>
                      <a:pt x="129" y="315"/>
                      <a:pt x="132" y="314"/>
                    </a:cubicBezTo>
                    <a:cubicBezTo>
                      <a:pt x="134" y="313"/>
                      <a:pt x="137" y="312"/>
                      <a:pt x="140" y="311"/>
                    </a:cubicBezTo>
                    <a:cubicBezTo>
                      <a:pt x="144" y="309"/>
                      <a:pt x="148" y="305"/>
                      <a:pt x="151" y="298"/>
                    </a:cubicBezTo>
                    <a:cubicBezTo>
                      <a:pt x="154" y="290"/>
                      <a:pt x="155" y="281"/>
                      <a:pt x="155" y="269"/>
                    </a:cubicBezTo>
                  </a:path>
                </a:pathLst>
              </a:custGeom>
              <a:solidFill>
                <a:schemeClr val="bg2"/>
              </a:solidFill>
              <a:ln>
                <a:noFill/>
              </a:ln>
            </p:spPr>
            <p:txBody>
              <a:bodyPr anchor="ctr"/>
              <a:lstStyle/>
              <a:p>
                <a:pPr algn="ctr"/>
              </a:p>
            </p:txBody>
          </p:sp>
          <p:sp>
            <p:nvSpPr>
              <p:cNvPr id="49" name="Freeform: Shape 115"/>
              <p:cNvSpPr/>
              <p:nvPr/>
            </p:nvSpPr>
            <p:spPr bwMode="auto">
              <a:xfrm>
                <a:off x="4183282" y="4288858"/>
                <a:ext cx="888023" cy="1039506"/>
              </a:xfrm>
              <a:custGeom>
                <a:avLst/>
                <a:gdLst>
                  <a:gd name="T0" fmla="*/ 231 w 558"/>
                  <a:gd name="T1" fmla="*/ 391 h 653"/>
                  <a:gd name="T2" fmla="*/ 248 w 558"/>
                  <a:gd name="T3" fmla="*/ 386 h 653"/>
                  <a:gd name="T4" fmla="*/ 263 w 558"/>
                  <a:gd name="T5" fmla="*/ 344 h 653"/>
                  <a:gd name="T6" fmla="*/ 231 w 558"/>
                  <a:gd name="T7" fmla="*/ 305 h 653"/>
                  <a:gd name="T8" fmla="*/ 185 w 558"/>
                  <a:gd name="T9" fmla="*/ 154 h 653"/>
                  <a:gd name="T10" fmla="*/ 173 w 558"/>
                  <a:gd name="T11" fmla="*/ 185 h 653"/>
                  <a:gd name="T12" fmla="*/ 204 w 558"/>
                  <a:gd name="T13" fmla="*/ 223 h 653"/>
                  <a:gd name="T14" fmla="*/ 204 w 558"/>
                  <a:gd name="T15" fmla="*/ 393 h 653"/>
                  <a:gd name="T16" fmla="*/ 174 w 558"/>
                  <a:gd name="T17" fmla="*/ 281 h 653"/>
                  <a:gd name="T18" fmla="*/ 127 w 558"/>
                  <a:gd name="T19" fmla="*/ 235 h 653"/>
                  <a:gd name="T20" fmla="*/ 125 w 558"/>
                  <a:gd name="T21" fmla="*/ 169 h 653"/>
                  <a:gd name="T22" fmla="*/ 168 w 558"/>
                  <a:gd name="T23" fmla="*/ 123 h 653"/>
                  <a:gd name="T24" fmla="*/ 204 w 558"/>
                  <a:gd name="T25" fmla="*/ 75 h 653"/>
                  <a:gd name="T26" fmla="*/ 231 w 558"/>
                  <a:gd name="T27" fmla="*/ 107 h 653"/>
                  <a:gd name="T28" fmla="*/ 269 w 558"/>
                  <a:gd name="T29" fmla="*/ 109 h 653"/>
                  <a:gd name="T30" fmla="*/ 295 w 558"/>
                  <a:gd name="T31" fmla="*/ 162 h 653"/>
                  <a:gd name="T32" fmla="*/ 231 w 558"/>
                  <a:gd name="T33" fmla="*/ 147 h 653"/>
                  <a:gd name="T34" fmla="*/ 261 w 558"/>
                  <a:gd name="T35" fmla="*/ 247 h 653"/>
                  <a:gd name="T36" fmla="*/ 310 w 558"/>
                  <a:gd name="T37" fmla="*/ 294 h 653"/>
                  <a:gd name="T38" fmla="*/ 312 w 558"/>
                  <a:gd name="T39" fmla="*/ 365 h 653"/>
                  <a:gd name="T40" fmla="*/ 267 w 558"/>
                  <a:gd name="T41" fmla="*/ 416 h 653"/>
                  <a:gd name="T42" fmla="*/ 231 w 558"/>
                  <a:gd name="T43" fmla="*/ 467 h 653"/>
                  <a:gd name="T44" fmla="*/ 204 w 558"/>
                  <a:gd name="T45" fmla="*/ 433 h 653"/>
                  <a:gd name="T46" fmla="*/ 199 w 558"/>
                  <a:gd name="T47" fmla="*/ 433 h 653"/>
                  <a:gd name="T48" fmla="*/ 149 w 558"/>
                  <a:gd name="T49" fmla="*/ 427 h 653"/>
                  <a:gd name="T50" fmla="*/ 108 w 558"/>
                  <a:gd name="T51" fmla="*/ 410 h 653"/>
                  <a:gd name="T52" fmla="*/ 139 w 558"/>
                  <a:gd name="T53" fmla="*/ 372 h 653"/>
                  <a:gd name="T54" fmla="*/ 182 w 558"/>
                  <a:gd name="T55" fmla="*/ 389 h 653"/>
                  <a:gd name="T56" fmla="*/ 279 w 558"/>
                  <a:gd name="T57" fmla="*/ 0 h 653"/>
                  <a:gd name="T58" fmla="*/ 279 w 558"/>
                  <a:gd name="T59" fmla="*/ 558 h 653"/>
                  <a:gd name="T60" fmla="*/ 405 w 558"/>
                  <a:gd name="T61" fmla="*/ 653 h 653"/>
                  <a:gd name="T62" fmla="*/ 558 w 558"/>
                  <a:gd name="T63" fmla="*/ 279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8" h="653">
                    <a:moveTo>
                      <a:pt x="231" y="305"/>
                    </a:moveTo>
                    <a:cubicBezTo>
                      <a:pt x="231" y="391"/>
                      <a:pt x="231" y="391"/>
                      <a:pt x="231" y="391"/>
                    </a:cubicBezTo>
                    <a:cubicBezTo>
                      <a:pt x="234" y="391"/>
                      <a:pt x="237" y="390"/>
                      <a:pt x="240" y="389"/>
                    </a:cubicBezTo>
                    <a:cubicBezTo>
                      <a:pt x="242" y="388"/>
                      <a:pt x="245" y="387"/>
                      <a:pt x="248" y="386"/>
                    </a:cubicBezTo>
                    <a:cubicBezTo>
                      <a:pt x="252" y="384"/>
                      <a:pt x="256" y="380"/>
                      <a:pt x="259" y="373"/>
                    </a:cubicBezTo>
                    <a:cubicBezTo>
                      <a:pt x="262" y="365"/>
                      <a:pt x="263" y="356"/>
                      <a:pt x="263" y="344"/>
                    </a:cubicBezTo>
                    <a:cubicBezTo>
                      <a:pt x="263" y="335"/>
                      <a:pt x="260" y="327"/>
                      <a:pt x="254" y="321"/>
                    </a:cubicBezTo>
                    <a:cubicBezTo>
                      <a:pt x="248" y="315"/>
                      <a:pt x="240" y="310"/>
                      <a:pt x="231" y="305"/>
                    </a:cubicBezTo>
                    <a:moveTo>
                      <a:pt x="204" y="148"/>
                    </a:moveTo>
                    <a:cubicBezTo>
                      <a:pt x="196" y="149"/>
                      <a:pt x="190" y="151"/>
                      <a:pt x="185" y="154"/>
                    </a:cubicBezTo>
                    <a:cubicBezTo>
                      <a:pt x="181" y="156"/>
                      <a:pt x="178" y="160"/>
                      <a:pt x="176" y="165"/>
                    </a:cubicBezTo>
                    <a:cubicBezTo>
                      <a:pt x="174" y="170"/>
                      <a:pt x="173" y="177"/>
                      <a:pt x="173" y="185"/>
                    </a:cubicBezTo>
                    <a:cubicBezTo>
                      <a:pt x="173" y="194"/>
                      <a:pt x="176" y="202"/>
                      <a:pt x="182" y="208"/>
                    </a:cubicBezTo>
                    <a:cubicBezTo>
                      <a:pt x="188" y="214"/>
                      <a:pt x="195" y="219"/>
                      <a:pt x="204" y="223"/>
                    </a:cubicBezTo>
                    <a:cubicBezTo>
                      <a:pt x="204" y="148"/>
                      <a:pt x="204" y="148"/>
                      <a:pt x="204" y="148"/>
                    </a:cubicBezTo>
                    <a:moveTo>
                      <a:pt x="204" y="393"/>
                    </a:moveTo>
                    <a:cubicBezTo>
                      <a:pt x="204" y="294"/>
                      <a:pt x="204" y="294"/>
                      <a:pt x="204" y="294"/>
                    </a:cubicBezTo>
                    <a:cubicBezTo>
                      <a:pt x="194" y="290"/>
                      <a:pt x="184" y="286"/>
                      <a:pt x="174" y="281"/>
                    </a:cubicBezTo>
                    <a:cubicBezTo>
                      <a:pt x="164" y="276"/>
                      <a:pt x="155" y="270"/>
                      <a:pt x="147" y="263"/>
                    </a:cubicBezTo>
                    <a:cubicBezTo>
                      <a:pt x="138" y="255"/>
                      <a:pt x="132" y="246"/>
                      <a:pt x="127" y="235"/>
                    </a:cubicBezTo>
                    <a:cubicBezTo>
                      <a:pt x="121" y="224"/>
                      <a:pt x="119" y="211"/>
                      <a:pt x="119" y="194"/>
                    </a:cubicBezTo>
                    <a:cubicBezTo>
                      <a:pt x="119" y="186"/>
                      <a:pt x="121" y="178"/>
                      <a:pt x="125" y="169"/>
                    </a:cubicBezTo>
                    <a:cubicBezTo>
                      <a:pt x="129" y="160"/>
                      <a:pt x="134" y="152"/>
                      <a:pt x="141" y="144"/>
                    </a:cubicBezTo>
                    <a:cubicBezTo>
                      <a:pt x="149" y="136"/>
                      <a:pt x="158" y="129"/>
                      <a:pt x="168" y="123"/>
                    </a:cubicBezTo>
                    <a:cubicBezTo>
                      <a:pt x="179" y="117"/>
                      <a:pt x="191" y="112"/>
                      <a:pt x="204" y="110"/>
                    </a:cubicBezTo>
                    <a:cubicBezTo>
                      <a:pt x="204" y="75"/>
                      <a:pt x="204" y="75"/>
                      <a:pt x="204" y="75"/>
                    </a:cubicBezTo>
                    <a:cubicBezTo>
                      <a:pt x="231" y="75"/>
                      <a:pt x="231" y="75"/>
                      <a:pt x="231" y="75"/>
                    </a:cubicBezTo>
                    <a:cubicBezTo>
                      <a:pt x="231" y="107"/>
                      <a:pt x="231" y="107"/>
                      <a:pt x="231" y="107"/>
                    </a:cubicBezTo>
                    <a:cubicBezTo>
                      <a:pt x="231" y="107"/>
                      <a:pt x="231" y="107"/>
                      <a:pt x="231" y="107"/>
                    </a:cubicBezTo>
                    <a:cubicBezTo>
                      <a:pt x="245" y="107"/>
                      <a:pt x="257" y="108"/>
                      <a:pt x="269" y="109"/>
                    </a:cubicBezTo>
                    <a:cubicBezTo>
                      <a:pt x="280" y="111"/>
                      <a:pt x="292" y="113"/>
                      <a:pt x="304" y="115"/>
                    </a:cubicBezTo>
                    <a:cubicBezTo>
                      <a:pt x="295" y="162"/>
                      <a:pt x="295" y="162"/>
                      <a:pt x="295" y="162"/>
                    </a:cubicBezTo>
                    <a:cubicBezTo>
                      <a:pt x="284" y="158"/>
                      <a:pt x="274" y="155"/>
                      <a:pt x="263" y="152"/>
                    </a:cubicBezTo>
                    <a:cubicBezTo>
                      <a:pt x="251" y="149"/>
                      <a:pt x="241" y="148"/>
                      <a:pt x="231" y="147"/>
                    </a:cubicBezTo>
                    <a:cubicBezTo>
                      <a:pt x="231" y="234"/>
                      <a:pt x="231" y="234"/>
                      <a:pt x="231" y="234"/>
                    </a:cubicBezTo>
                    <a:cubicBezTo>
                      <a:pt x="240" y="238"/>
                      <a:pt x="251" y="243"/>
                      <a:pt x="261" y="247"/>
                    </a:cubicBezTo>
                    <a:cubicBezTo>
                      <a:pt x="271" y="252"/>
                      <a:pt x="281" y="258"/>
                      <a:pt x="289" y="266"/>
                    </a:cubicBezTo>
                    <a:cubicBezTo>
                      <a:pt x="298" y="273"/>
                      <a:pt x="305" y="283"/>
                      <a:pt x="310" y="294"/>
                    </a:cubicBezTo>
                    <a:cubicBezTo>
                      <a:pt x="315" y="305"/>
                      <a:pt x="318" y="319"/>
                      <a:pt x="318" y="336"/>
                    </a:cubicBezTo>
                    <a:cubicBezTo>
                      <a:pt x="318" y="346"/>
                      <a:pt x="316" y="356"/>
                      <a:pt x="312" y="365"/>
                    </a:cubicBezTo>
                    <a:cubicBezTo>
                      <a:pt x="308" y="375"/>
                      <a:pt x="302" y="385"/>
                      <a:pt x="295" y="393"/>
                    </a:cubicBezTo>
                    <a:cubicBezTo>
                      <a:pt x="287" y="402"/>
                      <a:pt x="278" y="409"/>
                      <a:pt x="267" y="416"/>
                    </a:cubicBezTo>
                    <a:cubicBezTo>
                      <a:pt x="256" y="422"/>
                      <a:pt x="244" y="427"/>
                      <a:pt x="231" y="430"/>
                    </a:cubicBezTo>
                    <a:cubicBezTo>
                      <a:pt x="231" y="467"/>
                      <a:pt x="231" y="467"/>
                      <a:pt x="231" y="467"/>
                    </a:cubicBezTo>
                    <a:cubicBezTo>
                      <a:pt x="204" y="467"/>
                      <a:pt x="204" y="467"/>
                      <a:pt x="204" y="467"/>
                    </a:cubicBezTo>
                    <a:cubicBezTo>
                      <a:pt x="204" y="433"/>
                      <a:pt x="204" y="433"/>
                      <a:pt x="204" y="433"/>
                    </a:cubicBezTo>
                    <a:cubicBezTo>
                      <a:pt x="203" y="433"/>
                      <a:pt x="202" y="433"/>
                      <a:pt x="202" y="433"/>
                    </a:cubicBezTo>
                    <a:cubicBezTo>
                      <a:pt x="201" y="433"/>
                      <a:pt x="200" y="433"/>
                      <a:pt x="199" y="433"/>
                    </a:cubicBezTo>
                    <a:cubicBezTo>
                      <a:pt x="190" y="433"/>
                      <a:pt x="181" y="433"/>
                      <a:pt x="172" y="432"/>
                    </a:cubicBezTo>
                    <a:cubicBezTo>
                      <a:pt x="164" y="431"/>
                      <a:pt x="156" y="429"/>
                      <a:pt x="149" y="427"/>
                    </a:cubicBezTo>
                    <a:cubicBezTo>
                      <a:pt x="142" y="425"/>
                      <a:pt x="135" y="423"/>
                      <a:pt x="128" y="420"/>
                    </a:cubicBezTo>
                    <a:cubicBezTo>
                      <a:pt x="121" y="417"/>
                      <a:pt x="115" y="414"/>
                      <a:pt x="108" y="410"/>
                    </a:cubicBezTo>
                    <a:cubicBezTo>
                      <a:pt x="123" y="363"/>
                      <a:pt x="123" y="363"/>
                      <a:pt x="123" y="363"/>
                    </a:cubicBezTo>
                    <a:cubicBezTo>
                      <a:pt x="127" y="366"/>
                      <a:pt x="133" y="369"/>
                      <a:pt x="139" y="372"/>
                    </a:cubicBezTo>
                    <a:cubicBezTo>
                      <a:pt x="145" y="376"/>
                      <a:pt x="152" y="379"/>
                      <a:pt x="159" y="381"/>
                    </a:cubicBezTo>
                    <a:cubicBezTo>
                      <a:pt x="167" y="384"/>
                      <a:pt x="174" y="387"/>
                      <a:pt x="182" y="389"/>
                    </a:cubicBezTo>
                    <a:cubicBezTo>
                      <a:pt x="190" y="391"/>
                      <a:pt x="197" y="392"/>
                      <a:pt x="204" y="393"/>
                    </a:cubicBezTo>
                    <a:moveTo>
                      <a:pt x="279" y="0"/>
                    </a:moveTo>
                    <a:cubicBezTo>
                      <a:pt x="125" y="0"/>
                      <a:pt x="0" y="125"/>
                      <a:pt x="0" y="279"/>
                    </a:cubicBezTo>
                    <a:cubicBezTo>
                      <a:pt x="0" y="433"/>
                      <a:pt x="125" y="558"/>
                      <a:pt x="279" y="558"/>
                    </a:cubicBezTo>
                    <a:cubicBezTo>
                      <a:pt x="284" y="558"/>
                      <a:pt x="288" y="558"/>
                      <a:pt x="292" y="558"/>
                    </a:cubicBezTo>
                    <a:cubicBezTo>
                      <a:pt x="405" y="653"/>
                      <a:pt x="405" y="653"/>
                      <a:pt x="405" y="653"/>
                    </a:cubicBezTo>
                    <a:cubicBezTo>
                      <a:pt x="417" y="522"/>
                      <a:pt x="417" y="522"/>
                      <a:pt x="417" y="522"/>
                    </a:cubicBezTo>
                    <a:cubicBezTo>
                      <a:pt x="501" y="474"/>
                      <a:pt x="558" y="383"/>
                      <a:pt x="558" y="279"/>
                    </a:cubicBezTo>
                    <a:cubicBezTo>
                      <a:pt x="558" y="125"/>
                      <a:pt x="433" y="0"/>
                      <a:pt x="279"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Freeform: Shape 116"/>
              <p:cNvSpPr/>
              <p:nvPr/>
            </p:nvSpPr>
            <p:spPr bwMode="auto">
              <a:xfrm>
                <a:off x="4354962" y="4408698"/>
                <a:ext cx="334608" cy="624108"/>
              </a:xfrm>
              <a:custGeom>
                <a:avLst/>
                <a:gdLst>
                  <a:gd name="T0" fmla="*/ 123 w 210"/>
                  <a:gd name="T1" fmla="*/ 316 h 392"/>
                  <a:gd name="T2" fmla="*/ 123 w 210"/>
                  <a:gd name="T3" fmla="*/ 230 h 392"/>
                  <a:gd name="T4" fmla="*/ 146 w 210"/>
                  <a:gd name="T5" fmla="*/ 246 h 392"/>
                  <a:gd name="T6" fmla="*/ 155 w 210"/>
                  <a:gd name="T7" fmla="*/ 269 h 392"/>
                  <a:gd name="T8" fmla="*/ 151 w 210"/>
                  <a:gd name="T9" fmla="*/ 298 h 392"/>
                  <a:gd name="T10" fmla="*/ 140 w 210"/>
                  <a:gd name="T11" fmla="*/ 311 h 392"/>
                  <a:gd name="T12" fmla="*/ 132 w 210"/>
                  <a:gd name="T13" fmla="*/ 314 h 392"/>
                  <a:gd name="T14" fmla="*/ 123 w 210"/>
                  <a:gd name="T15" fmla="*/ 316 h 392"/>
                  <a:gd name="T16" fmla="*/ 96 w 210"/>
                  <a:gd name="T17" fmla="*/ 148 h 392"/>
                  <a:gd name="T18" fmla="*/ 74 w 210"/>
                  <a:gd name="T19" fmla="*/ 133 h 392"/>
                  <a:gd name="T20" fmla="*/ 65 w 210"/>
                  <a:gd name="T21" fmla="*/ 110 h 392"/>
                  <a:gd name="T22" fmla="*/ 68 w 210"/>
                  <a:gd name="T23" fmla="*/ 90 h 392"/>
                  <a:gd name="T24" fmla="*/ 77 w 210"/>
                  <a:gd name="T25" fmla="*/ 79 h 392"/>
                  <a:gd name="T26" fmla="*/ 96 w 210"/>
                  <a:gd name="T27" fmla="*/ 73 h 392"/>
                  <a:gd name="T28" fmla="*/ 96 w 210"/>
                  <a:gd name="T29" fmla="*/ 148 h 392"/>
                  <a:gd name="T30" fmla="*/ 123 w 210"/>
                  <a:gd name="T31" fmla="*/ 0 h 392"/>
                  <a:gd name="T32" fmla="*/ 96 w 210"/>
                  <a:gd name="T33" fmla="*/ 0 h 392"/>
                  <a:gd name="T34" fmla="*/ 96 w 210"/>
                  <a:gd name="T35" fmla="*/ 35 h 392"/>
                  <a:gd name="T36" fmla="*/ 60 w 210"/>
                  <a:gd name="T37" fmla="*/ 48 h 392"/>
                  <a:gd name="T38" fmla="*/ 33 w 210"/>
                  <a:gd name="T39" fmla="*/ 69 h 392"/>
                  <a:gd name="T40" fmla="*/ 17 w 210"/>
                  <a:gd name="T41" fmla="*/ 94 h 392"/>
                  <a:gd name="T42" fmla="*/ 11 w 210"/>
                  <a:gd name="T43" fmla="*/ 119 h 392"/>
                  <a:gd name="T44" fmla="*/ 19 w 210"/>
                  <a:gd name="T45" fmla="*/ 160 h 392"/>
                  <a:gd name="T46" fmla="*/ 39 w 210"/>
                  <a:gd name="T47" fmla="*/ 188 h 392"/>
                  <a:gd name="T48" fmla="*/ 66 w 210"/>
                  <a:gd name="T49" fmla="*/ 206 h 392"/>
                  <a:gd name="T50" fmla="*/ 96 w 210"/>
                  <a:gd name="T51" fmla="*/ 219 h 392"/>
                  <a:gd name="T52" fmla="*/ 96 w 210"/>
                  <a:gd name="T53" fmla="*/ 318 h 392"/>
                  <a:gd name="T54" fmla="*/ 74 w 210"/>
                  <a:gd name="T55" fmla="*/ 314 h 392"/>
                  <a:gd name="T56" fmla="*/ 51 w 210"/>
                  <a:gd name="T57" fmla="*/ 306 h 392"/>
                  <a:gd name="T58" fmla="*/ 31 w 210"/>
                  <a:gd name="T59" fmla="*/ 297 h 392"/>
                  <a:gd name="T60" fmla="*/ 15 w 210"/>
                  <a:gd name="T61" fmla="*/ 288 h 392"/>
                  <a:gd name="T62" fmla="*/ 0 w 210"/>
                  <a:gd name="T63" fmla="*/ 335 h 392"/>
                  <a:gd name="T64" fmla="*/ 20 w 210"/>
                  <a:gd name="T65" fmla="*/ 345 h 392"/>
                  <a:gd name="T66" fmla="*/ 41 w 210"/>
                  <a:gd name="T67" fmla="*/ 352 h 392"/>
                  <a:gd name="T68" fmla="*/ 64 w 210"/>
                  <a:gd name="T69" fmla="*/ 357 h 392"/>
                  <a:gd name="T70" fmla="*/ 91 w 210"/>
                  <a:gd name="T71" fmla="*/ 358 h 392"/>
                  <a:gd name="T72" fmla="*/ 94 w 210"/>
                  <a:gd name="T73" fmla="*/ 358 h 392"/>
                  <a:gd name="T74" fmla="*/ 96 w 210"/>
                  <a:gd name="T75" fmla="*/ 358 h 392"/>
                  <a:gd name="T76" fmla="*/ 96 w 210"/>
                  <a:gd name="T77" fmla="*/ 392 h 392"/>
                  <a:gd name="T78" fmla="*/ 123 w 210"/>
                  <a:gd name="T79" fmla="*/ 392 h 392"/>
                  <a:gd name="T80" fmla="*/ 123 w 210"/>
                  <a:gd name="T81" fmla="*/ 355 h 392"/>
                  <a:gd name="T82" fmla="*/ 159 w 210"/>
                  <a:gd name="T83" fmla="*/ 341 h 392"/>
                  <a:gd name="T84" fmla="*/ 187 w 210"/>
                  <a:gd name="T85" fmla="*/ 318 h 392"/>
                  <a:gd name="T86" fmla="*/ 204 w 210"/>
                  <a:gd name="T87" fmla="*/ 290 h 392"/>
                  <a:gd name="T88" fmla="*/ 210 w 210"/>
                  <a:gd name="T89" fmla="*/ 261 h 392"/>
                  <a:gd name="T90" fmla="*/ 202 w 210"/>
                  <a:gd name="T91" fmla="*/ 219 h 392"/>
                  <a:gd name="T92" fmla="*/ 181 w 210"/>
                  <a:gd name="T93" fmla="*/ 191 h 392"/>
                  <a:gd name="T94" fmla="*/ 153 w 210"/>
                  <a:gd name="T95" fmla="*/ 172 h 392"/>
                  <a:gd name="T96" fmla="*/ 123 w 210"/>
                  <a:gd name="T97" fmla="*/ 159 h 392"/>
                  <a:gd name="T98" fmla="*/ 123 w 210"/>
                  <a:gd name="T99" fmla="*/ 72 h 392"/>
                  <a:gd name="T100" fmla="*/ 155 w 210"/>
                  <a:gd name="T101" fmla="*/ 77 h 392"/>
                  <a:gd name="T102" fmla="*/ 187 w 210"/>
                  <a:gd name="T103" fmla="*/ 87 h 392"/>
                  <a:gd name="T104" fmla="*/ 196 w 210"/>
                  <a:gd name="T105" fmla="*/ 40 h 392"/>
                  <a:gd name="T106" fmla="*/ 161 w 210"/>
                  <a:gd name="T107" fmla="*/ 34 h 392"/>
                  <a:gd name="T108" fmla="*/ 123 w 210"/>
                  <a:gd name="T109" fmla="*/ 32 h 392"/>
                  <a:gd name="T110" fmla="*/ 123 w 210"/>
                  <a:gd name="T111" fmla="*/ 32 h 392"/>
                  <a:gd name="T112" fmla="*/ 123 w 210"/>
                  <a:gd name="T11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123" y="316"/>
                    </a:moveTo>
                    <a:cubicBezTo>
                      <a:pt x="123" y="230"/>
                      <a:pt x="123" y="230"/>
                      <a:pt x="123" y="230"/>
                    </a:cubicBezTo>
                    <a:cubicBezTo>
                      <a:pt x="132" y="235"/>
                      <a:pt x="140" y="240"/>
                      <a:pt x="146" y="246"/>
                    </a:cubicBezTo>
                    <a:cubicBezTo>
                      <a:pt x="152" y="252"/>
                      <a:pt x="155" y="260"/>
                      <a:pt x="155" y="269"/>
                    </a:cubicBezTo>
                    <a:cubicBezTo>
                      <a:pt x="155" y="281"/>
                      <a:pt x="154" y="290"/>
                      <a:pt x="151" y="298"/>
                    </a:cubicBezTo>
                    <a:cubicBezTo>
                      <a:pt x="148" y="305"/>
                      <a:pt x="144" y="309"/>
                      <a:pt x="140" y="311"/>
                    </a:cubicBezTo>
                    <a:cubicBezTo>
                      <a:pt x="137" y="312"/>
                      <a:pt x="134" y="313"/>
                      <a:pt x="132" y="314"/>
                    </a:cubicBezTo>
                    <a:cubicBezTo>
                      <a:pt x="129" y="315"/>
                      <a:pt x="126" y="316"/>
                      <a:pt x="123" y="316"/>
                    </a:cubicBezTo>
                    <a:moveTo>
                      <a:pt x="96" y="148"/>
                    </a:moveTo>
                    <a:cubicBezTo>
                      <a:pt x="87" y="144"/>
                      <a:pt x="80" y="139"/>
                      <a:pt x="74" y="133"/>
                    </a:cubicBezTo>
                    <a:cubicBezTo>
                      <a:pt x="68" y="127"/>
                      <a:pt x="65" y="119"/>
                      <a:pt x="65" y="110"/>
                    </a:cubicBezTo>
                    <a:cubicBezTo>
                      <a:pt x="65" y="102"/>
                      <a:pt x="66" y="95"/>
                      <a:pt x="68" y="90"/>
                    </a:cubicBezTo>
                    <a:cubicBezTo>
                      <a:pt x="70" y="85"/>
                      <a:pt x="73" y="81"/>
                      <a:pt x="77" y="79"/>
                    </a:cubicBezTo>
                    <a:cubicBezTo>
                      <a:pt x="82" y="76"/>
                      <a:pt x="88" y="74"/>
                      <a:pt x="96" y="73"/>
                    </a:cubicBezTo>
                    <a:cubicBezTo>
                      <a:pt x="96" y="148"/>
                      <a:pt x="96" y="148"/>
                      <a:pt x="96" y="148"/>
                    </a:cubicBezTo>
                    <a:moveTo>
                      <a:pt x="123" y="0"/>
                    </a:moveTo>
                    <a:cubicBezTo>
                      <a:pt x="96" y="0"/>
                      <a:pt x="96" y="0"/>
                      <a:pt x="96" y="0"/>
                    </a:cubicBezTo>
                    <a:cubicBezTo>
                      <a:pt x="96" y="35"/>
                      <a:pt x="96" y="35"/>
                      <a:pt x="96" y="35"/>
                    </a:cubicBezTo>
                    <a:cubicBezTo>
                      <a:pt x="83" y="37"/>
                      <a:pt x="71" y="42"/>
                      <a:pt x="60" y="48"/>
                    </a:cubicBezTo>
                    <a:cubicBezTo>
                      <a:pt x="50" y="54"/>
                      <a:pt x="41" y="61"/>
                      <a:pt x="33" y="69"/>
                    </a:cubicBezTo>
                    <a:cubicBezTo>
                      <a:pt x="26" y="77"/>
                      <a:pt x="21" y="85"/>
                      <a:pt x="17" y="94"/>
                    </a:cubicBezTo>
                    <a:cubicBezTo>
                      <a:pt x="13" y="103"/>
                      <a:pt x="11" y="111"/>
                      <a:pt x="11" y="119"/>
                    </a:cubicBezTo>
                    <a:cubicBezTo>
                      <a:pt x="11" y="136"/>
                      <a:pt x="13" y="149"/>
                      <a:pt x="19" y="160"/>
                    </a:cubicBezTo>
                    <a:cubicBezTo>
                      <a:pt x="24" y="171"/>
                      <a:pt x="30" y="180"/>
                      <a:pt x="39" y="188"/>
                    </a:cubicBezTo>
                    <a:cubicBezTo>
                      <a:pt x="47" y="195"/>
                      <a:pt x="56" y="201"/>
                      <a:pt x="66" y="206"/>
                    </a:cubicBezTo>
                    <a:cubicBezTo>
                      <a:pt x="76" y="211"/>
                      <a:pt x="86" y="215"/>
                      <a:pt x="96" y="219"/>
                    </a:cubicBezTo>
                    <a:cubicBezTo>
                      <a:pt x="96" y="318"/>
                      <a:pt x="96" y="318"/>
                      <a:pt x="96" y="318"/>
                    </a:cubicBezTo>
                    <a:cubicBezTo>
                      <a:pt x="89" y="317"/>
                      <a:pt x="82" y="316"/>
                      <a:pt x="74" y="314"/>
                    </a:cubicBezTo>
                    <a:cubicBezTo>
                      <a:pt x="66" y="312"/>
                      <a:pt x="59" y="309"/>
                      <a:pt x="51" y="306"/>
                    </a:cubicBezTo>
                    <a:cubicBezTo>
                      <a:pt x="44" y="304"/>
                      <a:pt x="37" y="301"/>
                      <a:pt x="31" y="297"/>
                    </a:cubicBezTo>
                    <a:cubicBezTo>
                      <a:pt x="25" y="294"/>
                      <a:pt x="19" y="291"/>
                      <a:pt x="15" y="288"/>
                    </a:cubicBezTo>
                    <a:cubicBezTo>
                      <a:pt x="0" y="335"/>
                      <a:pt x="0" y="335"/>
                      <a:pt x="0" y="335"/>
                    </a:cubicBezTo>
                    <a:cubicBezTo>
                      <a:pt x="7" y="339"/>
                      <a:pt x="13" y="342"/>
                      <a:pt x="20" y="345"/>
                    </a:cubicBezTo>
                    <a:cubicBezTo>
                      <a:pt x="27" y="348"/>
                      <a:pt x="34" y="350"/>
                      <a:pt x="41" y="352"/>
                    </a:cubicBezTo>
                    <a:cubicBezTo>
                      <a:pt x="48" y="354"/>
                      <a:pt x="56" y="356"/>
                      <a:pt x="64" y="357"/>
                    </a:cubicBezTo>
                    <a:cubicBezTo>
                      <a:pt x="73" y="358"/>
                      <a:pt x="82" y="358"/>
                      <a:pt x="91" y="358"/>
                    </a:cubicBezTo>
                    <a:cubicBezTo>
                      <a:pt x="92" y="358"/>
                      <a:pt x="93" y="358"/>
                      <a:pt x="94" y="358"/>
                    </a:cubicBezTo>
                    <a:cubicBezTo>
                      <a:pt x="94" y="358"/>
                      <a:pt x="95" y="358"/>
                      <a:pt x="96" y="358"/>
                    </a:cubicBezTo>
                    <a:cubicBezTo>
                      <a:pt x="96" y="392"/>
                      <a:pt x="96" y="392"/>
                      <a:pt x="96" y="392"/>
                    </a:cubicBezTo>
                    <a:cubicBezTo>
                      <a:pt x="123" y="392"/>
                      <a:pt x="123" y="392"/>
                      <a:pt x="123" y="392"/>
                    </a:cubicBezTo>
                    <a:cubicBezTo>
                      <a:pt x="123" y="355"/>
                      <a:pt x="123" y="355"/>
                      <a:pt x="123" y="355"/>
                    </a:cubicBezTo>
                    <a:cubicBezTo>
                      <a:pt x="136" y="352"/>
                      <a:pt x="148" y="347"/>
                      <a:pt x="159" y="341"/>
                    </a:cubicBezTo>
                    <a:cubicBezTo>
                      <a:pt x="170" y="334"/>
                      <a:pt x="179" y="327"/>
                      <a:pt x="187" y="318"/>
                    </a:cubicBezTo>
                    <a:cubicBezTo>
                      <a:pt x="194" y="310"/>
                      <a:pt x="200" y="300"/>
                      <a:pt x="204" y="290"/>
                    </a:cubicBezTo>
                    <a:cubicBezTo>
                      <a:pt x="208" y="281"/>
                      <a:pt x="210" y="271"/>
                      <a:pt x="210" y="261"/>
                    </a:cubicBezTo>
                    <a:cubicBezTo>
                      <a:pt x="210" y="244"/>
                      <a:pt x="207" y="230"/>
                      <a:pt x="202" y="219"/>
                    </a:cubicBezTo>
                    <a:cubicBezTo>
                      <a:pt x="197" y="208"/>
                      <a:pt x="190" y="198"/>
                      <a:pt x="181" y="191"/>
                    </a:cubicBezTo>
                    <a:cubicBezTo>
                      <a:pt x="173" y="183"/>
                      <a:pt x="163" y="177"/>
                      <a:pt x="153" y="172"/>
                    </a:cubicBezTo>
                    <a:cubicBezTo>
                      <a:pt x="143" y="168"/>
                      <a:pt x="132" y="163"/>
                      <a:pt x="123" y="159"/>
                    </a:cubicBezTo>
                    <a:cubicBezTo>
                      <a:pt x="123" y="72"/>
                      <a:pt x="123" y="72"/>
                      <a:pt x="123" y="72"/>
                    </a:cubicBezTo>
                    <a:cubicBezTo>
                      <a:pt x="133" y="73"/>
                      <a:pt x="143" y="74"/>
                      <a:pt x="155" y="77"/>
                    </a:cubicBezTo>
                    <a:cubicBezTo>
                      <a:pt x="166" y="80"/>
                      <a:pt x="176" y="83"/>
                      <a:pt x="187" y="87"/>
                    </a:cubicBezTo>
                    <a:cubicBezTo>
                      <a:pt x="196" y="40"/>
                      <a:pt x="196" y="40"/>
                      <a:pt x="196" y="40"/>
                    </a:cubicBezTo>
                    <a:cubicBezTo>
                      <a:pt x="184" y="38"/>
                      <a:pt x="172" y="36"/>
                      <a:pt x="161" y="34"/>
                    </a:cubicBezTo>
                    <a:cubicBezTo>
                      <a:pt x="149" y="33"/>
                      <a:pt x="137" y="32"/>
                      <a:pt x="123" y="32"/>
                    </a:cubicBezTo>
                    <a:cubicBezTo>
                      <a:pt x="123" y="32"/>
                      <a:pt x="123" y="32"/>
                      <a:pt x="123" y="32"/>
                    </a:cubicBezTo>
                    <a:cubicBezTo>
                      <a:pt x="123" y="0"/>
                      <a:pt x="123" y="0"/>
                      <a:pt x="123" y="0"/>
                    </a:cubicBezTo>
                  </a:path>
                </a:pathLst>
              </a:custGeom>
              <a:solidFill>
                <a:schemeClr val="bg2"/>
              </a:solidFill>
              <a:ln>
                <a:noFill/>
              </a:ln>
            </p:spPr>
            <p:txBody>
              <a:bodyPr anchor="ctr"/>
              <a:lstStyle/>
              <a:p>
                <a:pPr algn="ctr"/>
              </a:p>
            </p:txBody>
          </p:sp>
          <p:sp>
            <p:nvSpPr>
              <p:cNvPr id="51" name="Freeform: Shape 117"/>
              <p:cNvSpPr/>
              <p:nvPr/>
            </p:nvSpPr>
            <p:spPr bwMode="auto">
              <a:xfrm>
                <a:off x="4098452" y="4268661"/>
                <a:ext cx="888697" cy="1039506"/>
              </a:xfrm>
              <a:custGeom>
                <a:avLst/>
                <a:gdLst>
                  <a:gd name="T0" fmla="*/ 558 w 558"/>
                  <a:gd name="T1" fmla="*/ 279 h 653"/>
                  <a:gd name="T2" fmla="*/ 279 w 558"/>
                  <a:gd name="T3" fmla="*/ 0 h 653"/>
                  <a:gd name="T4" fmla="*/ 0 w 558"/>
                  <a:gd name="T5" fmla="*/ 279 h 653"/>
                  <a:gd name="T6" fmla="*/ 279 w 558"/>
                  <a:gd name="T7" fmla="*/ 558 h 653"/>
                  <a:gd name="T8" fmla="*/ 292 w 558"/>
                  <a:gd name="T9" fmla="*/ 558 h 653"/>
                  <a:gd name="T10" fmla="*/ 404 w 558"/>
                  <a:gd name="T11" fmla="*/ 653 h 653"/>
                  <a:gd name="T12" fmla="*/ 416 w 558"/>
                  <a:gd name="T13" fmla="*/ 522 h 653"/>
                  <a:gd name="T14" fmla="*/ 558 w 558"/>
                  <a:gd name="T15" fmla="*/ 279 h 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653">
                    <a:moveTo>
                      <a:pt x="558" y="279"/>
                    </a:moveTo>
                    <a:cubicBezTo>
                      <a:pt x="558" y="125"/>
                      <a:pt x="433" y="0"/>
                      <a:pt x="279" y="0"/>
                    </a:cubicBezTo>
                    <a:cubicBezTo>
                      <a:pt x="125" y="0"/>
                      <a:pt x="0" y="125"/>
                      <a:pt x="0" y="279"/>
                    </a:cubicBezTo>
                    <a:cubicBezTo>
                      <a:pt x="0" y="433"/>
                      <a:pt x="125" y="558"/>
                      <a:pt x="279" y="558"/>
                    </a:cubicBezTo>
                    <a:cubicBezTo>
                      <a:pt x="283" y="558"/>
                      <a:pt x="287" y="558"/>
                      <a:pt x="292" y="558"/>
                    </a:cubicBezTo>
                    <a:cubicBezTo>
                      <a:pt x="404" y="653"/>
                      <a:pt x="404" y="653"/>
                      <a:pt x="404" y="653"/>
                    </a:cubicBezTo>
                    <a:cubicBezTo>
                      <a:pt x="416" y="522"/>
                      <a:pt x="416" y="522"/>
                      <a:pt x="416" y="522"/>
                    </a:cubicBezTo>
                    <a:cubicBezTo>
                      <a:pt x="501" y="474"/>
                      <a:pt x="558" y="383"/>
                      <a:pt x="558" y="279"/>
                    </a:cubicBezTo>
                    <a:close/>
                  </a:path>
                </a:pathLst>
              </a:custGeom>
              <a:solidFill>
                <a:schemeClr val="accent1"/>
              </a:solidFill>
              <a:ln>
                <a:noFill/>
              </a:ln>
            </p:spPr>
            <p:txBody>
              <a:bodyPr anchor="ctr"/>
              <a:lstStyle/>
              <a:p>
                <a:pPr algn="ctr"/>
              </a:p>
            </p:txBody>
          </p:sp>
          <p:sp>
            <p:nvSpPr>
              <p:cNvPr id="52" name="Freeform: Shape 118"/>
              <p:cNvSpPr/>
              <p:nvPr/>
            </p:nvSpPr>
            <p:spPr bwMode="auto">
              <a:xfrm>
                <a:off x="4291003" y="4558160"/>
                <a:ext cx="206016" cy="245065"/>
              </a:xfrm>
              <a:custGeom>
                <a:avLst/>
                <a:gdLst>
                  <a:gd name="T0" fmla="*/ 37 w 129"/>
                  <a:gd name="T1" fmla="*/ 106 h 154"/>
                  <a:gd name="T2" fmla="*/ 21 w 129"/>
                  <a:gd name="T3" fmla="*/ 154 h 154"/>
                  <a:gd name="T4" fmla="*/ 0 w 129"/>
                  <a:gd name="T5" fmla="*/ 154 h 154"/>
                  <a:gd name="T6" fmla="*/ 53 w 129"/>
                  <a:gd name="T7" fmla="*/ 0 h 154"/>
                  <a:gd name="T8" fmla="*/ 77 w 129"/>
                  <a:gd name="T9" fmla="*/ 0 h 154"/>
                  <a:gd name="T10" fmla="*/ 129 w 129"/>
                  <a:gd name="T11" fmla="*/ 154 h 154"/>
                  <a:gd name="T12" fmla="*/ 108 w 129"/>
                  <a:gd name="T13" fmla="*/ 154 h 154"/>
                  <a:gd name="T14" fmla="*/ 92 w 129"/>
                  <a:gd name="T15" fmla="*/ 106 h 154"/>
                  <a:gd name="T16" fmla="*/ 37 w 129"/>
                  <a:gd name="T17" fmla="*/ 106 h 154"/>
                  <a:gd name="T18" fmla="*/ 88 w 129"/>
                  <a:gd name="T19" fmla="*/ 90 h 154"/>
                  <a:gd name="T20" fmla="*/ 72 w 129"/>
                  <a:gd name="T21" fmla="*/ 46 h 154"/>
                  <a:gd name="T22" fmla="*/ 64 w 129"/>
                  <a:gd name="T23" fmla="*/ 18 h 154"/>
                  <a:gd name="T24" fmla="*/ 64 w 129"/>
                  <a:gd name="T25" fmla="*/ 18 h 154"/>
                  <a:gd name="T26" fmla="*/ 56 w 129"/>
                  <a:gd name="T27" fmla="*/ 45 h 154"/>
                  <a:gd name="T28" fmla="*/ 41 w 129"/>
                  <a:gd name="T29" fmla="*/ 90 h 154"/>
                  <a:gd name="T30" fmla="*/ 88 w 129"/>
                  <a:gd name="T31" fmla="*/ 9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54">
                    <a:moveTo>
                      <a:pt x="37" y="106"/>
                    </a:moveTo>
                    <a:cubicBezTo>
                      <a:pt x="21" y="154"/>
                      <a:pt x="21" y="154"/>
                      <a:pt x="21" y="154"/>
                    </a:cubicBezTo>
                    <a:cubicBezTo>
                      <a:pt x="0" y="154"/>
                      <a:pt x="0" y="154"/>
                      <a:pt x="0" y="154"/>
                    </a:cubicBezTo>
                    <a:cubicBezTo>
                      <a:pt x="53" y="0"/>
                      <a:pt x="53" y="0"/>
                      <a:pt x="53" y="0"/>
                    </a:cubicBezTo>
                    <a:cubicBezTo>
                      <a:pt x="77" y="0"/>
                      <a:pt x="77" y="0"/>
                      <a:pt x="77" y="0"/>
                    </a:cubicBezTo>
                    <a:cubicBezTo>
                      <a:pt x="129" y="154"/>
                      <a:pt x="129" y="154"/>
                      <a:pt x="129" y="154"/>
                    </a:cubicBezTo>
                    <a:cubicBezTo>
                      <a:pt x="108" y="154"/>
                      <a:pt x="108" y="154"/>
                      <a:pt x="108" y="154"/>
                    </a:cubicBezTo>
                    <a:cubicBezTo>
                      <a:pt x="92" y="106"/>
                      <a:pt x="92" y="106"/>
                      <a:pt x="92" y="106"/>
                    </a:cubicBezTo>
                    <a:lnTo>
                      <a:pt x="37" y="106"/>
                    </a:lnTo>
                    <a:close/>
                    <a:moveTo>
                      <a:pt x="88" y="90"/>
                    </a:moveTo>
                    <a:cubicBezTo>
                      <a:pt x="72" y="46"/>
                      <a:pt x="72" y="46"/>
                      <a:pt x="72" y="46"/>
                    </a:cubicBezTo>
                    <a:cubicBezTo>
                      <a:pt x="69" y="36"/>
                      <a:pt x="67" y="26"/>
                      <a:pt x="64" y="18"/>
                    </a:cubicBezTo>
                    <a:cubicBezTo>
                      <a:pt x="64" y="18"/>
                      <a:pt x="64" y="18"/>
                      <a:pt x="64" y="18"/>
                    </a:cubicBezTo>
                    <a:cubicBezTo>
                      <a:pt x="62" y="26"/>
                      <a:pt x="59" y="36"/>
                      <a:pt x="56" y="45"/>
                    </a:cubicBezTo>
                    <a:cubicBezTo>
                      <a:pt x="41" y="90"/>
                      <a:pt x="41" y="90"/>
                      <a:pt x="41" y="90"/>
                    </a:cubicBezTo>
                    <a:lnTo>
                      <a:pt x="88" y="90"/>
                    </a:lnTo>
                    <a:close/>
                  </a:path>
                </a:pathLst>
              </a:custGeom>
              <a:solidFill>
                <a:schemeClr val="bg2"/>
              </a:solidFill>
              <a:ln>
                <a:noFill/>
              </a:ln>
            </p:spPr>
            <p:txBody>
              <a:bodyPr anchor="ctr"/>
              <a:lstStyle/>
              <a:p>
                <a:pPr algn="ctr"/>
              </a:p>
            </p:txBody>
          </p:sp>
          <p:sp>
            <p:nvSpPr>
              <p:cNvPr id="53" name="Freeform: Shape 119"/>
              <p:cNvSpPr/>
              <p:nvPr/>
            </p:nvSpPr>
            <p:spPr bwMode="auto">
              <a:xfrm>
                <a:off x="4528662" y="4427549"/>
                <a:ext cx="156195" cy="248431"/>
              </a:xfrm>
              <a:custGeom>
                <a:avLst/>
                <a:gdLst>
                  <a:gd name="T0" fmla="*/ 0 w 98"/>
                  <a:gd name="T1" fmla="*/ 3 h 156"/>
                  <a:gd name="T2" fmla="*/ 37 w 98"/>
                  <a:gd name="T3" fmla="*/ 0 h 156"/>
                  <a:gd name="T4" fmla="*/ 79 w 98"/>
                  <a:gd name="T5" fmla="*/ 11 h 156"/>
                  <a:gd name="T6" fmla="*/ 92 w 98"/>
                  <a:gd name="T7" fmla="*/ 38 h 156"/>
                  <a:gd name="T8" fmla="*/ 66 w 98"/>
                  <a:gd name="T9" fmla="*/ 72 h 156"/>
                  <a:gd name="T10" fmla="*/ 66 w 98"/>
                  <a:gd name="T11" fmla="*/ 73 h 156"/>
                  <a:gd name="T12" fmla="*/ 98 w 98"/>
                  <a:gd name="T13" fmla="*/ 111 h 156"/>
                  <a:gd name="T14" fmla="*/ 84 w 98"/>
                  <a:gd name="T15" fmla="*/ 142 h 156"/>
                  <a:gd name="T16" fmla="*/ 31 w 98"/>
                  <a:gd name="T17" fmla="*/ 156 h 156"/>
                  <a:gd name="T18" fmla="*/ 0 w 98"/>
                  <a:gd name="T19" fmla="*/ 155 h 156"/>
                  <a:gd name="T20" fmla="*/ 0 w 98"/>
                  <a:gd name="T21" fmla="*/ 3 h 156"/>
                  <a:gd name="T22" fmla="*/ 20 w 98"/>
                  <a:gd name="T23" fmla="*/ 66 h 156"/>
                  <a:gd name="T24" fmla="*/ 38 w 98"/>
                  <a:gd name="T25" fmla="*/ 66 h 156"/>
                  <a:gd name="T26" fmla="*/ 72 w 98"/>
                  <a:gd name="T27" fmla="*/ 40 h 156"/>
                  <a:gd name="T28" fmla="*/ 38 w 98"/>
                  <a:gd name="T29" fmla="*/ 15 h 156"/>
                  <a:gd name="T30" fmla="*/ 20 w 98"/>
                  <a:gd name="T31" fmla="*/ 16 h 156"/>
                  <a:gd name="T32" fmla="*/ 20 w 98"/>
                  <a:gd name="T33" fmla="*/ 66 h 156"/>
                  <a:gd name="T34" fmla="*/ 20 w 98"/>
                  <a:gd name="T35" fmla="*/ 140 h 156"/>
                  <a:gd name="T36" fmla="*/ 37 w 98"/>
                  <a:gd name="T37" fmla="*/ 141 h 156"/>
                  <a:gd name="T38" fmla="*/ 77 w 98"/>
                  <a:gd name="T39" fmla="*/ 111 h 156"/>
                  <a:gd name="T40" fmla="*/ 37 w 98"/>
                  <a:gd name="T41" fmla="*/ 81 h 156"/>
                  <a:gd name="T42" fmla="*/ 20 w 98"/>
                  <a:gd name="T43" fmla="*/ 81 h 156"/>
                  <a:gd name="T44" fmla="*/ 20 w 98"/>
                  <a:gd name="T45" fmla="*/ 14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56">
                    <a:moveTo>
                      <a:pt x="0" y="3"/>
                    </a:moveTo>
                    <a:cubicBezTo>
                      <a:pt x="9" y="1"/>
                      <a:pt x="23" y="0"/>
                      <a:pt x="37" y="0"/>
                    </a:cubicBezTo>
                    <a:cubicBezTo>
                      <a:pt x="57" y="0"/>
                      <a:pt x="69" y="3"/>
                      <a:pt x="79" y="11"/>
                    </a:cubicBezTo>
                    <a:cubicBezTo>
                      <a:pt x="87" y="17"/>
                      <a:pt x="92" y="26"/>
                      <a:pt x="92" y="38"/>
                    </a:cubicBezTo>
                    <a:cubicBezTo>
                      <a:pt x="92" y="53"/>
                      <a:pt x="82" y="66"/>
                      <a:pt x="66" y="72"/>
                    </a:cubicBezTo>
                    <a:cubicBezTo>
                      <a:pt x="66" y="73"/>
                      <a:pt x="66" y="73"/>
                      <a:pt x="66" y="73"/>
                    </a:cubicBezTo>
                    <a:cubicBezTo>
                      <a:pt x="80" y="76"/>
                      <a:pt x="98" y="88"/>
                      <a:pt x="98" y="111"/>
                    </a:cubicBezTo>
                    <a:cubicBezTo>
                      <a:pt x="98" y="124"/>
                      <a:pt x="92" y="134"/>
                      <a:pt x="84" y="142"/>
                    </a:cubicBezTo>
                    <a:cubicBezTo>
                      <a:pt x="74" y="152"/>
                      <a:pt x="56" y="156"/>
                      <a:pt x="31" y="156"/>
                    </a:cubicBezTo>
                    <a:cubicBezTo>
                      <a:pt x="18" y="156"/>
                      <a:pt x="7" y="156"/>
                      <a:pt x="0" y="155"/>
                    </a:cubicBezTo>
                    <a:lnTo>
                      <a:pt x="0" y="3"/>
                    </a:lnTo>
                    <a:close/>
                    <a:moveTo>
                      <a:pt x="20" y="66"/>
                    </a:moveTo>
                    <a:cubicBezTo>
                      <a:pt x="38" y="66"/>
                      <a:pt x="38" y="66"/>
                      <a:pt x="38" y="66"/>
                    </a:cubicBezTo>
                    <a:cubicBezTo>
                      <a:pt x="59" y="66"/>
                      <a:pt x="72" y="55"/>
                      <a:pt x="72" y="40"/>
                    </a:cubicBezTo>
                    <a:cubicBezTo>
                      <a:pt x="72" y="22"/>
                      <a:pt x="58" y="15"/>
                      <a:pt x="38" y="15"/>
                    </a:cubicBezTo>
                    <a:cubicBezTo>
                      <a:pt x="29" y="15"/>
                      <a:pt x="23" y="16"/>
                      <a:pt x="20" y="16"/>
                    </a:cubicBezTo>
                    <a:lnTo>
                      <a:pt x="20" y="66"/>
                    </a:lnTo>
                    <a:close/>
                    <a:moveTo>
                      <a:pt x="20" y="140"/>
                    </a:moveTo>
                    <a:cubicBezTo>
                      <a:pt x="24" y="141"/>
                      <a:pt x="30" y="141"/>
                      <a:pt x="37" y="141"/>
                    </a:cubicBezTo>
                    <a:cubicBezTo>
                      <a:pt x="58" y="141"/>
                      <a:pt x="77" y="133"/>
                      <a:pt x="77" y="111"/>
                    </a:cubicBezTo>
                    <a:cubicBezTo>
                      <a:pt x="77" y="90"/>
                      <a:pt x="58" y="81"/>
                      <a:pt x="37" y="81"/>
                    </a:cubicBezTo>
                    <a:cubicBezTo>
                      <a:pt x="20" y="81"/>
                      <a:pt x="20" y="81"/>
                      <a:pt x="20" y="81"/>
                    </a:cubicBezTo>
                    <a:lnTo>
                      <a:pt x="20" y="140"/>
                    </a:lnTo>
                    <a:close/>
                  </a:path>
                </a:pathLst>
              </a:custGeom>
              <a:solidFill>
                <a:schemeClr val="bg2"/>
              </a:solidFill>
              <a:ln>
                <a:noFill/>
              </a:ln>
            </p:spPr>
            <p:txBody>
              <a:bodyPr anchor="ctr"/>
              <a:lstStyle/>
              <a:p>
                <a:pPr algn="ctr"/>
              </a:p>
            </p:txBody>
          </p:sp>
          <p:sp>
            <p:nvSpPr>
              <p:cNvPr id="54" name="Freeform: Shape 120"/>
              <p:cNvSpPr/>
              <p:nvPr/>
            </p:nvSpPr>
            <p:spPr bwMode="auto">
              <a:xfrm>
                <a:off x="4552226" y="4741286"/>
                <a:ext cx="157542" cy="213422"/>
              </a:xfrm>
              <a:custGeom>
                <a:avLst/>
                <a:gdLst>
                  <a:gd name="T0" fmla="*/ 99 w 99"/>
                  <a:gd name="T1" fmla="*/ 128 h 134"/>
                  <a:gd name="T2" fmla="*/ 64 w 99"/>
                  <a:gd name="T3" fmla="*/ 134 h 134"/>
                  <a:gd name="T4" fmla="*/ 0 w 99"/>
                  <a:gd name="T5" fmla="*/ 68 h 134"/>
                  <a:gd name="T6" fmla="*/ 68 w 99"/>
                  <a:gd name="T7" fmla="*/ 0 h 134"/>
                  <a:gd name="T8" fmla="*/ 99 w 99"/>
                  <a:gd name="T9" fmla="*/ 5 h 134"/>
                  <a:gd name="T10" fmla="*/ 95 w 99"/>
                  <a:gd name="T11" fmla="*/ 19 h 134"/>
                  <a:gd name="T12" fmla="*/ 69 w 99"/>
                  <a:gd name="T13" fmla="*/ 14 h 134"/>
                  <a:gd name="T14" fmla="*/ 18 w 99"/>
                  <a:gd name="T15" fmla="*/ 67 h 134"/>
                  <a:gd name="T16" fmla="*/ 68 w 99"/>
                  <a:gd name="T17" fmla="*/ 119 h 134"/>
                  <a:gd name="T18" fmla="*/ 95 w 99"/>
                  <a:gd name="T19" fmla="*/ 114 h 134"/>
                  <a:gd name="T20" fmla="*/ 99 w 99"/>
                  <a:gd name="T21"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99" y="128"/>
                    </a:moveTo>
                    <a:cubicBezTo>
                      <a:pt x="93" y="131"/>
                      <a:pt x="80" y="134"/>
                      <a:pt x="64" y="134"/>
                    </a:cubicBezTo>
                    <a:cubicBezTo>
                      <a:pt x="28" y="134"/>
                      <a:pt x="0" y="111"/>
                      <a:pt x="0" y="68"/>
                    </a:cubicBezTo>
                    <a:cubicBezTo>
                      <a:pt x="0" y="27"/>
                      <a:pt x="28" y="0"/>
                      <a:pt x="68" y="0"/>
                    </a:cubicBezTo>
                    <a:cubicBezTo>
                      <a:pt x="84" y="0"/>
                      <a:pt x="95" y="3"/>
                      <a:pt x="99" y="5"/>
                    </a:cubicBezTo>
                    <a:cubicBezTo>
                      <a:pt x="95" y="19"/>
                      <a:pt x="95" y="19"/>
                      <a:pt x="95" y="19"/>
                    </a:cubicBezTo>
                    <a:cubicBezTo>
                      <a:pt x="89" y="16"/>
                      <a:pt x="80" y="14"/>
                      <a:pt x="69" y="14"/>
                    </a:cubicBezTo>
                    <a:cubicBezTo>
                      <a:pt x="38" y="14"/>
                      <a:pt x="18" y="33"/>
                      <a:pt x="18" y="67"/>
                    </a:cubicBezTo>
                    <a:cubicBezTo>
                      <a:pt x="18" y="99"/>
                      <a:pt x="36" y="119"/>
                      <a:pt x="68" y="119"/>
                    </a:cubicBezTo>
                    <a:cubicBezTo>
                      <a:pt x="78" y="119"/>
                      <a:pt x="89" y="117"/>
                      <a:pt x="95" y="114"/>
                    </a:cubicBezTo>
                    <a:lnTo>
                      <a:pt x="99" y="128"/>
                    </a:lnTo>
                    <a:close/>
                  </a:path>
                </a:pathLst>
              </a:custGeom>
              <a:solidFill>
                <a:schemeClr val="bg2"/>
              </a:solidFill>
              <a:ln>
                <a:noFill/>
              </a:ln>
            </p:spPr>
            <p:txBody>
              <a:bodyPr anchor="ctr"/>
              <a:lstStyle/>
              <a:p>
                <a:pPr algn="ctr"/>
              </a:p>
            </p:txBody>
          </p:sp>
        </p:grpSp>
        <p:grpSp>
          <p:nvGrpSpPr>
            <p:cNvPr id="19" name="Group 121"/>
            <p:cNvGrpSpPr/>
            <p:nvPr/>
          </p:nvGrpSpPr>
          <p:grpSpPr>
            <a:xfrm>
              <a:off x="12044" y="4425"/>
              <a:ext cx="1011" cy="1136"/>
              <a:chOff x="3918693" y="2872329"/>
              <a:chExt cx="856381" cy="961409"/>
            </a:xfrm>
          </p:grpSpPr>
          <p:sp>
            <p:nvSpPr>
              <p:cNvPr id="34" name="Freeform: Shape 122"/>
              <p:cNvSpPr/>
              <p:nvPr/>
            </p:nvSpPr>
            <p:spPr bwMode="auto">
              <a:xfrm>
                <a:off x="3988712" y="2912052"/>
                <a:ext cx="786362" cy="921686"/>
              </a:xfrm>
              <a:custGeom>
                <a:avLst/>
                <a:gdLst>
                  <a:gd name="T0" fmla="*/ 247 w 494"/>
                  <a:gd name="T1" fmla="*/ 0 h 579"/>
                  <a:gd name="T2" fmla="*/ 0 w 494"/>
                  <a:gd name="T3" fmla="*/ 247 h 579"/>
                  <a:gd name="T4" fmla="*/ 247 w 494"/>
                  <a:gd name="T5" fmla="*/ 494 h 579"/>
                  <a:gd name="T6" fmla="*/ 258 w 494"/>
                  <a:gd name="T7" fmla="*/ 494 h 579"/>
                  <a:gd name="T8" fmla="*/ 358 w 494"/>
                  <a:gd name="T9" fmla="*/ 579 h 579"/>
                  <a:gd name="T10" fmla="*/ 368 w 494"/>
                  <a:gd name="T11" fmla="*/ 462 h 579"/>
                  <a:gd name="T12" fmla="*/ 494 w 494"/>
                  <a:gd name="T13" fmla="*/ 247 h 579"/>
                  <a:gd name="T14" fmla="*/ 247 w 494"/>
                  <a:gd name="T15" fmla="*/ 0 h 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79">
                    <a:moveTo>
                      <a:pt x="247" y="0"/>
                    </a:moveTo>
                    <a:cubicBezTo>
                      <a:pt x="110" y="0"/>
                      <a:pt x="0" y="111"/>
                      <a:pt x="0" y="247"/>
                    </a:cubicBezTo>
                    <a:cubicBezTo>
                      <a:pt x="0" y="384"/>
                      <a:pt x="110" y="494"/>
                      <a:pt x="247" y="494"/>
                    </a:cubicBezTo>
                    <a:cubicBezTo>
                      <a:pt x="251" y="494"/>
                      <a:pt x="254" y="494"/>
                      <a:pt x="258" y="494"/>
                    </a:cubicBezTo>
                    <a:cubicBezTo>
                      <a:pt x="358" y="579"/>
                      <a:pt x="358" y="579"/>
                      <a:pt x="358" y="579"/>
                    </a:cubicBezTo>
                    <a:cubicBezTo>
                      <a:pt x="368" y="462"/>
                      <a:pt x="368" y="462"/>
                      <a:pt x="368" y="462"/>
                    </a:cubicBezTo>
                    <a:cubicBezTo>
                      <a:pt x="443" y="420"/>
                      <a:pt x="494" y="340"/>
                      <a:pt x="494" y="247"/>
                    </a:cubicBezTo>
                    <a:cubicBezTo>
                      <a:pt x="494" y="111"/>
                      <a:pt x="383" y="0"/>
                      <a:pt x="24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Freeform: Shape 123"/>
              <p:cNvSpPr/>
              <p:nvPr/>
            </p:nvSpPr>
            <p:spPr bwMode="auto">
              <a:xfrm>
                <a:off x="3918693" y="2872329"/>
                <a:ext cx="788382" cy="920340"/>
              </a:xfrm>
              <a:custGeom>
                <a:avLst/>
                <a:gdLst>
                  <a:gd name="T0" fmla="*/ 495 w 495"/>
                  <a:gd name="T1" fmla="*/ 247 h 578"/>
                  <a:gd name="T2" fmla="*/ 248 w 495"/>
                  <a:gd name="T3" fmla="*/ 0 h 578"/>
                  <a:gd name="T4" fmla="*/ 0 w 495"/>
                  <a:gd name="T5" fmla="*/ 247 h 578"/>
                  <a:gd name="T6" fmla="*/ 248 w 495"/>
                  <a:gd name="T7" fmla="*/ 494 h 578"/>
                  <a:gd name="T8" fmla="*/ 259 w 495"/>
                  <a:gd name="T9" fmla="*/ 494 h 578"/>
                  <a:gd name="T10" fmla="*/ 359 w 495"/>
                  <a:gd name="T11" fmla="*/ 578 h 578"/>
                  <a:gd name="T12" fmla="*/ 369 w 495"/>
                  <a:gd name="T13" fmla="*/ 462 h 578"/>
                  <a:gd name="T14" fmla="*/ 495 w 495"/>
                  <a:gd name="T15" fmla="*/ 247 h 5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78">
                    <a:moveTo>
                      <a:pt x="495" y="247"/>
                    </a:moveTo>
                    <a:cubicBezTo>
                      <a:pt x="495" y="110"/>
                      <a:pt x="384" y="0"/>
                      <a:pt x="248" y="0"/>
                    </a:cubicBezTo>
                    <a:cubicBezTo>
                      <a:pt x="111" y="0"/>
                      <a:pt x="0" y="110"/>
                      <a:pt x="0" y="247"/>
                    </a:cubicBezTo>
                    <a:cubicBezTo>
                      <a:pt x="0" y="383"/>
                      <a:pt x="111" y="494"/>
                      <a:pt x="248" y="494"/>
                    </a:cubicBezTo>
                    <a:cubicBezTo>
                      <a:pt x="251" y="494"/>
                      <a:pt x="255" y="494"/>
                      <a:pt x="259" y="494"/>
                    </a:cubicBezTo>
                    <a:cubicBezTo>
                      <a:pt x="359" y="578"/>
                      <a:pt x="359" y="578"/>
                      <a:pt x="359" y="578"/>
                    </a:cubicBezTo>
                    <a:cubicBezTo>
                      <a:pt x="369" y="462"/>
                      <a:pt x="369" y="462"/>
                      <a:pt x="369" y="462"/>
                    </a:cubicBezTo>
                    <a:cubicBezTo>
                      <a:pt x="444" y="419"/>
                      <a:pt x="495" y="339"/>
                      <a:pt x="495" y="247"/>
                    </a:cubicBezTo>
                    <a:close/>
                  </a:path>
                </a:pathLst>
              </a:custGeom>
              <a:solidFill>
                <a:schemeClr val="accent1"/>
              </a:solidFill>
              <a:ln>
                <a:noFill/>
              </a:ln>
            </p:spPr>
            <p:txBody>
              <a:bodyPr anchor="ctr"/>
              <a:lstStyle/>
              <a:p>
                <a:pPr algn="ctr"/>
              </a:p>
            </p:txBody>
          </p:sp>
          <p:sp>
            <p:nvSpPr>
              <p:cNvPr id="36" name="Freeform: Shape 124"/>
              <p:cNvSpPr/>
              <p:nvPr/>
            </p:nvSpPr>
            <p:spPr bwMode="auto">
              <a:xfrm>
                <a:off x="4149620" y="3238580"/>
                <a:ext cx="235639" cy="235639"/>
              </a:xfrm>
              <a:custGeom>
                <a:avLst/>
                <a:gdLst>
                  <a:gd name="T0" fmla="*/ 148 w 148"/>
                  <a:gd name="T1" fmla="*/ 145 h 148"/>
                  <a:gd name="T2" fmla="*/ 145 w 148"/>
                  <a:gd name="T3" fmla="*/ 148 h 148"/>
                  <a:gd name="T4" fmla="*/ 3 w 148"/>
                  <a:gd name="T5" fmla="*/ 148 h 148"/>
                  <a:gd name="T6" fmla="*/ 0 w 148"/>
                  <a:gd name="T7" fmla="*/ 145 h 148"/>
                  <a:gd name="T8" fmla="*/ 0 w 148"/>
                  <a:gd name="T9" fmla="*/ 3 h 148"/>
                  <a:gd name="T10" fmla="*/ 3 w 148"/>
                  <a:gd name="T11" fmla="*/ 0 h 148"/>
                  <a:gd name="T12" fmla="*/ 145 w 148"/>
                  <a:gd name="T13" fmla="*/ 0 h 148"/>
                  <a:gd name="T14" fmla="*/ 148 w 148"/>
                  <a:gd name="T15" fmla="*/ 3 h 148"/>
                  <a:gd name="T16" fmla="*/ 148 w 148"/>
                  <a:gd name="T17" fmla="*/ 145 h 148"/>
                  <a:gd name="T18" fmla="*/ 4 w 148"/>
                  <a:gd name="T19" fmla="*/ 140 h 148"/>
                  <a:gd name="T20" fmla="*/ 144 w 148"/>
                  <a:gd name="T21" fmla="*/ 140 h 148"/>
                  <a:gd name="T22" fmla="*/ 144 w 148"/>
                  <a:gd name="T23" fmla="*/ 8 h 148"/>
                  <a:gd name="T24" fmla="*/ 4 w 148"/>
                  <a:gd name="T25" fmla="*/ 8 h 148"/>
                  <a:gd name="T26" fmla="*/ 4 w 148"/>
                  <a:gd name="T2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148" y="145"/>
                    </a:moveTo>
                    <a:cubicBezTo>
                      <a:pt x="148" y="147"/>
                      <a:pt x="147" y="148"/>
                      <a:pt x="145" y="148"/>
                    </a:cubicBezTo>
                    <a:cubicBezTo>
                      <a:pt x="3" y="148"/>
                      <a:pt x="3" y="148"/>
                      <a:pt x="3" y="148"/>
                    </a:cubicBezTo>
                    <a:cubicBezTo>
                      <a:pt x="1" y="148"/>
                      <a:pt x="0" y="147"/>
                      <a:pt x="0" y="145"/>
                    </a:cubicBezTo>
                    <a:cubicBezTo>
                      <a:pt x="0" y="3"/>
                      <a:pt x="0" y="3"/>
                      <a:pt x="0" y="3"/>
                    </a:cubicBezTo>
                    <a:cubicBezTo>
                      <a:pt x="0" y="1"/>
                      <a:pt x="1" y="0"/>
                      <a:pt x="3" y="0"/>
                    </a:cubicBezTo>
                    <a:cubicBezTo>
                      <a:pt x="145" y="0"/>
                      <a:pt x="145" y="0"/>
                      <a:pt x="145" y="0"/>
                    </a:cubicBezTo>
                    <a:cubicBezTo>
                      <a:pt x="147" y="0"/>
                      <a:pt x="148" y="1"/>
                      <a:pt x="148" y="3"/>
                    </a:cubicBezTo>
                    <a:lnTo>
                      <a:pt x="148" y="145"/>
                    </a:lnTo>
                    <a:close/>
                    <a:moveTo>
                      <a:pt x="4" y="140"/>
                    </a:moveTo>
                    <a:cubicBezTo>
                      <a:pt x="144" y="140"/>
                      <a:pt x="144" y="140"/>
                      <a:pt x="144" y="140"/>
                    </a:cubicBezTo>
                    <a:cubicBezTo>
                      <a:pt x="144" y="8"/>
                      <a:pt x="144" y="8"/>
                      <a:pt x="144" y="8"/>
                    </a:cubicBezTo>
                    <a:cubicBezTo>
                      <a:pt x="4" y="8"/>
                      <a:pt x="4" y="8"/>
                      <a:pt x="4" y="8"/>
                    </a:cubicBezTo>
                    <a:lnTo>
                      <a:pt x="4" y="140"/>
                    </a:lnTo>
                    <a:close/>
                  </a:path>
                </a:pathLst>
              </a:custGeom>
              <a:solidFill>
                <a:schemeClr val="bg2"/>
              </a:solidFill>
              <a:ln>
                <a:noFill/>
              </a:ln>
            </p:spPr>
            <p:txBody>
              <a:bodyPr anchor="ctr"/>
              <a:lstStyle/>
              <a:p>
                <a:pPr algn="ctr"/>
              </a:p>
            </p:txBody>
          </p:sp>
          <p:sp>
            <p:nvSpPr>
              <p:cNvPr id="37" name="Freeform: Shape 125"/>
              <p:cNvSpPr/>
              <p:nvPr/>
            </p:nvSpPr>
            <p:spPr bwMode="auto">
              <a:xfrm>
                <a:off x="4152986" y="3154423"/>
                <a:ext cx="316430" cy="93582"/>
              </a:xfrm>
              <a:custGeom>
                <a:avLst/>
                <a:gdLst>
                  <a:gd name="T0" fmla="*/ 144 w 199"/>
                  <a:gd name="T1" fmla="*/ 59 h 59"/>
                  <a:gd name="T2" fmla="*/ 142 w 199"/>
                  <a:gd name="T3" fmla="*/ 59 h 59"/>
                  <a:gd name="T4" fmla="*/ 142 w 199"/>
                  <a:gd name="T5" fmla="*/ 55 h 59"/>
                  <a:gd name="T6" fmla="*/ 190 w 199"/>
                  <a:gd name="T7" fmla="*/ 5 h 59"/>
                  <a:gd name="T8" fmla="*/ 55 w 199"/>
                  <a:gd name="T9" fmla="*/ 5 h 59"/>
                  <a:gd name="T10" fmla="*/ 5 w 199"/>
                  <a:gd name="T11" fmla="*/ 58 h 59"/>
                  <a:gd name="T12" fmla="*/ 1 w 199"/>
                  <a:gd name="T13" fmla="*/ 58 h 59"/>
                  <a:gd name="T14" fmla="*/ 1 w 199"/>
                  <a:gd name="T15" fmla="*/ 54 h 59"/>
                  <a:gd name="T16" fmla="*/ 52 w 199"/>
                  <a:gd name="T17" fmla="*/ 1 h 59"/>
                  <a:gd name="T18" fmla="*/ 54 w 199"/>
                  <a:gd name="T19" fmla="*/ 1 h 59"/>
                  <a:gd name="T20" fmla="*/ 196 w 199"/>
                  <a:gd name="T21" fmla="*/ 1 h 59"/>
                  <a:gd name="T22" fmla="*/ 199 w 199"/>
                  <a:gd name="T23" fmla="*/ 2 h 59"/>
                  <a:gd name="T24" fmla="*/ 198 w 199"/>
                  <a:gd name="T25" fmla="*/ 4 h 59"/>
                  <a:gd name="T26" fmla="*/ 146 w 199"/>
                  <a:gd name="T27" fmla="*/ 59 h 59"/>
                  <a:gd name="T28" fmla="*/ 144 w 199"/>
                  <a:gd name="T2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59">
                    <a:moveTo>
                      <a:pt x="144" y="59"/>
                    </a:moveTo>
                    <a:cubicBezTo>
                      <a:pt x="144" y="59"/>
                      <a:pt x="143" y="59"/>
                      <a:pt x="142" y="59"/>
                    </a:cubicBezTo>
                    <a:cubicBezTo>
                      <a:pt x="141" y="58"/>
                      <a:pt x="141" y="56"/>
                      <a:pt x="142" y="55"/>
                    </a:cubicBezTo>
                    <a:cubicBezTo>
                      <a:pt x="190" y="5"/>
                      <a:pt x="190" y="5"/>
                      <a:pt x="190" y="5"/>
                    </a:cubicBezTo>
                    <a:cubicBezTo>
                      <a:pt x="55" y="5"/>
                      <a:pt x="55" y="5"/>
                      <a:pt x="55" y="5"/>
                    </a:cubicBezTo>
                    <a:cubicBezTo>
                      <a:pt x="5" y="58"/>
                      <a:pt x="5" y="58"/>
                      <a:pt x="5" y="58"/>
                    </a:cubicBezTo>
                    <a:cubicBezTo>
                      <a:pt x="4" y="59"/>
                      <a:pt x="2" y="59"/>
                      <a:pt x="1" y="58"/>
                    </a:cubicBezTo>
                    <a:cubicBezTo>
                      <a:pt x="0" y="57"/>
                      <a:pt x="0" y="55"/>
                      <a:pt x="1" y="54"/>
                    </a:cubicBezTo>
                    <a:cubicBezTo>
                      <a:pt x="52" y="1"/>
                      <a:pt x="52" y="1"/>
                      <a:pt x="52" y="1"/>
                    </a:cubicBezTo>
                    <a:cubicBezTo>
                      <a:pt x="52" y="0"/>
                      <a:pt x="53" y="1"/>
                      <a:pt x="54" y="1"/>
                    </a:cubicBezTo>
                    <a:cubicBezTo>
                      <a:pt x="196" y="1"/>
                      <a:pt x="196" y="1"/>
                      <a:pt x="196" y="1"/>
                    </a:cubicBezTo>
                    <a:cubicBezTo>
                      <a:pt x="197" y="1"/>
                      <a:pt x="198" y="1"/>
                      <a:pt x="199" y="2"/>
                    </a:cubicBezTo>
                    <a:cubicBezTo>
                      <a:pt x="199" y="3"/>
                      <a:pt x="199" y="3"/>
                      <a:pt x="198" y="4"/>
                    </a:cubicBezTo>
                    <a:cubicBezTo>
                      <a:pt x="146" y="59"/>
                      <a:pt x="146" y="59"/>
                      <a:pt x="146" y="59"/>
                    </a:cubicBezTo>
                    <a:cubicBezTo>
                      <a:pt x="146" y="59"/>
                      <a:pt x="145" y="59"/>
                      <a:pt x="144" y="59"/>
                    </a:cubicBezTo>
                    <a:close/>
                  </a:path>
                </a:pathLst>
              </a:custGeom>
              <a:solidFill>
                <a:schemeClr val="bg2"/>
              </a:solidFill>
              <a:ln>
                <a:noFill/>
              </a:ln>
            </p:spPr>
            <p:txBody>
              <a:bodyPr anchor="ctr"/>
              <a:lstStyle/>
              <a:p>
                <a:pPr algn="ctr"/>
              </a:p>
            </p:txBody>
          </p:sp>
          <p:sp>
            <p:nvSpPr>
              <p:cNvPr id="38" name="Freeform: Shape 126"/>
              <p:cNvSpPr/>
              <p:nvPr/>
            </p:nvSpPr>
            <p:spPr bwMode="auto">
              <a:xfrm>
                <a:off x="4379199" y="3155770"/>
                <a:ext cx="93582" cy="318450"/>
              </a:xfrm>
              <a:custGeom>
                <a:avLst/>
                <a:gdLst>
                  <a:gd name="T0" fmla="*/ 3 w 59"/>
                  <a:gd name="T1" fmla="*/ 200 h 200"/>
                  <a:gd name="T2" fmla="*/ 1 w 59"/>
                  <a:gd name="T3" fmla="*/ 199 h 200"/>
                  <a:gd name="T4" fmla="*/ 1 w 59"/>
                  <a:gd name="T5" fmla="*/ 195 h 200"/>
                  <a:gd name="T6" fmla="*/ 53 w 59"/>
                  <a:gd name="T7" fmla="*/ 138 h 200"/>
                  <a:gd name="T8" fmla="*/ 52 w 59"/>
                  <a:gd name="T9" fmla="*/ 2 h 200"/>
                  <a:gd name="T10" fmla="*/ 54 w 59"/>
                  <a:gd name="T11" fmla="*/ 0 h 200"/>
                  <a:gd name="T12" fmla="*/ 57 w 59"/>
                  <a:gd name="T13" fmla="*/ 2 h 200"/>
                  <a:gd name="T14" fmla="*/ 59 w 59"/>
                  <a:gd name="T15" fmla="*/ 139 h 200"/>
                  <a:gd name="T16" fmla="*/ 58 w 59"/>
                  <a:gd name="T17" fmla="*/ 141 h 200"/>
                  <a:gd name="T18" fmla="*/ 5 w 59"/>
                  <a:gd name="T19" fmla="*/ 199 h 200"/>
                  <a:gd name="T20" fmla="*/ 3 w 59"/>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00">
                    <a:moveTo>
                      <a:pt x="3" y="200"/>
                    </a:moveTo>
                    <a:cubicBezTo>
                      <a:pt x="2" y="200"/>
                      <a:pt x="2" y="199"/>
                      <a:pt x="1" y="199"/>
                    </a:cubicBezTo>
                    <a:cubicBezTo>
                      <a:pt x="0" y="198"/>
                      <a:pt x="0" y="196"/>
                      <a:pt x="1" y="195"/>
                    </a:cubicBezTo>
                    <a:cubicBezTo>
                      <a:pt x="53" y="138"/>
                      <a:pt x="53" y="138"/>
                      <a:pt x="53" y="138"/>
                    </a:cubicBezTo>
                    <a:cubicBezTo>
                      <a:pt x="52" y="2"/>
                      <a:pt x="52" y="2"/>
                      <a:pt x="52" y="2"/>
                    </a:cubicBezTo>
                    <a:cubicBezTo>
                      <a:pt x="52" y="1"/>
                      <a:pt x="53" y="0"/>
                      <a:pt x="54" y="0"/>
                    </a:cubicBezTo>
                    <a:cubicBezTo>
                      <a:pt x="56" y="0"/>
                      <a:pt x="57" y="1"/>
                      <a:pt x="57" y="2"/>
                    </a:cubicBezTo>
                    <a:cubicBezTo>
                      <a:pt x="59" y="139"/>
                      <a:pt x="59" y="139"/>
                      <a:pt x="59" y="139"/>
                    </a:cubicBezTo>
                    <a:cubicBezTo>
                      <a:pt x="59" y="140"/>
                      <a:pt x="59" y="140"/>
                      <a:pt x="58" y="141"/>
                    </a:cubicBezTo>
                    <a:cubicBezTo>
                      <a:pt x="5" y="199"/>
                      <a:pt x="5" y="199"/>
                      <a:pt x="5" y="199"/>
                    </a:cubicBezTo>
                    <a:cubicBezTo>
                      <a:pt x="4" y="199"/>
                      <a:pt x="4" y="200"/>
                      <a:pt x="3" y="200"/>
                    </a:cubicBezTo>
                    <a:close/>
                  </a:path>
                </a:pathLst>
              </a:custGeom>
              <a:solidFill>
                <a:schemeClr val="bg2"/>
              </a:solidFill>
              <a:ln>
                <a:noFill/>
              </a:ln>
            </p:spPr>
            <p:txBody>
              <a:bodyPr anchor="ctr"/>
              <a:lstStyle/>
              <a:p>
                <a:pPr algn="ctr"/>
              </a:p>
            </p:txBody>
          </p:sp>
          <p:sp>
            <p:nvSpPr>
              <p:cNvPr id="39" name="Freeform: Shape 127"/>
              <p:cNvSpPr/>
              <p:nvPr/>
            </p:nvSpPr>
            <p:spPr bwMode="auto">
              <a:xfrm>
                <a:off x="4235796" y="3154423"/>
                <a:ext cx="9426" cy="20198"/>
              </a:xfrm>
              <a:custGeom>
                <a:avLst/>
                <a:gdLst>
                  <a:gd name="T0" fmla="*/ 3 w 6"/>
                  <a:gd name="T1" fmla="*/ 13 h 13"/>
                  <a:gd name="T2" fmla="*/ 0 w 6"/>
                  <a:gd name="T3" fmla="*/ 9 h 13"/>
                  <a:gd name="T4" fmla="*/ 0 w 6"/>
                  <a:gd name="T5" fmla="*/ 4 h 13"/>
                  <a:gd name="T6" fmla="*/ 3 w 6"/>
                  <a:gd name="T7" fmla="*/ 1 h 13"/>
                  <a:gd name="T8" fmla="*/ 6 w 6"/>
                  <a:gd name="T9" fmla="*/ 3 h 13"/>
                  <a:gd name="T10" fmla="*/ 6 w 6"/>
                  <a:gd name="T11" fmla="*/ 9 h 13"/>
                  <a:gd name="T12" fmla="*/ 3 w 6"/>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 h="13">
                    <a:moveTo>
                      <a:pt x="3" y="13"/>
                    </a:moveTo>
                    <a:cubicBezTo>
                      <a:pt x="1" y="13"/>
                      <a:pt x="0" y="11"/>
                      <a:pt x="0" y="9"/>
                    </a:cubicBezTo>
                    <a:cubicBezTo>
                      <a:pt x="0" y="4"/>
                      <a:pt x="0" y="4"/>
                      <a:pt x="0" y="4"/>
                    </a:cubicBezTo>
                    <a:cubicBezTo>
                      <a:pt x="0" y="2"/>
                      <a:pt x="1" y="1"/>
                      <a:pt x="3" y="1"/>
                    </a:cubicBezTo>
                    <a:cubicBezTo>
                      <a:pt x="4" y="0"/>
                      <a:pt x="6" y="2"/>
                      <a:pt x="6" y="3"/>
                    </a:cubicBezTo>
                    <a:cubicBezTo>
                      <a:pt x="6" y="9"/>
                      <a:pt x="6" y="9"/>
                      <a:pt x="6" y="9"/>
                    </a:cubicBezTo>
                    <a:cubicBezTo>
                      <a:pt x="6" y="11"/>
                      <a:pt x="4" y="13"/>
                      <a:pt x="3" y="13"/>
                    </a:cubicBezTo>
                    <a:close/>
                  </a:path>
                </a:pathLst>
              </a:custGeom>
              <a:solidFill>
                <a:schemeClr val="bg2"/>
              </a:solidFill>
              <a:ln>
                <a:noFill/>
              </a:ln>
            </p:spPr>
            <p:txBody>
              <a:bodyPr anchor="ctr"/>
              <a:lstStyle/>
              <a:p>
                <a:pPr algn="ctr"/>
              </a:p>
            </p:txBody>
          </p:sp>
          <p:sp>
            <p:nvSpPr>
              <p:cNvPr id="40" name="Freeform: Shape 128"/>
              <p:cNvSpPr/>
              <p:nvPr/>
            </p:nvSpPr>
            <p:spPr bwMode="auto">
              <a:xfrm>
                <a:off x="4171837" y="3180007"/>
                <a:ext cx="74731" cy="273342"/>
              </a:xfrm>
              <a:custGeom>
                <a:avLst/>
                <a:gdLst>
                  <a:gd name="T0" fmla="*/ 1 w 47"/>
                  <a:gd name="T1" fmla="*/ 171 h 172"/>
                  <a:gd name="T2" fmla="*/ 8 w 47"/>
                  <a:gd name="T3" fmla="*/ 159 h 172"/>
                  <a:gd name="T4" fmla="*/ 12 w 47"/>
                  <a:gd name="T5" fmla="*/ 163 h 172"/>
                  <a:gd name="T6" fmla="*/ 3 w 47"/>
                  <a:gd name="T7" fmla="*/ 172 h 172"/>
                  <a:gd name="T8" fmla="*/ 15 w 47"/>
                  <a:gd name="T9" fmla="*/ 155 h 172"/>
                  <a:gd name="T10" fmla="*/ 22 w 47"/>
                  <a:gd name="T11" fmla="*/ 144 h 172"/>
                  <a:gd name="T12" fmla="*/ 26 w 47"/>
                  <a:gd name="T13" fmla="*/ 147 h 172"/>
                  <a:gd name="T14" fmla="*/ 17 w 47"/>
                  <a:gd name="T15" fmla="*/ 156 h 172"/>
                  <a:gd name="T16" fmla="*/ 30 w 47"/>
                  <a:gd name="T17" fmla="*/ 139 h 172"/>
                  <a:gd name="T18" fmla="*/ 37 w 47"/>
                  <a:gd name="T19" fmla="*/ 128 h 172"/>
                  <a:gd name="T20" fmla="*/ 41 w 47"/>
                  <a:gd name="T21" fmla="*/ 131 h 172"/>
                  <a:gd name="T22" fmla="*/ 32 w 47"/>
                  <a:gd name="T23" fmla="*/ 140 h 172"/>
                  <a:gd name="T24" fmla="*/ 42 w 47"/>
                  <a:gd name="T25" fmla="*/ 122 h 172"/>
                  <a:gd name="T26" fmla="*/ 45 w 47"/>
                  <a:gd name="T27" fmla="*/ 108 h 172"/>
                  <a:gd name="T28" fmla="*/ 47 w 47"/>
                  <a:gd name="T29" fmla="*/ 122 h 172"/>
                  <a:gd name="T30" fmla="*/ 44 w 47"/>
                  <a:gd name="T31" fmla="*/ 105 h 172"/>
                  <a:gd name="T32" fmla="*/ 42 w 47"/>
                  <a:gd name="T33" fmla="*/ 90 h 172"/>
                  <a:gd name="T34" fmla="*/ 47 w 47"/>
                  <a:gd name="T35" fmla="*/ 89 h 172"/>
                  <a:gd name="T36" fmla="*/ 44 w 47"/>
                  <a:gd name="T37" fmla="*/ 105 h 172"/>
                  <a:gd name="T38" fmla="*/ 41 w 47"/>
                  <a:gd name="T39" fmla="*/ 80 h 172"/>
                  <a:gd name="T40" fmla="*/ 44 w 47"/>
                  <a:gd name="T41" fmla="*/ 65 h 172"/>
                  <a:gd name="T42" fmla="*/ 47 w 47"/>
                  <a:gd name="T43" fmla="*/ 80 h 172"/>
                  <a:gd name="T44" fmla="*/ 44 w 47"/>
                  <a:gd name="T45" fmla="*/ 61 h 172"/>
                  <a:gd name="T46" fmla="*/ 41 w 47"/>
                  <a:gd name="T47" fmla="*/ 47 h 172"/>
                  <a:gd name="T48" fmla="*/ 46 w 47"/>
                  <a:gd name="T49" fmla="*/ 46 h 172"/>
                  <a:gd name="T50" fmla="*/ 44 w 47"/>
                  <a:gd name="T51" fmla="*/ 61 h 172"/>
                  <a:gd name="T52" fmla="*/ 41 w 47"/>
                  <a:gd name="T53" fmla="*/ 35 h 172"/>
                  <a:gd name="T54" fmla="*/ 43 w 47"/>
                  <a:gd name="T55" fmla="*/ 22 h 172"/>
                  <a:gd name="T56" fmla="*/ 46 w 47"/>
                  <a:gd name="T57" fmla="*/ 35 h 172"/>
                  <a:gd name="T58" fmla="*/ 43 w 47"/>
                  <a:gd name="T59" fmla="*/ 37 h 172"/>
                  <a:gd name="T60" fmla="*/ 40 w 47"/>
                  <a:gd name="T61" fmla="*/ 12 h 172"/>
                  <a:gd name="T62" fmla="*/ 43 w 47"/>
                  <a:gd name="T63" fmla="*/ 0 h 172"/>
                  <a:gd name="T64" fmla="*/ 46 w 47"/>
                  <a:gd name="T65"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172">
                    <a:moveTo>
                      <a:pt x="3" y="172"/>
                    </a:moveTo>
                    <a:cubicBezTo>
                      <a:pt x="2" y="172"/>
                      <a:pt x="1" y="172"/>
                      <a:pt x="1" y="171"/>
                    </a:cubicBezTo>
                    <a:cubicBezTo>
                      <a:pt x="0" y="170"/>
                      <a:pt x="0" y="168"/>
                      <a:pt x="1" y="167"/>
                    </a:cubicBezTo>
                    <a:cubicBezTo>
                      <a:pt x="8" y="159"/>
                      <a:pt x="8" y="159"/>
                      <a:pt x="8" y="159"/>
                    </a:cubicBezTo>
                    <a:cubicBezTo>
                      <a:pt x="9" y="158"/>
                      <a:pt x="11" y="158"/>
                      <a:pt x="12" y="159"/>
                    </a:cubicBezTo>
                    <a:cubicBezTo>
                      <a:pt x="13" y="160"/>
                      <a:pt x="13" y="162"/>
                      <a:pt x="12" y="163"/>
                    </a:cubicBezTo>
                    <a:cubicBezTo>
                      <a:pt x="5" y="171"/>
                      <a:pt x="5" y="171"/>
                      <a:pt x="5" y="171"/>
                    </a:cubicBezTo>
                    <a:cubicBezTo>
                      <a:pt x="4" y="171"/>
                      <a:pt x="3" y="172"/>
                      <a:pt x="3" y="172"/>
                    </a:cubicBezTo>
                    <a:close/>
                    <a:moveTo>
                      <a:pt x="17" y="156"/>
                    </a:moveTo>
                    <a:cubicBezTo>
                      <a:pt x="16" y="156"/>
                      <a:pt x="16" y="156"/>
                      <a:pt x="15" y="155"/>
                    </a:cubicBezTo>
                    <a:cubicBezTo>
                      <a:pt x="14" y="154"/>
                      <a:pt x="14" y="153"/>
                      <a:pt x="15" y="151"/>
                    </a:cubicBezTo>
                    <a:cubicBezTo>
                      <a:pt x="22" y="144"/>
                      <a:pt x="22" y="144"/>
                      <a:pt x="22" y="144"/>
                    </a:cubicBezTo>
                    <a:cubicBezTo>
                      <a:pt x="23" y="142"/>
                      <a:pt x="25" y="142"/>
                      <a:pt x="26" y="143"/>
                    </a:cubicBezTo>
                    <a:cubicBezTo>
                      <a:pt x="27" y="144"/>
                      <a:pt x="27" y="146"/>
                      <a:pt x="26" y="147"/>
                    </a:cubicBezTo>
                    <a:cubicBezTo>
                      <a:pt x="19" y="155"/>
                      <a:pt x="19" y="155"/>
                      <a:pt x="19" y="155"/>
                    </a:cubicBezTo>
                    <a:cubicBezTo>
                      <a:pt x="19" y="156"/>
                      <a:pt x="18" y="156"/>
                      <a:pt x="17" y="156"/>
                    </a:cubicBezTo>
                    <a:close/>
                    <a:moveTo>
                      <a:pt x="32" y="140"/>
                    </a:moveTo>
                    <a:cubicBezTo>
                      <a:pt x="31" y="140"/>
                      <a:pt x="30" y="140"/>
                      <a:pt x="30" y="139"/>
                    </a:cubicBezTo>
                    <a:cubicBezTo>
                      <a:pt x="29" y="138"/>
                      <a:pt x="29" y="137"/>
                      <a:pt x="30" y="136"/>
                    </a:cubicBezTo>
                    <a:cubicBezTo>
                      <a:pt x="37" y="128"/>
                      <a:pt x="37" y="128"/>
                      <a:pt x="37" y="128"/>
                    </a:cubicBezTo>
                    <a:cubicBezTo>
                      <a:pt x="38" y="127"/>
                      <a:pt x="40" y="127"/>
                      <a:pt x="41" y="128"/>
                    </a:cubicBezTo>
                    <a:cubicBezTo>
                      <a:pt x="42" y="129"/>
                      <a:pt x="42" y="130"/>
                      <a:pt x="41" y="131"/>
                    </a:cubicBezTo>
                    <a:cubicBezTo>
                      <a:pt x="34" y="139"/>
                      <a:pt x="34" y="139"/>
                      <a:pt x="34" y="139"/>
                    </a:cubicBezTo>
                    <a:cubicBezTo>
                      <a:pt x="33" y="140"/>
                      <a:pt x="32" y="140"/>
                      <a:pt x="32" y="140"/>
                    </a:cubicBezTo>
                    <a:close/>
                    <a:moveTo>
                      <a:pt x="45" y="125"/>
                    </a:moveTo>
                    <a:cubicBezTo>
                      <a:pt x="43" y="125"/>
                      <a:pt x="42" y="123"/>
                      <a:pt x="42" y="122"/>
                    </a:cubicBezTo>
                    <a:cubicBezTo>
                      <a:pt x="42" y="111"/>
                      <a:pt x="42" y="111"/>
                      <a:pt x="42" y="111"/>
                    </a:cubicBezTo>
                    <a:cubicBezTo>
                      <a:pt x="42" y="109"/>
                      <a:pt x="43" y="108"/>
                      <a:pt x="45" y="108"/>
                    </a:cubicBezTo>
                    <a:cubicBezTo>
                      <a:pt x="46" y="108"/>
                      <a:pt x="47" y="109"/>
                      <a:pt x="47" y="110"/>
                    </a:cubicBezTo>
                    <a:cubicBezTo>
                      <a:pt x="47" y="122"/>
                      <a:pt x="47" y="122"/>
                      <a:pt x="47" y="122"/>
                    </a:cubicBezTo>
                    <a:cubicBezTo>
                      <a:pt x="47" y="123"/>
                      <a:pt x="46" y="125"/>
                      <a:pt x="45" y="125"/>
                    </a:cubicBezTo>
                    <a:close/>
                    <a:moveTo>
                      <a:pt x="44" y="105"/>
                    </a:moveTo>
                    <a:cubicBezTo>
                      <a:pt x="43" y="105"/>
                      <a:pt x="42" y="103"/>
                      <a:pt x="42" y="101"/>
                    </a:cubicBezTo>
                    <a:cubicBezTo>
                      <a:pt x="42" y="90"/>
                      <a:pt x="42" y="90"/>
                      <a:pt x="42" y="90"/>
                    </a:cubicBezTo>
                    <a:cubicBezTo>
                      <a:pt x="42" y="88"/>
                      <a:pt x="43" y="87"/>
                      <a:pt x="44" y="87"/>
                    </a:cubicBezTo>
                    <a:cubicBezTo>
                      <a:pt x="46" y="86"/>
                      <a:pt x="47" y="88"/>
                      <a:pt x="47" y="89"/>
                    </a:cubicBezTo>
                    <a:cubicBezTo>
                      <a:pt x="47" y="101"/>
                      <a:pt x="47" y="101"/>
                      <a:pt x="47" y="101"/>
                    </a:cubicBezTo>
                    <a:cubicBezTo>
                      <a:pt x="47" y="103"/>
                      <a:pt x="46" y="105"/>
                      <a:pt x="44" y="105"/>
                    </a:cubicBezTo>
                    <a:close/>
                    <a:moveTo>
                      <a:pt x="44" y="85"/>
                    </a:moveTo>
                    <a:cubicBezTo>
                      <a:pt x="43" y="85"/>
                      <a:pt x="41" y="82"/>
                      <a:pt x="41" y="80"/>
                    </a:cubicBezTo>
                    <a:cubicBezTo>
                      <a:pt x="41" y="69"/>
                      <a:pt x="41" y="69"/>
                      <a:pt x="41" y="69"/>
                    </a:cubicBezTo>
                    <a:cubicBezTo>
                      <a:pt x="41" y="67"/>
                      <a:pt x="42" y="65"/>
                      <a:pt x="44" y="65"/>
                    </a:cubicBezTo>
                    <a:cubicBezTo>
                      <a:pt x="45" y="65"/>
                      <a:pt x="47" y="66"/>
                      <a:pt x="47" y="68"/>
                    </a:cubicBezTo>
                    <a:cubicBezTo>
                      <a:pt x="47" y="80"/>
                      <a:pt x="47" y="80"/>
                      <a:pt x="47" y="80"/>
                    </a:cubicBezTo>
                    <a:cubicBezTo>
                      <a:pt x="47" y="82"/>
                      <a:pt x="46" y="85"/>
                      <a:pt x="44" y="85"/>
                    </a:cubicBezTo>
                    <a:close/>
                    <a:moveTo>
                      <a:pt x="44" y="61"/>
                    </a:moveTo>
                    <a:cubicBezTo>
                      <a:pt x="42" y="61"/>
                      <a:pt x="41" y="59"/>
                      <a:pt x="41" y="58"/>
                    </a:cubicBezTo>
                    <a:cubicBezTo>
                      <a:pt x="41" y="47"/>
                      <a:pt x="41" y="47"/>
                      <a:pt x="41" y="47"/>
                    </a:cubicBezTo>
                    <a:cubicBezTo>
                      <a:pt x="41" y="45"/>
                      <a:pt x="42" y="44"/>
                      <a:pt x="44" y="44"/>
                    </a:cubicBezTo>
                    <a:cubicBezTo>
                      <a:pt x="45" y="43"/>
                      <a:pt x="46" y="45"/>
                      <a:pt x="46" y="46"/>
                    </a:cubicBezTo>
                    <a:cubicBezTo>
                      <a:pt x="47" y="58"/>
                      <a:pt x="47" y="58"/>
                      <a:pt x="47" y="58"/>
                    </a:cubicBezTo>
                    <a:cubicBezTo>
                      <a:pt x="47" y="59"/>
                      <a:pt x="45" y="61"/>
                      <a:pt x="44" y="61"/>
                    </a:cubicBezTo>
                    <a:close/>
                    <a:moveTo>
                      <a:pt x="43" y="37"/>
                    </a:moveTo>
                    <a:cubicBezTo>
                      <a:pt x="42" y="37"/>
                      <a:pt x="41" y="36"/>
                      <a:pt x="41" y="35"/>
                    </a:cubicBezTo>
                    <a:cubicBezTo>
                      <a:pt x="41" y="24"/>
                      <a:pt x="41" y="24"/>
                      <a:pt x="41" y="24"/>
                    </a:cubicBezTo>
                    <a:cubicBezTo>
                      <a:pt x="41" y="23"/>
                      <a:pt x="42" y="22"/>
                      <a:pt x="43" y="22"/>
                    </a:cubicBezTo>
                    <a:cubicBezTo>
                      <a:pt x="45" y="22"/>
                      <a:pt x="46" y="23"/>
                      <a:pt x="46" y="25"/>
                    </a:cubicBezTo>
                    <a:cubicBezTo>
                      <a:pt x="46" y="35"/>
                      <a:pt x="46" y="35"/>
                      <a:pt x="46" y="35"/>
                    </a:cubicBezTo>
                    <a:cubicBezTo>
                      <a:pt x="46" y="36"/>
                      <a:pt x="45" y="37"/>
                      <a:pt x="44" y="37"/>
                    </a:cubicBezTo>
                    <a:lnTo>
                      <a:pt x="43" y="37"/>
                    </a:lnTo>
                    <a:close/>
                    <a:moveTo>
                      <a:pt x="43" y="13"/>
                    </a:moveTo>
                    <a:cubicBezTo>
                      <a:pt x="42" y="13"/>
                      <a:pt x="40" y="14"/>
                      <a:pt x="40" y="12"/>
                    </a:cubicBezTo>
                    <a:cubicBezTo>
                      <a:pt x="40" y="2"/>
                      <a:pt x="40" y="2"/>
                      <a:pt x="40" y="2"/>
                    </a:cubicBezTo>
                    <a:cubicBezTo>
                      <a:pt x="40" y="1"/>
                      <a:pt x="41" y="0"/>
                      <a:pt x="43" y="0"/>
                    </a:cubicBezTo>
                    <a:cubicBezTo>
                      <a:pt x="44" y="0"/>
                      <a:pt x="46" y="1"/>
                      <a:pt x="46" y="3"/>
                    </a:cubicBezTo>
                    <a:cubicBezTo>
                      <a:pt x="46" y="12"/>
                      <a:pt x="46" y="12"/>
                      <a:pt x="46" y="12"/>
                    </a:cubicBezTo>
                    <a:cubicBezTo>
                      <a:pt x="46" y="13"/>
                      <a:pt x="45" y="13"/>
                      <a:pt x="43" y="13"/>
                    </a:cubicBezTo>
                    <a:close/>
                  </a:path>
                </a:pathLst>
              </a:custGeom>
              <a:solidFill>
                <a:schemeClr val="bg2"/>
              </a:solidFill>
              <a:ln>
                <a:noFill/>
              </a:ln>
            </p:spPr>
            <p:txBody>
              <a:bodyPr anchor="ctr"/>
              <a:lstStyle/>
              <a:p>
                <a:pPr algn="ctr"/>
              </a:p>
            </p:txBody>
          </p:sp>
          <p:sp>
            <p:nvSpPr>
              <p:cNvPr id="41" name="Freeform: Shape 129"/>
              <p:cNvSpPr/>
              <p:nvPr/>
            </p:nvSpPr>
            <p:spPr bwMode="auto">
              <a:xfrm>
                <a:off x="4154332" y="3456715"/>
                <a:ext cx="14138" cy="16158"/>
              </a:xfrm>
              <a:custGeom>
                <a:avLst/>
                <a:gdLst>
                  <a:gd name="T0" fmla="*/ 3 w 9"/>
                  <a:gd name="T1" fmla="*/ 10 h 10"/>
                  <a:gd name="T2" fmla="*/ 1 w 9"/>
                  <a:gd name="T3" fmla="*/ 9 h 10"/>
                  <a:gd name="T4" fmla="*/ 1 w 9"/>
                  <a:gd name="T5" fmla="*/ 5 h 10"/>
                  <a:gd name="T6" fmla="*/ 4 w 9"/>
                  <a:gd name="T7" fmla="*/ 1 h 10"/>
                  <a:gd name="T8" fmla="*/ 8 w 9"/>
                  <a:gd name="T9" fmla="*/ 1 h 10"/>
                  <a:gd name="T10" fmla="*/ 8 w 9"/>
                  <a:gd name="T11" fmla="*/ 5 h 10"/>
                  <a:gd name="T12" fmla="*/ 5 w 9"/>
                  <a:gd name="T13" fmla="*/ 9 h 10"/>
                  <a:gd name="T14" fmla="*/ 3 w 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10"/>
                    </a:moveTo>
                    <a:cubicBezTo>
                      <a:pt x="2" y="10"/>
                      <a:pt x="1" y="9"/>
                      <a:pt x="1" y="9"/>
                    </a:cubicBezTo>
                    <a:cubicBezTo>
                      <a:pt x="0" y="8"/>
                      <a:pt x="0" y="6"/>
                      <a:pt x="1" y="5"/>
                    </a:cubicBezTo>
                    <a:cubicBezTo>
                      <a:pt x="4" y="1"/>
                      <a:pt x="4" y="1"/>
                      <a:pt x="4" y="1"/>
                    </a:cubicBezTo>
                    <a:cubicBezTo>
                      <a:pt x="5" y="0"/>
                      <a:pt x="7" y="0"/>
                      <a:pt x="8" y="1"/>
                    </a:cubicBezTo>
                    <a:cubicBezTo>
                      <a:pt x="9" y="2"/>
                      <a:pt x="9" y="4"/>
                      <a:pt x="8" y="5"/>
                    </a:cubicBezTo>
                    <a:cubicBezTo>
                      <a:pt x="5" y="9"/>
                      <a:pt x="5" y="9"/>
                      <a:pt x="5" y="9"/>
                    </a:cubicBezTo>
                    <a:cubicBezTo>
                      <a:pt x="4" y="9"/>
                      <a:pt x="3" y="10"/>
                      <a:pt x="3" y="10"/>
                    </a:cubicBezTo>
                    <a:close/>
                  </a:path>
                </a:pathLst>
              </a:custGeom>
              <a:solidFill>
                <a:schemeClr val="bg2"/>
              </a:solidFill>
              <a:ln>
                <a:noFill/>
              </a:ln>
            </p:spPr>
            <p:txBody>
              <a:bodyPr anchor="ctr"/>
              <a:lstStyle/>
              <a:p>
                <a:pPr algn="ctr"/>
              </a:p>
            </p:txBody>
          </p:sp>
          <p:sp>
            <p:nvSpPr>
              <p:cNvPr id="42" name="Freeform: Shape 130"/>
              <p:cNvSpPr/>
              <p:nvPr/>
            </p:nvSpPr>
            <p:spPr bwMode="auto">
              <a:xfrm>
                <a:off x="4238489" y="3372558"/>
                <a:ext cx="17505" cy="6059"/>
              </a:xfrm>
              <a:custGeom>
                <a:avLst/>
                <a:gdLst>
                  <a:gd name="T0" fmla="*/ 8 w 11"/>
                  <a:gd name="T1" fmla="*/ 4 h 4"/>
                  <a:gd name="T2" fmla="*/ 8 w 11"/>
                  <a:gd name="T3" fmla="*/ 4 h 4"/>
                  <a:gd name="T4" fmla="*/ 3 w 11"/>
                  <a:gd name="T5" fmla="*/ 4 h 4"/>
                  <a:gd name="T6" fmla="*/ 0 w 11"/>
                  <a:gd name="T7" fmla="*/ 2 h 4"/>
                  <a:gd name="T8" fmla="*/ 3 w 11"/>
                  <a:gd name="T9" fmla="*/ 0 h 4"/>
                  <a:gd name="T10" fmla="*/ 3 w 11"/>
                  <a:gd name="T11" fmla="*/ 0 h 4"/>
                  <a:gd name="T12" fmla="*/ 8 w 11"/>
                  <a:gd name="T13" fmla="*/ 0 h 4"/>
                  <a:gd name="T14" fmla="*/ 11 w 11"/>
                  <a:gd name="T15" fmla="*/ 2 h 4"/>
                  <a:gd name="T16" fmla="*/ 8 w 11"/>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
                    <a:moveTo>
                      <a:pt x="8" y="4"/>
                    </a:moveTo>
                    <a:cubicBezTo>
                      <a:pt x="8" y="4"/>
                      <a:pt x="8" y="4"/>
                      <a:pt x="8" y="4"/>
                    </a:cubicBezTo>
                    <a:cubicBezTo>
                      <a:pt x="3" y="4"/>
                      <a:pt x="3" y="4"/>
                      <a:pt x="3" y="4"/>
                    </a:cubicBezTo>
                    <a:cubicBezTo>
                      <a:pt x="1" y="4"/>
                      <a:pt x="0" y="4"/>
                      <a:pt x="0" y="2"/>
                    </a:cubicBezTo>
                    <a:cubicBezTo>
                      <a:pt x="0" y="1"/>
                      <a:pt x="1" y="0"/>
                      <a:pt x="3" y="0"/>
                    </a:cubicBezTo>
                    <a:cubicBezTo>
                      <a:pt x="3" y="0"/>
                      <a:pt x="3" y="0"/>
                      <a:pt x="3" y="0"/>
                    </a:cubicBezTo>
                    <a:cubicBezTo>
                      <a:pt x="8" y="0"/>
                      <a:pt x="8" y="0"/>
                      <a:pt x="8" y="0"/>
                    </a:cubicBezTo>
                    <a:cubicBezTo>
                      <a:pt x="10" y="0"/>
                      <a:pt x="11" y="0"/>
                      <a:pt x="11" y="2"/>
                    </a:cubicBezTo>
                    <a:cubicBezTo>
                      <a:pt x="11" y="3"/>
                      <a:pt x="10" y="4"/>
                      <a:pt x="8" y="4"/>
                    </a:cubicBezTo>
                    <a:close/>
                  </a:path>
                </a:pathLst>
              </a:custGeom>
              <a:solidFill>
                <a:schemeClr val="bg2"/>
              </a:solidFill>
              <a:ln>
                <a:noFill/>
              </a:ln>
            </p:spPr>
            <p:txBody>
              <a:bodyPr anchor="ctr"/>
              <a:lstStyle/>
              <a:p>
                <a:pPr algn="ctr"/>
              </a:p>
            </p:txBody>
          </p:sp>
          <p:sp>
            <p:nvSpPr>
              <p:cNvPr id="43" name="Freeform: Shape 131"/>
              <p:cNvSpPr/>
              <p:nvPr/>
            </p:nvSpPr>
            <p:spPr bwMode="auto">
              <a:xfrm>
                <a:off x="4266093" y="3365826"/>
                <a:ext cx="175046" cy="14138"/>
              </a:xfrm>
              <a:custGeom>
                <a:avLst/>
                <a:gdLst>
                  <a:gd name="T0" fmla="*/ 108 w 110"/>
                  <a:gd name="T1" fmla="*/ 8 h 9"/>
                  <a:gd name="T2" fmla="*/ 107 w 110"/>
                  <a:gd name="T3" fmla="*/ 8 h 9"/>
                  <a:gd name="T4" fmla="*/ 96 w 110"/>
                  <a:gd name="T5" fmla="*/ 9 h 9"/>
                  <a:gd name="T6" fmla="*/ 93 w 110"/>
                  <a:gd name="T7" fmla="*/ 6 h 9"/>
                  <a:gd name="T8" fmla="*/ 96 w 110"/>
                  <a:gd name="T9" fmla="*/ 4 h 9"/>
                  <a:gd name="T10" fmla="*/ 108 w 110"/>
                  <a:gd name="T11" fmla="*/ 4 h 9"/>
                  <a:gd name="T12" fmla="*/ 110 w 110"/>
                  <a:gd name="T13" fmla="*/ 6 h 9"/>
                  <a:gd name="T14" fmla="*/ 108 w 110"/>
                  <a:gd name="T15" fmla="*/ 8 h 9"/>
                  <a:gd name="T16" fmla="*/ 84 w 110"/>
                  <a:gd name="T17" fmla="*/ 8 h 9"/>
                  <a:gd name="T18" fmla="*/ 84 w 110"/>
                  <a:gd name="T19" fmla="*/ 8 h 9"/>
                  <a:gd name="T20" fmla="*/ 73 w 110"/>
                  <a:gd name="T21" fmla="*/ 9 h 9"/>
                  <a:gd name="T22" fmla="*/ 70 w 110"/>
                  <a:gd name="T23" fmla="*/ 4 h 9"/>
                  <a:gd name="T24" fmla="*/ 73 w 110"/>
                  <a:gd name="T25" fmla="*/ 0 h 9"/>
                  <a:gd name="T26" fmla="*/ 73 w 110"/>
                  <a:gd name="T27" fmla="*/ 0 h 9"/>
                  <a:gd name="T28" fmla="*/ 84 w 110"/>
                  <a:gd name="T29" fmla="*/ 2 h 9"/>
                  <a:gd name="T30" fmla="*/ 87 w 110"/>
                  <a:gd name="T31" fmla="*/ 5 h 9"/>
                  <a:gd name="T32" fmla="*/ 84 w 110"/>
                  <a:gd name="T33" fmla="*/ 8 h 9"/>
                  <a:gd name="T34" fmla="*/ 61 w 110"/>
                  <a:gd name="T35" fmla="*/ 8 h 9"/>
                  <a:gd name="T36" fmla="*/ 61 w 110"/>
                  <a:gd name="T37" fmla="*/ 8 h 9"/>
                  <a:gd name="T38" fmla="*/ 49 w 110"/>
                  <a:gd name="T39" fmla="*/ 9 h 9"/>
                  <a:gd name="T40" fmla="*/ 47 w 110"/>
                  <a:gd name="T41" fmla="*/ 4 h 9"/>
                  <a:gd name="T42" fmla="*/ 49 w 110"/>
                  <a:gd name="T43" fmla="*/ 0 h 9"/>
                  <a:gd name="T44" fmla="*/ 49 w 110"/>
                  <a:gd name="T45" fmla="*/ 0 h 9"/>
                  <a:gd name="T46" fmla="*/ 61 w 110"/>
                  <a:gd name="T47" fmla="*/ 2 h 9"/>
                  <a:gd name="T48" fmla="*/ 64 w 110"/>
                  <a:gd name="T49" fmla="*/ 5 h 9"/>
                  <a:gd name="T50" fmla="*/ 61 w 110"/>
                  <a:gd name="T51" fmla="*/ 8 h 9"/>
                  <a:gd name="T52" fmla="*/ 38 w 110"/>
                  <a:gd name="T53" fmla="*/ 8 h 9"/>
                  <a:gd name="T54" fmla="*/ 38 w 110"/>
                  <a:gd name="T55" fmla="*/ 8 h 9"/>
                  <a:gd name="T56" fmla="*/ 26 w 110"/>
                  <a:gd name="T57" fmla="*/ 8 h 9"/>
                  <a:gd name="T58" fmla="*/ 23 w 110"/>
                  <a:gd name="T59" fmla="*/ 4 h 9"/>
                  <a:gd name="T60" fmla="*/ 26 w 110"/>
                  <a:gd name="T61" fmla="*/ 0 h 9"/>
                  <a:gd name="T62" fmla="*/ 26 w 110"/>
                  <a:gd name="T63" fmla="*/ 0 h 9"/>
                  <a:gd name="T64" fmla="*/ 38 w 110"/>
                  <a:gd name="T65" fmla="*/ 2 h 9"/>
                  <a:gd name="T66" fmla="*/ 40 w 110"/>
                  <a:gd name="T67" fmla="*/ 5 h 9"/>
                  <a:gd name="T68" fmla="*/ 38 w 110"/>
                  <a:gd name="T69" fmla="*/ 8 h 9"/>
                  <a:gd name="T70" fmla="*/ 14 w 110"/>
                  <a:gd name="T71" fmla="*/ 8 h 9"/>
                  <a:gd name="T72" fmla="*/ 14 w 110"/>
                  <a:gd name="T73" fmla="*/ 8 h 9"/>
                  <a:gd name="T74" fmla="*/ 3 w 110"/>
                  <a:gd name="T75" fmla="*/ 8 h 9"/>
                  <a:gd name="T76" fmla="*/ 0 w 110"/>
                  <a:gd name="T77" fmla="*/ 4 h 9"/>
                  <a:gd name="T78" fmla="*/ 3 w 110"/>
                  <a:gd name="T79" fmla="*/ 0 h 9"/>
                  <a:gd name="T80" fmla="*/ 3 w 110"/>
                  <a:gd name="T81" fmla="*/ 0 h 9"/>
                  <a:gd name="T82" fmla="*/ 15 w 110"/>
                  <a:gd name="T83" fmla="*/ 2 h 9"/>
                  <a:gd name="T84" fmla="*/ 17 w 110"/>
                  <a:gd name="T85" fmla="*/ 5 h 9"/>
                  <a:gd name="T86" fmla="*/ 14 w 110"/>
                  <a:gd name="T87"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 h="9">
                    <a:moveTo>
                      <a:pt x="108" y="8"/>
                    </a:moveTo>
                    <a:cubicBezTo>
                      <a:pt x="107" y="8"/>
                      <a:pt x="107" y="8"/>
                      <a:pt x="107" y="8"/>
                    </a:cubicBezTo>
                    <a:cubicBezTo>
                      <a:pt x="96" y="9"/>
                      <a:pt x="96" y="9"/>
                      <a:pt x="96" y="9"/>
                    </a:cubicBezTo>
                    <a:cubicBezTo>
                      <a:pt x="94" y="9"/>
                      <a:pt x="93" y="8"/>
                      <a:pt x="93" y="6"/>
                    </a:cubicBezTo>
                    <a:cubicBezTo>
                      <a:pt x="93" y="5"/>
                      <a:pt x="94" y="4"/>
                      <a:pt x="96" y="4"/>
                    </a:cubicBezTo>
                    <a:cubicBezTo>
                      <a:pt x="108" y="4"/>
                      <a:pt x="108" y="4"/>
                      <a:pt x="108" y="4"/>
                    </a:cubicBezTo>
                    <a:cubicBezTo>
                      <a:pt x="109" y="4"/>
                      <a:pt x="110" y="4"/>
                      <a:pt x="110" y="6"/>
                    </a:cubicBezTo>
                    <a:cubicBezTo>
                      <a:pt x="110" y="8"/>
                      <a:pt x="109" y="8"/>
                      <a:pt x="108" y="8"/>
                    </a:cubicBezTo>
                    <a:close/>
                    <a:moveTo>
                      <a:pt x="84" y="8"/>
                    </a:moveTo>
                    <a:cubicBezTo>
                      <a:pt x="84" y="8"/>
                      <a:pt x="84" y="8"/>
                      <a:pt x="84" y="8"/>
                    </a:cubicBezTo>
                    <a:cubicBezTo>
                      <a:pt x="73" y="9"/>
                      <a:pt x="73" y="9"/>
                      <a:pt x="73" y="9"/>
                    </a:cubicBezTo>
                    <a:cubicBezTo>
                      <a:pt x="71" y="9"/>
                      <a:pt x="70" y="6"/>
                      <a:pt x="70" y="4"/>
                    </a:cubicBezTo>
                    <a:cubicBezTo>
                      <a:pt x="70" y="3"/>
                      <a:pt x="71" y="0"/>
                      <a:pt x="73" y="0"/>
                    </a:cubicBezTo>
                    <a:cubicBezTo>
                      <a:pt x="73" y="0"/>
                      <a:pt x="73" y="0"/>
                      <a:pt x="73" y="0"/>
                    </a:cubicBezTo>
                    <a:cubicBezTo>
                      <a:pt x="84" y="2"/>
                      <a:pt x="84" y="2"/>
                      <a:pt x="84" y="2"/>
                    </a:cubicBezTo>
                    <a:cubicBezTo>
                      <a:pt x="86" y="2"/>
                      <a:pt x="87" y="3"/>
                      <a:pt x="87" y="5"/>
                    </a:cubicBezTo>
                    <a:cubicBezTo>
                      <a:pt x="87" y="6"/>
                      <a:pt x="86" y="8"/>
                      <a:pt x="84" y="8"/>
                    </a:cubicBezTo>
                    <a:close/>
                    <a:moveTo>
                      <a:pt x="61" y="8"/>
                    </a:moveTo>
                    <a:cubicBezTo>
                      <a:pt x="61" y="8"/>
                      <a:pt x="61" y="8"/>
                      <a:pt x="61" y="8"/>
                    </a:cubicBezTo>
                    <a:cubicBezTo>
                      <a:pt x="49" y="9"/>
                      <a:pt x="49" y="9"/>
                      <a:pt x="49" y="9"/>
                    </a:cubicBezTo>
                    <a:cubicBezTo>
                      <a:pt x="48" y="9"/>
                      <a:pt x="47" y="6"/>
                      <a:pt x="47" y="4"/>
                    </a:cubicBezTo>
                    <a:cubicBezTo>
                      <a:pt x="47" y="3"/>
                      <a:pt x="48" y="0"/>
                      <a:pt x="49" y="0"/>
                    </a:cubicBezTo>
                    <a:cubicBezTo>
                      <a:pt x="49" y="0"/>
                      <a:pt x="49" y="0"/>
                      <a:pt x="49" y="0"/>
                    </a:cubicBezTo>
                    <a:cubicBezTo>
                      <a:pt x="61" y="2"/>
                      <a:pt x="61" y="2"/>
                      <a:pt x="61" y="2"/>
                    </a:cubicBezTo>
                    <a:cubicBezTo>
                      <a:pt x="63" y="2"/>
                      <a:pt x="64" y="3"/>
                      <a:pt x="64" y="5"/>
                    </a:cubicBezTo>
                    <a:cubicBezTo>
                      <a:pt x="64" y="6"/>
                      <a:pt x="63" y="8"/>
                      <a:pt x="61" y="8"/>
                    </a:cubicBezTo>
                    <a:close/>
                    <a:moveTo>
                      <a:pt x="38" y="8"/>
                    </a:moveTo>
                    <a:cubicBezTo>
                      <a:pt x="38" y="8"/>
                      <a:pt x="38" y="8"/>
                      <a:pt x="38" y="8"/>
                    </a:cubicBezTo>
                    <a:cubicBezTo>
                      <a:pt x="26" y="8"/>
                      <a:pt x="26" y="8"/>
                      <a:pt x="26" y="8"/>
                    </a:cubicBezTo>
                    <a:cubicBezTo>
                      <a:pt x="25" y="8"/>
                      <a:pt x="23" y="6"/>
                      <a:pt x="23" y="4"/>
                    </a:cubicBezTo>
                    <a:cubicBezTo>
                      <a:pt x="23" y="3"/>
                      <a:pt x="25" y="0"/>
                      <a:pt x="26" y="0"/>
                    </a:cubicBezTo>
                    <a:cubicBezTo>
                      <a:pt x="26" y="0"/>
                      <a:pt x="26" y="0"/>
                      <a:pt x="26" y="0"/>
                    </a:cubicBezTo>
                    <a:cubicBezTo>
                      <a:pt x="38" y="2"/>
                      <a:pt x="38" y="2"/>
                      <a:pt x="38" y="2"/>
                    </a:cubicBezTo>
                    <a:cubicBezTo>
                      <a:pt x="39" y="2"/>
                      <a:pt x="40" y="3"/>
                      <a:pt x="40" y="5"/>
                    </a:cubicBezTo>
                    <a:cubicBezTo>
                      <a:pt x="40" y="6"/>
                      <a:pt x="39" y="8"/>
                      <a:pt x="38" y="8"/>
                    </a:cubicBezTo>
                    <a:close/>
                    <a:moveTo>
                      <a:pt x="14" y="8"/>
                    </a:moveTo>
                    <a:cubicBezTo>
                      <a:pt x="14" y="8"/>
                      <a:pt x="14" y="8"/>
                      <a:pt x="14" y="8"/>
                    </a:cubicBezTo>
                    <a:cubicBezTo>
                      <a:pt x="3" y="8"/>
                      <a:pt x="3" y="8"/>
                      <a:pt x="3" y="8"/>
                    </a:cubicBezTo>
                    <a:cubicBezTo>
                      <a:pt x="1" y="8"/>
                      <a:pt x="0" y="6"/>
                      <a:pt x="0" y="4"/>
                    </a:cubicBezTo>
                    <a:cubicBezTo>
                      <a:pt x="0" y="3"/>
                      <a:pt x="1" y="0"/>
                      <a:pt x="3" y="0"/>
                    </a:cubicBezTo>
                    <a:cubicBezTo>
                      <a:pt x="3" y="0"/>
                      <a:pt x="3" y="0"/>
                      <a:pt x="3" y="0"/>
                    </a:cubicBezTo>
                    <a:cubicBezTo>
                      <a:pt x="15" y="2"/>
                      <a:pt x="15" y="2"/>
                      <a:pt x="15" y="2"/>
                    </a:cubicBezTo>
                    <a:cubicBezTo>
                      <a:pt x="16" y="2"/>
                      <a:pt x="17" y="3"/>
                      <a:pt x="17" y="5"/>
                    </a:cubicBezTo>
                    <a:cubicBezTo>
                      <a:pt x="17" y="6"/>
                      <a:pt x="16" y="8"/>
                      <a:pt x="14" y="8"/>
                    </a:cubicBezTo>
                    <a:close/>
                  </a:path>
                </a:pathLst>
              </a:custGeom>
              <a:solidFill>
                <a:schemeClr val="bg2"/>
              </a:solidFill>
              <a:ln>
                <a:noFill/>
              </a:ln>
            </p:spPr>
            <p:txBody>
              <a:bodyPr anchor="ctr"/>
              <a:lstStyle/>
              <a:p>
                <a:pPr algn="ctr"/>
              </a:p>
            </p:txBody>
          </p:sp>
          <p:sp>
            <p:nvSpPr>
              <p:cNvPr id="44" name="Freeform: Shape 132"/>
              <p:cNvSpPr/>
              <p:nvPr/>
            </p:nvSpPr>
            <p:spPr bwMode="auto">
              <a:xfrm>
                <a:off x="4450565" y="3372558"/>
                <a:ext cx="17505" cy="7406"/>
              </a:xfrm>
              <a:custGeom>
                <a:avLst/>
                <a:gdLst>
                  <a:gd name="T0" fmla="*/ 9 w 11"/>
                  <a:gd name="T1" fmla="*/ 4 h 5"/>
                  <a:gd name="T2" fmla="*/ 9 w 11"/>
                  <a:gd name="T3" fmla="*/ 4 h 5"/>
                  <a:gd name="T4" fmla="*/ 3 w 11"/>
                  <a:gd name="T5" fmla="*/ 5 h 5"/>
                  <a:gd name="T6" fmla="*/ 0 w 11"/>
                  <a:gd name="T7" fmla="*/ 2 h 5"/>
                  <a:gd name="T8" fmla="*/ 3 w 11"/>
                  <a:gd name="T9" fmla="*/ 0 h 5"/>
                  <a:gd name="T10" fmla="*/ 3 w 11"/>
                  <a:gd name="T11" fmla="*/ 0 h 5"/>
                  <a:gd name="T12" fmla="*/ 9 w 11"/>
                  <a:gd name="T13" fmla="*/ 0 h 5"/>
                  <a:gd name="T14" fmla="*/ 11 w 11"/>
                  <a:gd name="T15" fmla="*/ 2 h 5"/>
                  <a:gd name="T16" fmla="*/ 9 w 11"/>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
                    <a:moveTo>
                      <a:pt x="9" y="4"/>
                    </a:moveTo>
                    <a:cubicBezTo>
                      <a:pt x="9" y="4"/>
                      <a:pt x="9" y="4"/>
                      <a:pt x="9" y="4"/>
                    </a:cubicBezTo>
                    <a:cubicBezTo>
                      <a:pt x="3" y="5"/>
                      <a:pt x="3" y="5"/>
                      <a:pt x="3" y="5"/>
                    </a:cubicBezTo>
                    <a:cubicBezTo>
                      <a:pt x="2" y="5"/>
                      <a:pt x="0" y="4"/>
                      <a:pt x="0" y="2"/>
                    </a:cubicBezTo>
                    <a:cubicBezTo>
                      <a:pt x="0" y="1"/>
                      <a:pt x="2" y="0"/>
                      <a:pt x="3" y="0"/>
                    </a:cubicBezTo>
                    <a:cubicBezTo>
                      <a:pt x="3" y="0"/>
                      <a:pt x="3" y="0"/>
                      <a:pt x="3" y="0"/>
                    </a:cubicBezTo>
                    <a:cubicBezTo>
                      <a:pt x="9" y="0"/>
                      <a:pt x="9" y="0"/>
                      <a:pt x="9" y="0"/>
                    </a:cubicBezTo>
                    <a:cubicBezTo>
                      <a:pt x="10" y="0"/>
                      <a:pt x="11" y="0"/>
                      <a:pt x="11" y="2"/>
                    </a:cubicBezTo>
                    <a:cubicBezTo>
                      <a:pt x="11" y="3"/>
                      <a:pt x="10" y="4"/>
                      <a:pt x="9" y="4"/>
                    </a:cubicBezTo>
                    <a:close/>
                  </a:path>
                </a:pathLst>
              </a:custGeom>
              <a:solidFill>
                <a:schemeClr val="bg2"/>
              </a:solidFill>
              <a:ln>
                <a:noFill/>
              </a:ln>
            </p:spPr>
            <p:txBody>
              <a:bodyPr anchor="ctr"/>
              <a:lstStyle/>
              <a:p>
                <a:pPr algn="ctr"/>
              </a:p>
            </p:txBody>
          </p:sp>
          <p:sp>
            <p:nvSpPr>
              <p:cNvPr id="45" name="Freeform: Shape 133"/>
              <p:cNvSpPr/>
              <p:nvPr/>
            </p:nvSpPr>
            <p:spPr bwMode="auto">
              <a:xfrm>
                <a:off x="4085660" y="3155770"/>
                <a:ext cx="65306" cy="53860"/>
              </a:xfrm>
              <a:custGeom>
                <a:avLst/>
                <a:gdLst>
                  <a:gd name="T0" fmla="*/ 2 w 41"/>
                  <a:gd name="T1" fmla="*/ 11 h 34"/>
                  <a:gd name="T2" fmla="*/ 21 w 41"/>
                  <a:gd name="T3" fmla="*/ 0 h 34"/>
                  <a:gd name="T4" fmla="*/ 39 w 41"/>
                  <a:gd name="T5" fmla="*/ 11 h 34"/>
                  <a:gd name="T6" fmla="*/ 39 w 41"/>
                  <a:gd name="T7" fmla="*/ 27 h 34"/>
                  <a:gd name="T8" fmla="*/ 41 w 41"/>
                  <a:gd name="T9" fmla="*/ 33 h 34"/>
                  <a:gd name="T10" fmla="*/ 30 w 41"/>
                  <a:gd name="T11" fmla="*/ 33 h 34"/>
                  <a:gd name="T12" fmla="*/ 29 w 41"/>
                  <a:gd name="T13" fmla="*/ 30 h 34"/>
                  <a:gd name="T14" fmla="*/ 14 w 41"/>
                  <a:gd name="T15" fmla="*/ 34 h 34"/>
                  <a:gd name="T16" fmla="*/ 0 w 41"/>
                  <a:gd name="T17" fmla="*/ 24 h 34"/>
                  <a:gd name="T18" fmla="*/ 13 w 41"/>
                  <a:gd name="T19" fmla="*/ 14 h 34"/>
                  <a:gd name="T20" fmla="*/ 24 w 41"/>
                  <a:gd name="T21" fmla="*/ 13 h 34"/>
                  <a:gd name="T22" fmla="*/ 29 w 41"/>
                  <a:gd name="T23" fmla="*/ 10 h 34"/>
                  <a:gd name="T24" fmla="*/ 20 w 41"/>
                  <a:gd name="T25" fmla="*/ 6 h 34"/>
                  <a:gd name="T26" fmla="*/ 12 w 41"/>
                  <a:gd name="T27" fmla="*/ 11 h 34"/>
                  <a:gd name="T28" fmla="*/ 2 w 41"/>
                  <a:gd name="T29" fmla="*/ 11 h 34"/>
                  <a:gd name="T30" fmla="*/ 29 w 41"/>
                  <a:gd name="T31" fmla="*/ 17 h 34"/>
                  <a:gd name="T32" fmla="*/ 23 w 41"/>
                  <a:gd name="T33" fmla="*/ 19 h 34"/>
                  <a:gd name="T34" fmla="*/ 17 w 41"/>
                  <a:gd name="T35" fmla="*/ 19 h 34"/>
                  <a:gd name="T36" fmla="*/ 11 w 41"/>
                  <a:gd name="T37" fmla="*/ 24 h 34"/>
                  <a:gd name="T38" fmla="*/ 18 w 41"/>
                  <a:gd name="T39" fmla="*/ 28 h 34"/>
                  <a:gd name="T40" fmla="*/ 29 w 41"/>
                  <a:gd name="T41" fmla="*/ 20 h 34"/>
                  <a:gd name="T42" fmla="*/ 29 w 41"/>
                  <a:gd name="T43"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2" y="11"/>
                    </a:moveTo>
                    <a:cubicBezTo>
                      <a:pt x="3" y="1"/>
                      <a:pt x="12" y="0"/>
                      <a:pt x="21" y="0"/>
                    </a:cubicBezTo>
                    <a:cubicBezTo>
                      <a:pt x="36" y="0"/>
                      <a:pt x="39" y="5"/>
                      <a:pt x="39" y="11"/>
                    </a:cubicBezTo>
                    <a:cubicBezTo>
                      <a:pt x="39" y="27"/>
                      <a:pt x="39" y="27"/>
                      <a:pt x="39" y="27"/>
                    </a:cubicBezTo>
                    <a:cubicBezTo>
                      <a:pt x="39" y="29"/>
                      <a:pt x="40" y="31"/>
                      <a:pt x="41" y="33"/>
                    </a:cubicBezTo>
                    <a:cubicBezTo>
                      <a:pt x="30" y="33"/>
                      <a:pt x="30" y="33"/>
                      <a:pt x="30" y="33"/>
                    </a:cubicBezTo>
                    <a:cubicBezTo>
                      <a:pt x="30" y="32"/>
                      <a:pt x="29" y="31"/>
                      <a:pt x="29" y="30"/>
                    </a:cubicBezTo>
                    <a:cubicBezTo>
                      <a:pt x="26" y="33"/>
                      <a:pt x="19" y="34"/>
                      <a:pt x="14" y="34"/>
                    </a:cubicBezTo>
                    <a:cubicBezTo>
                      <a:pt x="6" y="34"/>
                      <a:pt x="0" y="31"/>
                      <a:pt x="0" y="24"/>
                    </a:cubicBezTo>
                    <a:cubicBezTo>
                      <a:pt x="0" y="16"/>
                      <a:pt x="7" y="14"/>
                      <a:pt x="13" y="14"/>
                    </a:cubicBezTo>
                    <a:cubicBezTo>
                      <a:pt x="24" y="13"/>
                      <a:pt x="24" y="13"/>
                      <a:pt x="24" y="13"/>
                    </a:cubicBezTo>
                    <a:cubicBezTo>
                      <a:pt x="28" y="13"/>
                      <a:pt x="29" y="12"/>
                      <a:pt x="29" y="10"/>
                    </a:cubicBezTo>
                    <a:cubicBezTo>
                      <a:pt x="29" y="7"/>
                      <a:pt x="27" y="6"/>
                      <a:pt x="20" y="6"/>
                    </a:cubicBezTo>
                    <a:cubicBezTo>
                      <a:pt x="16" y="6"/>
                      <a:pt x="14" y="6"/>
                      <a:pt x="12" y="11"/>
                    </a:cubicBezTo>
                    <a:lnTo>
                      <a:pt x="2" y="11"/>
                    </a:lnTo>
                    <a:close/>
                    <a:moveTo>
                      <a:pt x="29" y="17"/>
                    </a:moveTo>
                    <a:cubicBezTo>
                      <a:pt x="27" y="18"/>
                      <a:pt x="25" y="19"/>
                      <a:pt x="23" y="19"/>
                    </a:cubicBezTo>
                    <a:cubicBezTo>
                      <a:pt x="17" y="19"/>
                      <a:pt x="17" y="19"/>
                      <a:pt x="17" y="19"/>
                    </a:cubicBezTo>
                    <a:cubicBezTo>
                      <a:pt x="13" y="20"/>
                      <a:pt x="11" y="21"/>
                      <a:pt x="11" y="24"/>
                    </a:cubicBezTo>
                    <a:cubicBezTo>
                      <a:pt x="11" y="26"/>
                      <a:pt x="14" y="28"/>
                      <a:pt x="18" y="28"/>
                    </a:cubicBezTo>
                    <a:cubicBezTo>
                      <a:pt x="23" y="28"/>
                      <a:pt x="29" y="25"/>
                      <a:pt x="29" y="20"/>
                    </a:cubicBezTo>
                    <a:lnTo>
                      <a:pt x="29" y="17"/>
                    </a:lnTo>
                    <a:close/>
                  </a:path>
                </a:pathLst>
              </a:custGeom>
              <a:solidFill>
                <a:schemeClr val="bg2"/>
              </a:solidFill>
              <a:ln>
                <a:noFill/>
              </a:ln>
            </p:spPr>
            <p:txBody>
              <a:bodyPr anchor="ctr"/>
              <a:lstStyle/>
              <a:p>
                <a:pPr algn="ctr"/>
              </a:p>
            </p:txBody>
          </p:sp>
          <p:sp>
            <p:nvSpPr>
              <p:cNvPr id="46" name="Freeform: Shape 134"/>
              <p:cNvSpPr/>
              <p:nvPr/>
            </p:nvSpPr>
            <p:spPr bwMode="auto">
              <a:xfrm>
                <a:off x="4219638" y="3041317"/>
                <a:ext cx="66652" cy="71365"/>
              </a:xfrm>
              <a:custGeom>
                <a:avLst/>
                <a:gdLst>
                  <a:gd name="T0" fmla="*/ 0 w 42"/>
                  <a:gd name="T1" fmla="*/ 0 h 45"/>
                  <a:gd name="T2" fmla="*/ 11 w 42"/>
                  <a:gd name="T3" fmla="*/ 0 h 45"/>
                  <a:gd name="T4" fmla="*/ 11 w 42"/>
                  <a:gd name="T5" fmla="*/ 15 h 45"/>
                  <a:gd name="T6" fmla="*/ 11 w 42"/>
                  <a:gd name="T7" fmla="*/ 15 h 45"/>
                  <a:gd name="T8" fmla="*/ 24 w 42"/>
                  <a:gd name="T9" fmla="*/ 11 h 45"/>
                  <a:gd name="T10" fmla="*/ 42 w 42"/>
                  <a:gd name="T11" fmla="*/ 28 h 45"/>
                  <a:gd name="T12" fmla="*/ 23 w 42"/>
                  <a:gd name="T13" fmla="*/ 45 h 45"/>
                  <a:gd name="T14" fmla="*/ 11 w 42"/>
                  <a:gd name="T15" fmla="*/ 40 h 45"/>
                  <a:gd name="T16" fmla="*/ 11 w 42"/>
                  <a:gd name="T17" fmla="*/ 40 h 45"/>
                  <a:gd name="T18" fmla="*/ 11 w 42"/>
                  <a:gd name="T19" fmla="*/ 44 h 45"/>
                  <a:gd name="T20" fmla="*/ 0 w 42"/>
                  <a:gd name="T21" fmla="*/ 44 h 45"/>
                  <a:gd name="T22" fmla="*/ 0 w 42"/>
                  <a:gd name="T23" fmla="*/ 0 h 45"/>
                  <a:gd name="T24" fmla="*/ 21 w 42"/>
                  <a:gd name="T25" fmla="*/ 37 h 45"/>
                  <a:gd name="T26" fmla="*/ 31 w 42"/>
                  <a:gd name="T27" fmla="*/ 28 h 45"/>
                  <a:gd name="T28" fmla="*/ 21 w 42"/>
                  <a:gd name="T29" fmla="*/ 18 h 45"/>
                  <a:gd name="T30" fmla="*/ 11 w 42"/>
                  <a:gd name="T31" fmla="*/ 28 h 45"/>
                  <a:gd name="T32" fmla="*/ 21 w 42"/>
                  <a:gd name="T33"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45">
                    <a:moveTo>
                      <a:pt x="0" y="0"/>
                    </a:moveTo>
                    <a:cubicBezTo>
                      <a:pt x="11" y="0"/>
                      <a:pt x="11" y="0"/>
                      <a:pt x="11" y="0"/>
                    </a:cubicBezTo>
                    <a:cubicBezTo>
                      <a:pt x="11" y="15"/>
                      <a:pt x="11" y="15"/>
                      <a:pt x="11" y="15"/>
                    </a:cubicBezTo>
                    <a:cubicBezTo>
                      <a:pt x="11" y="15"/>
                      <a:pt x="11" y="15"/>
                      <a:pt x="11" y="15"/>
                    </a:cubicBezTo>
                    <a:cubicBezTo>
                      <a:pt x="13" y="13"/>
                      <a:pt x="18" y="11"/>
                      <a:pt x="24" y="11"/>
                    </a:cubicBezTo>
                    <a:cubicBezTo>
                      <a:pt x="34" y="11"/>
                      <a:pt x="42" y="17"/>
                      <a:pt x="42" y="28"/>
                    </a:cubicBezTo>
                    <a:cubicBezTo>
                      <a:pt x="42" y="39"/>
                      <a:pt x="33" y="45"/>
                      <a:pt x="23" y="45"/>
                    </a:cubicBezTo>
                    <a:cubicBezTo>
                      <a:pt x="18" y="45"/>
                      <a:pt x="15" y="44"/>
                      <a:pt x="11" y="40"/>
                    </a:cubicBezTo>
                    <a:cubicBezTo>
                      <a:pt x="11" y="40"/>
                      <a:pt x="11" y="40"/>
                      <a:pt x="11" y="40"/>
                    </a:cubicBezTo>
                    <a:cubicBezTo>
                      <a:pt x="11" y="44"/>
                      <a:pt x="11" y="44"/>
                      <a:pt x="11" y="44"/>
                    </a:cubicBezTo>
                    <a:cubicBezTo>
                      <a:pt x="0" y="44"/>
                      <a:pt x="0" y="44"/>
                      <a:pt x="0" y="44"/>
                    </a:cubicBezTo>
                    <a:lnTo>
                      <a:pt x="0" y="0"/>
                    </a:lnTo>
                    <a:close/>
                    <a:moveTo>
                      <a:pt x="21" y="37"/>
                    </a:moveTo>
                    <a:cubicBezTo>
                      <a:pt x="26" y="37"/>
                      <a:pt x="31" y="34"/>
                      <a:pt x="31" y="28"/>
                    </a:cubicBezTo>
                    <a:cubicBezTo>
                      <a:pt x="31" y="22"/>
                      <a:pt x="26" y="18"/>
                      <a:pt x="21" y="18"/>
                    </a:cubicBezTo>
                    <a:cubicBezTo>
                      <a:pt x="15" y="18"/>
                      <a:pt x="11" y="22"/>
                      <a:pt x="11" y="28"/>
                    </a:cubicBezTo>
                    <a:cubicBezTo>
                      <a:pt x="11" y="34"/>
                      <a:pt x="15" y="37"/>
                      <a:pt x="21" y="37"/>
                    </a:cubicBezTo>
                    <a:close/>
                  </a:path>
                </a:pathLst>
              </a:custGeom>
              <a:solidFill>
                <a:schemeClr val="bg2"/>
              </a:solidFill>
              <a:ln>
                <a:noFill/>
              </a:ln>
            </p:spPr>
            <p:txBody>
              <a:bodyPr anchor="ctr"/>
              <a:lstStyle/>
              <a:p>
                <a:pPr algn="ctr"/>
              </a:p>
            </p:txBody>
          </p:sp>
          <p:sp>
            <p:nvSpPr>
              <p:cNvPr id="47" name="Freeform: Shape 135"/>
              <p:cNvSpPr/>
              <p:nvPr/>
            </p:nvSpPr>
            <p:spPr bwMode="auto">
              <a:xfrm>
                <a:off x="4469416" y="3076326"/>
                <a:ext cx="65306" cy="55880"/>
              </a:xfrm>
              <a:custGeom>
                <a:avLst/>
                <a:gdLst>
                  <a:gd name="T0" fmla="*/ 30 w 41"/>
                  <a:gd name="T1" fmla="*/ 13 h 35"/>
                  <a:gd name="T2" fmla="*/ 21 w 41"/>
                  <a:gd name="T3" fmla="*/ 8 h 35"/>
                  <a:gd name="T4" fmla="*/ 11 w 41"/>
                  <a:gd name="T5" fmla="*/ 17 h 35"/>
                  <a:gd name="T6" fmla="*/ 21 w 41"/>
                  <a:gd name="T7" fmla="*/ 27 h 35"/>
                  <a:gd name="T8" fmla="*/ 30 w 41"/>
                  <a:gd name="T9" fmla="*/ 21 h 35"/>
                  <a:gd name="T10" fmla="*/ 41 w 41"/>
                  <a:gd name="T11" fmla="*/ 21 h 35"/>
                  <a:gd name="T12" fmla="*/ 20 w 41"/>
                  <a:gd name="T13" fmla="*/ 35 h 35"/>
                  <a:gd name="T14" fmla="*/ 0 w 41"/>
                  <a:gd name="T15" fmla="*/ 17 h 35"/>
                  <a:gd name="T16" fmla="*/ 21 w 41"/>
                  <a:gd name="T17" fmla="*/ 0 h 35"/>
                  <a:gd name="T18" fmla="*/ 41 w 41"/>
                  <a:gd name="T19" fmla="*/ 13 h 35"/>
                  <a:gd name="T20" fmla="*/ 30 w 41"/>
                  <a:gd name="T21" fmla="*/ 1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5">
                    <a:moveTo>
                      <a:pt x="30" y="13"/>
                    </a:moveTo>
                    <a:cubicBezTo>
                      <a:pt x="29" y="9"/>
                      <a:pt x="25" y="8"/>
                      <a:pt x="21" y="8"/>
                    </a:cubicBezTo>
                    <a:cubicBezTo>
                      <a:pt x="14" y="8"/>
                      <a:pt x="11" y="11"/>
                      <a:pt x="11" y="17"/>
                    </a:cubicBezTo>
                    <a:cubicBezTo>
                      <a:pt x="11" y="24"/>
                      <a:pt x="14" y="27"/>
                      <a:pt x="21" y="27"/>
                    </a:cubicBezTo>
                    <a:cubicBezTo>
                      <a:pt x="26" y="27"/>
                      <a:pt x="29" y="25"/>
                      <a:pt x="30" y="21"/>
                    </a:cubicBezTo>
                    <a:cubicBezTo>
                      <a:pt x="41" y="21"/>
                      <a:pt x="41" y="21"/>
                      <a:pt x="41" y="21"/>
                    </a:cubicBezTo>
                    <a:cubicBezTo>
                      <a:pt x="39" y="32"/>
                      <a:pt x="31" y="35"/>
                      <a:pt x="20" y="35"/>
                    </a:cubicBezTo>
                    <a:cubicBezTo>
                      <a:pt x="8" y="35"/>
                      <a:pt x="0" y="30"/>
                      <a:pt x="0" y="17"/>
                    </a:cubicBezTo>
                    <a:cubicBezTo>
                      <a:pt x="0" y="5"/>
                      <a:pt x="8" y="0"/>
                      <a:pt x="21" y="0"/>
                    </a:cubicBezTo>
                    <a:cubicBezTo>
                      <a:pt x="29" y="0"/>
                      <a:pt x="39" y="2"/>
                      <a:pt x="41" y="13"/>
                    </a:cubicBezTo>
                    <a:lnTo>
                      <a:pt x="30" y="13"/>
                    </a:lnTo>
                    <a:close/>
                  </a:path>
                </a:pathLst>
              </a:custGeom>
              <a:solidFill>
                <a:schemeClr val="bg2"/>
              </a:solidFill>
              <a:ln>
                <a:noFill/>
              </a:ln>
            </p:spPr>
            <p:txBody>
              <a:bodyPr anchor="ctr"/>
              <a:lstStyle/>
              <a:p>
                <a:pPr algn="ctr"/>
              </a:p>
            </p:txBody>
          </p:sp>
        </p:grpSp>
        <p:grpSp>
          <p:nvGrpSpPr>
            <p:cNvPr id="20" name="Group 136"/>
            <p:cNvGrpSpPr/>
            <p:nvPr/>
          </p:nvGrpSpPr>
          <p:grpSpPr>
            <a:xfrm>
              <a:off x="12774" y="3348"/>
              <a:ext cx="874" cy="1030"/>
              <a:chOff x="4536741" y="1960742"/>
              <a:chExt cx="739908" cy="871865"/>
            </a:xfrm>
          </p:grpSpPr>
          <p:sp>
            <p:nvSpPr>
              <p:cNvPr id="21" name="Freeform: Shape 137"/>
              <p:cNvSpPr/>
              <p:nvPr/>
            </p:nvSpPr>
            <p:spPr bwMode="auto">
              <a:xfrm>
                <a:off x="4562325" y="1998444"/>
                <a:ext cx="714324" cy="834163"/>
              </a:xfrm>
              <a:custGeom>
                <a:avLst/>
                <a:gdLst>
                  <a:gd name="T0" fmla="*/ 225 w 449"/>
                  <a:gd name="T1" fmla="*/ 0 h 524"/>
                  <a:gd name="T2" fmla="*/ 0 w 449"/>
                  <a:gd name="T3" fmla="*/ 224 h 524"/>
                  <a:gd name="T4" fmla="*/ 225 w 449"/>
                  <a:gd name="T5" fmla="*/ 448 h 524"/>
                  <a:gd name="T6" fmla="*/ 235 w 449"/>
                  <a:gd name="T7" fmla="*/ 448 h 524"/>
                  <a:gd name="T8" fmla="*/ 325 w 449"/>
                  <a:gd name="T9" fmla="*/ 524 h 524"/>
                  <a:gd name="T10" fmla="*/ 335 w 449"/>
                  <a:gd name="T11" fmla="*/ 419 h 524"/>
                  <a:gd name="T12" fmla="*/ 449 w 449"/>
                  <a:gd name="T13" fmla="*/ 224 h 524"/>
                  <a:gd name="T14" fmla="*/ 225 w 449"/>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225" y="0"/>
                    </a:move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ubicBezTo>
                      <a:pt x="449" y="100"/>
                      <a:pt x="348" y="0"/>
                      <a:pt x="225"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Freeform: Shape 138"/>
              <p:cNvSpPr/>
              <p:nvPr/>
            </p:nvSpPr>
            <p:spPr bwMode="auto">
              <a:xfrm>
                <a:off x="4536741" y="1960742"/>
                <a:ext cx="714324" cy="833490"/>
              </a:xfrm>
              <a:custGeom>
                <a:avLst/>
                <a:gdLst>
                  <a:gd name="T0" fmla="*/ 449 w 449"/>
                  <a:gd name="T1" fmla="*/ 224 h 524"/>
                  <a:gd name="T2" fmla="*/ 225 w 449"/>
                  <a:gd name="T3" fmla="*/ 0 h 524"/>
                  <a:gd name="T4" fmla="*/ 0 w 449"/>
                  <a:gd name="T5" fmla="*/ 224 h 524"/>
                  <a:gd name="T6" fmla="*/ 225 w 449"/>
                  <a:gd name="T7" fmla="*/ 448 h 524"/>
                  <a:gd name="T8" fmla="*/ 235 w 449"/>
                  <a:gd name="T9" fmla="*/ 448 h 524"/>
                  <a:gd name="T10" fmla="*/ 325 w 449"/>
                  <a:gd name="T11" fmla="*/ 524 h 524"/>
                  <a:gd name="T12" fmla="*/ 335 w 449"/>
                  <a:gd name="T13" fmla="*/ 419 h 524"/>
                  <a:gd name="T14" fmla="*/ 449 w 449"/>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449" y="224"/>
                    </a:moveTo>
                    <a:cubicBezTo>
                      <a:pt x="449" y="100"/>
                      <a:pt x="348" y="0"/>
                      <a:pt x="225" y="0"/>
                    </a:cubicBez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lose/>
                  </a:path>
                </a:pathLst>
              </a:custGeom>
              <a:solidFill>
                <a:schemeClr val="accent3"/>
              </a:solidFill>
              <a:ln>
                <a:noFill/>
              </a:ln>
            </p:spPr>
            <p:txBody>
              <a:bodyPr anchor="ctr"/>
              <a:lstStyle/>
              <a:p>
                <a:pPr algn="ctr"/>
              </a:p>
            </p:txBody>
          </p:sp>
          <p:sp>
            <p:nvSpPr>
              <p:cNvPr id="23" name="Freeform: Shape 139"/>
              <p:cNvSpPr/>
              <p:nvPr/>
            </p:nvSpPr>
            <p:spPr bwMode="auto">
              <a:xfrm>
                <a:off x="4649848" y="2145214"/>
                <a:ext cx="508981" cy="379043"/>
              </a:xfrm>
              <a:custGeom>
                <a:avLst/>
                <a:gdLst>
                  <a:gd name="T0" fmla="*/ 318 w 320"/>
                  <a:gd name="T1" fmla="*/ 85 h 238"/>
                  <a:gd name="T2" fmla="*/ 50 w 320"/>
                  <a:gd name="T3" fmla="*/ 237 h 238"/>
                  <a:gd name="T4" fmla="*/ 44 w 320"/>
                  <a:gd name="T5" fmla="*/ 235 h 238"/>
                  <a:gd name="T6" fmla="*/ 1 w 320"/>
                  <a:gd name="T7" fmla="*/ 158 h 238"/>
                  <a:gd name="T8" fmla="*/ 2 w 320"/>
                  <a:gd name="T9" fmla="*/ 153 h 238"/>
                  <a:gd name="T10" fmla="*/ 270 w 320"/>
                  <a:gd name="T11" fmla="*/ 1 h 238"/>
                  <a:gd name="T12" fmla="*/ 276 w 320"/>
                  <a:gd name="T13" fmla="*/ 3 h 238"/>
                  <a:gd name="T14" fmla="*/ 319 w 320"/>
                  <a:gd name="T15" fmla="*/ 80 h 238"/>
                  <a:gd name="T16" fmla="*/ 318 w 320"/>
                  <a:gd name="T17" fmla="*/ 85 h 238"/>
                  <a:gd name="T18" fmla="*/ 49 w 320"/>
                  <a:gd name="T19" fmla="*/ 228 h 238"/>
                  <a:gd name="T20" fmla="*/ 310 w 320"/>
                  <a:gd name="T21" fmla="*/ 80 h 238"/>
                  <a:gd name="T22" fmla="*/ 271 w 320"/>
                  <a:gd name="T23" fmla="*/ 10 h 238"/>
                  <a:gd name="T24" fmla="*/ 10 w 320"/>
                  <a:gd name="T25" fmla="*/ 158 h 238"/>
                  <a:gd name="T26" fmla="*/ 49 w 320"/>
                  <a:gd name="T27"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0" h="238">
                    <a:moveTo>
                      <a:pt x="318" y="85"/>
                    </a:moveTo>
                    <a:cubicBezTo>
                      <a:pt x="50" y="237"/>
                      <a:pt x="50" y="237"/>
                      <a:pt x="50" y="237"/>
                    </a:cubicBezTo>
                    <a:cubicBezTo>
                      <a:pt x="48" y="238"/>
                      <a:pt x="45" y="237"/>
                      <a:pt x="44" y="235"/>
                    </a:cubicBezTo>
                    <a:cubicBezTo>
                      <a:pt x="1" y="158"/>
                      <a:pt x="1" y="158"/>
                      <a:pt x="1" y="158"/>
                    </a:cubicBezTo>
                    <a:cubicBezTo>
                      <a:pt x="0" y="157"/>
                      <a:pt x="0" y="154"/>
                      <a:pt x="2" y="153"/>
                    </a:cubicBezTo>
                    <a:cubicBezTo>
                      <a:pt x="270" y="1"/>
                      <a:pt x="270" y="1"/>
                      <a:pt x="270" y="1"/>
                    </a:cubicBezTo>
                    <a:cubicBezTo>
                      <a:pt x="272" y="0"/>
                      <a:pt x="275" y="1"/>
                      <a:pt x="276" y="3"/>
                    </a:cubicBezTo>
                    <a:cubicBezTo>
                      <a:pt x="319" y="80"/>
                      <a:pt x="319" y="80"/>
                      <a:pt x="319" y="80"/>
                    </a:cubicBezTo>
                    <a:cubicBezTo>
                      <a:pt x="320" y="81"/>
                      <a:pt x="320" y="84"/>
                      <a:pt x="318" y="85"/>
                    </a:cubicBezTo>
                    <a:close/>
                    <a:moveTo>
                      <a:pt x="49" y="228"/>
                    </a:moveTo>
                    <a:cubicBezTo>
                      <a:pt x="310" y="80"/>
                      <a:pt x="310" y="80"/>
                      <a:pt x="310" y="80"/>
                    </a:cubicBezTo>
                    <a:cubicBezTo>
                      <a:pt x="271" y="10"/>
                      <a:pt x="271" y="10"/>
                      <a:pt x="271" y="10"/>
                    </a:cubicBezTo>
                    <a:cubicBezTo>
                      <a:pt x="10" y="158"/>
                      <a:pt x="10" y="158"/>
                      <a:pt x="10" y="158"/>
                    </a:cubicBezTo>
                    <a:lnTo>
                      <a:pt x="49" y="228"/>
                    </a:lnTo>
                    <a:close/>
                  </a:path>
                </a:pathLst>
              </a:custGeom>
              <a:solidFill>
                <a:schemeClr val="bg2"/>
              </a:solidFill>
              <a:ln>
                <a:noFill/>
              </a:ln>
            </p:spPr>
            <p:txBody>
              <a:bodyPr anchor="ctr"/>
              <a:lstStyle/>
              <a:p>
                <a:pPr algn="ctr"/>
              </a:p>
            </p:txBody>
          </p:sp>
          <p:sp>
            <p:nvSpPr>
              <p:cNvPr id="24" name="Freeform: Shape 140"/>
              <p:cNvSpPr/>
              <p:nvPr/>
            </p:nvSpPr>
            <p:spPr bwMode="auto">
              <a:xfrm>
                <a:off x="4698996" y="2358636"/>
                <a:ext cx="45781" cy="70019"/>
              </a:xfrm>
              <a:custGeom>
                <a:avLst/>
                <a:gdLst>
                  <a:gd name="T0" fmla="*/ 26 w 29"/>
                  <a:gd name="T1" fmla="*/ 43 h 44"/>
                  <a:gd name="T2" fmla="*/ 21 w 29"/>
                  <a:gd name="T3" fmla="*/ 42 h 44"/>
                  <a:gd name="T4" fmla="*/ 1 w 29"/>
                  <a:gd name="T5" fmla="*/ 7 h 44"/>
                  <a:gd name="T6" fmla="*/ 3 w 29"/>
                  <a:gd name="T7" fmla="*/ 1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2"/>
                    </a:cubicBezTo>
                    <a:cubicBezTo>
                      <a:pt x="1" y="7"/>
                      <a:pt x="1" y="7"/>
                      <a:pt x="1" y="7"/>
                    </a:cubicBezTo>
                    <a:cubicBezTo>
                      <a:pt x="0" y="5"/>
                      <a:pt x="1" y="2"/>
                      <a:pt x="3" y="1"/>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25" name="Freeform: Shape 141"/>
              <p:cNvSpPr/>
              <p:nvPr/>
            </p:nvSpPr>
            <p:spPr bwMode="auto">
              <a:xfrm>
                <a:off x="4765648" y="2321607"/>
                <a:ext cx="46455" cy="70019"/>
              </a:xfrm>
              <a:custGeom>
                <a:avLst/>
                <a:gdLst>
                  <a:gd name="T0" fmla="*/ 26 w 29"/>
                  <a:gd name="T1" fmla="*/ 42 h 44"/>
                  <a:gd name="T2" fmla="*/ 21 w 29"/>
                  <a:gd name="T3" fmla="*/ 41 h 44"/>
                  <a:gd name="T4" fmla="*/ 1 w 29"/>
                  <a:gd name="T5" fmla="*/ 6 h 44"/>
                  <a:gd name="T6" fmla="*/ 2 w 29"/>
                  <a:gd name="T7" fmla="*/ 1 h 44"/>
                  <a:gd name="T8" fmla="*/ 8 w 29"/>
                  <a:gd name="T9" fmla="*/ 2 h 44"/>
                  <a:gd name="T10" fmla="*/ 28 w 29"/>
                  <a:gd name="T11" fmla="*/ 37 h 44"/>
                  <a:gd name="T12" fmla="*/ 26 w 29"/>
                  <a:gd name="T13" fmla="*/ 42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2"/>
                    </a:moveTo>
                    <a:cubicBezTo>
                      <a:pt x="24" y="44"/>
                      <a:pt x="22" y="43"/>
                      <a:pt x="21" y="41"/>
                    </a:cubicBezTo>
                    <a:cubicBezTo>
                      <a:pt x="1" y="6"/>
                      <a:pt x="1" y="6"/>
                      <a:pt x="1" y="6"/>
                    </a:cubicBezTo>
                    <a:cubicBezTo>
                      <a:pt x="0" y="4"/>
                      <a:pt x="1" y="2"/>
                      <a:pt x="2" y="1"/>
                    </a:cubicBezTo>
                    <a:cubicBezTo>
                      <a:pt x="4" y="0"/>
                      <a:pt x="7" y="0"/>
                      <a:pt x="8" y="2"/>
                    </a:cubicBezTo>
                    <a:cubicBezTo>
                      <a:pt x="28" y="37"/>
                      <a:pt x="28" y="37"/>
                      <a:pt x="28" y="37"/>
                    </a:cubicBezTo>
                    <a:cubicBezTo>
                      <a:pt x="29" y="39"/>
                      <a:pt x="28" y="41"/>
                      <a:pt x="26" y="42"/>
                    </a:cubicBezTo>
                    <a:close/>
                  </a:path>
                </a:pathLst>
              </a:custGeom>
              <a:solidFill>
                <a:schemeClr val="bg2"/>
              </a:solidFill>
              <a:ln>
                <a:noFill/>
              </a:ln>
            </p:spPr>
            <p:txBody>
              <a:bodyPr anchor="ctr"/>
              <a:lstStyle/>
              <a:p>
                <a:pPr algn="ctr"/>
              </a:p>
            </p:txBody>
          </p:sp>
          <p:sp>
            <p:nvSpPr>
              <p:cNvPr id="26" name="Freeform: Shape 142"/>
              <p:cNvSpPr/>
              <p:nvPr/>
            </p:nvSpPr>
            <p:spPr bwMode="auto">
              <a:xfrm>
                <a:off x="4840379" y="2285251"/>
                <a:ext cx="46455" cy="70019"/>
              </a:xfrm>
              <a:custGeom>
                <a:avLst/>
                <a:gdLst>
                  <a:gd name="T0" fmla="*/ 26 w 29"/>
                  <a:gd name="T1" fmla="*/ 43 h 44"/>
                  <a:gd name="T2" fmla="*/ 21 w 29"/>
                  <a:gd name="T3" fmla="*/ 42 h 44"/>
                  <a:gd name="T4" fmla="*/ 1 w 29"/>
                  <a:gd name="T5" fmla="*/ 7 h 44"/>
                  <a:gd name="T6" fmla="*/ 3 w 29"/>
                  <a:gd name="T7" fmla="*/ 2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4"/>
                      <a:pt x="21" y="42"/>
                    </a:cubicBezTo>
                    <a:cubicBezTo>
                      <a:pt x="1" y="7"/>
                      <a:pt x="1" y="7"/>
                      <a:pt x="1" y="7"/>
                    </a:cubicBezTo>
                    <a:cubicBezTo>
                      <a:pt x="0" y="5"/>
                      <a:pt x="1" y="3"/>
                      <a:pt x="3" y="2"/>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27" name="Freeform: Shape 143"/>
              <p:cNvSpPr/>
              <p:nvPr/>
            </p:nvSpPr>
            <p:spPr bwMode="auto">
              <a:xfrm>
                <a:off x="4732658" y="2339111"/>
                <a:ext cx="55207" cy="87523"/>
              </a:xfrm>
              <a:custGeom>
                <a:avLst/>
                <a:gdLst>
                  <a:gd name="T0" fmla="*/ 32 w 35"/>
                  <a:gd name="T1" fmla="*/ 54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4"/>
                    </a:moveTo>
                    <a:cubicBezTo>
                      <a:pt x="30" y="55"/>
                      <a:pt x="28" y="54"/>
                      <a:pt x="27" y="52"/>
                    </a:cubicBezTo>
                    <a:cubicBezTo>
                      <a:pt x="1" y="7"/>
                      <a:pt x="1" y="7"/>
                      <a:pt x="1" y="7"/>
                    </a:cubicBezTo>
                    <a:cubicBezTo>
                      <a:pt x="0" y="5"/>
                      <a:pt x="1" y="3"/>
                      <a:pt x="3" y="1"/>
                    </a:cubicBezTo>
                    <a:cubicBezTo>
                      <a:pt x="4" y="0"/>
                      <a:pt x="7" y="1"/>
                      <a:pt x="8" y="3"/>
                    </a:cubicBezTo>
                    <a:cubicBezTo>
                      <a:pt x="34" y="48"/>
                      <a:pt x="34" y="48"/>
                      <a:pt x="34" y="48"/>
                    </a:cubicBezTo>
                    <a:cubicBezTo>
                      <a:pt x="35" y="50"/>
                      <a:pt x="34" y="53"/>
                      <a:pt x="32" y="54"/>
                    </a:cubicBezTo>
                    <a:close/>
                  </a:path>
                </a:pathLst>
              </a:custGeom>
              <a:solidFill>
                <a:schemeClr val="bg2"/>
              </a:solidFill>
              <a:ln>
                <a:noFill/>
              </a:ln>
            </p:spPr>
            <p:txBody>
              <a:bodyPr anchor="ctr"/>
              <a:lstStyle/>
              <a:p>
                <a:pPr algn="ctr"/>
              </a:p>
            </p:txBody>
          </p:sp>
          <p:sp>
            <p:nvSpPr>
              <p:cNvPr id="28" name="Freeform: Shape 144"/>
              <p:cNvSpPr/>
              <p:nvPr/>
            </p:nvSpPr>
            <p:spPr bwMode="auto">
              <a:xfrm>
                <a:off x="4802677" y="2307468"/>
                <a:ext cx="53860" cy="87523"/>
              </a:xfrm>
              <a:custGeom>
                <a:avLst/>
                <a:gdLst>
                  <a:gd name="T0" fmla="*/ 32 w 34"/>
                  <a:gd name="T1" fmla="*/ 54 h 55"/>
                  <a:gd name="T2" fmla="*/ 26 w 34"/>
                  <a:gd name="T3" fmla="*/ 52 h 55"/>
                  <a:gd name="T4" fmla="*/ 1 w 34"/>
                  <a:gd name="T5" fmla="*/ 7 h 55"/>
                  <a:gd name="T6" fmla="*/ 2 w 34"/>
                  <a:gd name="T7" fmla="*/ 1 h 55"/>
                  <a:gd name="T8" fmla="*/ 8 w 34"/>
                  <a:gd name="T9" fmla="*/ 3 h 55"/>
                  <a:gd name="T10" fmla="*/ 33 w 34"/>
                  <a:gd name="T11" fmla="*/ 48 h 55"/>
                  <a:gd name="T12" fmla="*/ 32 w 34"/>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4" h="55">
                    <a:moveTo>
                      <a:pt x="32" y="54"/>
                    </a:moveTo>
                    <a:cubicBezTo>
                      <a:pt x="30" y="55"/>
                      <a:pt x="27" y="54"/>
                      <a:pt x="26" y="52"/>
                    </a:cubicBezTo>
                    <a:cubicBezTo>
                      <a:pt x="1" y="7"/>
                      <a:pt x="1" y="7"/>
                      <a:pt x="1" y="7"/>
                    </a:cubicBezTo>
                    <a:cubicBezTo>
                      <a:pt x="0" y="5"/>
                      <a:pt x="0" y="2"/>
                      <a:pt x="2" y="1"/>
                    </a:cubicBezTo>
                    <a:cubicBezTo>
                      <a:pt x="4" y="0"/>
                      <a:pt x="7" y="1"/>
                      <a:pt x="8" y="3"/>
                    </a:cubicBezTo>
                    <a:cubicBezTo>
                      <a:pt x="33" y="48"/>
                      <a:pt x="33" y="48"/>
                      <a:pt x="33" y="48"/>
                    </a:cubicBezTo>
                    <a:cubicBezTo>
                      <a:pt x="34" y="50"/>
                      <a:pt x="34" y="52"/>
                      <a:pt x="32" y="54"/>
                    </a:cubicBezTo>
                    <a:close/>
                  </a:path>
                </a:pathLst>
              </a:custGeom>
              <a:solidFill>
                <a:schemeClr val="bg2"/>
              </a:solidFill>
              <a:ln>
                <a:noFill/>
              </a:ln>
            </p:spPr>
            <p:txBody>
              <a:bodyPr anchor="ctr"/>
              <a:lstStyle/>
              <a:p>
                <a:pPr algn="ctr"/>
              </a:p>
            </p:txBody>
          </p:sp>
          <p:sp>
            <p:nvSpPr>
              <p:cNvPr id="29" name="Freeform: Shape 145"/>
              <p:cNvSpPr/>
              <p:nvPr/>
            </p:nvSpPr>
            <p:spPr bwMode="auto">
              <a:xfrm>
                <a:off x="4918477" y="2242163"/>
                <a:ext cx="46455" cy="70019"/>
              </a:xfrm>
              <a:custGeom>
                <a:avLst/>
                <a:gdLst>
                  <a:gd name="T0" fmla="*/ 26 w 29"/>
                  <a:gd name="T1" fmla="*/ 43 h 44"/>
                  <a:gd name="T2" fmla="*/ 21 w 29"/>
                  <a:gd name="T3" fmla="*/ 41 h 44"/>
                  <a:gd name="T4" fmla="*/ 1 w 29"/>
                  <a:gd name="T5" fmla="*/ 6 h 44"/>
                  <a:gd name="T6" fmla="*/ 2 w 29"/>
                  <a:gd name="T7" fmla="*/ 1 h 44"/>
                  <a:gd name="T8" fmla="*/ 8 w 29"/>
                  <a:gd name="T9" fmla="*/ 3 h 44"/>
                  <a:gd name="T10" fmla="*/ 28 w 29"/>
                  <a:gd name="T11" fmla="*/ 37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1"/>
                    </a:cubicBezTo>
                    <a:cubicBezTo>
                      <a:pt x="1" y="6"/>
                      <a:pt x="1" y="6"/>
                      <a:pt x="1" y="6"/>
                    </a:cubicBezTo>
                    <a:cubicBezTo>
                      <a:pt x="0" y="5"/>
                      <a:pt x="1" y="2"/>
                      <a:pt x="2" y="1"/>
                    </a:cubicBezTo>
                    <a:cubicBezTo>
                      <a:pt x="4" y="0"/>
                      <a:pt x="7" y="1"/>
                      <a:pt x="8" y="3"/>
                    </a:cubicBezTo>
                    <a:cubicBezTo>
                      <a:pt x="28" y="37"/>
                      <a:pt x="28" y="37"/>
                      <a:pt x="28" y="37"/>
                    </a:cubicBezTo>
                    <a:cubicBezTo>
                      <a:pt x="29" y="39"/>
                      <a:pt x="28" y="42"/>
                      <a:pt x="26" y="43"/>
                    </a:cubicBezTo>
                    <a:close/>
                  </a:path>
                </a:pathLst>
              </a:custGeom>
              <a:solidFill>
                <a:schemeClr val="bg2"/>
              </a:solidFill>
              <a:ln>
                <a:noFill/>
              </a:ln>
            </p:spPr>
            <p:txBody>
              <a:bodyPr anchor="ctr"/>
              <a:lstStyle/>
              <a:p>
                <a:pPr algn="ctr"/>
              </a:p>
            </p:txBody>
          </p:sp>
          <p:sp>
            <p:nvSpPr>
              <p:cNvPr id="30" name="Freeform: Shape 146"/>
              <p:cNvSpPr/>
              <p:nvPr/>
            </p:nvSpPr>
            <p:spPr bwMode="auto">
              <a:xfrm>
                <a:off x="4878755" y="2264380"/>
                <a:ext cx="55880" cy="86177"/>
              </a:xfrm>
              <a:custGeom>
                <a:avLst/>
                <a:gdLst>
                  <a:gd name="T0" fmla="*/ 33 w 35"/>
                  <a:gd name="T1" fmla="*/ 53 h 54"/>
                  <a:gd name="T2" fmla="*/ 27 w 35"/>
                  <a:gd name="T3" fmla="*/ 51 h 54"/>
                  <a:gd name="T4" fmla="*/ 2 w 35"/>
                  <a:gd name="T5" fmla="*/ 6 h 54"/>
                  <a:gd name="T6" fmla="*/ 3 w 35"/>
                  <a:gd name="T7" fmla="*/ 1 h 54"/>
                  <a:gd name="T8" fmla="*/ 9 w 35"/>
                  <a:gd name="T9" fmla="*/ 2 h 54"/>
                  <a:gd name="T10" fmla="*/ 34 w 35"/>
                  <a:gd name="T11" fmla="*/ 48 h 54"/>
                  <a:gd name="T12" fmla="*/ 33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3" y="53"/>
                    </a:moveTo>
                    <a:cubicBezTo>
                      <a:pt x="31" y="54"/>
                      <a:pt x="28" y="53"/>
                      <a:pt x="27" y="51"/>
                    </a:cubicBezTo>
                    <a:cubicBezTo>
                      <a:pt x="2" y="6"/>
                      <a:pt x="2" y="6"/>
                      <a:pt x="2" y="6"/>
                    </a:cubicBezTo>
                    <a:cubicBezTo>
                      <a:pt x="0" y="4"/>
                      <a:pt x="1" y="2"/>
                      <a:pt x="3" y="1"/>
                    </a:cubicBezTo>
                    <a:cubicBezTo>
                      <a:pt x="5" y="0"/>
                      <a:pt x="7" y="0"/>
                      <a:pt x="9" y="2"/>
                    </a:cubicBezTo>
                    <a:cubicBezTo>
                      <a:pt x="34" y="48"/>
                      <a:pt x="34" y="48"/>
                      <a:pt x="34" y="48"/>
                    </a:cubicBezTo>
                    <a:cubicBezTo>
                      <a:pt x="35" y="49"/>
                      <a:pt x="35" y="52"/>
                      <a:pt x="33" y="53"/>
                    </a:cubicBezTo>
                    <a:close/>
                  </a:path>
                </a:pathLst>
              </a:custGeom>
              <a:solidFill>
                <a:schemeClr val="bg2"/>
              </a:solidFill>
              <a:ln>
                <a:noFill/>
              </a:ln>
            </p:spPr>
            <p:txBody>
              <a:bodyPr anchor="ctr"/>
              <a:lstStyle/>
              <a:p>
                <a:pPr algn="ctr"/>
              </a:p>
            </p:txBody>
          </p:sp>
          <p:sp>
            <p:nvSpPr>
              <p:cNvPr id="31" name="Freeform: Shape 147"/>
              <p:cNvSpPr/>
              <p:nvPr/>
            </p:nvSpPr>
            <p:spPr bwMode="auto">
              <a:xfrm>
                <a:off x="4996574" y="2197728"/>
                <a:ext cx="44435" cy="70019"/>
              </a:xfrm>
              <a:custGeom>
                <a:avLst/>
                <a:gdLst>
                  <a:gd name="T0" fmla="*/ 26 w 28"/>
                  <a:gd name="T1" fmla="*/ 43 h 44"/>
                  <a:gd name="T2" fmla="*/ 20 w 28"/>
                  <a:gd name="T3" fmla="*/ 42 h 44"/>
                  <a:gd name="T4" fmla="*/ 1 w 28"/>
                  <a:gd name="T5" fmla="*/ 7 h 44"/>
                  <a:gd name="T6" fmla="*/ 2 w 28"/>
                  <a:gd name="T7" fmla="*/ 1 h 44"/>
                  <a:gd name="T8" fmla="*/ 8 w 28"/>
                  <a:gd name="T9" fmla="*/ 3 h 44"/>
                  <a:gd name="T10" fmla="*/ 27 w 28"/>
                  <a:gd name="T11" fmla="*/ 38 h 44"/>
                  <a:gd name="T12" fmla="*/ 26 w 28"/>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8" h="44">
                    <a:moveTo>
                      <a:pt x="26" y="43"/>
                    </a:moveTo>
                    <a:cubicBezTo>
                      <a:pt x="24" y="44"/>
                      <a:pt x="21" y="44"/>
                      <a:pt x="20" y="42"/>
                    </a:cubicBezTo>
                    <a:cubicBezTo>
                      <a:pt x="1" y="7"/>
                      <a:pt x="1" y="7"/>
                      <a:pt x="1" y="7"/>
                    </a:cubicBezTo>
                    <a:cubicBezTo>
                      <a:pt x="0" y="5"/>
                      <a:pt x="0" y="3"/>
                      <a:pt x="2" y="1"/>
                    </a:cubicBezTo>
                    <a:cubicBezTo>
                      <a:pt x="4" y="0"/>
                      <a:pt x="7" y="1"/>
                      <a:pt x="8" y="3"/>
                    </a:cubicBezTo>
                    <a:cubicBezTo>
                      <a:pt x="27" y="38"/>
                      <a:pt x="27" y="38"/>
                      <a:pt x="27" y="38"/>
                    </a:cubicBezTo>
                    <a:cubicBezTo>
                      <a:pt x="28" y="40"/>
                      <a:pt x="28" y="42"/>
                      <a:pt x="26" y="43"/>
                    </a:cubicBezTo>
                    <a:close/>
                  </a:path>
                </a:pathLst>
              </a:custGeom>
              <a:solidFill>
                <a:schemeClr val="bg2"/>
              </a:solidFill>
              <a:ln>
                <a:noFill/>
              </a:ln>
            </p:spPr>
            <p:txBody>
              <a:bodyPr anchor="ctr"/>
              <a:lstStyle/>
              <a:p>
                <a:pPr algn="ctr"/>
              </a:p>
            </p:txBody>
          </p:sp>
          <p:sp>
            <p:nvSpPr>
              <p:cNvPr id="32" name="Freeform: Shape 148"/>
              <p:cNvSpPr/>
              <p:nvPr/>
            </p:nvSpPr>
            <p:spPr bwMode="auto">
              <a:xfrm>
                <a:off x="4956852" y="2219945"/>
                <a:ext cx="55880" cy="87523"/>
              </a:xfrm>
              <a:custGeom>
                <a:avLst/>
                <a:gdLst>
                  <a:gd name="T0" fmla="*/ 32 w 35"/>
                  <a:gd name="T1" fmla="*/ 53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3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3"/>
                    </a:moveTo>
                    <a:cubicBezTo>
                      <a:pt x="30" y="55"/>
                      <a:pt x="28" y="54"/>
                      <a:pt x="27" y="52"/>
                    </a:cubicBezTo>
                    <a:cubicBezTo>
                      <a:pt x="1" y="7"/>
                      <a:pt x="1" y="7"/>
                      <a:pt x="1" y="7"/>
                    </a:cubicBezTo>
                    <a:cubicBezTo>
                      <a:pt x="0" y="5"/>
                      <a:pt x="1" y="2"/>
                      <a:pt x="3" y="1"/>
                    </a:cubicBezTo>
                    <a:cubicBezTo>
                      <a:pt x="5" y="0"/>
                      <a:pt x="7" y="1"/>
                      <a:pt x="8" y="3"/>
                    </a:cubicBezTo>
                    <a:cubicBezTo>
                      <a:pt x="34" y="48"/>
                      <a:pt x="34" y="48"/>
                      <a:pt x="34" y="48"/>
                    </a:cubicBezTo>
                    <a:cubicBezTo>
                      <a:pt x="35" y="50"/>
                      <a:pt x="34" y="52"/>
                      <a:pt x="32" y="53"/>
                    </a:cubicBezTo>
                    <a:close/>
                  </a:path>
                </a:pathLst>
              </a:custGeom>
              <a:solidFill>
                <a:schemeClr val="bg2"/>
              </a:solidFill>
              <a:ln>
                <a:noFill/>
              </a:ln>
            </p:spPr>
            <p:txBody>
              <a:bodyPr anchor="ctr"/>
              <a:lstStyle/>
              <a:p>
                <a:pPr algn="ctr"/>
              </a:p>
            </p:txBody>
          </p:sp>
          <p:sp>
            <p:nvSpPr>
              <p:cNvPr id="33" name="Freeform: Shape 149"/>
              <p:cNvSpPr/>
              <p:nvPr/>
            </p:nvSpPr>
            <p:spPr bwMode="auto">
              <a:xfrm>
                <a:off x="5034950" y="2176857"/>
                <a:ext cx="55880" cy="86177"/>
              </a:xfrm>
              <a:custGeom>
                <a:avLst/>
                <a:gdLst>
                  <a:gd name="T0" fmla="*/ 32 w 35"/>
                  <a:gd name="T1" fmla="*/ 53 h 54"/>
                  <a:gd name="T2" fmla="*/ 27 w 35"/>
                  <a:gd name="T3" fmla="*/ 51 h 54"/>
                  <a:gd name="T4" fmla="*/ 1 w 35"/>
                  <a:gd name="T5" fmla="*/ 6 h 54"/>
                  <a:gd name="T6" fmla="*/ 3 w 35"/>
                  <a:gd name="T7" fmla="*/ 1 h 54"/>
                  <a:gd name="T8" fmla="*/ 8 w 35"/>
                  <a:gd name="T9" fmla="*/ 2 h 54"/>
                  <a:gd name="T10" fmla="*/ 34 w 35"/>
                  <a:gd name="T11" fmla="*/ 47 h 54"/>
                  <a:gd name="T12" fmla="*/ 32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2" y="53"/>
                    </a:moveTo>
                    <a:cubicBezTo>
                      <a:pt x="30" y="54"/>
                      <a:pt x="28" y="53"/>
                      <a:pt x="27" y="51"/>
                    </a:cubicBezTo>
                    <a:cubicBezTo>
                      <a:pt x="1" y="6"/>
                      <a:pt x="1" y="6"/>
                      <a:pt x="1" y="6"/>
                    </a:cubicBezTo>
                    <a:cubicBezTo>
                      <a:pt x="0" y="4"/>
                      <a:pt x="1" y="2"/>
                      <a:pt x="3" y="1"/>
                    </a:cubicBezTo>
                    <a:cubicBezTo>
                      <a:pt x="4" y="0"/>
                      <a:pt x="7" y="0"/>
                      <a:pt x="8" y="2"/>
                    </a:cubicBezTo>
                    <a:cubicBezTo>
                      <a:pt x="34" y="47"/>
                      <a:pt x="34" y="47"/>
                      <a:pt x="34" y="47"/>
                    </a:cubicBezTo>
                    <a:cubicBezTo>
                      <a:pt x="35" y="49"/>
                      <a:pt x="34" y="52"/>
                      <a:pt x="32" y="53"/>
                    </a:cubicBezTo>
                    <a:close/>
                  </a:path>
                </a:pathLst>
              </a:custGeom>
              <a:solidFill>
                <a:schemeClr val="bg2"/>
              </a:solidFill>
              <a:ln>
                <a:noFill/>
              </a:ln>
            </p:spPr>
            <p:txBody>
              <a:bodyPr anchor="ctr"/>
              <a:lstStyle/>
              <a:p>
                <a:pPr algn="ct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线性表及其基本操作</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8" name="内容占位符 5"/>
          <p:cNvSpPr txBox="1"/>
          <p:nvPr/>
        </p:nvSpPr>
        <p:spPr>
          <a:xfrm>
            <a:off x="838200" y="1194739"/>
            <a:ext cx="10515600" cy="10155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1"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2.1.2 </a:t>
            </a:r>
            <a:r>
              <a:rPr kumimoji="0" lang="zh-CN" altLang="zh-CN" sz="2800" b="1"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抽象数据类型描述</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线性表的抽象数据</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Python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描述如下：</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9" name="图片 8"/>
          <p:cNvPicPr>
            <a:picLocks noChangeAspect="1"/>
          </p:cNvPicPr>
          <p:nvPr/>
        </p:nvPicPr>
        <p:blipFill>
          <a:blip r:embed="rId1"/>
          <a:stretch>
            <a:fillRect/>
          </a:stretch>
        </p:blipFill>
        <p:spPr>
          <a:xfrm>
            <a:off x="838199" y="2357788"/>
            <a:ext cx="4336701" cy="4360442"/>
          </a:xfrm>
          <a:prstGeom prst="rect">
            <a:avLst/>
          </a:prstGeom>
        </p:spPr>
      </p:pic>
      <p:pic>
        <p:nvPicPr>
          <p:cNvPr id="10" name="图片 9"/>
          <p:cNvPicPr>
            <a:picLocks noChangeAspect="1"/>
          </p:cNvPicPr>
          <p:nvPr/>
        </p:nvPicPr>
        <p:blipFill>
          <a:blip r:embed="rId2"/>
          <a:stretch>
            <a:fillRect/>
          </a:stretch>
        </p:blipFill>
        <p:spPr>
          <a:xfrm>
            <a:off x="5822642" y="2808044"/>
            <a:ext cx="4183743" cy="33683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线性表及其基本操作</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6" name="内容占位符 5"/>
          <p:cNvSpPr txBox="1"/>
          <p:nvPr/>
        </p:nvSpPr>
        <p:spPr>
          <a:xfrm>
            <a:off x="838200" y="1424539"/>
            <a:ext cx="10515600" cy="475242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例</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2.1】</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有线性表</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A=(1,2,3,4,5,6,7)</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，求</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length()</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isEmpty</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get(3)</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indexOf</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(4)</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display()</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insert(2,7)</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和</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remove(4)</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等基本运算的执行结果。</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解： </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length()=7</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 </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isEmpty</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返回</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false</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 </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get(3)</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返回</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4</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 </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indexOf</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(4)</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返回</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3</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 </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display()</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输出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1,2,3,4,5,6,7</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 </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insert(2,7)</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执行后线性表</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变为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1,2,7,3,4,5,6,7</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 </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remove(4)</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执行后线性表</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变为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1,2,3,4,6,7</a:t>
            </a:r>
            <a:r>
              <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线性表及其基本操作</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7" name="内容占位符 5"/>
          <p:cNvSpPr txBox="1"/>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1"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2.1.3 </a:t>
            </a:r>
            <a:r>
              <a:rPr kumimoji="0" lang="zh-CN" altLang="zh-CN" sz="2800" b="1"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线性表的存储和实现</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在</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2.1.2</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节中，线性表的抽象数据</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Python</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抽象类包含了线性表的主要基本操作，如果要使用这个接口，还需要具体的类来实现。线性表的</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Python</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抽象类的实现方法主要有以下两种。 </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  (1)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基于顺序存储的实现。 </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  (2)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基于链式存储的实现。</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825625"/>
            <a:ext cx="10515600"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1"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2.2.1 </a:t>
            </a:r>
            <a:r>
              <a:rPr kumimoji="0" lang="zh-CN" altLang="zh-CN" sz="2800" b="1"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顺序表</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 </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定义</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线性表的顺序存储结构是把线性表中的所有元素按照其逻辑顺序依次存储到计算机的内存单元中指定存储位置开始的一块连续的存储空间中，称为顺序表。顺序表用一组连续的内存单元依次存放数据元素，元素在内存中的物理存储次序和它们在线性表中的逻辑次序一致，即元素</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与其前驱元素</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i-1</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和后继元素</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i+1</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的存储位置相邻，如图</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2.2</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所示。</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19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图</a:t>
            </a:r>
            <a:r>
              <a:rPr kumimoji="0" lang="en-US" altLang="zh-CN" sz="19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2.2 </a:t>
            </a:r>
            <a:r>
              <a:rPr kumimoji="0" lang="zh-CN" altLang="zh-CN" sz="19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顺序表</a:t>
            </a:r>
            <a:endParaRPr kumimoji="0" lang="zh-CN" altLang="zh-CN" sz="19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3" name="图片 2"/>
          <p:cNvPicPr>
            <a:picLocks noChangeAspect="1"/>
          </p:cNvPicPr>
          <p:nvPr/>
        </p:nvPicPr>
        <p:blipFill>
          <a:blip r:embed="rId1"/>
          <a:stretch>
            <a:fillRect/>
          </a:stretch>
        </p:blipFill>
        <p:spPr>
          <a:xfrm>
            <a:off x="2862277" y="4794312"/>
            <a:ext cx="6407723" cy="6767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690871"/>
            <a:ext cx="1051560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又因为数据表中的所有数据元素具有相同的数据类型，所以只要知道顺序表的基地址和数据元素所占存储空间的大小即可计算出第</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个数据元素的地址，可表示为： </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Loc(a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)=Loc(a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0</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)+i×c</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，其中</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0≤i≤n-1</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其中，</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Loc(a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是数据元素</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的存储地址，</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Loc(a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0</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是数据元素</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0</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的存储地址，即顺序表的基地址，</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为元素位置，</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c</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为一个数据元素占用的存储单元。</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可以看出，计算一个元素地址所需的时间为常量，与顺序表的长度</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无关； 存储地址是数据元素位序号</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的线性函数。因此，存取任何一个数据元素的时间复杂度为</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O(1)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，顺序表是按照数据元素的位序号随机存取的结构。</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特点</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(1)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在线性表中逻辑上相邻的元素在物理存储位置上也同样相邻。</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可按照数据元素的位序号进行随机存取。</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(3)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进行插入、删除操作需要移动大量的数据元素。</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(4)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需要进行存储空间的预先分配，可能会造成空间浪费，但存储密度较高。</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3.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描述</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可以使用数组来描述线性表的顺序存储结构。在程序设计语言中数组是一种构造数据类型。数组存储具有相同数据类型的元素集合，数组的存储单元个数称为数组长度，每个存储单元的地址是连续的，每个元素连续存储。数组通过下标识别元素，元素的下标是其存储单元序号，表示元素在数组中的位置。一维数组使用一个下标唯一确定一个元素，二维数组使用两个下标唯一确定一个元素。</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397419"/>
            <a:ext cx="10515600" cy="4776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下面是顺序表类的</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Python</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语言描述：</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6" name="图片 5"/>
          <p:cNvPicPr>
            <a:picLocks noChangeAspect="1"/>
          </p:cNvPicPr>
          <p:nvPr/>
        </p:nvPicPr>
        <p:blipFill>
          <a:blip r:embed="rId1"/>
          <a:stretch>
            <a:fillRect/>
          </a:stretch>
        </p:blipFill>
        <p:spPr>
          <a:xfrm>
            <a:off x="1710344" y="2022146"/>
            <a:ext cx="7971211" cy="454953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2071345" y="1156325"/>
            <a:ext cx="7645047" cy="52674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1423673" y="1229169"/>
            <a:ext cx="8882642" cy="51271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1777902" y="1338239"/>
            <a:ext cx="8443692" cy="53832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948732" y="139741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1"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2.2.2 </a:t>
            </a:r>
            <a:r>
              <a:rPr kumimoji="0" lang="zh-CN" altLang="zh-CN" sz="2800" b="1"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顺序表的基本操作实现</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 </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插入操作</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  </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插入操作</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insert(</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i,x</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是在长度为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的顺序表的第</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个数据元素之前插入值为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x</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的数据元素，其中</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0≤i≤n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，当</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=0</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时在表头插入，当</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时在表尾插入，在插入操作完成后表长加</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，顺序表的逻辑结构由</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0</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1</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i-1</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n-1</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变成了</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0</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1</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i-1</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,x,a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n-1</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，如图</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2.3</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所示。</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400216" y="4123867"/>
            <a:ext cx="4286250" cy="2089150"/>
          </a:xfrm>
          <a:prstGeom prst="rect">
            <a:avLst/>
          </a:prstGeom>
          <a:noFill/>
          <a:ln>
            <a:noFill/>
          </a:ln>
        </p:spPr>
      </p:pic>
      <p:sp>
        <p:nvSpPr>
          <p:cNvPr id="7" name="矩形 6"/>
          <p:cNvSpPr/>
          <p:nvPr/>
        </p:nvSpPr>
        <p:spPr>
          <a:xfrm>
            <a:off x="3519941" y="6066382"/>
            <a:ext cx="4166525" cy="369332"/>
          </a:xfrm>
          <a:prstGeom prst="rect">
            <a:avLst/>
          </a:prstGeom>
        </p:spPr>
        <p:txBody>
          <a:bodyPr wrap="none">
            <a:spAutoFit/>
          </a:bodyPr>
          <a:lstStyle/>
          <a:p>
            <a:pPr algn="ctr"/>
            <a:r>
              <a:rPr lang="zh-CN" altLang="zh-CN"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图</a:t>
            </a:r>
            <a:r>
              <a:rPr lang="en-US" altLang="zh-CN"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2.3</a:t>
            </a:r>
            <a:r>
              <a:rPr lang="zh-CN" altLang="zh-CN"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插入操作前后的顺序表存储结构图</a:t>
            </a:r>
            <a:endParaRPr lang="zh-CN" altLang="zh-CN"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71504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其主要步骤如下。 </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(1)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判断顺序表的存储空间是否已满，若已满则抛出异常。</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判断参数</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的值是否满足</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0≤i≤curLen</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，若不满足则抛出异常。</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(3)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将插入位置及其之后的所有数据元素后移一个存储位置。</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(4)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在位置</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处插入新的数据元素</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x</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(5)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表长加</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内容占位符 5"/>
          <p:cNvSpPr txBox="1"/>
          <p:nvPr/>
        </p:nvSpPr>
        <p:spPr>
          <a:xfrm>
            <a:off x="838200" y="138778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【算法</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】顺序表的插入操作算法。</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a:stretch>
            <a:fillRect/>
          </a:stretch>
        </p:blipFill>
        <p:spPr>
          <a:xfrm>
            <a:off x="875392" y="1974253"/>
            <a:ext cx="10478408" cy="41913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mc:AlternateContent xmlns:mc="http://schemas.openxmlformats.org/markup-compatibility/2006">
        <mc:Choice xmlns:a14="http://schemas.microsoft.com/office/drawing/2010/main" Requires="a14">
          <p:sp>
            <p:nvSpPr>
              <p:cNvPr id="6" name="内容占位符 5"/>
              <p:cNvSpPr txBox="1"/>
              <p:nvPr/>
            </p:nvSpPr>
            <p:spPr>
              <a:xfrm>
                <a:off x="838200" y="1715044"/>
                <a:ext cx="10515600"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算法的时间复杂度分析： </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分析算法可以看出，在对顺序表进行插入操作时，时间花费主要用于第</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8</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行的数据元素的移动上。假设顺序表的表长为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，若插入在表头，则需要移动</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个元素，若插入在表尾，则需要移动</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0</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个元素。设插入位置为</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，则第</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8</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行语句的执行次数为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。所以每次插入操作数据元素的平均移动次数为： </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nary>
                        <m:naryPr>
                          <m:chr m:val="∑"/>
                          <m:limLoc m:val="undOv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naryPr>
                        <m: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0</m:t>
                          </m:r>
                        </m:sub>
                        <m:sup>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sup>
                        <m:e>
                          <m:sSub>
                            <m:sSub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sSubPr>
                            <m:e>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𝑝</m:t>
                              </m:r>
                            </m:e>
                            <m: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sub>
                          </m:s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e>
                      </m:nary>
                    </m:oMath>
                  </m:oMathPara>
                </a14:m>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其中，</a:t>
                </a:r>
                <a14:m>
                  <m:oMath xmlns:m="http://schemas.openxmlformats.org/officeDocument/2006/math">
                    <m:sSub>
                      <m:sSub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sSubPr>
                      <m:e>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𝑝</m:t>
                        </m:r>
                      </m:e>
                      <m: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sub>
                    </m:sSub>
                  </m:oMath>
                </a14:m>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是在顺序表的第</a:t>
                </a:r>
                <a:r>
                  <a:rPr kumimoji="0" lang="en-US" altLang="zh-CN" sz="28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个存储位置插入数据元素的概率，假设每个插入位置出现的概率相同，即为</a:t>
                </a:r>
                <a14:m>
                  <m:oMath xmlns:m="http://schemas.openxmlformats.org/officeDocument/2006/math">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den>
                    </m:f>
                  </m:oMath>
                </a14:m>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，可得： </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den>
                      </m:f>
                      <m:nary>
                        <m:naryPr>
                          <m:chr m:val="∑"/>
                          <m:limLoc m:val="undOv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naryPr>
                        <m: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0</m:t>
                          </m:r>
                        </m:sub>
                        <m:sup>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sup>
                        <m:e>
                          <m:d>
                            <m:d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dPr>
                            <m:e>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e>
                          </m:d>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 </m:t>
                          </m:r>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e>
                      </m:nary>
                    </m:oMath>
                  </m:oMathPara>
                </a14:m>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即在等概率情况下，插入一个数据元素平均需要移动顺序表数据元素的一半，算法的时间复杂度为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O(n)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mc:Choice>
        <mc:Fallback>
          <p:sp>
            <p:nvSpPr>
              <p:cNvPr id="6" name="内容占位符 5"/>
              <p:cNvSpPr txBox="1">
                <a:spLocks noRot="1" noChangeAspect="1" noMove="1" noResize="1" noEditPoints="1" noAdjustHandles="1" noChangeArrowheads="1" noChangeShapeType="1" noTextEdit="1"/>
              </p:cNvSpPr>
              <p:nvPr/>
            </p:nvSpPr>
            <p:spPr>
              <a:xfrm>
                <a:off x="838200" y="1715044"/>
                <a:ext cx="10515600" cy="4351338"/>
              </a:xfrm>
              <a:prstGeom prst="rect">
                <a:avLst/>
              </a:prstGeom>
              <a:blipFill rotWithShape="1">
                <a:blip r:embed="rId1"/>
                <a:stretch>
                  <a:fillRect t="-1107" b="5"/>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mc:AlternateContent xmlns:mc="http://schemas.openxmlformats.org/markup-compatibility/2006">
        <mc:Choice xmlns:a14="http://schemas.microsoft.com/office/drawing/2010/main" Requires="a14">
          <p:sp>
            <p:nvSpPr>
              <p:cNvPr id="4" name="内容占位符 5"/>
              <p:cNvSpPr txBox="1"/>
              <p:nvPr/>
            </p:nvSpPr>
            <p:spPr>
              <a:xfrm>
                <a:off x="838200" y="143591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【例</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2.2</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】设</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是一个线性表</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0</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1</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，采用顺序存储结构，则在等概率的前提下平均每插入一个元素需要移动的元素个数为多少？若元素插在</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与</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dirty="0">
                    <a:ln>
                      <a:noFill/>
                    </a:ln>
                    <a:solidFill>
                      <a:sysClr val="windowText" lastClr="000000"/>
                    </a:solidFill>
                    <a:effectLst/>
                    <a:uLnTx/>
                    <a:uFillTx/>
                    <a:latin typeface="等线" panose="02010600030101010101" charset="-122"/>
                    <a:ea typeface="等线" panose="02010600030101010101" charset="-122"/>
                    <a:cs typeface="+mn-cs"/>
                  </a:rPr>
                  <a:t>i+1</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之间</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(1≤i≤n)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的概率为</a:t>
                </a:r>
                <a14:m>
                  <m:oMath xmlns:m="http://schemas.openxmlformats.org/officeDocument/2006/math">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num>
                      <m:den>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den>
                    </m:f>
                  </m:oMath>
                </a14:m>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，则平均每插入一个元素所要移动的元素个数又是多少？</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mc:Choice>
        <mc:Fallback>
          <p:sp>
            <p:nvSpPr>
              <p:cNvPr id="4" name="内容占位符 5"/>
              <p:cNvSpPr txBox="1">
                <a:spLocks noRot="1" noChangeAspect="1" noMove="1" noResize="1" noEditPoints="1" noAdjustHandles="1" noChangeArrowheads="1" noChangeShapeType="1" noTextEdit="1"/>
              </p:cNvSpPr>
              <p:nvPr/>
            </p:nvSpPr>
            <p:spPr>
              <a:xfrm>
                <a:off x="838200" y="1435912"/>
                <a:ext cx="10515600" cy="4351338"/>
              </a:xfrm>
              <a:prstGeom prst="rect">
                <a:avLst/>
              </a:prstGeom>
              <a:blipFill rotWithShape="1">
                <a:blip r:embed="rId1"/>
                <a:stretch>
                  <a:fillRect t="-4" b="11"/>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mc:AlternateContent xmlns:mc="http://schemas.openxmlformats.org/markup-compatibility/2006">
        <mc:Choice xmlns:a14="http://schemas.microsoft.com/office/drawing/2010/main" Requires="a14">
          <p:sp>
            <p:nvSpPr>
              <p:cNvPr id="4" name="内容占位符 5"/>
              <p:cNvSpPr txBox="1"/>
              <p:nvPr/>
            </p:nvSpPr>
            <p:spPr>
              <a:xfrm>
                <a:off x="838200" y="171504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解： </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分析可得： </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nary>
                        <m:naryPr>
                          <m:chr m:val="∑"/>
                          <m:limLoc m:val="undOv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naryPr>
                        <m: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sub>
                        <m:sup>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sup>
                        <m:e>
                          <m:d>
                            <m:d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dPr>
                            <m:e>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e>
                          </m:d>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 </m:t>
                          </m:r>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e>
                      </m:nary>
                    </m:oMath>
                  </m:oMathPara>
                </a14:m>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nary>
                        <m:naryPr>
                          <m:chr m:val="∑"/>
                          <m:limLoc m:val="undOv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naryPr>
                        <m: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sub>
                        <m:sup>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sup>
                        <m:e>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sSup>
                                <m:sSup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sSupPr>
                                <m:e>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e>
                                <m:sup>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sup>
                              </m:sSup>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3</m:t>
                          </m:r>
                        </m:e>
                      </m:nary>
                    </m:oMath>
                  </m:oMathPara>
                </a14:m>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mc:Choice>
        <mc:Fallback>
          <p:sp>
            <p:nvSpPr>
              <p:cNvPr id="4" name="内容占位符 5"/>
              <p:cNvSpPr txBox="1">
                <a:spLocks noRot="1" noChangeAspect="1" noMove="1" noResize="1" noEditPoints="1" noAdjustHandles="1" noChangeArrowheads="1" noChangeShapeType="1" noTextEdit="1"/>
              </p:cNvSpPr>
              <p:nvPr/>
            </p:nvSpPr>
            <p:spPr>
              <a:xfrm>
                <a:off x="838200" y="1715044"/>
                <a:ext cx="10515600" cy="4351338"/>
              </a:xfrm>
              <a:prstGeom prst="rect">
                <a:avLst/>
              </a:prstGeom>
              <a:blipFill rotWithShape="1">
                <a:blip r:embed="rId1"/>
                <a:stretch>
                  <a:fillRect t="-56" b="5"/>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50328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删除操作</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删除操作</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remove(i,x)</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是将长度为</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的顺序表的第</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个数据元素删除，其中</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0≤i≤n-1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，删除操作完成后表长减</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，顺序表的逻辑结构由</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0</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1</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i-1</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n-1</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变成了</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0</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1</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i-1</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i+1</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a:t>
            </a:r>
            <a:r>
              <a:rPr kumimoji="0" lang="en-US" altLang="zh-CN" sz="2800" b="0" i="0" u="none" strike="noStrike" kern="1200" cap="none" spc="0" normalizeH="0" baseline="-25000" noProof="0">
                <a:ln>
                  <a:noFill/>
                </a:ln>
                <a:solidFill>
                  <a:sysClr val="windowText" lastClr="000000"/>
                </a:solidFill>
                <a:effectLst/>
                <a:uLnTx/>
                <a:uFillTx/>
                <a:latin typeface="等线" panose="02010600030101010101" charset="-122"/>
                <a:ea typeface="等线" panose="02010600030101010101" charset="-122"/>
                <a:cs typeface="+mn-cs"/>
              </a:rPr>
              <a:t>n-1</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，如图</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2.4</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所示。</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304268" y="3397824"/>
            <a:ext cx="5498088" cy="2318947"/>
          </a:xfrm>
          <a:prstGeom prst="rect">
            <a:avLst/>
          </a:prstGeom>
          <a:noFill/>
          <a:ln>
            <a:noFill/>
          </a:ln>
        </p:spPr>
      </p:pic>
      <p:sp>
        <p:nvSpPr>
          <p:cNvPr id="7" name="矩形 6"/>
          <p:cNvSpPr/>
          <p:nvPr/>
        </p:nvSpPr>
        <p:spPr>
          <a:xfrm>
            <a:off x="3970049" y="5854627"/>
            <a:ext cx="4166525" cy="369332"/>
          </a:xfrm>
          <a:prstGeom prst="rect">
            <a:avLst/>
          </a:prstGeom>
        </p:spPr>
        <p:txBody>
          <a:bodyPr wrap="none">
            <a:spAutoFit/>
          </a:bodyPr>
          <a:lstStyle/>
          <a:p>
            <a:pPr algn="ctr"/>
            <a:r>
              <a:rPr lang="zh-CN" altLang="zh-CN"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图</a:t>
            </a:r>
            <a:r>
              <a:rPr lang="en-US" altLang="zh-CN"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2.4</a:t>
            </a:r>
            <a:r>
              <a:rPr lang="zh-CN" altLang="zh-CN" kern="100" dirty="0">
                <a:solidFill>
                  <a:srgbClr val="656565"/>
                </a:solidFill>
                <a:latin typeface="Times New Roman" panose="02020603050405020304" pitchFamily="18" charset="0"/>
                <a:ea typeface="等线" panose="02010600030101010101" charset="-122"/>
                <a:cs typeface="Times New Roman" panose="02020603050405020304" pitchFamily="18" charset="0"/>
              </a:rPr>
              <a:t>删除操作前后的顺序表存储结构图</a:t>
            </a:r>
            <a:endParaRPr lang="zh-CN" altLang="zh-CN"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71504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其主要步骤如下。 </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(1)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判断参数</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是否满足</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0≤i≤curLen-1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，若不满足则抛出异常。</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将第</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个数据元素之后的数据元素都向前移动一个存储单元。</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(3) </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表长减</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1</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58029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【算法</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2.2</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】顺序表的删除操作算法。</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6" name="图片 5"/>
          <p:cNvPicPr>
            <a:picLocks noChangeAspect="1"/>
          </p:cNvPicPr>
          <p:nvPr/>
        </p:nvPicPr>
        <p:blipFill>
          <a:blip r:embed="rId1"/>
          <a:stretch>
            <a:fillRect/>
          </a:stretch>
        </p:blipFill>
        <p:spPr>
          <a:xfrm>
            <a:off x="1787285" y="2242628"/>
            <a:ext cx="7250337" cy="3832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mc:AlternateContent xmlns:mc="http://schemas.openxmlformats.org/markup-compatibility/2006">
        <mc:Choice xmlns:a14="http://schemas.microsoft.com/office/drawing/2010/main" Requires="a14">
          <p:sp>
            <p:nvSpPr>
              <p:cNvPr id="4" name="内容占位符 5"/>
              <p:cNvSpPr txBox="1"/>
              <p:nvPr/>
            </p:nvSpPr>
            <p:spPr>
              <a:xfrm>
                <a:off x="646862" y="1061731"/>
                <a:ext cx="10898275" cy="62564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算法的时间复杂度分析： </a:t>
                </a:r>
                <a:endPar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分析算法可以看出，删除数据元素的时间花费主要用于第</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6</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行的数据元素的移动上。若顺序表的表长为</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，删除表头数据元素需要移动</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个数据元素，删除表尾数据元素需要移动</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0</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个数据元素。设删除位置为</a:t>
                </a:r>
                <a:r>
                  <a:rPr kumimoji="0" lang="en-US" altLang="zh-CN" sz="24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，则第</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6</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行语句的执行次数为</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n-i-1</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。所以每次删除操作数据元素的平均移动次数为： </a:t>
                </a:r>
                <a:endPar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nary>
                        <m:naryPr>
                          <m:chr m:val="∑"/>
                          <m:limLoc m:val="undOv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naryPr>
                        <m:sub>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0</m:t>
                          </m:r>
                        </m:sub>
                        <m:sup>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sup>
                        <m:e>
                          <m:sSub>
                            <m:sSubP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sSubPr>
                            <m:e>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𝑝</m:t>
                              </m:r>
                            </m:e>
                            <m:sub>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sub>
                          </m:sSub>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e>
                      </m:nary>
                    </m:oMath>
                  </m:oMathPara>
                </a14:m>
                <a:endPar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其中，</a:t>
                </a:r>
                <a14:m>
                  <m:oMath xmlns:m="http://schemas.openxmlformats.org/officeDocument/2006/math">
                    <m:sSub>
                      <m:sSubP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sSubPr>
                      <m:e>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𝑝</m:t>
                        </m:r>
                      </m:e>
                      <m:sub>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sub>
                    </m:sSub>
                  </m:oMath>
                </a14:m>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是删除顺序表的第</a:t>
                </a:r>
                <a:r>
                  <a:rPr kumimoji="0" lang="en-US" altLang="zh-CN" sz="2400" b="0" i="0" u="none" strike="noStrike" kern="1200" cap="none" spc="0" normalizeH="0" baseline="0" noProof="0" dirty="0" err="1">
                    <a:ln>
                      <a:noFill/>
                    </a:ln>
                    <a:solidFill>
                      <a:sysClr val="windowText" lastClr="000000"/>
                    </a:solidFill>
                    <a:effectLst/>
                    <a:uLnTx/>
                    <a:uFillTx/>
                    <a:latin typeface="等线" panose="02010600030101010101" charset="-122"/>
                    <a:ea typeface="等线" panose="02010600030101010101" charset="-122"/>
                    <a:cs typeface="+mn-cs"/>
                  </a:rPr>
                  <a:t>i</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个存储位置的数据元素的概率，假设每个删除位置出现的概率相同，即为</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1n</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，可得： </a:t>
                </a:r>
                <a:endPar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f>
                        <m:fP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den>
                      </m:f>
                      <m:nary>
                        <m:naryPr>
                          <m:chr m:val="∑"/>
                          <m:limLoc m:val="undOv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naryPr>
                        <m:sub>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0</m:t>
                          </m:r>
                        </m:sub>
                        <m:sup>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sup>
                        <m:e>
                          <m:d>
                            <m:dP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dPr>
                            <m:e>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e>
                          </m:d>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 </m:t>
                          </m:r>
                          <m:f>
                            <m:fP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e>
                      </m:nary>
                    </m:oMath>
                  </m:oMathPara>
                </a14:m>
                <a:endPar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即在等概率情况下，删除一个数据元素平均需要移动的顺序表的数据元素为</a:t>
                </a:r>
                <a14:m>
                  <m:oMath xmlns:m="http://schemas.openxmlformats.org/officeDocument/2006/math">
                    <m:f>
                      <m:fPr>
                        <m:ctrlPr>
                          <a:rPr kumimoji="0" lang="zh-CN" altLang="zh-CN" sz="24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oMath>
                </a14:m>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个，算法的时间复杂度为</a:t>
                </a:r>
                <a:r>
                  <a:rPr kumimoji="0" lang="en-US"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O(n)</a:t>
                </a:r>
                <a:r>
                  <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endParaRPr kumimoji="0" lang="zh-CN" altLang="zh-CN" sz="24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mc:Choice>
        <mc:Fallback>
          <p:sp>
            <p:nvSpPr>
              <p:cNvPr id="4" name="内容占位符 5"/>
              <p:cNvSpPr txBox="1">
                <a:spLocks noRot="1" noChangeAspect="1" noMove="1" noResize="1" noEditPoints="1" noAdjustHandles="1" noChangeArrowheads="1" noChangeShapeType="1" noTextEdit="1"/>
              </p:cNvSpPr>
              <p:nvPr/>
            </p:nvSpPr>
            <p:spPr>
              <a:xfrm>
                <a:off x="646862" y="1061731"/>
                <a:ext cx="10898275" cy="6256420"/>
              </a:xfrm>
              <a:prstGeom prst="rect">
                <a:avLst/>
              </a:prstGeom>
              <a:blipFill rotWithShape="1">
                <a:blip r:embed="rId1"/>
                <a:stretch>
                  <a:fillRect l="-4" r="2" b="7"/>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758489" y="1197670"/>
            <a:ext cx="10675021" cy="446265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7" name="内容占位符 5"/>
          <p:cNvSpPr txBox="1"/>
          <p:nvPr/>
        </p:nvSpPr>
        <p:spPr>
          <a:xfrm>
            <a:off x="838200" y="153337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【算法</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2.3</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】顺序表的查找操作算法。</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8" name="图片 7"/>
          <p:cNvPicPr>
            <a:picLocks noChangeAspect="1"/>
          </p:cNvPicPr>
          <p:nvPr/>
        </p:nvPicPr>
        <p:blipFill>
          <a:blip r:embed="rId1"/>
          <a:stretch>
            <a:fillRect/>
          </a:stretch>
        </p:blipFill>
        <p:spPr>
          <a:xfrm>
            <a:off x="2477789" y="2192898"/>
            <a:ext cx="6439458" cy="33988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mc:AlternateContent xmlns:mc="http://schemas.openxmlformats.org/markup-compatibility/2006">
        <mc:Choice xmlns:a14="http://schemas.microsoft.com/office/drawing/2010/main" Requires="a14">
          <p:sp>
            <p:nvSpPr>
              <p:cNvPr id="4" name="内容占位符 5"/>
              <p:cNvSpPr txBox="1"/>
              <p:nvPr/>
            </p:nvSpPr>
            <p:spPr>
              <a:xfrm>
                <a:off x="838200" y="153337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算法的时间复杂度分析： </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查找操作的比较次数取决于元素位置。分析算法可以看出，查找操作的时间花费主要集中在数据元素的比较上，设顺序表的数据元素个数为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，则比较次数最少为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1</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、最多为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。假设各数据元素的查找概率相等，则数据元素的平均比较次数为： </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nary>
                        <m:naryPr>
                          <m:chr m:val="∑"/>
                          <m:limLoc m:val="undOv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naryPr>
                        <m:sub>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sub>
                        <m:sup>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sup>
                        <m:e>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𝑖</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den>
                          </m:f>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 = </m:t>
                          </m:r>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e>
                      </m:nary>
                    </m:oMath>
                  </m:oMathPara>
                </a14:m>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即在等概率情况下，查找一个数据元素平均需要比较的顺序表的数据元素为</a:t>
                </a:r>
                <a14:m>
                  <m:oMath xmlns:m="http://schemas.openxmlformats.org/officeDocument/2006/math">
                    <m:f>
                      <m:fPr>
                        <m:ctrlPr>
                          <a:rPr kumimoji="0" lang="zh-CN" altLang="zh-CN" sz="2800" b="0" i="1" u="none" strike="noStrike" kern="1200" cap="none" spc="0" normalizeH="0" baseline="0" noProof="0">
                            <a:ln>
                              <a:noFill/>
                            </a:ln>
                            <a:solidFill>
                              <a:sysClr val="windowText" lastClr="000000"/>
                            </a:solidFill>
                            <a:effectLst/>
                            <a:uLnTx/>
                            <a:uFillTx/>
                            <a:latin typeface="Cambria Math" panose="02040503050406030204"/>
                            <a:cs typeface="+mn-cs"/>
                          </a:rPr>
                        </m:ctrlPr>
                      </m:fPr>
                      <m:num>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𝑛</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m:t>
                        </m:r>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1</m:t>
                        </m:r>
                      </m:num>
                      <m:den>
                        <m:r>
                          <a:rPr kumimoji="0" lang="en-US" altLang="zh-CN" sz="28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2</m:t>
                        </m:r>
                      </m:den>
                    </m:f>
                  </m:oMath>
                </a14:m>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个，算法的时间复杂度为</a:t>
                </a:r>
                <a:r>
                  <a:rPr kumimoji="0" lang="en-US"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O(n)</a:t>
                </a:r>
                <a:r>
                  <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rPr>
                  <a:t>。</a:t>
                </a:r>
                <a:endParaRPr kumimoji="0" lang="zh-CN" altLang="zh-CN"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mc:Choice>
        <mc:Fallback>
          <p:sp>
            <p:nvSpPr>
              <p:cNvPr id="4" name="内容占位符 5"/>
              <p:cNvSpPr txBox="1">
                <a:spLocks noRot="1" noChangeAspect="1" noMove="1" noResize="1" noEditPoints="1" noAdjustHandles="1" noChangeArrowheads="1" noChangeShapeType="1" noTextEdit="1"/>
              </p:cNvSpPr>
              <p:nvPr/>
            </p:nvSpPr>
            <p:spPr>
              <a:xfrm>
                <a:off x="838200" y="1533371"/>
                <a:ext cx="10515600" cy="4351338"/>
              </a:xfrm>
              <a:prstGeom prst="rect">
                <a:avLst/>
              </a:prstGeom>
              <a:blipFill rotWithShape="1">
                <a:blip r:embed="rId1"/>
                <a:stretch>
                  <a:fillRect t="-55" b="-7950"/>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txBox="1"/>
          <p:nvPr/>
        </p:nvSpPr>
        <p:spPr>
          <a:xfrm>
            <a:off x="838200" y="171504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【例</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2.3</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】建立一个由</a:t>
            </a: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a~z</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的</a:t>
            </a:r>
            <a:endPar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26</a:t>
            </a: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个字母组成的字母顺序表，</a:t>
            </a:r>
            <a:endPar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求每个字母的直接前驱</a:t>
            </a:r>
            <a:endParaRPr kumimoji="0" lang="en-US"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rPr>
              <a:t>和直接后继，编程实现。</a:t>
            </a:r>
            <a:endParaRPr kumimoji="0" lang="zh-CN" altLang="zh-CN" sz="2800" b="0" i="0" u="none" strike="noStrike" kern="1200" cap="none" spc="0" normalizeH="0" baseline="0" noProof="0">
              <a:ln>
                <a:noFill/>
              </a:ln>
              <a:solidFill>
                <a:sysClr val="windowText" lastClr="000000"/>
              </a:solidFill>
              <a:effectLst/>
              <a:uLnTx/>
              <a:uFillTx/>
              <a:latin typeface="等线" panose="02010600030101010101" charset="-122"/>
              <a:ea typeface="等线" panose="02010600030101010101"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ysClr val="windowText" lastClr="000000"/>
              </a:solidFill>
              <a:effectLst/>
              <a:uLnTx/>
              <a:uFillTx/>
              <a:latin typeface="等线" panose="02010600030101010101" charset="-122"/>
              <a:ea typeface="等线" panose="02010600030101010101" charset="-122"/>
              <a:cs typeface="+mn-cs"/>
            </a:endParaRPr>
          </a:p>
        </p:txBody>
      </p:sp>
      <p:pic>
        <p:nvPicPr>
          <p:cNvPr id="6" name="图片 5"/>
          <p:cNvPicPr>
            <a:picLocks noChangeAspect="1"/>
          </p:cNvPicPr>
          <p:nvPr/>
        </p:nvPicPr>
        <p:blipFill>
          <a:blip r:embed="rId1"/>
          <a:stretch>
            <a:fillRect/>
          </a:stretch>
        </p:blipFill>
        <p:spPr>
          <a:xfrm>
            <a:off x="5752542" y="81547"/>
            <a:ext cx="6439458" cy="64699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773730" y="947713"/>
            <a:ext cx="10644539" cy="496257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6" name="内容占位符 5"/>
          <p:cNvSpPr>
            <a:spLocks noGrp="1"/>
          </p:cNvSpPr>
          <p:nvPr>
            <p:ph idx="1"/>
          </p:nvPr>
        </p:nvSpPr>
        <p:spPr>
          <a:xfrm>
            <a:off x="838200" y="1715044"/>
            <a:ext cx="10515600" cy="4351338"/>
          </a:xfrm>
        </p:spPr>
        <p:txBody>
          <a:bodyPr>
            <a:normAutofit/>
          </a:bodyPr>
          <a:lstStyle/>
          <a:p>
            <a:r>
              <a:rPr lang="zh-CN" altLang="zh-CN" dirty="0"/>
              <a:t>综上所述，顺序表具有较好的静态特性、较差的动态特性。</a:t>
            </a:r>
            <a:endParaRPr lang="zh-CN" altLang="zh-CN" dirty="0"/>
          </a:p>
          <a:p>
            <a:r>
              <a:rPr lang="zh-CN" altLang="zh-CN" dirty="0"/>
              <a:t>（</a:t>
            </a:r>
            <a:r>
              <a:rPr lang="en-US" altLang="zh-CN" dirty="0"/>
              <a:t>1</a:t>
            </a:r>
            <a:r>
              <a:rPr lang="zh-CN" altLang="zh-CN" dirty="0"/>
              <a:t>） 顺序表利用元素的物理存储次序反映线性表元素的逻辑关系，不需要额外的存储空间进行元素间关系的表达。顺序表是随机存储结构，存取元素</a:t>
            </a:r>
            <a:r>
              <a:rPr lang="en-US" altLang="zh-CN" dirty="0"/>
              <a:t>a</a:t>
            </a:r>
            <a:r>
              <a:rPr lang="en-US" altLang="zh-CN" baseline="-25000" dirty="0"/>
              <a:t>i</a:t>
            </a:r>
            <a:r>
              <a:rPr lang="zh-CN" altLang="zh-CN" dirty="0"/>
              <a:t>的时间复杂度为</a:t>
            </a:r>
            <a:r>
              <a:rPr lang="en-US" altLang="zh-CN" dirty="0"/>
              <a:t>O(1),</a:t>
            </a:r>
            <a:r>
              <a:rPr lang="zh-CN" altLang="zh-CN" dirty="0"/>
              <a:t>并且实现了线性表抽象数据类型所要求的基本操作。</a:t>
            </a:r>
            <a:endParaRPr lang="zh-CN" altLang="zh-CN" dirty="0"/>
          </a:p>
          <a:p>
            <a:r>
              <a:rPr lang="zh-CN" altLang="zh-CN" dirty="0"/>
              <a:t>（</a:t>
            </a:r>
            <a:r>
              <a:rPr lang="en-US" altLang="zh-CN" dirty="0"/>
              <a:t>2</a:t>
            </a:r>
            <a:r>
              <a:rPr lang="zh-CN" altLang="zh-CN" dirty="0"/>
              <a:t>） 插入和删除操作的效率很低，每插入或删除一个数据元素，元素的移动次数较多，平均移动顺序表中数据元素个数的一半； 并且数组容量不可更改，存在因容量小造成数据溢出或者因容量过大造成内存资源浪费的问题。</a:t>
            </a:r>
            <a:endParaRPr lang="zh-CN" altLang="zh-CN" dirty="0"/>
          </a:p>
          <a:p>
            <a:pPr marL="0" indent="0">
              <a:buNone/>
            </a:pP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en-US" altLang="zh-CN" dirty="0"/>
              <a:t>       </a:t>
            </a:r>
            <a:r>
              <a:rPr lang="zh-CN" altLang="zh-CN" dirty="0"/>
              <a:t>采用链式存储方式存储的线性表称为链表，链表是用若干地址分散的存储单元存储数据元素，逻辑上相邻的数据元素在物理位置上不一定相邻，必须采用附加信息表示数据元素之间的逻辑关系，因此链表的每一个结点不仅包含元素本身的信息数据域，而且包含元素之间逻辑关系的信息，即逻辑上相邻结点地址的指针域。</a:t>
            </a:r>
            <a:endParaRPr lang="zh-CN" altLang="zh-CN" dirty="0"/>
          </a:p>
          <a:p>
            <a:pPr marL="0" indent="0">
              <a:buNone/>
            </a:pP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381771"/>
            <a:ext cx="10515600" cy="4351338"/>
          </a:xfrm>
        </p:spPr>
        <p:txBody>
          <a:bodyPr>
            <a:normAutofit/>
          </a:bodyPr>
          <a:lstStyle/>
          <a:p>
            <a:r>
              <a:rPr lang="en-US" altLang="zh-CN" b="1" dirty="0"/>
              <a:t>2.3.1 </a:t>
            </a:r>
            <a:r>
              <a:rPr lang="zh-CN" altLang="zh-CN" b="1" dirty="0"/>
              <a:t>单链表</a:t>
            </a:r>
            <a:endParaRPr lang="zh-CN" altLang="zh-CN" dirty="0"/>
          </a:p>
          <a:p>
            <a:r>
              <a:rPr lang="zh-CN" altLang="zh-CN" dirty="0"/>
              <a:t>单链表是指结点中只包含一个指针域的链表，指针域中储存着指向后继结点的指针。单链表的头指针是线性表的起始地址，是线性表中第一个数据元素的存储地址，可作为单链表的唯一标识。单链表的尾结点没有后继结点，所以其指针域值为</a:t>
            </a:r>
            <a:r>
              <a:rPr lang="en-US" altLang="zh-CN" dirty="0"/>
              <a:t>None</a:t>
            </a:r>
            <a:r>
              <a:rPr lang="zh-CN" altLang="zh-CN" dirty="0"/>
              <a:t>。</a:t>
            </a:r>
            <a:endParaRPr lang="zh-CN" altLang="zh-CN" dirty="0"/>
          </a:p>
          <a:p>
            <a:r>
              <a:rPr lang="zh-CN" altLang="zh-CN" dirty="0"/>
              <a:t>为了使操作简便，在第一个结点之前增加头结点，单链表的头指针指向头结点，头结点的数据域不存放任何数据，指针域存放指向第一个结点的指针。空单链表的头指针</a:t>
            </a:r>
            <a:r>
              <a:rPr lang="en-US" altLang="zh-CN" dirty="0"/>
              <a:t>head</a:t>
            </a:r>
            <a:r>
              <a:rPr lang="zh-CN" altLang="zh-CN" dirty="0"/>
              <a:t>为</a:t>
            </a:r>
            <a:r>
              <a:rPr lang="en-US" altLang="zh-CN" dirty="0"/>
              <a:t>None</a:t>
            </a:r>
            <a:r>
              <a:rPr lang="zh-CN" altLang="zh-CN" dirty="0"/>
              <a:t>。图</a:t>
            </a:r>
            <a:r>
              <a:rPr lang="en-US" altLang="zh-CN" dirty="0"/>
              <a:t>2.5</a:t>
            </a:r>
            <a:r>
              <a:rPr lang="zh-CN" altLang="zh-CN" dirty="0"/>
              <a:t>为不带头结点的单链表的存储示意图，图</a:t>
            </a:r>
            <a:r>
              <a:rPr lang="en-US" altLang="zh-CN" dirty="0"/>
              <a:t>2.6</a:t>
            </a:r>
            <a:r>
              <a:rPr lang="zh-CN" altLang="zh-CN" dirty="0"/>
              <a:t>为带头结点的单链表的存储示意图。</a:t>
            </a:r>
            <a:endParaRPr lang="zh-CN" altLang="zh-CN" dirty="0"/>
          </a:p>
          <a:p>
            <a:pPr marL="0" indent="0">
              <a:buNone/>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294507" y="1592926"/>
            <a:ext cx="8125634" cy="1611046"/>
          </a:xfrm>
          <a:prstGeom prst="rect">
            <a:avLst/>
          </a:prstGeom>
          <a:noFill/>
          <a:ln>
            <a:noFill/>
          </a:ln>
        </p:spPr>
      </p:pic>
      <p:sp>
        <p:nvSpPr>
          <p:cNvPr id="6" name="矩形 5"/>
          <p:cNvSpPr/>
          <p:nvPr/>
        </p:nvSpPr>
        <p:spPr>
          <a:xfrm>
            <a:off x="4705233" y="3376170"/>
            <a:ext cx="2781531" cy="369332"/>
          </a:xfrm>
          <a:prstGeom prst="rect">
            <a:avLst/>
          </a:prstGeom>
        </p:spPr>
        <p:txBody>
          <a:bodyPr wrap="none">
            <a:spAutoFit/>
          </a:bodyPr>
          <a:lstStyle/>
          <a:p>
            <a:pPr algn="ctr">
              <a:spcAft>
                <a:spcPts val="0"/>
              </a:spcAft>
            </a:pPr>
            <a:r>
              <a:rPr lang="zh-CN" altLang="zh-CN" kern="100" dirty="0">
                <a:solidFill>
                  <a:srgbClr val="656565"/>
                </a:solidFill>
                <a:latin typeface="Times New Roman" panose="02020603050405020304" pitchFamily="18" charset="0"/>
                <a:cs typeface="Times New Roman" panose="02020603050405020304" pitchFamily="18" charset="0"/>
              </a:rPr>
              <a:t>图</a:t>
            </a:r>
            <a:r>
              <a:rPr lang="en-US" altLang="zh-CN" kern="100" dirty="0">
                <a:solidFill>
                  <a:srgbClr val="656565"/>
                </a:solidFill>
                <a:latin typeface="Times New Roman" panose="02020603050405020304" pitchFamily="18" charset="0"/>
                <a:cs typeface="Times New Roman" panose="02020603050405020304" pitchFamily="18" charset="0"/>
              </a:rPr>
              <a:t>2.5</a:t>
            </a:r>
            <a:r>
              <a:rPr lang="zh-CN" altLang="zh-CN" kern="100" dirty="0">
                <a:solidFill>
                  <a:srgbClr val="656565"/>
                </a:solidFill>
                <a:latin typeface="Times New Roman" panose="02020603050405020304" pitchFamily="18" charset="0"/>
                <a:cs typeface="Times New Roman" panose="02020603050405020304" pitchFamily="18" charset="0"/>
              </a:rPr>
              <a:t>不带头结点的单链表</a:t>
            </a:r>
            <a:endParaRPr lang="zh-CN" altLang="zh-CN"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p:txBody>
      </p:sp>
      <p:pic>
        <p:nvPicPr>
          <p:cNvPr id="7" name="内容占位符 8"/>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3782" y="4043285"/>
            <a:ext cx="8597906" cy="1124703"/>
          </a:xfrm>
          <a:prstGeom prst="rect">
            <a:avLst/>
          </a:prstGeom>
          <a:noFill/>
          <a:ln>
            <a:noFill/>
          </a:ln>
        </p:spPr>
      </p:pic>
      <p:sp>
        <p:nvSpPr>
          <p:cNvPr id="8" name="矩形 7"/>
          <p:cNvSpPr/>
          <p:nvPr/>
        </p:nvSpPr>
        <p:spPr>
          <a:xfrm>
            <a:off x="4705233" y="5455488"/>
            <a:ext cx="2550698" cy="369332"/>
          </a:xfrm>
          <a:prstGeom prst="rect">
            <a:avLst/>
          </a:prstGeom>
        </p:spPr>
        <p:txBody>
          <a:bodyPr wrap="none">
            <a:spAutoFit/>
          </a:bodyPr>
          <a:lstStyle/>
          <a:p>
            <a:pPr algn="ctr">
              <a:spcAft>
                <a:spcPts val="0"/>
              </a:spcAft>
            </a:pPr>
            <a:r>
              <a:rPr lang="zh-CN" altLang="zh-CN" kern="100" dirty="0">
                <a:solidFill>
                  <a:srgbClr val="656565"/>
                </a:solidFill>
                <a:latin typeface="Times New Roman" panose="02020603050405020304" pitchFamily="18" charset="0"/>
                <a:cs typeface="Times New Roman" panose="02020603050405020304" pitchFamily="18" charset="0"/>
              </a:rPr>
              <a:t>图</a:t>
            </a:r>
            <a:r>
              <a:rPr lang="en-US" altLang="zh-CN" kern="100" dirty="0">
                <a:solidFill>
                  <a:srgbClr val="656565"/>
                </a:solidFill>
                <a:latin typeface="Times New Roman" panose="02020603050405020304" pitchFamily="18" charset="0"/>
                <a:cs typeface="Times New Roman" panose="02020603050405020304" pitchFamily="18" charset="0"/>
              </a:rPr>
              <a:t>2.6</a:t>
            </a:r>
            <a:r>
              <a:rPr lang="zh-CN" altLang="zh-CN" kern="100" dirty="0">
                <a:solidFill>
                  <a:srgbClr val="656565"/>
                </a:solidFill>
                <a:latin typeface="Times New Roman" panose="02020603050405020304" pitchFamily="18" charset="0"/>
                <a:cs typeface="Times New Roman" panose="02020603050405020304" pitchFamily="18" charset="0"/>
              </a:rPr>
              <a:t>带头结点的单链表</a:t>
            </a:r>
            <a:endParaRPr lang="zh-CN" altLang="zh-CN"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en-US" altLang="zh-CN" dirty="0"/>
              <a:t>       </a:t>
            </a:r>
            <a:r>
              <a:rPr lang="zh-CN" altLang="zh-CN" dirty="0"/>
              <a:t>单链表的结点的存储空间是在插入和删除过程中动态申请和释放的，不需要预先分配，从而避免了顺序表因存储空间不足需要扩充空间和复制元素的过程，避免了顺序表因容量过大造成内存资源浪费的问题，提高了运行效率和存储空间的利用率。</a:t>
            </a:r>
            <a:endParaRPr lang="zh-CN" altLang="zh-CN" dirty="0"/>
          </a:p>
          <a:p>
            <a:pPr marL="0" indent="0">
              <a:buNone/>
            </a:pP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en-US" altLang="zh-CN" dirty="0"/>
              <a:t>1.</a:t>
            </a:r>
            <a:r>
              <a:rPr lang="zh-CN" altLang="zh-CN" dirty="0"/>
              <a:t>结点类描述</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2107805" y="2596724"/>
            <a:ext cx="8546323" cy="321122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en-US" altLang="zh-CN" dirty="0"/>
              <a:t>2.</a:t>
            </a:r>
            <a:r>
              <a:rPr lang="zh-CN" altLang="zh-CN" dirty="0"/>
              <a:t>单链表类描述</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1837287" y="2277346"/>
            <a:ext cx="7336858" cy="439993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403086" y="1405249"/>
            <a:ext cx="5891578" cy="5308338"/>
          </a:xfrm>
          <a:prstGeom prst="rect">
            <a:avLst/>
          </a:prstGeom>
        </p:spPr>
      </p:pic>
      <p:pic>
        <p:nvPicPr>
          <p:cNvPr id="6" name="图片 5"/>
          <p:cNvPicPr>
            <a:picLocks noChangeAspect="1"/>
          </p:cNvPicPr>
          <p:nvPr/>
        </p:nvPicPr>
        <p:blipFill>
          <a:blip r:embed="rId2"/>
          <a:stretch>
            <a:fillRect/>
          </a:stretch>
        </p:blipFill>
        <p:spPr>
          <a:xfrm>
            <a:off x="5738802" y="1342652"/>
            <a:ext cx="4915326" cy="543353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10" name="图片 9"/>
          <p:cNvPicPr>
            <a:picLocks noChangeAspect="1"/>
          </p:cNvPicPr>
          <p:nvPr/>
        </p:nvPicPr>
        <p:blipFill>
          <a:blip r:embed="rId1"/>
          <a:stretch>
            <a:fillRect/>
          </a:stretch>
        </p:blipFill>
        <p:spPr>
          <a:xfrm>
            <a:off x="2484405" y="1360494"/>
            <a:ext cx="6446529" cy="54610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6" name="内容占位符 5"/>
          <p:cNvSpPr>
            <a:spLocks noGrp="1"/>
          </p:cNvSpPr>
          <p:nvPr>
            <p:ph idx="1"/>
          </p:nvPr>
        </p:nvSpPr>
        <p:spPr>
          <a:xfrm>
            <a:off x="838200" y="1715044"/>
            <a:ext cx="10515600" cy="4351338"/>
          </a:xfrm>
        </p:spPr>
        <p:txBody>
          <a:bodyPr>
            <a:normAutofit/>
          </a:bodyPr>
          <a:lstStyle/>
          <a:p>
            <a:r>
              <a:rPr lang="en-US" altLang="zh-CN" b="1" dirty="0"/>
              <a:t>2.3.2 </a:t>
            </a:r>
            <a:r>
              <a:rPr lang="zh-CN" altLang="zh-CN" b="1" dirty="0"/>
              <a:t>单链表的基本操作实现</a:t>
            </a:r>
            <a:endParaRPr lang="zh-CN" altLang="zh-CN" dirty="0"/>
          </a:p>
          <a:p>
            <a:r>
              <a:rPr lang="en-US" altLang="zh-CN" dirty="0"/>
              <a:t>1. </a:t>
            </a:r>
            <a:r>
              <a:rPr lang="zh-CN" altLang="zh-CN" dirty="0"/>
              <a:t>查找操作</a:t>
            </a:r>
            <a:endParaRPr lang="zh-CN" altLang="zh-CN" dirty="0"/>
          </a:p>
          <a:p>
            <a:pPr marL="0" indent="0">
              <a:buNone/>
            </a:pPr>
            <a:r>
              <a:rPr lang="en-US" altLang="zh-CN" dirty="0"/>
              <a:t>  (1) </a:t>
            </a:r>
            <a:r>
              <a:rPr lang="zh-CN" altLang="zh-CN" dirty="0"/>
              <a:t>位序查找</a:t>
            </a:r>
            <a:r>
              <a:rPr lang="en-US" altLang="zh-CN" dirty="0"/>
              <a:t>get(</a:t>
            </a:r>
            <a:r>
              <a:rPr lang="en-US" altLang="zh-CN" dirty="0" err="1"/>
              <a:t>i</a:t>
            </a:r>
            <a:r>
              <a:rPr lang="en-US" altLang="zh-CN" dirty="0"/>
              <a:t>)</a:t>
            </a:r>
            <a:r>
              <a:rPr lang="zh-CN" altLang="zh-CN" dirty="0"/>
              <a:t>是返回长度为</a:t>
            </a:r>
            <a:r>
              <a:rPr lang="en-US" altLang="zh-CN" dirty="0"/>
              <a:t>n</a:t>
            </a:r>
            <a:r>
              <a:rPr lang="zh-CN" altLang="zh-CN" dirty="0"/>
              <a:t>的单链表中第</a:t>
            </a:r>
            <a:r>
              <a:rPr lang="en-US" altLang="zh-CN" dirty="0" err="1"/>
              <a:t>i</a:t>
            </a:r>
            <a:r>
              <a:rPr lang="zh-CN" altLang="zh-CN" dirty="0"/>
              <a:t>个结点的数据域的值，其中</a:t>
            </a:r>
            <a:r>
              <a:rPr lang="en-US" altLang="zh-CN" dirty="0"/>
              <a:t>0≤i≤n-1</a:t>
            </a:r>
            <a:r>
              <a:rPr lang="zh-CN" altLang="zh-CN" dirty="0"/>
              <a:t>。由于单链表的存储空间不连续，因此必须从头结点开始沿着后继结点依次进行查找。</a:t>
            </a:r>
            <a:endParaRPr lang="zh-CN" altLang="zh-CN" dirty="0"/>
          </a:p>
          <a:p>
            <a:pPr marL="0" indent="0">
              <a:buNone/>
            </a:pP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7" name="内容占位符 5"/>
          <p:cNvSpPr>
            <a:spLocks noGrp="1"/>
          </p:cNvSpPr>
          <p:nvPr>
            <p:ph idx="1"/>
          </p:nvPr>
        </p:nvSpPr>
        <p:spPr>
          <a:xfrm>
            <a:off x="838200" y="1715044"/>
            <a:ext cx="10515600" cy="4351338"/>
          </a:xfrm>
        </p:spPr>
        <p:txBody>
          <a:bodyPr>
            <a:normAutofit/>
          </a:bodyPr>
          <a:lstStyle/>
          <a:p>
            <a:pPr marL="0" indent="0">
              <a:buNone/>
            </a:pPr>
            <a:r>
              <a:rPr lang="zh-CN" altLang="zh-CN" dirty="0"/>
              <a:t>【算法</a:t>
            </a:r>
            <a:r>
              <a:rPr lang="en-US" altLang="zh-CN" dirty="0"/>
              <a:t>2.4</a:t>
            </a:r>
            <a:r>
              <a:rPr lang="zh-CN" altLang="zh-CN" dirty="0"/>
              <a:t>】位序查找算法。</a:t>
            </a:r>
            <a:endParaRPr lang="zh-CN" altLang="zh-CN" dirty="0"/>
          </a:p>
          <a:p>
            <a:pPr marL="0" indent="0">
              <a:buNone/>
            </a:pPr>
            <a:endParaRPr lang="zh-CN" altLang="en-US" dirty="0"/>
          </a:p>
        </p:txBody>
      </p:sp>
      <p:pic>
        <p:nvPicPr>
          <p:cNvPr id="8" name="图片 7"/>
          <p:cNvPicPr>
            <a:picLocks noChangeAspect="1"/>
          </p:cNvPicPr>
          <p:nvPr/>
        </p:nvPicPr>
        <p:blipFill>
          <a:blip r:embed="rId1"/>
          <a:stretch>
            <a:fillRect/>
          </a:stretch>
        </p:blipFill>
        <p:spPr>
          <a:xfrm>
            <a:off x="1518305" y="2179845"/>
            <a:ext cx="6956223" cy="466799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6" name="内容占位符 5"/>
          <p:cNvSpPr>
            <a:spLocks noGrp="1"/>
          </p:cNvSpPr>
          <p:nvPr>
            <p:ph idx="1"/>
          </p:nvPr>
        </p:nvSpPr>
        <p:spPr>
          <a:xfrm>
            <a:off x="838200" y="1715044"/>
            <a:ext cx="10515600" cy="4351338"/>
          </a:xfrm>
        </p:spPr>
        <p:txBody>
          <a:bodyPr>
            <a:normAutofit/>
          </a:bodyPr>
          <a:lstStyle/>
          <a:p>
            <a:r>
              <a:rPr lang="en-US" altLang="zh-CN" dirty="0"/>
              <a:t>(2) </a:t>
            </a:r>
            <a:r>
              <a:rPr lang="zh-CN" altLang="zh-CN" dirty="0"/>
              <a:t>查找操作</a:t>
            </a:r>
            <a:r>
              <a:rPr lang="en-US" altLang="zh-CN" dirty="0" err="1"/>
              <a:t>indexOf</a:t>
            </a:r>
            <a:r>
              <a:rPr lang="en-US" altLang="zh-CN" dirty="0"/>
              <a:t>(x)</a:t>
            </a:r>
            <a:r>
              <a:rPr lang="zh-CN" altLang="zh-CN" dirty="0"/>
              <a:t>是在长度为</a:t>
            </a:r>
            <a:r>
              <a:rPr lang="en-US" altLang="zh-CN" dirty="0"/>
              <a:t>n</a:t>
            </a:r>
            <a:r>
              <a:rPr lang="zh-CN" altLang="zh-CN" dirty="0"/>
              <a:t>的单链表中寻找初次出现的数据域值为</a:t>
            </a:r>
            <a:r>
              <a:rPr lang="en-US" altLang="zh-CN" dirty="0"/>
              <a:t>x</a:t>
            </a:r>
            <a:r>
              <a:rPr lang="zh-CN" altLang="zh-CN" dirty="0"/>
              <a:t>的数据元素的位置。</a:t>
            </a:r>
            <a:endParaRPr lang="zh-CN" altLang="zh-CN" dirty="0"/>
          </a:p>
          <a:p>
            <a:pPr marL="0" indent="0">
              <a:buNone/>
            </a:pPr>
            <a:r>
              <a:rPr lang="en-US" altLang="zh-CN" dirty="0"/>
              <a:t>  </a:t>
            </a:r>
            <a:r>
              <a:rPr lang="zh-CN" altLang="zh-CN" dirty="0"/>
              <a:t>其主要步骤为将</a:t>
            </a:r>
            <a:r>
              <a:rPr lang="en-US" altLang="zh-CN" dirty="0"/>
              <a:t>x</a:t>
            </a:r>
            <a:r>
              <a:rPr lang="zh-CN" altLang="zh-CN" dirty="0"/>
              <a:t>与单链表中的每一个数据元素的数据域进行比较，若相等，则返回该数据元素在单链表中的位置； 若比较结束未找到等值的数据元素，返回</a:t>
            </a:r>
            <a:r>
              <a:rPr lang="en-US" altLang="zh-CN" dirty="0"/>
              <a:t>-1</a:t>
            </a:r>
            <a:r>
              <a:rPr lang="zh-CN" altLang="zh-CN" dirty="0"/>
              <a:t>。</a:t>
            </a:r>
            <a:endParaRPr lang="zh-CN" altLang="zh-CN" dirty="0"/>
          </a:p>
          <a:p>
            <a:pPr marL="0" indent="0">
              <a:buNone/>
            </a:pP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zh-CN" altLang="zh-CN" dirty="0"/>
              <a:t>【算法</a:t>
            </a:r>
            <a:r>
              <a:rPr lang="en-US" altLang="zh-CN" dirty="0"/>
              <a:t>2.5</a:t>
            </a:r>
            <a:r>
              <a:rPr lang="zh-CN" altLang="zh-CN" dirty="0"/>
              <a:t>】按值查找。</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2214509" y="2175346"/>
            <a:ext cx="5361947" cy="462269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en-US" altLang="zh-CN" dirty="0"/>
              <a:t>2. </a:t>
            </a:r>
            <a:r>
              <a:rPr lang="zh-CN" altLang="zh-CN" dirty="0"/>
              <a:t>插入操作</a:t>
            </a:r>
            <a:endParaRPr lang="zh-CN" altLang="zh-CN" dirty="0"/>
          </a:p>
          <a:p>
            <a:r>
              <a:rPr lang="zh-CN" altLang="zh-CN" dirty="0"/>
              <a:t>插入操作</a:t>
            </a:r>
            <a:r>
              <a:rPr lang="en-US" altLang="zh-CN" dirty="0"/>
              <a:t>insert(</a:t>
            </a:r>
            <a:r>
              <a:rPr lang="en-US" altLang="zh-CN" dirty="0" err="1"/>
              <a:t>i,x</a:t>
            </a:r>
            <a:r>
              <a:rPr lang="en-US" altLang="zh-CN" dirty="0"/>
              <a:t>)</a:t>
            </a:r>
            <a:r>
              <a:rPr lang="zh-CN" altLang="zh-CN" dirty="0"/>
              <a:t>是在长度为</a:t>
            </a:r>
            <a:r>
              <a:rPr lang="en-US" altLang="zh-CN" dirty="0"/>
              <a:t>n</a:t>
            </a:r>
            <a:r>
              <a:rPr lang="zh-CN" altLang="zh-CN" dirty="0"/>
              <a:t>的单链表的第</a:t>
            </a:r>
            <a:r>
              <a:rPr lang="en-US" altLang="zh-CN" dirty="0" err="1"/>
              <a:t>i</a:t>
            </a:r>
            <a:r>
              <a:rPr lang="zh-CN" altLang="zh-CN" dirty="0"/>
              <a:t>个结点之前插入数据域值为</a:t>
            </a:r>
            <a:r>
              <a:rPr lang="en-US" altLang="zh-CN" dirty="0"/>
              <a:t>x</a:t>
            </a:r>
            <a:r>
              <a:rPr lang="zh-CN" altLang="zh-CN" dirty="0"/>
              <a:t>的新结点，其中</a:t>
            </a:r>
            <a:r>
              <a:rPr lang="en-US" altLang="zh-CN" dirty="0"/>
              <a:t>0≤i≤n</a:t>
            </a:r>
            <a:r>
              <a:rPr lang="zh-CN" altLang="zh-CN" dirty="0"/>
              <a:t>，当</a:t>
            </a:r>
            <a:r>
              <a:rPr lang="en-US" altLang="zh-CN" dirty="0" err="1"/>
              <a:t>i</a:t>
            </a:r>
            <a:r>
              <a:rPr lang="en-US" altLang="zh-CN" dirty="0"/>
              <a:t>=0</a:t>
            </a:r>
            <a:r>
              <a:rPr lang="zh-CN" altLang="zh-CN" dirty="0"/>
              <a:t>时，在表头插入，当</a:t>
            </a:r>
            <a:r>
              <a:rPr lang="en-US" altLang="zh-CN" dirty="0" err="1"/>
              <a:t>i</a:t>
            </a:r>
            <a:r>
              <a:rPr lang="en-US" altLang="zh-CN" dirty="0"/>
              <a:t>=n</a:t>
            </a:r>
            <a:r>
              <a:rPr lang="zh-CN" altLang="zh-CN" dirty="0"/>
              <a:t>时在表尾插入。</a:t>
            </a:r>
            <a:endParaRPr lang="zh-CN" altLang="zh-CN" dirty="0"/>
          </a:p>
          <a:p>
            <a:r>
              <a:rPr lang="zh-CN" altLang="zh-CN" dirty="0"/>
              <a:t>与顺序表相比，单链表不需要移动一批数据元素，而只需要改变结点的指针域，改变有序对，即可实现数据元素的插入，即</a:t>
            </a:r>
            <a:r>
              <a:rPr lang="en-US" altLang="zh-CN" dirty="0"/>
              <a:t>&lt;a</a:t>
            </a:r>
            <a:r>
              <a:rPr lang="en-US" altLang="zh-CN" baseline="-25000" dirty="0"/>
              <a:t>i-1</a:t>
            </a:r>
            <a:r>
              <a:rPr lang="en-US" altLang="zh-CN" dirty="0"/>
              <a:t>,a</a:t>
            </a:r>
            <a:r>
              <a:rPr lang="en-US" altLang="zh-CN" baseline="-25000" dirty="0"/>
              <a:t>i</a:t>
            </a:r>
            <a:r>
              <a:rPr lang="en-US" altLang="zh-CN" dirty="0"/>
              <a:t>&gt;</a:t>
            </a:r>
            <a:r>
              <a:rPr lang="zh-CN" altLang="zh-CN" dirty="0"/>
              <a:t>转变为</a:t>
            </a:r>
            <a:r>
              <a:rPr lang="en-US" altLang="zh-CN" dirty="0"/>
              <a:t>&lt;a</a:t>
            </a:r>
            <a:r>
              <a:rPr lang="en-US" altLang="zh-CN" baseline="-25000" dirty="0"/>
              <a:t>i-1</a:t>
            </a:r>
            <a:r>
              <a:rPr lang="en-US" altLang="zh-CN" dirty="0"/>
              <a:t>,x&gt;</a:t>
            </a:r>
            <a:r>
              <a:rPr lang="zh-CN" altLang="zh-CN" dirty="0"/>
              <a:t>和</a:t>
            </a:r>
            <a:r>
              <a:rPr lang="en-US" altLang="zh-CN" dirty="0"/>
              <a:t>&lt;</a:t>
            </a:r>
            <a:r>
              <a:rPr lang="en-US" altLang="zh-CN" dirty="0" err="1"/>
              <a:t>x,a</a:t>
            </a:r>
            <a:r>
              <a:rPr lang="en-US" altLang="zh-CN" baseline="-25000" dirty="0" err="1"/>
              <a:t>i</a:t>
            </a:r>
            <a:r>
              <a:rPr lang="en-US" altLang="zh-CN" dirty="0"/>
              <a:t>&gt;</a:t>
            </a:r>
            <a:r>
              <a:rPr lang="zh-CN" altLang="zh-CN" dirty="0"/>
              <a:t>，如图</a:t>
            </a:r>
            <a:r>
              <a:rPr lang="en-US" altLang="zh-CN" dirty="0"/>
              <a:t>2.7</a:t>
            </a:r>
            <a:r>
              <a:rPr lang="zh-CN" altLang="zh-CN" dirty="0"/>
              <a:t>所示。</a:t>
            </a:r>
            <a:endParaRPr lang="zh-CN" altLang="zh-CN" dirty="0"/>
          </a:p>
          <a:p>
            <a:pPr marL="0" indent="0">
              <a:buNone/>
            </a:pP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4" name="内容占位符 7"/>
          <p:cNvPicPr>
            <a:picLocks noGrp="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647200" y="2083170"/>
            <a:ext cx="7182599" cy="3221397"/>
          </a:xfrm>
          <a:prstGeom prst="rect">
            <a:avLst/>
          </a:prstGeom>
          <a:noFill/>
          <a:ln>
            <a:noFill/>
          </a:ln>
        </p:spPr>
      </p:pic>
      <p:sp>
        <p:nvSpPr>
          <p:cNvPr id="6" name="矩形 5"/>
          <p:cNvSpPr/>
          <p:nvPr/>
        </p:nvSpPr>
        <p:spPr>
          <a:xfrm>
            <a:off x="4568675" y="5697050"/>
            <a:ext cx="2319866" cy="369332"/>
          </a:xfrm>
          <a:prstGeom prst="rect">
            <a:avLst/>
          </a:prstGeom>
        </p:spPr>
        <p:txBody>
          <a:bodyPr wrap="none">
            <a:spAutoFit/>
          </a:bodyPr>
          <a:lstStyle/>
          <a:p>
            <a:pPr algn="ctr">
              <a:spcAft>
                <a:spcPts val="0"/>
              </a:spcAft>
            </a:pPr>
            <a:r>
              <a:rPr lang="zh-CN" altLang="zh-CN" kern="100" dirty="0">
                <a:solidFill>
                  <a:srgbClr val="656565"/>
                </a:solidFill>
                <a:latin typeface="Times New Roman" panose="02020603050405020304" pitchFamily="18" charset="0"/>
                <a:cs typeface="Times New Roman" panose="02020603050405020304" pitchFamily="18" charset="0"/>
              </a:rPr>
              <a:t>图</a:t>
            </a:r>
            <a:r>
              <a:rPr lang="en-US" altLang="zh-CN" kern="100" dirty="0">
                <a:solidFill>
                  <a:srgbClr val="656565"/>
                </a:solidFill>
                <a:latin typeface="Times New Roman" panose="02020603050405020304" pitchFamily="18" charset="0"/>
                <a:cs typeface="Times New Roman" panose="02020603050405020304" pitchFamily="18" charset="0"/>
              </a:rPr>
              <a:t>2.7</a:t>
            </a:r>
            <a:r>
              <a:rPr lang="zh-CN" altLang="zh-CN" kern="100" dirty="0">
                <a:solidFill>
                  <a:srgbClr val="656565"/>
                </a:solidFill>
                <a:latin typeface="Times New Roman" panose="02020603050405020304" pitchFamily="18" charset="0"/>
                <a:cs typeface="Times New Roman" panose="02020603050405020304" pitchFamily="18" charset="0"/>
              </a:rPr>
              <a:t>单链表上的插入</a:t>
            </a:r>
            <a:endParaRPr lang="zh-CN" altLang="zh-CN"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zh-CN" altLang="zh-CN" dirty="0"/>
              <a:t>插入操作的主要步骤如下： </a:t>
            </a:r>
            <a:endParaRPr lang="zh-CN" altLang="zh-CN" dirty="0"/>
          </a:p>
          <a:p>
            <a:pPr marL="0" indent="0">
              <a:buNone/>
            </a:pPr>
            <a:r>
              <a:rPr lang="en-US" altLang="zh-CN" dirty="0"/>
              <a:t>(1) </a:t>
            </a:r>
            <a:r>
              <a:rPr lang="zh-CN" altLang="zh-CN" dirty="0"/>
              <a:t>查找到插入位置的前驱结点，即第</a:t>
            </a:r>
            <a:r>
              <a:rPr lang="en-US" altLang="zh-CN" dirty="0"/>
              <a:t>i-1</a:t>
            </a:r>
            <a:r>
              <a:rPr lang="zh-CN" altLang="zh-CN" dirty="0"/>
              <a:t>个结点。</a:t>
            </a:r>
            <a:endParaRPr lang="zh-CN" altLang="zh-CN" dirty="0"/>
          </a:p>
          <a:p>
            <a:pPr marL="0" indent="0">
              <a:buNone/>
            </a:pPr>
            <a:r>
              <a:rPr lang="en-US" altLang="zh-CN" dirty="0"/>
              <a:t>(2) </a:t>
            </a:r>
            <a:r>
              <a:rPr lang="zh-CN" altLang="zh-CN" dirty="0"/>
              <a:t>创建数据域值为</a:t>
            </a:r>
            <a:r>
              <a:rPr lang="en-US" altLang="zh-CN" dirty="0"/>
              <a:t>x</a:t>
            </a:r>
            <a:r>
              <a:rPr lang="zh-CN" altLang="zh-CN" dirty="0"/>
              <a:t>的新结点。</a:t>
            </a:r>
            <a:endParaRPr lang="zh-CN" altLang="zh-CN" dirty="0"/>
          </a:p>
          <a:p>
            <a:pPr marL="0" indent="0">
              <a:buNone/>
            </a:pPr>
            <a:r>
              <a:rPr lang="en-US" altLang="zh-CN" dirty="0"/>
              <a:t>(3) </a:t>
            </a:r>
            <a:r>
              <a:rPr lang="zh-CN" altLang="zh-CN" dirty="0"/>
              <a:t>修改前驱结点的指针域为指向新结点的指针，新结点的指针域为指向原第</a:t>
            </a:r>
            <a:r>
              <a:rPr lang="en-US" altLang="zh-CN" dirty="0" err="1"/>
              <a:t>i</a:t>
            </a:r>
            <a:r>
              <a:rPr lang="zh-CN" altLang="zh-CN" dirty="0"/>
              <a:t>个结点的指针。</a:t>
            </a:r>
            <a:endParaRPr lang="zh-CN" altLang="zh-CN" dirty="0"/>
          </a:p>
          <a:p>
            <a:pPr marL="0" indent="0">
              <a:buNone/>
            </a:pP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zh-CN" altLang="zh-CN" dirty="0"/>
              <a:t>【算法</a:t>
            </a:r>
            <a:r>
              <a:rPr lang="en-US" altLang="zh-CN" dirty="0"/>
              <a:t>2.6</a:t>
            </a:r>
            <a:r>
              <a:rPr lang="zh-CN" altLang="zh-CN" dirty="0"/>
              <a:t>】带头结点的单链表的插入操作。</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2784334" y="2280156"/>
            <a:ext cx="5349704" cy="439712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zh-CN" altLang="zh-CN" dirty="0"/>
              <a:t>【算法</a:t>
            </a:r>
            <a:r>
              <a:rPr lang="en-US" altLang="zh-CN" dirty="0"/>
              <a:t>2.7</a:t>
            </a:r>
            <a:r>
              <a:rPr lang="zh-CN" altLang="zh-CN" dirty="0"/>
              <a:t>】不带头结点的单链表的插入操作。</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4385092" y="2573867"/>
            <a:ext cx="5022015" cy="42841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zh-CN" altLang="zh-CN" dirty="0"/>
              <a:t>分析以上代码可以发现，由于链式存储采用的是动态存储分配空间，所以在进行插入操作之前不需要判断存储空间是否已满。</a:t>
            </a:r>
            <a:endParaRPr lang="zh-CN" altLang="zh-CN" dirty="0"/>
          </a:p>
          <a:p>
            <a:r>
              <a:rPr lang="zh-CN" altLang="zh-CN" dirty="0"/>
              <a:t>在带头结点的单链表上进行插入操作时，无论插入位置是表头、表尾还是表中，操作语句都是一致的； 但是在不带头结点的单链表上进行插入操作时，在表头插入和在其他位置插入新结点的语句是不同的，需要分两种情况进行处理。</a:t>
            </a:r>
            <a:endParaRPr lang="zh-CN" altLang="zh-CN" dirty="0"/>
          </a:p>
          <a:p>
            <a:pPr marL="0" indent="0">
              <a:buNone/>
            </a:pP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en-US" altLang="zh-CN" dirty="0"/>
              <a:t>3. </a:t>
            </a:r>
            <a:r>
              <a:rPr lang="zh-CN" altLang="zh-CN" dirty="0"/>
              <a:t>删除操作</a:t>
            </a:r>
            <a:endParaRPr lang="zh-CN" altLang="zh-CN" dirty="0"/>
          </a:p>
          <a:p>
            <a:r>
              <a:rPr lang="zh-CN" altLang="zh-CN" dirty="0"/>
              <a:t>删除操作</a:t>
            </a:r>
            <a:r>
              <a:rPr lang="en-US" altLang="zh-CN" dirty="0"/>
              <a:t>remove(</a:t>
            </a:r>
            <a:r>
              <a:rPr lang="en-US" altLang="zh-CN" dirty="0" err="1"/>
              <a:t>i,x</a:t>
            </a:r>
            <a:r>
              <a:rPr lang="en-US" altLang="zh-CN" dirty="0"/>
              <a:t>)</a:t>
            </a:r>
            <a:r>
              <a:rPr lang="zh-CN" altLang="zh-CN" dirty="0"/>
              <a:t>是将长度为</a:t>
            </a:r>
            <a:r>
              <a:rPr lang="en-US" altLang="zh-CN" dirty="0"/>
              <a:t>n</a:t>
            </a:r>
            <a:r>
              <a:rPr lang="zh-CN" altLang="zh-CN" dirty="0"/>
              <a:t>的单链表的第</a:t>
            </a:r>
            <a:r>
              <a:rPr lang="en-US" altLang="zh-CN" dirty="0" err="1"/>
              <a:t>i</a:t>
            </a:r>
            <a:r>
              <a:rPr lang="zh-CN" altLang="zh-CN" dirty="0"/>
              <a:t>个结点删除，其中</a:t>
            </a:r>
            <a:r>
              <a:rPr lang="en-US" altLang="zh-CN" dirty="0"/>
              <a:t>0≤i≤n-1</a:t>
            </a:r>
            <a:r>
              <a:rPr lang="zh-CN" altLang="zh-CN" dirty="0"/>
              <a:t>。</a:t>
            </a:r>
            <a:endParaRPr lang="zh-CN" altLang="zh-CN" dirty="0"/>
          </a:p>
          <a:p>
            <a:r>
              <a:rPr lang="zh-CN" altLang="zh-CN" dirty="0"/>
              <a:t>与顺序表相比，单链表不需要移动一批数据元素，而只需要改变结点的指针域，实现有序对的改变，即可删除结点，即</a:t>
            </a:r>
            <a:r>
              <a:rPr lang="en-US" altLang="zh-CN" dirty="0"/>
              <a:t>&lt;a</a:t>
            </a:r>
            <a:r>
              <a:rPr lang="en-US" altLang="zh-CN" baseline="-25000" dirty="0"/>
              <a:t>i-1</a:t>
            </a:r>
            <a:r>
              <a:rPr lang="en-US" altLang="zh-CN" dirty="0"/>
              <a:t>,a</a:t>
            </a:r>
            <a:r>
              <a:rPr lang="en-US" altLang="zh-CN" baseline="-25000" dirty="0"/>
              <a:t>i</a:t>
            </a:r>
            <a:r>
              <a:rPr lang="en-US" altLang="zh-CN" dirty="0"/>
              <a:t>&gt;</a:t>
            </a:r>
            <a:r>
              <a:rPr lang="zh-CN" altLang="zh-CN" dirty="0"/>
              <a:t>和</a:t>
            </a:r>
            <a:r>
              <a:rPr lang="en-US" altLang="zh-CN" dirty="0"/>
              <a:t>&lt;a</a:t>
            </a:r>
            <a:r>
              <a:rPr lang="en-US" altLang="zh-CN" baseline="-25000" dirty="0"/>
              <a:t>i</a:t>
            </a:r>
            <a:r>
              <a:rPr lang="en-US" altLang="zh-CN" dirty="0"/>
              <a:t>,a</a:t>
            </a:r>
            <a:r>
              <a:rPr lang="en-US" altLang="zh-CN" baseline="-25000" dirty="0"/>
              <a:t>i+1</a:t>
            </a:r>
            <a:r>
              <a:rPr lang="en-US" altLang="zh-CN" dirty="0"/>
              <a:t>&gt;</a:t>
            </a:r>
            <a:r>
              <a:rPr lang="zh-CN" altLang="zh-CN" dirty="0"/>
              <a:t>转变为</a:t>
            </a:r>
            <a:r>
              <a:rPr lang="en-US" altLang="zh-CN" dirty="0"/>
              <a:t>&lt;a</a:t>
            </a:r>
            <a:r>
              <a:rPr lang="en-US" altLang="zh-CN" baseline="-25000" dirty="0"/>
              <a:t>i-1</a:t>
            </a:r>
            <a:r>
              <a:rPr lang="en-US" altLang="zh-CN" dirty="0"/>
              <a:t>,a</a:t>
            </a:r>
            <a:r>
              <a:rPr lang="en-US" altLang="zh-CN" baseline="-25000" dirty="0"/>
              <a:t>i+1</a:t>
            </a:r>
            <a:r>
              <a:rPr lang="en-US" altLang="zh-CN" dirty="0"/>
              <a:t>&gt;</a:t>
            </a:r>
            <a:r>
              <a:rPr lang="zh-CN" altLang="zh-CN" dirty="0"/>
              <a:t>，如图</a:t>
            </a:r>
            <a:r>
              <a:rPr lang="en-US" altLang="zh-CN" dirty="0"/>
              <a:t>2.8</a:t>
            </a:r>
            <a:r>
              <a:rPr lang="zh-CN" altLang="zh-CN" dirty="0"/>
              <a:t>所示。</a:t>
            </a:r>
            <a:endParaRPr lang="zh-CN" altLang="zh-CN" dirty="0"/>
          </a:p>
          <a:p>
            <a:pPr marL="0" indent="0">
              <a:buNone/>
            </a:pPr>
            <a:endParaRPr lang="zh-CN" altLang="en-US" dirty="0"/>
          </a:p>
        </p:txBody>
      </p:sp>
      <p:sp>
        <p:nvSpPr>
          <p:cNvPr id="6" name="矩形 5"/>
          <p:cNvSpPr/>
          <p:nvPr/>
        </p:nvSpPr>
        <p:spPr>
          <a:xfrm>
            <a:off x="4588738" y="6123543"/>
            <a:ext cx="2550698" cy="369332"/>
          </a:xfrm>
          <a:prstGeom prst="rect">
            <a:avLst/>
          </a:prstGeom>
        </p:spPr>
        <p:txBody>
          <a:bodyPr wrap="none">
            <a:spAutoFit/>
          </a:bodyPr>
          <a:lstStyle/>
          <a:p>
            <a:pPr algn="ctr">
              <a:spcAft>
                <a:spcPts val="0"/>
              </a:spcAft>
            </a:pPr>
            <a:r>
              <a:rPr lang="zh-CN" altLang="zh-CN" kern="100" dirty="0">
                <a:solidFill>
                  <a:srgbClr val="656565"/>
                </a:solidFill>
                <a:latin typeface="Times New Roman" panose="02020603050405020304" pitchFamily="18" charset="0"/>
                <a:cs typeface="Times New Roman" panose="02020603050405020304" pitchFamily="18" charset="0"/>
              </a:rPr>
              <a:t>图</a:t>
            </a:r>
            <a:r>
              <a:rPr lang="en-US" altLang="zh-CN" kern="100" dirty="0">
                <a:solidFill>
                  <a:srgbClr val="656565"/>
                </a:solidFill>
                <a:latin typeface="Times New Roman" panose="02020603050405020304" pitchFamily="18" charset="0"/>
                <a:cs typeface="Times New Roman" panose="02020603050405020304" pitchFamily="18" charset="0"/>
              </a:rPr>
              <a:t>2.8</a:t>
            </a:r>
            <a:r>
              <a:rPr lang="zh-CN" altLang="zh-CN" kern="100" dirty="0">
                <a:solidFill>
                  <a:srgbClr val="656565"/>
                </a:solidFill>
                <a:latin typeface="Times New Roman" panose="02020603050405020304" pitchFamily="18" charset="0"/>
                <a:cs typeface="Times New Roman" panose="02020603050405020304" pitchFamily="18" charset="0"/>
              </a:rPr>
              <a:t>单链表的删除操作</a:t>
            </a:r>
            <a:endParaRPr lang="zh-CN" altLang="zh-CN" dirty="0">
              <a:solidFill>
                <a:srgbClr val="656565"/>
              </a:solidFill>
              <a:latin typeface="Times New Roman" panose="02020603050405020304" pitchFamily="18" charset="0"/>
              <a:ea typeface="宋体" panose="02010600030101010101" pitchFamily="2" charset="-122"/>
              <a:cs typeface="宋体" panose="0201060003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3547562" y="4481830"/>
            <a:ext cx="4633051" cy="158455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线性表</a:t>
            </a:r>
            <a:r>
              <a:rPr lang="zh-CN" altLang="en-US" dirty="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zh-CN" altLang="zh-CN" dirty="0"/>
              <a:t>其主要步骤如下。 </a:t>
            </a:r>
            <a:endParaRPr lang="zh-CN" altLang="zh-CN" dirty="0"/>
          </a:p>
          <a:p>
            <a:pPr marL="0" indent="0">
              <a:buNone/>
            </a:pPr>
            <a:r>
              <a:rPr lang="en-US" altLang="zh-CN" dirty="0"/>
              <a:t>   (1) </a:t>
            </a:r>
            <a:r>
              <a:rPr lang="zh-CN" altLang="zh-CN" dirty="0"/>
              <a:t>判断单链表是否为空。</a:t>
            </a:r>
            <a:endParaRPr lang="zh-CN" altLang="zh-CN" dirty="0"/>
          </a:p>
          <a:p>
            <a:pPr marL="0" indent="0">
              <a:buNone/>
            </a:pPr>
            <a:r>
              <a:rPr lang="en-US" altLang="zh-CN" dirty="0"/>
              <a:t>   (2) </a:t>
            </a:r>
            <a:r>
              <a:rPr lang="zh-CN" altLang="zh-CN" dirty="0"/>
              <a:t>查找待删除结点的前驱结点。</a:t>
            </a:r>
            <a:endParaRPr lang="zh-CN" altLang="zh-CN" dirty="0"/>
          </a:p>
          <a:p>
            <a:pPr marL="0" indent="0">
              <a:buNone/>
            </a:pPr>
            <a:r>
              <a:rPr lang="en-US" altLang="zh-CN" dirty="0"/>
              <a:t>   (3) </a:t>
            </a:r>
            <a:r>
              <a:rPr lang="zh-CN" altLang="zh-CN" dirty="0"/>
              <a:t>修改前驱结点的指针域为待删除结点的指针域。</a:t>
            </a:r>
            <a:endParaRPr lang="zh-CN" altLang="zh-CN" dirty="0"/>
          </a:p>
          <a:p>
            <a:pPr marL="0" indent="0">
              <a:buNone/>
            </a:pP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线性表的顺序存储</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zh-CN" altLang="zh-CN" dirty="0"/>
              <a:t>【算法</a:t>
            </a:r>
            <a:r>
              <a:rPr lang="en-US" altLang="zh-CN" dirty="0"/>
              <a:t>2.8</a:t>
            </a:r>
            <a:r>
              <a:rPr lang="zh-CN" altLang="zh-CN" dirty="0"/>
              <a:t>】删除操作。</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4351431" y="1437808"/>
            <a:ext cx="6148724" cy="52394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a:t>线性表</a:t>
            </a:r>
            <a:r>
              <a:rPr lang="zh-CN" altLang="en-US" dirty="0" smtClean="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en-US" altLang="zh-CN" dirty="0"/>
              <a:t>4. </a:t>
            </a:r>
            <a:r>
              <a:rPr lang="zh-CN" altLang="zh-CN" dirty="0"/>
              <a:t>单链表的建立操作</a:t>
            </a:r>
            <a:endParaRPr lang="zh-CN" altLang="zh-CN" dirty="0"/>
          </a:p>
          <a:p>
            <a:pPr marL="0" indent="0">
              <a:buNone/>
            </a:pPr>
            <a:r>
              <a:rPr lang="en-US" altLang="zh-CN" dirty="0"/>
              <a:t>  1) </a:t>
            </a:r>
            <a:r>
              <a:rPr lang="zh-CN" altLang="zh-CN" dirty="0"/>
              <a:t>头插法</a:t>
            </a:r>
            <a:endParaRPr lang="zh-CN" altLang="zh-CN" dirty="0"/>
          </a:p>
          <a:p>
            <a:pPr marL="0" indent="0">
              <a:buNone/>
            </a:pPr>
            <a:r>
              <a:rPr lang="en-US" altLang="zh-CN" dirty="0"/>
              <a:t>  </a:t>
            </a:r>
            <a:r>
              <a:rPr lang="zh-CN" altLang="zh-CN" dirty="0"/>
              <a:t>将新结点插入到单链表的表头，读入的数据顺序与结点顺序相反。</a:t>
            </a:r>
            <a:endParaRPr lang="zh-CN" altLang="zh-CN" dirty="0"/>
          </a:p>
          <a:p>
            <a:pPr marL="0" indent="0">
              <a:buNone/>
            </a:pPr>
            <a:r>
              <a:rPr lang="zh-CN" altLang="zh-CN" dirty="0"/>
              <a:t>【算法</a:t>
            </a:r>
            <a:r>
              <a:rPr lang="en-US" altLang="zh-CN" dirty="0"/>
              <a:t>2.9</a:t>
            </a:r>
            <a:r>
              <a:rPr lang="zh-CN" altLang="zh-CN" dirty="0"/>
              <a:t>】头插法。</a:t>
            </a:r>
            <a:endParaRPr lang="zh-CN" altLang="zh-CN" dirty="0"/>
          </a:p>
          <a:p>
            <a:pPr marL="0" indent="0">
              <a:buNone/>
            </a:pP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a:t>线性表</a:t>
            </a:r>
            <a:r>
              <a:rPr lang="zh-CN" altLang="en-US" dirty="0" smtClean="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en-US" altLang="zh-CN" dirty="0"/>
              <a:t>2) </a:t>
            </a:r>
            <a:r>
              <a:rPr lang="zh-CN" altLang="zh-CN" dirty="0"/>
              <a:t>尾插法</a:t>
            </a:r>
            <a:endParaRPr lang="zh-CN" altLang="zh-CN" dirty="0"/>
          </a:p>
          <a:p>
            <a:pPr marL="0" indent="0">
              <a:buNone/>
            </a:pPr>
            <a:r>
              <a:rPr lang="en-US" altLang="zh-CN" dirty="0"/>
              <a:t>  </a:t>
            </a:r>
            <a:r>
              <a:rPr lang="zh-CN" altLang="zh-CN" dirty="0"/>
              <a:t>将新结点插入到单链表的表尾，读入的数据顺序与结点顺序相同。</a:t>
            </a:r>
            <a:endParaRPr lang="zh-CN" altLang="zh-CN" dirty="0"/>
          </a:p>
          <a:p>
            <a:pPr marL="0" indent="0">
              <a:buNone/>
            </a:pPr>
            <a:r>
              <a:rPr lang="zh-CN" altLang="zh-CN" dirty="0"/>
              <a:t>【算法</a:t>
            </a:r>
            <a:r>
              <a:rPr lang="en-US" altLang="zh-CN" dirty="0"/>
              <a:t>2.10</a:t>
            </a:r>
            <a:r>
              <a:rPr lang="zh-CN" altLang="zh-CN" dirty="0"/>
              <a:t>】尾插法。</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2846949" y="3429000"/>
            <a:ext cx="4816257" cy="1280271"/>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a:t>线性表</a:t>
            </a:r>
            <a:r>
              <a:rPr lang="zh-CN" altLang="en-US" dirty="0" smtClean="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zh-CN" altLang="zh-CN" dirty="0"/>
              <a:t>【例</a:t>
            </a:r>
            <a:r>
              <a:rPr lang="en-US" altLang="zh-CN" dirty="0"/>
              <a:t>2.5</a:t>
            </a:r>
            <a:r>
              <a:rPr lang="zh-CN" altLang="zh-CN" dirty="0"/>
              <a:t>】编程实现将列表中的元素构建成一个有序的单链表。</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3033704" y="2571330"/>
            <a:ext cx="5600907" cy="26387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a:t>线性表</a:t>
            </a:r>
            <a:r>
              <a:rPr lang="zh-CN" altLang="en-US" dirty="0" smtClean="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en-US" altLang="zh-CN" b="1" dirty="0"/>
              <a:t>2.3.3 </a:t>
            </a:r>
            <a:r>
              <a:rPr lang="zh-CN" altLang="zh-CN" b="1" dirty="0"/>
              <a:t>其他链表</a:t>
            </a:r>
            <a:endParaRPr lang="zh-CN" altLang="zh-CN" dirty="0"/>
          </a:p>
          <a:p>
            <a:pPr marL="0" indent="0">
              <a:buNone/>
            </a:pPr>
            <a:r>
              <a:rPr lang="en-US" altLang="zh-CN" dirty="0"/>
              <a:t>1. </a:t>
            </a:r>
            <a:r>
              <a:rPr lang="zh-CN" altLang="zh-CN" dirty="0"/>
              <a:t>循环链表</a:t>
            </a:r>
            <a:endParaRPr lang="zh-CN" altLang="zh-CN" dirty="0"/>
          </a:p>
          <a:p>
            <a:pPr marL="0" indent="0">
              <a:buNone/>
            </a:pPr>
            <a:r>
              <a:rPr lang="zh-CN" altLang="zh-CN" dirty="0"/>
              <a:t>循环链表与单链表的结构相似，只是将链表的首尾相连，即尾结点的指针域为指向头结点的指针，从而形成了一个环状的链表。</a:t>
            </a:r>
            <a:endParaRPr lang="zh-CN" altLang="zh-CN" dirty="0"/>
          </a:p>
          <a:p>
            <a:pPr marL="0" indent="0">
              <a:buNone/>
            </a:pPr>
            <a:r>
              <a:rPr lang="zh-CN" altLang="zh-CN" dirty="0"/>
              <a:t>循环链表与单链表的操作算法基本一致，判定循环链表中的某个结点是否为尾结点的条件不是它的后继结点为空，而是它的后继结点是否为头结点。</a:t>
            </a:r>
            <a:endParaRPr lang="zh-CN" altLang="zh-CN" dirty="0"/>
          </a:p>
          <a:p>
            <a:pPr marL="0" indent="0">
              <a:buNone/>
            </a:pPr>
            <a:r>
              <a:rPr lang="zh-CN" altLang="zh-CN" dirty="0"/>
              <a:t>在实现循环链表时可用头指针或尾指针或二者同时使用来标识循环链表，通常使用尾指针来进行标识，可简化某些操作。</a:t>
            </a:r>
            <a:endParaRPr lang="zh-CN" altLang="zh-CN" dirty="0"/>
          </a:p>
          <a:p>
            <a:pPr marL="0" indent="0">
              <a:buNone/>
            </a:pP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a:t>线性表</a:t>
            </a:r>
            <a:r>
              <a:rPr lang="zh-CN" altLang="en-US" dirty="0" smtClean="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en-US" altLang="zh-CN" dirty="0"/>
              <a:t>2. </a:t>
            </a:r>
            <a:r>
              <a:rPr lang="zh-CN" altLang="zh-CN" dirty="0"/>
              <a:t>双向链表</a:t>
            </a:r>
            <a:endParaRPr lang="zh-CN" altLang="zh-CN" dirty="0"/>
          </a:p>
          <a:p>
            <a:pPr marL="0" indent="0">
              <a:buNone/>
            </a:pPr>
            <a:r>
              <a:rPr lang="zh-CN" altLang="zh-CN" dirty="0"/>
              <a:t>双向链表的结点具有两个指针域，一个指针指向前驱结点，一个指针指向后继结点。使得查找某个结点的前驱结点不需要从表头开始顺着链表依次进行查找，减小时间复杂度。</a:t>
            </a:r>
            <a:endParaRPr lang="zh-CN" altLang="zh-CN" dirty="0"/>
          </a:p>
          <a:p>
            <a:pPr marL="514350" indent="-514350">
              <a:buAutoNum type="arabicParenR"/>
            </a:pPr>
            <a:r>
              <a:rPr lang="zh-CN" altLang="zh-CN" dirty="0"/>
              <a:t>结点类描述</a:t>
            </a:r>
            <a:endParaRPr lang="en-US" altLang="zh-CN" dirty="0"/>
          </a:p>
          <a:p>
            <a:pPr marL="0" indent="0">
              <a:buNone/>
            </a:pP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1988023" y="4040780"/>
            <a:ext cx="5799323" cy="204995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a:t>线性表</a:t>
            </a:r>
            <a:r>
              <a:rPr lang="zh-CN" altLang="en-US" dirty="0" smtClean="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3125548"/>
          </a:xfrm>
        </p:spPr>
        <p:txBody>
          <a:bodyPr>
            <a:normAutofit/>
          </a:bodyPr>
          <a:lstStyle/>
          <a:p>
            <a:r>
              <a:rPr lang="en-US" altLang="zh-CN" dirty="0"/>
              <a:t>2) </a:t>
            </a:r>
            <a:r>
              <a:rPr lang="zh-CN" altLang="zh-CN" dirty="0"/>
              <a:t>双向链表的基本操作实现</a:t>
            </a:r>
            <a:endParaRPr lang="zh-CN" altLang="zh-CN" dirty="0"/>
          </a:p>
          <a:p>
            <a:pPr marL="0" indent="0">
              <a:buNone/>
            </a:pPr>
            <a:r>
              <a:rPr lang="zh-CN" altLang="zh-CN" dirty="0"/>
              <a:t>其与单链表的不同之处主要在于进行插入和删除操作时每个结点需要修改两个指针域。</a:t>
            </a:r>
            <a:endParaRPr lang="zh-CN" altLang="zh-CN" dirty="0"/>
          </a:p>
          <a:p>
            <a:pPr marL="0" indent="0">
              <a:buNone/>
            </a:pPr>
            <a:r>
              <a:rPr lang="zh-CN" altLang="zh-CN" dirty="0"/>
              <a:t>【算法</a:t>
            </a:r>
            <a:r>
              <a:rPr lang="en-US" altLang="zh-CN" dirty="0"/>
              <a:t>2.11</a:t>
            </a:r>
            <a:r>
              <a:rPr lang="zh-CN" altLang="zh-CN" dirty="0"/>
              <a:t>】插入操作。</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4890421" y="2775269"/>
            <a:ext cx="5880892" cy="40827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a:t>线性表</a:t>
            </a:r>
            <a:r>
              <a:rPr lang="zh-CN" altLang="en-US" dirty="0" smtClean="0"/>
              <a:t>的链式存储和实现</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pPr marL="0" indent="0">
              <a:buNone/>
            </a:pPr>
            <a:r>
              <a:rPr lang="zh-CN" altLang="zh-CN" dirty="0"/>
              <a:t>【算法</a:t>
            </a:r>
            <a:r>
              <a:rPr lang="en-US" altLang="zh-CN" dirty="0"/>
              <a:t>2.12</a:t>
            </a:r>
            <a:r>
              <a:rPr lang="zh-CN" altLang="zh-CN" dirty="0"/>
              <a:t>】删除操作。</a:t>
            </a:r>
            <a:endParaRPr lang="zh-CN" altLang="zh-CN" dirty="0"/>
          </a:p>
          <a:p>
            <a:pPr marL="0" indent="0">
              <a:buNone/>
            </a:pPr>
            <a:endParaRPr lang="zh-CN" altLang="en-US" dirty="0"/>
          </a:p>
        </p:txBody>
      </p:sp>
      <p:pic>
        <p:nvPicPr>
          <p:cNvPr id="6" name="图片 5"/>
          <p:cNvPicPr>
            <a:picLocks noChangeAspect="1"/>
          </p:cNvPicPr>
          <p:nvPr/>
        </p:nvPicPr>
        <p:blipFill>
          <a:blip r:embed="rId1"/>
          <a:stretch>
            <a:fillRect/>
          </a:stretch>
        </p:blipFill>
        <p:spPr>
          <a:xfrm>
            <a:off x="2489346" y="2234858"/>
            <a:ext cx="5539287" cy="462314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2.4 </a:t>
            </a:r>
            <a:r>
              <a:rPr lang="zh-CN" altLang="en-US" dirty="0" smtClean="0"/>
              <a:t>线性表</a:t>
            </a:r>
            <a:r>
              <a:rPr lang="zh-CN" altLang="en-US" dirty="0"/>
              <a:t>与</a:t>
            </a:r>
            <a:r>
              <a:rPr lang="zh-CN" altLang="en-US" dirty="0" smtClean="0"/>
              <a:t>链表的比较</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715044"/>
            <a:ext cx="10515600" cy="4351338"/>
          </a:xfrm>
        </p:spPr>
        <p:txBody>
          <a:bodyPr>
            <a:normAutofit/>
          </a:bodyPr>
          <a:lstStyle/>
          <a:p>
            <a:r>
              <a:rPr lang="zh-CN" altLang="zh-CN" dirty="0"/>
              <a:t>顺序表与链表的比较如表</a:t>
            </a:r>
            <a:r>
              <a:rPr lang="en-US" altLang="zh-CN" dirty="0"/>
              <a:t>2.2</a:t>
            </a:r>
            <a:r>
              <a:rPr lang="zh-CN" altLang="zh-CN" dirty="0"/>
              <a:t>所示。</a:t>
            </a:r>
            <a:endParaRPr lang="zh-CN" altLang="zh-CN" dirty="0"/>
          </a:p>
          <a:p>
            <a:pPr marL="0" indent="0" algn="ctr">
              <a:buNone/>
            </a:pPr>
            <a:r>
              <a:rPr lang="zh-CN" altLang="zh-CN" sz="1800" dirty="0"/>
              <a:t>表</a:t>
            </a:r>
            <a:r>
              <a:rPr lang="en-US" altLang="zh-CN" sz="1800" dirty="0"/>
              <a:t>2.2</a:t>
            </a:r>
            <a:r>
              <a:rPr lang="zh-CN" altLang="zh-CN" sz="1800" dirty="0"/>
              <a:t>顺序表与链表的比较</a:t>
            </a:r>
            <a:endParaRPr lang="zh-CN" altLang="zh-CN" sz="1800" dirty="0"/>
          </a:p>
          <a:p>
            <a:pPr marL="0" indent="0">
              <a:buNone/>
            </a:pPr>
            <a:endParaRPr lang="zh-CN" altLang="en-US" dirty="0"/>
          </a:p>
        </p:txBody>
      </p:sp>
      <p:graphicFrame>
        <p:nvGraphicFramePr>
          <p:cNvPr id="6" name="表格 5"/>
          <p:cNvGraphicFramePr>
            <a:graphicFrameLocks noGrp="1"/>
          </p:cNvGraphicFramePr>
          <p:nvPr/>
        </p:nvGraphicFramePr>
        <p:xfrm>
          <a:off x="1160576" y="2873829"/>
          <a:ext cx="9339579" cy="3069772"/>
        </p:xfrm>
        <a:graphic>
          <a:graphicData uri="http://schemas.openxmlformats.org/drawingml/2006/table">
            <a:tbl>
              <a:tblPr firstRow="1" firstCol="1" bandRow="1">
                <a:tableStyleId>{5C22544A-7EE6-4342-B048-85BDC9FD1C3A}</a:tableStyleId>
              </a:tblPr>
              <a:tblGrid>
                <a:gridCol w="792559"/>
                <a:gridCol w="4788937"/>
                <a:gridCol w="3758083"/>
              </a:tblGrid>
              <a:tr h="391827">
                <a:tc>
                  <a:txBody>
                    <a:bodyPr/>
                    <a:lstStyle/>
                    <a:p>
                      <a:pPr algn="ctr">
                        <a:spcAft>
                          <a:spcPts val="0"/>
                        </a:spcAft>
                      </a:pPr>
                      <a:r>
                        <a:rPr lang="en-US" sz="2400" kern="100" dirty="0">
                          <a:effectLst/>
                        </a:rPr>
                        <a:t> </a:t>
                      </a:r>
                      <a:endParaRPr lang="zh-CN" sz="2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zh-CN" sz="2400" kern="100" dirty="0">
                          <a:effectLst/>
                        </a:rPr>
                        <a:t>顺序表</a:t>
                      </a:r>
                      <a:endParaRPr lang="zh-CN" sz="2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spcAft>
                          <a:spcPts val="0"/>
                        </a:spcAft>
                      </a:pPr>
                      <a:r>
                        <a:rPr lang="zh-CN" sz="2400" kern="100">
                          <a:effectLst/>
                        </a:rPr>
                        <a:t>链表</a:t>
                      </a:r>
                      <a:endParaRPr lang="zh-CN" sz="2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r>
              <a:tr h="1404316">
                <a:tc>
                  <a:txBody>
                    <a:bodyPr/>
                    <a:lstStyle/>
                    <a:p>
                      <a:pPr algn="ctr">
                        <a:spcAft>
                          <a:spcPts val="0"/>
                        </a:spcAft>
                      </a:pPr>
                      <a:r>
                        <a:rPr lang="zh-CN" sz="2400" kern="100">
                          <a:effectLst/>
                        </a:rPr>
                        <a:t>优点</a:t>
                      </a:r>
                      <a:endParaRPr lang="zh-CN" sz="2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l">
                        <a:spcAft>
                          <a:spcPts val="0"/>
                        </a:spcAft>
                      </a:pPr>
                      <a:r>
                        <a:rPr lang="zh-CN" sz="2400" kern="100" dirty="0">
                          <a:effectLst/>
                        </a:rPr>
                        <a:t>（</a:t>
                      </a:r>
                      <a:r>
                        <a:rPr lang="en-US" sz="2400" kern="100" dirty="0">
                          <a:effectLst/>
                        </a:rPr>
                        <a:t>1</a:t>
                      </a:r>
                      <a:r>
                        <a:rPr lang="zh-CN" sz="2400" kern="100" dirty="0">
                          <a:effectLst/>
                        </a:rPr>
                        <a:t>） 可进行高效随机存取；</a:t>
                      </a:r>
                      <a:endParaRPr lang="zh-CN" sz="2400" kern="100" dirty="0">
                        <a:effectLst/>
                      </a:endParaRPr>
                    </a:p>
                    <a:p>
                      <a:pPr algn="l">
                        <a:spcAft>
                          <a:spcPts val="0"/>
                        </a:spcAft>
                      </a:pPr>
                      <a:r>
                        <a:rPr lang="zh-CN" sz="2400" kern="100" dirty="0">
                          <a:effectLst/>
                        </a:rPr>
                        <a:t>（</a:t>
                      </a:r>
                      <a:r>
                        <a:rPr lang="en-US" sz="2400" kern="100" dirty="0">
                          <a:effectLst/>
                        </a:rPr>
                        <a:t>2</a:t>
                      </a:r>
                      <a:r>
                        <a:rPr lang="zh-CN" sz="2400" kern="100" dirty="0">
                          <a:effectLst/>
                        </a:rPr>
                        <a:t>） 存储密度高，空间开销小；</a:t>
                      </a:r>
                      <a:endParaRPr lang="zh-CN" sz="2400" kern="100" dirty="0">
                        <a:effectLst/>
                      </a:endParaRPr>
                    </a:p>
                    <a:p>
                      <a:pPr algn="l">
                        <a:spcAft>
                          <a:spcPts val="0"/>
                        </a:spcAft>
                      </a:pPr>
                      <a:r>
                        <a:rPr lang="zh-CN" sz="2400" kern="100" dirty="0">
                          <a:effectLst/>
                        </a:rPr>
                        <a:t>（</a:t>
                      </a:r>
                      <a:r>
                        <a:rPr lang="en-US" sz="2400" kern="100" dirty="0">
                          <a:effectLst/>
                        </a:rPr>
                        <a:t>3</a:t>
                      </a:r>
                      <a:r>
                        <a:rPr lang="zh-CN" sz="2400" kern="100" dirty="0">
                          <a:effectLst/>
                        </a:rPr>
                        <a:t>） 实现简单，便于使用</a:t>
                      </a:r>
                      <a:endParaRPr lang="zh-CN" sz="2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l">
                        <a:spcAft>
                          <a:spcPts val="0"/>
                        </a:spcAft>
                      </a:pPr>
                      <a:r>
                        <a:rPr lang="zh-CN" sz="2400" kern="100">
                          <a:effectLst/>
                        </a:rPr>
                        <a:t>（</a:t>
                      </a:r>
                      <a:r>
                        <a:rPr lang="en-US" sz="2400" kern="100">
                          <a:effectLst/>
                        </a:rPr>
                        <a:t>1</a:t>
                      </a:r>
                      <a:r>
                        <a:rPr lang="zh-CN" sz="2400" kern="100">
                          <a:effectLst/>
                        </a:rPr>
                        <a:t>） 灵活，可进行存储空间的动态分配； </a:t>
                      </a:r>
                      <a:endParaRPr lang="zh-CN" sz="2400" kern="100">
                        <a:effectLst/>
                      </a:endParaRPr>
                    </a:p>
                    <a:p>
                      <a:pPr algn="l">
                        <a:spcAft>
                          <a:spcPts val="0"/>
                        </a:spcAft>
                      </a:pPr>
                      <a:r>
                        <a:rPr lang="zh-CN" sz="2400" kern="100">
                          <a:effectLst/>
                        </a:rPr>
                        <a:t>（</a:t>
                      </a:r>
                      <a:r>
                        <a:rPr lang="en-US" sz="2400" kern="100">
                          <a:effectLst/>
                        </a:rPr>
                        <a:t>2</a:t>
                      </a:r>
                      <a:r>
                        <a:rPr lang="zh-CN" sz="2400" kern="100">
                          <a:effectLst/>
                        </a:rPr>
                        <a:t>） 插入、删除效率高</a:t>
                      </a:r>
                      <a:endParaRPr lang="zh-CN" sz="2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r>
              <a:tr h="1273629">
                <a:tc>
                  <a:txBody>
                    <a:bodyPr/>
                    <a:lstStyle/>
                    <a:p>
                      <a:pPr algn="ctr">
                        <a:spcAft>
                          <a:spcPts val="0"/>
                        </a:spcAft>
                      </a:pPr>
                      <a:r>
                        <a:rPr lang="zh-CN" sz="2400" kern="100">
                          <a:effectLst/>
                        </a:rPr>
                        <a:t>缺点</a:t>
                      </a:r>
                      <a:endParaRPr lang="zh-CN" sz="2400" kern="10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l">
                        <a:spcAft>
                          <a:spcPts val="0"/>
                        </a:spcAft>
                      </a:pPr>
                      <a:r>
                        <a:rPr lang="zh-CN" sz="2400" kern="100" dirty="0">
                          <a:effectLst/>
                        </a:rPr>
                        <a:t>（</a:t>
                      </a:r>
                      <a:r>
                        <a:rPr lang="en-US" sz="2400" kern="100" dirty="0">
                          <a:effectLst/>
                        </a:rPr>
                        <a:t>1</a:t>
                      </a:r>
                      <a:r>
                        <a:rPr lang="zh-CN" sz="2400" kern="100" dirty="0">
                          <a:effectLst/>
                        </a:rPr>
                        <a:t>） 需要预先分配存储空间； </a:t>
                      </a:r>
                      <a:endParaRPr lang="zh-CN" sz="2400" kern="100" dirty="0">
                        <a:effectLst/>
                      </a:endParaRPr>
                    </a:p>
                    <a:p>
                      <a:pPr algn="l">
                        <a:spcAft>
                          <a:spcPts val="0"/>
                        </a:spcAft>
                      </a:pPr>
                      <a:r>
                        <a:rPr lang="zh-CN" sz="2400" kern="100" dirty="0">
                          <a:effectLst/>
                        </a:rPr>
                        <a:t>（</a:t>
                      </a:r>
                      <a:r>
                        <a:rPr lang="en-US" sz="2400" kern="100" dirty="0">
                          <a:effectLst/>
                        </a:rPr>
                        <a:t>2</a:t>
                      </a:r>
                      <a:r>
                        <a:rPr lang="zh-CN" sz="2400" kern="100" dirty="0">
                          <a:effectLst/>
                        </a:rPr>
                        <a:t>） 不便于进行插入和删除操作</a:t>
                      </a:r>
                      <a:endParaRPr lang="zh-CN" sz="2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l">
                        <a:spcAft>
                          <a:spcPts val="0"/>
                        </a:spcAft>
                      </a:pPr>
                      <a:r>
                        <a:rPr lang="zh-CN" sz="2400" kern="100" dirty="0">
                          <a:effectLst/>
                        </a:rPr>
                        <a:t>（</a:t>
                      </a:r>
                      <a:r>
                        <a:rPr lang="en-US" sz="2400" kern="100" dirty="0">
                          <a:effectLst/>
                        </a:rPr>
                        <a:t>1</a:t>
                      </a:r>
                      <a:r>
                        <a:rPr lang="zh-CN" sz="2400" kern="100" dirty="0">
                          <a:effectLst/>
                        </a:rPr>
                        <a:t>） 存储密度低； </a:t>
                      </a:r>
                      <a:endParaRPr lang="zh-CN" sz="2400" kern="100" dirty="0">
                        <a:effectLst/>
                      </a:endParaRPr>
                    </a:p>
                    <a:p>
                      <a:pPr algn="l">
                        <a:spcAft>
                          <a:spcPts val="0"/>
                        </a:spcAft>
                      </a:pPr>
                      <a:r>
                        <a:rPr lang="zh-CN" sz="2400" kern="100" dirty="0">
                          <a:effectLst/>
                        </a:rPr>
                        <a:t>（</a:t>
                      </a:r>
                      <a:r>
                        <a:rPr lang="en-US" sz="2400" kern="100" dirty="0">
                          <a:effectLst/>
                        </a:rPr>
                        <a:t>2</a:t>
                      </a:r>
                      <a:r>
                        <a:rPr lang="zh-CN" sz="2400" kern="100" dirty="0">
                          <a:effectLst/>
                        </a:rPr>
                        <a:t>） 不可按照位序号随机存取</a:t>
                      </a:r>
                      <a:endParaRPr lang="zh-CN" sz="2400" kern="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小结</a:t>
            </a:r>
            <a:endParaRPr lang="zh-CN" altLang="en-US" dirty="0"/>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内容占位符 5"/>
          <p:cNvSpPr>
            <a:spLocks noGrp="1"/>
          </p:cNvSpPr>
          <p:nvPr>
            <p:ph idx="1"/>
          </p:nvPr>
        </p:nvSpPr>
        <p:spPr>
          <a:xfrm>
            <a:off x="838200" y="1510393"/>
            <a:ext cx="10515600" cy="5070021"/>
          </a:xfrm>
        </p:spPr>
        <p:txBody>
          <a:bodyPr>
            <a:normAutofit fontScale="92500" lnSpcReduction="10000"/>
          </a:bodyPr>
          <a:lstStyle/>
          <a:p>
            <a:r>
              <a:rPr lang="en-US" altLang="zh-CN" dirty="0"/>
              <a:t>(1) </a:t>
            </a:r>
            <a:r>
              <a:rPr lang="zh-CN" altLang="zh-CN" dirty="0"/>
              <a:t>线性表是其组成元素间具有线性关系的一种线性结构，其实现方式主要为基于顺序存储的实现和基于链式存储的实现。</a:t>
            </a:r>
            <a:endParaRPr lang="zh-CN" altLang="zh-CN" dirty="0"/>
          </a:p>
          <a:p>
            <a:r>
              <a:rPr lang="en-US" altLang="zh-CN" dirty="0"/>
              <a:t>(2) </a:t>
            </a:r>
            <a:r>
              <a:rPr lang="zh-CN" altLang="zh-CN" dirty="0"/>
              <a:t>线性表的顺序存储结构称为顺序表，可用数组实现，可对数据元素进行随机存取，时间复杂度为</a:t>
            </a:r>
            <a:r>
              <a:rPr lang="en-US" altLang="zh-CN" dirty="0"/>
              <a:t>O(1)</a:t>
            </a:r>
            <a:r>
              <a:rPr lang="zh-CN" altLang="zh-CN" dirty="0"/>
              <a:t>，在插入或删除数据元素时时间复杂度为</a:t>
            </a:r>
            <a:r>
              <a:rPr lang="en-US" altLang="zh-CN" dirty="0"/>
              <a:t>O(n)</a:t>
            </a:r>
            <a:r>
              <a:rPr lang="zh-CN" altLang="zh-CN" dirty="0"/>
              <a:t>。</a:t>
            </a:r>
            <a:endParaRPr lang="zh-CN" altLang="zh-CN" dirty="0"/>
          </a:p>
          <a:p>
            <a:r>
              <a:rPr lang="en-US" altLang="zh-CN" dirty="0"/>
              <a:t>(3) </a:t>
            </a:r>
            <a:r>
              <a:rPr lang="zh-CN" altLang="zh-CN" dirty="0"/>
              <a:t>线性表的链式存储结构称为链表，不能直接访问给定位置上的数据元素，必须从头结点开始沿着后继结点进行访问，时间复杂度为</a:t>
            </a:r>
            <a:r>
              <a:rPr lang="en-US" altLang="zh-CN" dirty="0"/>
              <a:t>O(n)</a:t>
            </a:r>
            <a:r>
              <a:rPr lang="zh-CN" altLang="zh-CN" dirty="0"/>
              <a:t>。在插入或删除数据元素时不需要移动任何数据元素，只需要更改结点的指针域即可，时间复杂度为</a:t>
            </a:r>
            <a:r>
              <a:rPr lang="en-US" altLang="zh-CN" dirty="0"/>
              <a:t>O(1)</a:t>
            </a:r>
            <a:r>
              <a:rPr lang="zh-CN" altLang="zh-CN" dirty="0"/>
              <a:t>。</a:t>
            </a:r>
            <a:endParaRPr lang="zh-CN" altLang="zh-CN" dirty="0"/>
          </a:p>
          <a:p>
            <a:r>
              <a:rPr lang="en-US" altLang="zh-CN" dirty="0"/>
              <a:t>(4) </a:t>
            </a:r>
            <a:r>
              <a:rPr lang="zh-CN" altLang="zh-CN" dirty="0"/>
              <a:t>循环链表将链表的首尾相连，即尾结点的指针域为指向头结点的指针，从而形成了一个环状的链表。</a:t>
            </a:r>
            <a:endParaRPr lang="zh-CN" altLang="zh-CN" dirty="0"/>
          </a:p>
          <a:p>
            <a:r>
              <a:rPr lang="en-US" altLang="zh-CN" dirty="0"/>
              <a:t>(5) </a:t>
            </a:r>
            <a:r>
              <a:rPr lang="zh-CN" altLang="zh-CN" dirty="0"/>
              <a:t>双向链表的结点具有两个指针域，一个指针指向前驱结点，一个指针指向后继结点，使得查找某个结点的前驱结点不需要从表头开始顺着链表依次进行查找，减小时间复杂度。</a:t>
            </a:r>
            <a:endParaRPr lang="zh-CN" altLang="zh-CN" dirty="0"/>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dirty="0"/>
              <a:t>谢谢观看</a:t>
            </a:r>
            <a:endParaRPr lang="zh-CN" altLang="en-US" dirty="0"/>
          </a:p>
        </p:txBody>
      </p:sp>
    </p:spTree>
  </p:cSld>
  <p:clrMapOvr>
    <a:masterClrMapping/>
  </p:clrMapOvr>
  <p:transition>
    <p:cover dir="d"/>
  </p:transition>
</p:sld>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PPT模板</Template>
  <TotalTime>0</TotalTime>
  <Words>7497</Words>
  <Application>WPS 演示</Application>
  <PresentationFormat>自定义</PresentationFormat>
  <Paragraphs>592</Paragraphs>
  <Slides>64</Slides>
  <Notes>0</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64</vt:i4>
      </vt:variant>
    </vt:vector>
  </HeadingPairs>
  <TitlesOfParts>
    <vt:vector size="78" baseType="lpstr">
      <vt:lpstr>Arial</vt:lpstr>
      <vt:lpstr>宋体</vt:lpstr>
      <vt:lpstr>Wingdings</vt:lpstr>
      <vt:lpstr>Times New Roman</vt:lpstr>
      <vt:lpstr>等线</vt:lpstr>
      <vt:lpstr>黑体</vt:lpstr>
      <vt:lpstr>微软雅黑</vt:lpstr>
      <vt:lpstr>Arial Unicode MS</vt:lpstr>
      <vt:lpstr>Cambria Math</vt:lpstr>
      <vt:lpstr>Cambria Math</vt:lpstr>
      <vt:lpstr>BatangChe</vt:lpstr>
      <vt:lpstr>功能页</vt:lpstr>
      <vt:lpstr>内容样式</vt:lpstr>
      <vt:lpstr>1_功能页</vt:lpstr>
      <vt:lpstr>第2章 线性表 </vt:lpstr>
      <vt:lpstr>目录</vt:lpstr>
      <vt:lpstr>2.1 线性表及其基本操作</vt:lpstr>
      <vt:lpstr>2.1 线性表及其基本操作</vt:lpstr>
      <vt:lpstr>2.1 线性表及其基本操作</vt:lpstr>
      <vt:lpstr>2.1 线性表及其基本操作</vt:lpstr>
      <vt:lpstr>2.1 线性表及其基本操作</vt:lpstr>
      <vt:lpstr>2.1 线性表及其基本操作</vt:lpstr>
      <vt:lpstr>2.1 线性表及其基本操作</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2.2 线性表的顺序存储</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2.2 线性表的顺序存储</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2.3 线性表的链式存储和实现</vt:lpstr>
      <vt:lpstr>2.4 线性表与链表的比较</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线性表</dc:title>
  <dc:creator>Q</dc:creator>
  <cp:lastModifiedBy>邝昊鹏</cp:lastModifiedBy>
  <cp:revision>19</cp:revision>
  <dcterms:created xsi:type="dcterms:W3CDTF">2022-05-24T16:18:00Z</dcterms:created>
  <dcterms:modified xsi:type="dcterms:W3CDTF">2025-09-24T13:11:16Z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F411894833E64AE7B3CCEDA51A8DA687_12</vt:lpwstr>
  </property>
  <property fmtid="{D5CDD505-2E9C-101B-9397-08002B2CF9AE}" pid="3" name="KSOProductBuildVer">
    <vt:lpwstr>2052-12.1.0.22529</vt:lpwstr>
  </property>
</Properties>
</file>