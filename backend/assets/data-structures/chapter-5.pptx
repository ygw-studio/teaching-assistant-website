
<file path=[Content_Types].xml><?xml version="1.0" encoding="utf-8"?>
<Types xmlns="http://schemas.openxmlformats.org/package/2006/content-types">
  <Default Extension="jpeg" ContentType="image/jpeg"/>
  <Default Extension="JPG" ContentType="image/.jpg"/>
  <Default Extension="wdp" ContentType="image/vnd.ms-photo"/>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 id="2147483663" r:id="rId4"/>
  </p:sldMasterIdLst>
  <p:notesMasterIdLst>
    <p:notesMasterId r:id="rId15"/>
  </p:notesMasterIdLst>
  <p:handoutMasterIdLst>
    <p:handoutMasterId r:id="rId59"/>
  </p:handoutMasterIdLst>
  <p:sldIdLst>
    <p:sldId id="256" r:id="rId5"/>
    <p:sldId id="257" r:id="rId6"/>
    <p:sldId id="258" r:id="rId7"/>
    <p:sldId id="287" r:id="rId8"/>
    <p:sldId id="267" r:id="rId9"/>
    <p:sldId id="288" r:id="rId10"/>
    <p:sldId id="289" r:id="rId11"/>
    <p:sldId id="290" r:id="rId12"/>
    <p:sldId id="291" r:id="rId13"/>
    <p:sldId id="298" r:id="rId14"/>
    <p:sldId id="259" r:id="rId16"/>
    <p:sldId id="299" r:id="rId17"/>
    <p:sldId id="261" r:id="rId18"/>
    <p:sldId id="300" r:id="rId19"/>
    <p:sldId id="260" r:id="rId20"/>
    <p:sldId id="301" r:id="rId21"/>
    <p:sldId id="302" r:id="rId22"/>
    <p:sldId id="303" r:id="rId23"/>
    <p:sldId id="304" r:id="rId24"/>
    <p:sldId id="311" r:id="rId25"/>
    <p:sldId id="312" r:id="rId26"/>
    <p:sldId id="313" r:id="rId27"/>
    <p:sldId id="314" r:id="rId28"/>
    <p:sldId id="315" r:id="rId29"/>
    <p:sldId id="316" r:id="rId30"/>
    <p:sldId id="317" r:id="rId31"/>
    <p:sldId id="318" r:id="rId32"/>
    <p:sldId id="264" r:id="rId33"/>
    <p:sldId id="319" r:id="rId34"/>
    <p:sldId id="320" r:id="rId35"/>
    <p:sldId id="262" r:id="rId36"/>
    <p:sldId id="263" r:id="rId37"/>
    <p:sldId id="265" r:id="rId38"/>
    <p:sldId id="321" r:id="rId39"/>
    <p:sldId id="322" r:id="rId40"/>
    <p:sldId id="334" r:id="rId41"/>
    <p:sldId id="325" r:id="rId42"/>
    <p:sldId id="326" r:id="rId43"/>
    <p:sldId id="327" r:id="rId44"/>
    <p:sldId id="328" r:id="rId45"/>
    <p:sldId id="329" r:id="rId46"/>
    <p:sldId id="305" r:id="rId47"/>
    <p:sldId id="306" r:id="rId48"/>
    <p:sldId id="307" r:id="rId49"/>
    <p:sldId id="308" r:id="rId50"/>
    <p:sldId id="335" r:id="rId51"/>
    <p:sldId id="310" r:id="rId52"/>
    <p:sldId id="330" r:id="rId53"/>
    <p:sldId id="331" r:id="rId54"/>
    <p:sldId id="336" r:id="rId55"/>
    <p:sldId id="339" r:id="rId56"/>
    <p:sldId id="340" r:id="rId57"/>
    <p:sldId id="337"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B7BB"/>
    <a:srgbClr val="93C3D3"/>
    <a:srgbClr val="2F637E"/>
    <a:srgbClr val="11373F"/>
    <a:srgbClr val="000000"/>
    <a:srgbClr val="F88562"/>
    <a:srgbClr val="6D8B9A"/>
    <a:srgbClr val="A7B1B7"/>
    <a:srgbClr val="FED1A9"/>
    <a:srgbClr val="FAAA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8" d="100"/>
          <a:sy n="78" d="100"/>
        </p:scale>
        <p:origin x="225" y="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handoutMaster" Target="handoutMasters/handoutMaster1.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notesMaster" Target="notesMasters/notesMaster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2CE56-FD20-4103-ADB9-B95BDA7852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36526-45AC-413E-984C-CF37B41AA1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EB85C5-1ADC-43AA-9DF2-BA30A261534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EB85C5-1ADC-43AA-9DF2-BA30A261534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EB85C5-1ADC-43AA-9DF2-BA30A261534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
        <p:nvSpPr>
          <p:cNvPr id="9" name="文本框 8"/>
          <p:cNvSpPr txBox="1"/>
          <p:nvPr userDrawn="1"/>
        </p:nvSpPr>
        <p:spPr>
          <a:xfrm>
            <a:off x="7912100" y="1626732"/>
            <a:ext cx="3873500" cy="707886"/>
          </a:xfrm>
          <a:prstGeom prst="rect">
            <a:avLst/>
          </a:prstGeom>
          <a:noFill/>
        </p:spPr>
        <p:txBody>
          <a:bodyPr wrap="square" rtlCol="0">
            <a:spAutoFit/>
          </a:bodyPr>
          <a:lstStyle/>
          <a:p>
            <a:pPr algn="r"/>
            <a:r>
              <a:rPr lang="zh-CN" altLang="en-US" sz="4000" dirty="0">
                <a:solidFill>
                  <a:schemeClr val="bg1"/>
                </a:solidFill>
              </a:rPr>
              <a:t>人工智能导论</a:t>
            </a:r>
            <a:endParaRPr lang="zh-CN" altLang="en-US" sz="40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0_Custom Layout">
    <p:spTree>
      <p:nvGrpSpPr>
        <p:cNvPr id="1" name=""/>
        <p:cNvGrpSpPr/>
        <p:nvPr/>
      </p:nvGrpSpPr>
      <p:grpSpPr>
        <a:xfrm>
          <a:off x="0" y="0"/>
          <a:ext cx="0" cy="0"/>
          <a:chOff x="0" y="0"/>
          <a:chExt cx="0" cy="0"/>
        </a:xfrm>
      </p:grpSpPr>
      <p:sp>
        <p:nvSpPr>
          <p:cNvPr id="7" name="Freeform: Shape 6"/>
          <p:cNvSpPr/>
          <p:nvPr userDrawn="1"/>
        </p:nvSpPr>
        <p:spPr>
          <a:xfrm>
            <a:off x="4914901" y="1"/>
            <a:ext cx="7277100" cy="4379547"/>
          </a:xfrm>
          <a:custGeom>
            <a:avLst/>
            <a:gdLst>
              <a:gd name="connsiteX0" fmla="*/ 0 w 7208506"/>
              <a:gd name="connsiteY0" fmla="*/ 0 h 4338265"/>
              <a:gd name="connsiteX1" fmla="*/ 7208506 w 7208506"/>
              <a:gd name="connsiteY1" fmla="*/ 0 h 4338265"/>
              <a:gd name="connsiteX2" fmla="*/ 7208506 w 7208506"/>
              <a:gd name="connsiteY2" fmla="*/ 3736930 h 4338265"/>
              <a:gd name="connsiteX3" fmla="*/ 7182826 w 7208506"/>
              <a:gd name="connsiteY3" fmla="*/ 3751567 h 4338265"/>
              <a:gd name="connsiteX4" fmla="*/ 4858361 w 7208506"/>
              <a:gd name="connsiteY4" fmla="*/ 4338265 h 4338265"/>
              <a:gd name="connsiteX5" fmla="*/ 24497 w 7208506"/>
              <a:gd name="connsiteY5" fmla="*/ 192786 h 433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08506" h="4338265">
                <a:moveTo>
                  <a:pt x="0" y="0"/>
                </a:moveTo>
                <a:lnTo>
                  <a:pt x="7208506" y="0"/>
                </a:lnTo>
                <a:lnTo>
                  <a:pt x="7208506" y="3736930"/>
                </a:lnTo>
                <a:lnTo>
                  <a:pt x="7182826" y="3751567"/>
                </a:lnTo>
                <a:cubicBezTo>
                  <a:pt x="6491452" y="4125789"/>
                  <a:pt x="5699720" y="4338265"/>
                  <a:pt x="4858361" y="4338265"/>
                </a:cubicBezTo>
                <a:cubicBezTo>
                  <a:pt x="2410772" y="4338265"/>
                  <a:pt x="383162" y="2540117"/>
                  <a:pt x="24497" y="192786"/>
                </a:cubicBezTo>
                <a:close/>
              </a:path>
            </a:pathLst>
          </a:custGeom>
          <a:gradFill>
            <a:gsLst>
              <a:gs pos="100000">
                <a:srgbClr val="21273E"/>
              </a:gs>
              <a:gs pos="0">
                <a:srgbClr val="2C344B"/>
              </a:gs>
            </a:gsLst>
            <a:lin ang="5400000" scaled="0"/>
          </a:gradFill>
          <a:ln>
            <a:noFill/>
          </a:ln>
          <a:effectLst>
            <a:outerShdw blurRad="1270000" dist="444500" dir="8100000" sx="95000" sy="9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240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849786" y="831273"/>
            <a:ext cx="4621832" cy="5846618"/>
          </a:xfrm>
          <a:prstGeom prst="rect">
            <a:avLst/>
          </a:prstGeom>
        </p:spPr>
      </p:pic>
      <p:sp>
        <p:nvSpPr>
          <p:cNvPr id="5" name="Picture Placeholder 6"/>
          <p:cNvSpPr>
            <a:spLocks noGrp="1"/>
          </p:cNvSpPr>
          <p:nvPr>
            <p:ph type="pic" sz="quarter" idx="12"/>
          </p:nvPr>
        </p:nvSpPr>
        <p:spPr>
          <a:xfrm rot="549907">
            <a:off x="7001708" y="1715323"/>
            <a:ext cx="2082759" cy="2035229"/>
          </a:xfrm>
          <a:custGeom>
            <a:avLst/>
            <a:gdLst>
              <a:gd name="connsiteX0" fmla="*/ 0 w 1235810"/>
              <a:gd name="connsiteY0" fmla="*/ 0 h 2171712"/>
              <a:gd name="connsiteX1" fmla="*/ 1235810 w 1235810"/>
              <a:gd name="connsiteY1" fmla="*/ 0 h 2171712"/>
              <a:gd name="connsiteX2" fmla="*/ 1235810 w 1235810"/>
              <a:gd name="connsiteY2" fmla="*/ 2171712 h 2171712"/>
              <a:gd name="connsiteX3" fmla="*/ 0 w 1235810"/>
              <a:gd name="connsiteY3" fmla="*/ 2171712 h 2171712"/>
              <a:gd name="connsiteX4" fmla="*/ 0 w 1235810"/>
              <a:gd name="connsiteY4" fmla="*/ 0 h 2171712"/>
              <a:gd name="connsiteX0-1" fmla="*/ 0 w 1253859"/>
              <a:gd name="connsiteY0-2" fmla="*/ 7736 h 2179448"/>
              <a:gd name="connsiteX1-3" fmla="*/ 1253859 w 1253859"/>
              <a:gd name="connsiteY1-4" fmla="*/ 0 h 2179448"/>
              <a:gd name="connsiteX2-5" fmla="*/ 1235810 w 1253859"/>
              <a:gd name="connsiteY2-6" fmla="*/ 2179448 h 2179448"/>
              <a:gd name="connsiteX3-7" fmla="*/ 0 w 1253859"/>
              <a:gd name="connsiteY3-8" fmla="*/ 2179448 h 2179448"/>
              <a:gd name="connsiteX4-9" fmla="*/ 0 w 1253859"/>
              <a:gd name="connsiteY4-10" fmla="*/ 7736 h 2179448"/>
              <a:gd name="connsiteX0-11" fmla="*/ 0 w 1263262"/>
              <a:gd name="connsiteY0-12" fmla="*/ 9253 h 2180965"/>
              <a:gd name="connsiteX1-13" fmla="*/ 1263262 w 1263262"/>
              <a:gd name="connsiteY1-14" fmla="*/ 0 h 2180965"/>
              <a:gd name="connsiteX2-15" fmla="*/ 1235810 w 1263262"/>
              <a:gd name="connsiteY2-16" fmla="*/ 2180965 h 2180965"/>
              <a:gd name="connsiteX3-17" fmla="*/ 0 w 1263262"/>
              <a:gd name="connsiteY3-18" fmla="*/ 2180965 h 2180965"/>
              <a:gd name="connsiteX4-19" fmla="*/ 0 w 1263262"/>
              <a:gd name="connsiteY4-20" fmla="*/ 9253 h 2180965"/>
              <a:gd name="connsiteX0-21" fmla="*/ 0 w 1277368"/>
              <a:gd name="connsiteY0-22" fmla="*/ 11528 h 2183240"/>
              <a:gd name="connsiteX1-23" fmla="*/ 1277368 w 1277368"/>
              <a:gd name="connsiteY1-24" fmla="*/ 0 h 2183240"/>
              <a:gd name="connsiteX2-25" fmla="*/ 1235810 w 1277368"/>
              <a:gd name="connsiteY2-26" fmla="*/ 2183240 h 2183240"/>
              <a:gd name="connsiteX3-27" fmla="*/ 0 w 1277368"/>
              <a:gd name="connsiteY3-28" fmla="*/ 2183240 h 2183240"/>
              <a:gd name="connsiteX4-29" fmla="*/ 0 w 1277368"/>
              <a:gd name="connsiteY4-30" fmla="*/ 11528 h 2183240"/>
              <a:gd name="connsiteX0-31" fmla="*/ 0 w 1298150"/>
              <a:gd name="connsiteY0-32" fmla="*/ 11528 h 2240720"/>
              <a:gd name="connsiteX1-33" fmla="*/ 1277368 w 1298150"/>
              <a:gd name="connsiteY1-34" fmla="*/ 0 h 2240720"/>
              <a:gd name="connsiteX2-35" fmla="*/ 1298150 w 1298150"/>
              <a:gd name="connsiteY2-36" fmla="*/ 2240720 h 2240720"/>
              <a:gd name="connsiteX3-37" fmla="*/ 0 w 1298150"/>
              <a:gd name="connsiteY3-38" fmla="*/ 2183240 h 2240720"/>
              <a:gd name="connsiteX4-39" fmla="*/ 0 w 1298150"/>
              <a:gd name="connsiteY4-40" fmla="*/ 11528 h 2240720"/>
              <a:gd name="connsiteX0-41" fmla="*/ 0 w 1306495"/>
              <a:gd name="connsiteY0-42" fmla="*/ 11528 h 2292439"/>
              <a:gd name="connsiteX1-43" fmla="*/ 1277368 w 1306495"/>
              <a:gd name="connsiteY1-44" fmla="*/ 0 h 2292439"/>
              <a:gd name="connsiteX2-45" fmla="*/ 1306495 w 1306495"/>
              <a:gd name="connsiteY2-46" fmla="*/ 2292439 h 2292439"/>
              <a:gd name="connsiteX3-47" fmla="*/ 0 w 1306495"/>
              <a:gd name="connsiteY3-48" fmla="*/ 2183240 h 2292439"/>
              <a:gd name="connsiteX4-49" fmla="*/ 0 w 1306495"/>
              <a:gd name="connsiteY4-50" fmla="*/ 11528 h 2292439"/>
              <a:gd name="connsiteX0-51" fmla="*/ 12438 w 1318933"/>
              <a:gd name="connsiteY0-52" fmla="*/ 11528 h 2292439"/>
              <a:gd name="connsiteX1-53" fmla="*/ 1289806 w 1318933"/>
              <a:gd name="connsiteY1-54" fmla="*/ 0 h 2292439"/>
              <a:gd name="connsiteX2-55" fmla="*/ 1318933 w 1318933"/>
              <a:gd name="connsiteY2-56" fmla="*/ 2292439 h 2292439"/>
              <a:gd name="connsiteX3-57" fmla="*/ 0 w 1318933"/>
              <a:gd name="connsiteY3-58" fmla="*/ 2165951 h 2292439"/>
              <a:gd name="connsiteX4-59" fmla="*/ 12438 w 1318933"/>
              <a:gd name="connsiteY4-60" fmla="*/ 11528 h 2292439"/>
              <a:gd name="connsiteX0-61" fmla="*/ 24426 w 1318933"/>
              <a:gd name="connsiteY0-62" fmla="*/ 115724 h 2292439"/>
              <a:gd name="connsiteX1-63" fmla="*/ 1289806 w 1318933"/>
              <a:gd name="connsiteY1-64" fmla="*/ 0 h 2292439"/>
              <a:gd name="connsiteX2-65" fmla="*/ 1318933 w 1318933"/>
              <a:gd name="connsiteY2-66" fmla="*/ 2292439 h 2292439"/>
              <a:gd name="connsiteX3-67" fmla="*/ 0 w 1318933"/>
              <a:gd name="connsiteY3-68" fmla="*/ 2165951 h 2292439"/>
              <a:gd name="connsiteX4-69" fmla="*/ 24426 w 1318933"/>
              <a:gd name="connsiteY4-70" fmla="*/ 115724 h 2292439"/>
              <a:gd name="connsiteX0-71" fmla="*/ 27911 w 1318933"/>
              <a:gd name="connsiteY0-72" fmla="*/ 47624 h 2292439"/>
              <a:gd name="connsiteX1-73" fmla="*/ 1289806 w 1318933"/>
              <a:gd name="connsiteY1-74" fmla="*/ 0 h 2292439"/>
              <a:gd name="connsiteX2-75" fmla="*/ 1318933 w 1318933"/>
              <a:gd name="connsiteY2-76" fmla="*/ 2292439 h 2292439"/>
              <a:gd name="connsiteX3-77" fmla="*/ 0 w 1318933"/>
              <a:gd name="connsiteY3-78" fmla="*/ 2165951 h 2292439"/>
              <a:gd name="connsiteX4-79" fmla="*/ 27911 w 1318933"/>
              <a:gd name="connsiteY4-80" fmla="*/ 47624 h 2292439"/>
              <a:gd name="connsiteX0-81" fmla="*/ 24877 w 1318933"/>
              <a:gd name="connsiteY0-82" fmla="*/ 28817 h 2292439"/>
              <a:gd name="connsiteX1-83" fmla="*/ 1289806 w 1318933"/>
              <a:gd name="connsiteY1-84" fmla="*/ 0 h 2292439"/>
              <a:gd name="connsiteX2-85" fmla="*/ 1318933 w 1318933"/>
              <a:gd name="connsiteY2-86" fmla="*/ 2292439 h 2292439"/>
              <a:gd name="connsiteX3-87" fmla="*/ 0 w 1318933"/>
              <a:gd name="connsiteY3-88" fmla="*/ 2165951 h 2292439"/>
              <a:gd name="connsiteX4-89" fmla="*/ 24877 w 1318933"/>
              <a:gd name="connsiteY4-90" fmla="*/ 28817 h 2292439"/>
              <a:gd name="connsiteX0-91" fmla="*/ 0 w 1321208"/>
              <a:gd name="connsiteY0-92" fmla="*/ 0 h 2312307"/>
              <a:gd name="connsiteX1-93" fmla="*/ 1292081 w 1321208"/>
              <a:gd name="connsiteY1-94" fmla="*/ 19868 h 2312307"/>
              <a:gd name="connsiteX2-95" fmla="*/ 1321208 w 1321208"/>
              <a:gd name="connsiteY2-96" fmla="*/ 2312307 h 2312307"/>
              <a:gd name="connsiteX3-97" fmla="*/ 2275 w 1321208"/>
              <a:gd name="connsiteY3-98" fmla="*/ 2185819 h 2312307"/>
              <a:gd name="connsiteX4-99" fmla="*/ 0 w 1321208"/>
              <a:gd name="connsiteY4-100" fmla="*/ 0 h 2312307"/>
              <a:gd name="connsiteX0-101" fmla="*/ 439249 w 1318934"/>
              <a:gd name="connsiteY0-102" fmla="*/ 0 h 2521663"/>
              <a:gd name="connsiteX1-103" fmla="*/ 1289807 w 1318934"/>
              <a:gd name="connsiteY1-104" fmla="*/ 229224 h 2521663"/>
              <a:gd name="connsiteX2-105" fmla="*/ 1318934 w 1318934"/>
              <a:gd name="connsiteY2-106" fmla="*/ 2521663 h 2521663"/>
              <a:gd name="connsiteX3-107" fmla="*/ 1 w 1318934"/>
              <a:gd name="connsiteY3-108" fmla="*/ 2395175 h 2521663"/>
              <a:gd name="connsiteX4-109" fmla="*/ 439249 w 1318934"/>
              <a:gd name="connsiteY4-110" fmla="*/ 0 h 2521663"/>
              <a:gd name="connsiteX0-111" fmla="*/ 439249 w 1896861"/>
              <a:gd name="connsiteY0-112" fmla="*/ 0 h 2521663"/>
              <a:gd name="connsiteX1-113" fmla="*/ 1896861 w 1896861"/>
              <a:gd name="connsiteY1-114" fmla="*/ 139406 h 2521663"/>
              <a:gd name="connsiteX2-115" fmla="*/ 1318934 w 1896861"/>
              <a:gd name="connsiteY2-116" fmla="*/ 2521663 h 2521663"/>
              <a:gd name="connsiteX3-117" fmla="*/ 1 w 1896861"/>
              <a:gd name="connsiteY3-118" fmla="*/ 2395175 h 2521663"/>
              <a:gd name="connsiteX4-119" fmla="*/ 439249 w 1896861"/>
              <a:gd name="connsiteY4-120" fmla="*/ 0 h 2521663"/>
              <a:gd name="connsiteX0-121" fmla="*/ 450018 w 1907630"/>
              <a:gd name="connsiteY0-122" fmla="*/ 0 h 2521663"/>
              <a:gd name="connsiteX1-123" fmla="*/ 1907630 w 1907630"/>
              <a:gd name="connsiteY1-124" fmla="*/ 139406 h 2521663"/>
              <a:gd name="connsiteX2-125" fmla="*/ 1329703 w 1907630"/>
              <a:gd name="connsiteY2-126" fmla="*/ 2521663 h 2521663"/>
              <a:gd name="connsiteX3-127" fmla="*/ 0 w 1907630"/>
              <a:gd name="connsiteY3-128" fmla="*/ 1547873 h 2521663"/>
              <a:gd name="connsiteX4-129" fmla="*/ 450018 w 1907630"/>
              <a:gd name="connsiteY4-130" fmla="*/ 0 h 2521663"/>
              <a:gd name="connsiteX0-131" fmla="*/ 450018 w 1907630"/>
              <a:gd name="connsiteY0-132" fmla="*/ 0 h 1851265"/>
              <a:gd name="connsiteX1-133" fmla="*/ 1907630 w 1907630"/>
              <a:gd name="connsiteY1-134" fmla="*/ 139406 h 1851265"/>
              <a:gd name="connsiteX2-135" fmla="*/ 1103732 w 1907630"/>
              <a:gd name="connsiteY2-136" fmla="*/ 1851265 h 1851265"/>
              <a:gd name="connsiteX3-137" fmla="*/ 0 w 1907630"/>
              <a:gd name="connsiteY3-138" fmla="*/ 1547873 h 1851265"/>
              <a:gd name="connsiteX4-139" fmla="*/ 450018 w 1907630"/>
              <a:gd name="connsiteY4-140" fmla="*/ 0 h 1851265"/>
              <a:gd name="connsiteX0-141" fmla="*/ 450018 w 1907630"/>
              <a:gd name="connsiteY0-142" fmla="*/ 0 h 1931216"/>
              <a:gd name="connsiteX1-143" fmla="*/ 1907630 w 1907630"/>
              <a:gd name="connsiteY1-144" fmla="*/ 139406 h 1931216"/>
              <a:gd name="connsiteX2-145" fmla="*/ 1136943 w 1907630"/>
              <a:gd name="connsiteY2-146" fmla="*/ 1931216 h 1931216"/>
              <a:gd name="connsiteX3-147" fmla="*/ 0 w 1907630"/>
              <a:gd name="connsiteY3-148" fmla="*/ 1547873 h 1931216"/>
              <a:gd name="connsiteX4-149" fmla="*/ 450018 w 1907630"/>
              <a:gd name="connsiteY4-150" fmla="*/ 0 h 1931216"/>
              <a:gd name="connsiteX0-151" fmla="*/ 450018 w 1907630"/>
              <a:gd name="connsiteY0-152" fmla="*/ 0 h 1935175"/>
              <a:gd name="connsiteX1-153" fmla="*/ 1907630 w 1907630"/>
              <a:gd name="connsiteY1-154" fmla="*/ 139406 h 1935175"/>
              <a:gd name="connsiteX2-155" fmla="*/ 1137582 w 1907630"/>
              <a:gd name="connsiteY2-156" fmla="*/ 1935175 h 1935175"/>
              <a:gd name="connsiteX3-157" fmla="*/ 0 w 1907630"/>
              <a:gd name="connsiteY3-158" fmla="*/ 1547873 h 1935175"/>
              <a:gd name="connsiteX4-159" fmla="*/ 450018 w 1907630"/>
              <a:gd name="connsiteY4-160" fmla="*/ 0 h 1935175"/>
              <a:gd name="connsiteX0-161" fmla="*/ 450018 w 1975071"/>
              <a:gd name="connsiteY0-162" fmla="*/ 0 h 1935175"/>
              <a:gd name="connsiteX1-163" fmla="*/ 1975071 w 1975071"/>
              <a:gd name="connsiteY1-164" fmla="*/ 230086 h 1935175"/>
              <a:gd name="connsiteX2-165" fmla="*/ 1137582 w 1975071"/>
              <a:gd name="connsiteY2-166" fmla="*/ 1935175 h 1935175"/>
              <a:gd name="connsiteX3-167" fmla="*/ 0 w 1975071"/>
              <a:gd name="connsiteY3-168" fmla="*/ 1547873 h 1935175"/>
              <a:gd name="connsiteX4-169" fmla="*/ 450018 w 1975071"/>
              <a:gd name="connsiteY4-170" fmla="*/ 0 h 1935175"/>
              <a:gd name="connsiteX0-171" fmla="*/ 450018 w 2029482"/>
              <a:gd name="connsiteY0-172" fmla="*/ 0 h 1935175"/>
              <a:gd name="connsiteX1-173" fmla="*/ 2029482 w 2029482"/>
              <a:gd name="connsiteY1-174" fmla="*/ 290368 h 1935175"/>
              <a:gd name="connsiteX2-175" fmla="*/ 1137582 w 2029482"/>
              <a:gd name="connsiteY2-176" fmla="*/ 1935175 h 1935175"/>
              <a:gd name="connsiteX3-177" fmla="*/ 0 w 2029482"/>
              <a:gd name="connsiteY3-178" fmla="*/ 1547873 h 1935175"/>
              <a:gd name="connsiteX4-179" fmla="*/ 450018 w 2029482"/>
              <a:gd name="connsiteY4-180" fmla="*/ 0 h 1935175"/>
              <a:gd name="connsiteX0-181" fmla="*/ 450018 w 2057451"/>
              <a:gd name="connsiteY0-182" fmla="*/ 0 h 1935175"/>
              <a:gd name="connsiteX1-183" fmla="*/ 2057451 w 2057451"/>
              <a:gd name="connsiteY1-184" fmla="*/ 237108 h 1935175"/>
              <a:gd name="connsiteX2-185" fmla="*/ 1137582 w 2057451"/>
              <a:gd name="connsiteY2-186" fmla="*/ 1935175 h 1935175"/>
              <a:gd name="connsiteX3-187" fmla="*/ 0 w 2057451"/>
              <a:gd name="connsiteY3-188" fmla="*/ 1547873 h 1935175"/>
              <a:gd name="connsiteX4-189" fmla="*/ 450018 w 2057451"/>
              <a:gd name="connsiteY4-190" fmla="*/ 0 h 1935175"/>
              <a:gd name="connsiteX0-191" fmla="*/ 453465 w 2057451"/>
              <a:gd name="connsiteY0-192" fmla="*/ 0 h 1964168"/>
              <a:gd name="connsiteX1-193" fmla="*/ 2057451 w 2057451"/>
              <a:gd name="connsiteY1-194" fmla="*/ 266101 h 1964168"/>
              <a:gd name="connsiteX2-195" fmla="*/ 1137582 w 2057451"/>
              <a:gd name="connsiteY2-196" fmla="*/ 1964168 h 1964168"/>
              <a:gd name="connsiteX3-197" fmla="*/ 0 w 2057451"/>
              <a:gd name="connsiteY3-198" fmla="*/ 1576866 h 1964168"/>
              <a:gd name="connsiteX4-199" fmla="*/ 453465 w 2057451"/>
              <a:gd name="connsiteY4-200" fmla="*/ 0 h 1964168"/>
              <a:gd name="connsiteX0-201" fmla="*/ 453467 w 2057453"/>
              <a:gd name="connsiteY0-202" fmla="*/ 0 h 1964168"/>
              <a:gd name="connsiteX1-203" fmla="*/ 2057453 w 2057453"/>
              <a:gd name="connsiteY1-204" fmla="*/ 266101 h 1964168"/>
              <a:gd name="connsiteX2-205" fmla="*/ 1137584 w 2057453"/>
              <a:gd name="connsiteY2-206" fmla="*/ 1964168 h 1964168"/>
              <a:gd name="connsiteX3-207" fmla="*/ 2 w 2057453"/>
              <a:gd name="connsiteY3-208" fmla="*/ 1576866 h 1964168"/>
              <a:gd name="connsiteX4-209" fmla="*/ 453467 w 2057453"/>
              <a:gd name="connsiteY4-210" fmla="*/ 0 h 1964168"/>
              <a:gd name="connsiteX0-211" fmla="*/ 412596 w 2016582"/>
              <a:gd name="connsiteY0-212" fmla="*/ 0 h 1964168"/>
              <a:gd name="connsiteX1-213" fmla="*/ 2016582 w 2016582"/>
              <a:gd name="connsiteY1-214" fmla="*/ 266101 h 1964168"/>
              <a:gd name="connsiteX2-215" fmla="*/ 1096713 w 2016582"/>
              <a:gd name="connsiteY2-216" fmla="*/ 1964168 h 1964168"/>
              <a:gd name="connsiteX3-217" fmla="*/ 3 w 2016582"/>
              <a:gd name="connsiteY3-218" fmla="*/ 1578396 h 1964168"/>
              <a:gd name="connsiteX4-219" fmla="*/ 412596 w 2016582"/>
              <a:gd name="connsiteY4-220" fmla="*/ 0 h 1964168"/>
              <a:gd name="connsiteX0-221" fmla="*/ 418230 w 2022216"/>
              <a:gd name="connsiteY0-222" fmla="*/ 0 h 1964168"/>
              <a:gd name="connsiteX1-223" fmla="*/ 2022216 w 2022216"/>
              <a:gd name="connsiteY1-224" fmla="*/ 266101 h 1964168"/>
              <a:gd name="connsiteX2-225" fmla="*/ 1102347 w 2022216"/>
              <a:gd name="connsiteY2-226" fmla="*/ 1964168 h 1964168"/>
              <a:gd name="connsiteX3-227" fmla="*/ 5637 w 2022216"/>
              <a:gd name="connsiteY3-228" fmla="*/ 1578396 h 1964168"/>
              <a:gd name="connsiteX4-229" fmla="*/ 418230 w 2022216"/>
              <a:gd name="connsiteY4-230" fmla="*/ 0 h 1964168"/>
              <a:gd name="connsiteX0-231" fmla="*/ 418230 w 2022216"/>
              <a:gd name="connsiteY0-232" fmla="*/ 0 h 1964168"/>
              <a:gd name="connsiteX1-233" fmla="*/ 2022216 w 2022216"/>
              <a:gd name="connsiteY1-234" fmla="*/ 266101 h 1964168"/>
              <a:gd name="connsiteX2-235" fmla="*/ 1102347 w 2022216"/>
              <a:gd name="connsiteY2-236" fmla="*/ 1964168 h 1964168"/>
              <a:gd name="connsiteX3-237" fmla="*/ 5637 w 2022216"/>
              <a:gd name="connsiteY3-238" fmla="*/ 1578396 h 1964168"/>
              <a:gd name="connsiteX4-239" fmla="*/ 418230 w 2022216"/>
              <a:gd name="connsiteY4-240" fmla="*/ 0 h 1964168"/>
              <a:gd name="connsiteX0-241" fmla="*/ 511627 w 2115613"/>
              <a:gd name="connsiteY0-242" fmla="*/ 0 h 1964168"/>
              <a:gd name="connsiteX1-243" fmla="*/ 2115613 w 2115613"/>
              <a:gd name="connsiteY1-244" fmla="*/ 266101 h 1964168"/>
              <a:gd name="connsiteX2-245" fmla="*/ 1195744 w 2115613"/>
              <a:gd name="connsiteY2-246" fmla="*/ 1964168 h 1964168"/>
              <a:gd name="connsiteX3-247" fmla="*/ 4004 w 2115613"/>
              <a:gd name="connsiteY3-248" fmla="*/ 1467795 h 1964168"/>
              <a:gd name="connsiteX4-249" fmla="*/ 511627 w 2115613"/>
              <a:gd name="connsiteY4-250" fmla="*/ 0 h 1964168"/>
              <a:gd name="connsiteX0-251" fmla="*/ 461527 w 2116352"/>
              <a:gd name="connsiteY0-252" fmla="*/ 0 h 2077837"/>
              <a:gd name="connsiteX1-253" fmla="*/ 2116352 w 2116352"/>
              <a:gd name="connsiteY1-254" fmla="*/ 379770 h 2077837"/>
              <a:gd name="connsiteX2-255" fmla="*/ 1196483 w 2116352"/>
              <a:gd name="connsiteY2-256" fmla="*/ 2077837 h 2077837"/>
              <a:gd name="connsiteX3-257" fmla="*/ 4743 w 2116352"/>
              <a:gd name="connsiteY3-258" fmla="*/ 1581464 h 2077837"/>
              <a:gd name="connsiteX4-259" fmla="*/ 461527 w 2116352"/>
              <a:gd name="connsiteY4-260" fmla="*/ 0 h 2077837"/>
              <a:gd name="connsiteX0-261" fmla="*/ 482016 w 2116020"/>
              <a:gd name="connsiteY0-262" fmla="*/ 0 h 2024323"/>
              <a:gd name="connsiteX1-263" fmla="*/ 2116020 w 2116020"/>
              <a:gd name="connsiteY1-264" fmla="*/ 326256 h 2024323"/>
              <a:gd name="connsiteX2-265" fmla="*/ 1196151 w 2116020"/>
              <a:gd name="connsiteY2-266" fmla="*/ 2024323 h 2024323"/>
              <a:gd name="connsiteX3-267" fmla="*/ 4411 w 2116020"/>
              <a:gd name="connsiteY3-268" fmla="*/ 1527950 h 2024323"/>
              <a:gd name="connsiteX4-269" fmla="*/ 482016 w 2116020"/>
              <a:gd name="connsiteY4-270" fmla="*/ 0 h 2024323"/>
              <a:gd name="connsiteX0-271" fmla="*/ 451743 w 2116529"/>
              <a:gd name="connsiteY0-272" fmla="*/ 0 h 2064043"/>
              <a:gd name="connsiteX1-273" fmla="*/ 2116529 w 2116529"/>
              <a:gd name="connsiteY1-274" fmla="*/ 365976 h 2064043"/>
              <a:gd name="connsiteX2-275" fmla="*/ 1196660 w 2116529"/>
              <a:gd name="connsiteY2-276" fmla="*/ 2064043 h 2064043"/>
              <a:gd name="connsiteX3-277" fmla="*/ 4920 w 2116529"/>
              <a:gd name="connsiteY3-278" fmla="*/ 1567670 h 2064043"/>
              <a:gd name="connsiteX4-279" fmla="*/ 451743 w 2116529"/>
              <a:gd name="connsiteY4-280" fmla="*/ 0 h 2064043"/>
              <a:gd name="connsiteX0-281" fmla="*/ 453624 w 2118410"/>
              <a:gd name="connsiteY0-282" fmla="*/ 0 h 2064043"/>
              <a:gd name="connsiteX1-283" fmla="*/ 2118410 w 2118410"/>
              <a:gd name="connsiteY1-284" fmla="*/ 365976 h 2064043"/>
              <a:gd name="connsiteX2-285" fmla="*/ 1198541 w 2118410"/>
              <a:gd name="connsiteY2-286" fmla="*/ 2064043 h 2064043"/>
              <a:gd name="connsiteX3-287" fmla="*/ 4885 w 2118410"/>
              <a:gd name="connsiteY3-288" fmla="*/ 1555791 h 2064043"/>
              <a:gd name="connsiteX4-289" fmla="*/ 453624 w 2118410"/>
              <a:gd name="connsiteY4-290" fmla="*/ 0 h 2064043"/>
              <a:gd name="connsiteX0-291" fmla="*/ 481903 w 2146689"/>
              <a:gd name="connsiteY0-292" fmla="*/ 0 h 2064043"/>
              <a:gd name="connsiteX1-293" fmla="*/ 2146689 w 2146689"/>
              <a:gd name="connsiteY1-294" fmla="*/ 365976 h 2064043"/>
              <a:gd name="connsiteX2-295" fmla="*/ 1226820 w 2146689"/>
              <a:gd name="connsiteY2-296" fmla="*/ 2064043 h 2064043"/>
              <a:gd name="connsiteX3-297" fmla="*/ 33164 w 2146689"/>
              <a:gd name="connsiteY3-298" fmla="*/ 1555791 h 2064043"/>
              <a:gd name="connsiteX4-299" fmla="*/ 481903 w 2146689"/>
              <a:gd name="connsiteY4-300" fmla="*/ 0 h 2064043"/>
              <a:gd name="connsiteX0-301" fmla="*/ 485074 w 2149860"/>
              <a:gd name="connsiteY0-302" fmla="*/ 0 h 2064043"/>
              <a:gd name="connsiteX1-303" fmla="*/ 2149860 w 2149860"/>
              <a:gd name="connsiteY1-304" fmla="*/ 365976 h 2064043"/>
              <a:gd name="connsiteX2-305" fmla="*/ 1229991 w 2149860"/>
              <a:gd name="connsiteY2-306" fmla="*/ 2064043 h 2064043"/>
              <a:gd name="connsiteX3-307" fmla="*/ 36335 w 2149860"/>
              <a:gd name="connsiteY3-308" fmla="*/ 1555791 h 2064043"/>
              <a:gd name="connsiteX4-309" fmla="*/ 485074 w 2149860"/>
              <a:gd name="connsiteY4-310" fmla="*/ 0 h 2064043"/>
              <a:gd name="connsiteX0-311" fmla="*/ 485074 w 2149860"/>
              <a:gd name="connsiteY0-312" fmla="*/ 0 h 2064043"/>
              <a:gd name="connsiteX1-313" fmla="*/ 2149860 w 2149860"/>
              <a:gd name="connsiteY1-314" fmla="*/ 365976 h 2064043"/>
              <a:gd name="connsiteX2-315" fmla="*/ 1229991 w 2149860"/>
              <a:gd name="connsiteY2-316" fmla="*/ 2064043 h 2064043"/>
              <a:gd name="connsiteX3-317" fmla="*/ 36335 w 2149860"/>
              <a:gd name="connsiteY3-318" fmla="*/ 1555791 h 2064043"/>
              <a:gd name="connsiteX4-319" fmla="*/ 485074 w 2149860"/>
              <a:gd name="connsiteY4-320" fmla="*/ 0 h 2064043"/>
              <a:gd name="connsiteX0-321" fmla="*/ 485074 w 2149860"/>
              <a:gd name="connsiteY0-322" fmla="*/ 0 h 2064043"/>
              <a:gd name="connsiteX1-323" fmla="*/ 2149860 w 2149860"/>
              <a:gd name="connsiteY1-324" fmla="*/ 365976 h 2064043"/>
              <a:gd name="connsiteX2-325" fmla="*/ 1229991 w 2149860"/>
              <a:gd name="connsiteY2-326" fmla="*/ 2064043 h 2064043"/>
              <a:gd name="connsiteX3-327" fmla="*/ 36335 w 2149860"/>
              <a:gd name="connsiteY3-328" fmla="*/ 1555791 h 2064043"/>
              <a:gd name="connsiteX4-329" fmla="*/ 485074 w 2149860"/>
              <a:gd name="connsiteY4-330" fmla="*/ 0 h 2064043"/>
              <a:gd name="connsiteX0-331" fmla="*/ 485074 w 2149860"/>
              <a:gd name="connsiteY0-332" fmla="*/ 0 h 2064043"/>
              <a:gd name="connsiteX1-333" fmla="*/ 2149860 w 2149860"/>
              <a:gd name="connsiteY1-334" fmla="*/ 365976 h 2064043"/>
              <a:gd name="connsiteX2-335" fmla="*/ 1229991 w 2149860"/>
              <a:gd name="connsiteY2-336" fmla="*/ 2064043 h 2064043"/>
              <a:gd name="connsiteX3-337" fmla="*/ 36335 w 2149860"/>
              <a:gd name="connsiteY3-338" fmla="*/ 1555791 h 2064043"/>
              <a:gd name="connsiteX4-339" fmla="*/ 485074 w 2149860"/>
              <a:gd name="connsiteY4-340" fmla="*/ 0 h 2064043"/>
              <a:gd name="connsiteX0-341" fmla="*/ 472393 w 2137179"/>
              <a:gd name="connsiteY0-342" fmla="*/ 0 h 2064043"/>
              <a:gd name="connsiteX1-343" fmla="*/ 2137179 w 2137179"/>
              <a:gd name="connsiteY1-344" fmla="*/ 365976 h 2064043"/>
              <a:gd name="connsiteX2-345" fmla="*/ 1217310 w 2137179"/>
              <a:gd name="connsiteY2-346" fmla="*/ 2064043 h 2064043"/>
              <a:gd name="connsiteX3-347" fmla="*/ 23654 w 2137179"/>
              <a:gd name="connsiteY3-348" fmla="*/ 1555791 h 2064043"/>
              <a:gd name="connsiteX4-349" fmla="*/ 472393 w 2137179"/>
              <a:gd name="connsiteY4-350" fmla="*/ 0 h 2064043"/>
              <a:gd name="connsiteX0-351" fmla="*/ 472393 w 2113935"/>
              <a:gd name="connsiteY0-352" fmla="*/ 0 h 2064043"/>
              <a:gd name="connsiteX1-353" fmla="*/ 2113935 w 2113935"/>
              <a:gd name="connsiteY1-354" fmla="*/ 398164 h 2064043"/>
              <a:gd name="connsiteX2-355" fmla="*/ 1217310 w 2113935"/>
              <a:gd name="connsiteY2-356" fmla="*/ 2064043 h 2064043"/>
              <a:gd name="connsiteX3-357" fmla="*/ 23654 w 2113935"/>
              <a:gd name="connsiteY3-358" fmla="*/ 1555791 h 2064043"/>
              <a:gd name="connsiteX4-359" fmla="*/ 472393 w 2113935"/>
              <a:gd name="connsiteY4-360" fmla="*/ 0 h 2064043"/>
              <a:gd name="connsiteX0-361" fmla="*/ 472393 w 2144845"/>
              <a:gd name="connsiteY0-362" fmla="*/ 0 h 2064043"/>
              <a:gd name="connsiteX1-363" fmla="*/ 2144845 w 2144845"/>
              <a:gd name="connsiteY1-364" fmla="*/ 413490 h 2064043"/>
              <a:gd name="connsiteX2-365" fmla="*/ 1217310 w 2144845"/>
              <a:gd name="connsiteY2-366" fmla="*/ 2064043 h 2064043"/>
              <a:gd name="connsiteX3-367" fmla="*/ 23654 w 2144845"/>
              <a:gd name="connsiteY3-368" fmla="*/ 1555791 h 2064043"/>
              <a:gd name="connsiteX4-369" fmla="*/ 472393 w 2144845"/>
              <a:gd name="connsiteY4-370" fmla="*/ 0 h 2064043"/>
              <a:gd name="connsiteX0-371" fmla="*/ 472393 w 2135010"/>
              <a:gd name="connsiteY0-372" fmla="*/ 0 h 2064043"/>
              <a:gd name="connsiteX1-373" fmla="*/ 2135010 w 2135010"/>
              <a:gd name="connsiteY1-374" fmla="*/ 402890 h 2064043"/>
              <a:gd name="connsiteX2-375" fmla="*/ 1217310 w 2135010"/>
              <a:gd name="connsiteY2-376" fmla="*/ 2064043 h 2064043"/>
              <a:gd name="connsiteX3-377" fmla="*/ 23654 w 2135010"/>
              <a:gd name="connsiteY3-378" fmla="*/ 1555791 h 2064043"/>
              <a:gd name="connsiteX4-379" fmla="*/ 472393 w 2135010"/>
              <a:gd name="connsiteY4-380" fmla="*/ 0 h 2064043"/>
              <a:gd name="connsiteX0-381" fmla="*/ 472393 w 2117894"/>
              <a:gd name="connsiteY0-382" fmla="*/ 0 h 2064043"/>
              <a:gd name="connsiteX1-383" fmla="*/ 2117894 w 2117894"/>
              <a:gd name="connsiteY1-384" fmla="*/ 397525 h 2064043"/>
              <a:gd name="connsiteX2-385" fmla="*/ 1217310 w 2117894"/>
              <a:gd name="connsiteY2-386" fmla="*/ 2064043 h 2064043"/>
              <a:gd name="connsiteX3-387" fmla="*/ 23654 w 2117894"/>
              <a:gd name="connsiteY3-388" fmla="*/ 1555791 h 2064043"/>
              <a:gd name="connsiteX4-389" fmla="*/ 472393 w 2117894"/>
              <a:gd name="connsiteY4-390" fmla="*/ 0 h 2064043"/>
              <a:gd name="connsiteX0-391" fmla="*/ 472393 w 2100779"/>
              <a:gd name="connsiteY0-392" fmla="*/ 0 h 2064043"/>
              <a:gd name="connsiteX1-393" fmla="*/ 2100779 w 2100779"/>
              <a:gd name="connsiteY1-394" fmla="*/ 392162 h 2064043"/>
              <a:gd name="connsiteX2-395" fmla="*/ 1217310 w 2100779"/>
              <a:gd name="connsiteY2-396" fmla="*/ 2064043 h 2064043"/>
              <a:gd name="connsiteX3-397" fmla="*/ 23654 w 2100779"/>
              <a:gd name="connsiteY3-398" fmla="*/ 1555791 h 2064043"/>
              <a:gd name="connsiteX4-399" fmla="*/ 472393 w 2100779"/>
              <a:gd name="connsiteY4-400" fmla="*/ 0 h 2064043"/>
              <a:gd name="connsiteX0-401" fmla="*/ 472393 w 2100779"/>
              <a:gd name="connsiteY0-402" fmla="*/ 0 h 2064043"/>
              <a:gd name="connsiteX1-403" fmla="*/ 2100779 w 2100779"/>
              <a:gd name="connsiteY1-404" fmla="*/ 392162 h 2064043"/>
              <a:gd name="connsiteX2-405" fmla="*/ 1217310 w 2100779"/>
              <a:gd name="connsiteY2-406" fmla="*/ 2064043 h 2064043"/>
              <a:gd name="connsiteX3-407" fmla="*/ 23654 w 2100779"/>
              <a:gd name="connsiteY3-408" fmla="*/ 1555791 h 2064043"/>
              <a:gd name="connsiteX4-409" fmla="*/ 472393 w 2100779"/>
              <a:gd name="connsiteY4-410" fmla="*/ 0 h 2064043"/>
              <a:gd name="connsiteX0-411" fmla="*/ 472393 w 2100779"/>
              <a:gd name="connsiteY0-412" fmla="*/ 0 h 2064043"/>
              <a:gd name="connsiteX1-413" fmla="*/ 2100779 w 2100779"/>
              <a:gd name="connsiteY1-414" fmla="*/ 392162 h 2064043"/>
              <a:gd name="connsiteX2-415" fmla="*/ 1217310 w 2100779"/>
              <a:gd name="connsiteY2-416" fmla="*/ 2064043 h 2064043"/>
              <a:gd name="connsiteX3-417" fmla="*/ 23654 w 2100779"/>
              <a:gd name="connsiteY3-418" fmla="*/ 1555791 h 2064043"/>
              <a:gd name="connsiteX4-419" fmla="*/ 472393 w 2100779"/>
              <a:gd name="connsiteY4-420" fmla="*/ 0 h 2064043"/>
              <a:gd name="connsiteX0-421" fmla="*/ 472393 w 2100779"/>
              <a:gd name="connsiteY0-422" fmla="*/ 0 h 2064043"/>
              <a:gd name="connsiteX1-423" fmla="*/ 2100779 w 2100779"/>
              <a:gd name="connsiteY1-424" fmla="*/ 392162 h 2064043"/>
              <a:gd name="connsiteX2-425" fmla="*/ 1217310 w 2100779"/>
              <a:gd name="connsiteY2-426" fmla="*/ 2064043 h 2064043"/>
              <a:gd name="connsiteX3-427" fmla="*/ 23654 w 2100779"/>
              <a:gd name="connsiteY3-428" fmla="*/ 1555791 h 2064043"/>
              <a:gd name="connsiteX4-429" fmla="*/ 472393 w 2100779"/>
              <a:gd name="connsiteY4-430" fmla="*/ 0 h 2064043"/>
              <a:gd name="connsiteX0-431" fmla="*/ 472393 w 2100779"/>
              <a:gd name="connsiteY0-432" fmla="*/ 0 h 2064043"/>
              <a:gd name="connsiteX1-433" fmla="*/ 2100779 w 2100779"/>
              <a:gd name="connsiteY1-434" fmla="*/ 392162 h 2064043"/>
              <a:gd name="connsiteX2-435" fmla="*/ 1217310 w 2100779"/>
              <a:gd name="connsiteY2-436" fmla="*/ 2064043 h 2064043"/>
              <a:gd name="connsiteX3-437" fmla="*/ 23654 w 2100779"/>
              <a:gd name="connsiteY3-438" fmla="*/ 1555791 h 2064043"/>
              <a:gd name="connsiteX4-439" fmla="*/ 472393 w 2100779"/>
              <a:gd name="connsiteY4-440" fmla="*/ 0 h 2064043"/>
              <a:gd name="connsiteX0-441" fmla="*/ 472393 w 2100779"/>
              <a:gd name="connsiteY0-442" fmla="*/ 0 h 2064043"/>
              <a:gd name="connsiteX1-443" fmla="*/ 2100779 w 2100779"/>
              <a:gd name="connsiteY1-444" fmla="*/ 392162 h 2064043"/>
              <a:gd name="connsiteX2-445" fmla="*/ 1217310 w 2100779"/>
              <a:gd name="connsiteY2-446" fmla="*/ 2064043 h 2064043"/>
              <a:gd name="connsiteX3-447" fmla="*/ 23654 w 2100779"/>
              <a:gd name="connsiteY3-448" fmla="*/ 1555791 h 2064043"/>
              <a:gd name="connsiteX4-449" fmla="*/ 472393 w 2100779"/>
              <a:gd name="connsiteY4-450" fmla="*/ 0 h 2064043"/>
              <a:gd name="connsiteX0-451" fmla="*/ 472393 w 2100779"/>
              <a:gd name="connsiteY0-452" fmla="*/ 0 h 2036708"/>
              <a:gd name="connsiteX1-453" fmla="*/ 2100779 w 2100779"/>
              <a:gd name="connsiteY1-454" fmla="*/ 392162 h 2036708"/>
              <a:gd name="connsiteX2-455" fmla="*/ 1286023 w 2100779"/>
              <a:gd name="connsiteY2-456" fmla="*/ 2036708 h 2036708"/>
              <a:gd name="connsiteX3-457" fmla="*/ 23654 w 2100779"/>
              <a:gd name="connsiteY3-458" fmla="*/ 1555791 h 2036708"/>
              <a:gd name="connsiteX4-459" fmla="*/ 472393 w 2100779"/>
              <a:gd name="connsiteY4-460" fmla="*/ 0 h 2036708"/>
              <a:gd name="connsiteX0-461" fmla="*/ 472393 w 2100779"/>
              <a:gd name="connsiteY0-462" fmla="*/ 0 h 2051268"/>
              <a:gd name="connsiteX1-463" fmla="*/ 2100779 w 2100779"/>
              <a:gd name="connsiteY1-464" fmla="*/ 392162 h 2051268"/>
              <a:gd name="connsiteX2-465" fmla="*/ 1296497 w 2100779"/>
              <a:gd name="connsiteY2-466" fmla="*/ 2051268 h 2051268"/>
              <a:gd name="connsiteX3-467" fmla="*/ 23654 w 2100779"/>
              <a:gd name="connsiteY3-468" fmla="*/ 1555791 h 2051268"/>
              <a:gd name="connsiteX4-469" fmla="*/ 472393 w 2100779"/>
              <a:gd name="connsiteY4-470" fmla="*/ 0 h 2051268"/>
              <a:gd name="connsiteX0-471" fmla="*/ 472393 w 2100779"/>
              <a:gd name="connsiteY0-472" fmla="*/ 0 h 2051268"/>
              <a:gd name="connsiteX1-473" fmla="*/ 2100779 w 2100779"/>
              <a:gd name="connsiteY1-474" fmla="*/ 392162 h 2051268"/>
              <a:gd name="connsiteX2-475" fmla="*/ 1296497 w 2100779"/>
              <a:gd name="connsiteY2-476" fmla="*/ 2051268 h 2051268"/>
              <a:gd name="connsiteX3-477" fmla="*/ 23654 w 2100779"/>
              <a:gd name="connsiteY3-478" fmla="*/ 1555791 h 2051268"/>
              <a:gd name="connsiteX4-479" fmla="*/ 472393 w 2100779"/>
              <a:gd name="connsiteY4-480" fmla="*/ 0 h 2051268"/>
              <a:gd name="connsiteX0-481" fmla="*/ 472393 w 2100779"/>
              <a:gd name="connsiteY0-482" fmla="*/ 0 h 2051906"/>
              <a:gd name="connsiteX1-483" fmla="*/ 2100779 w 2100779"/>
              <a:gd name="connsiteY1-484" fmla="*/ 392162 h 2051906"/>
              <a:gd name="connsiteX2-485" fmla="*/ 1292538 w 2100779"/>
              <a:gd name="connsiteY2-486" fmla="*/ 2051906 h 2051906"/>
              <a:gd name="connsiteX3-487" fmla="*/ 23654 w 2100779"/>
              <a:gd name="connsiteY3-488" fmla="*/ 1555791 h 2051906"/>
              <a:gd name="connsiteX4-489" fmla="*/ 472393 w 2100779"/>
              <a:gd name="connsiteY4-490" fmla="*/ 0 h 2051906"/>
              <a:gd name="connsiteX0-491" fmla="*/ 472393 w 2100779"/>
              <a:gd name="connsiteY0-492" fmla="*/ 0 h 2056222"/>
              <a:gd name="connsiteX1-493" fmla="*/ 2100779 w 2100779"/>
              <a:gd name="connsiteY1-494" fmla="*/ 392162 h 2056222"/>
              <a:gd name="connsiteX2-495" fmla="*/ 1292538 w 2100779"/>
              <a:gd name="connsiteY2-496" fmla="*/ 2051906 h 2056222"/>
              <a:gd name="connsiteX3-497" fmla="*/ 23654 w 2100779"/>
              <a:gd name="connsiteY3-498" fmla="*/ 1555791 h 2056222"/>
              <a:gd name="connsiteX4-499" fmla="*/ 472393 w 2100779"/>
              <a:gd name="connsiteY4-500" fmla="*/ 0 h 2056222"/>
              <a:gd name="connsiteX0-501" fmla="*/ 472393 w 2100779"/>
              <a:gd name="connsiteY0-502" fmla="*/ 0 h 2052500"/>
              <a:gd name="connsiteX1-503" fmla="*/ 2100779 w 2100779"/>
              <a:gd name="connsiteY1-504" fmla="*/ 392162 h 2052500"/>
              <a:gd name="connsiteX2-505" fmla="*/ 1292538 w 2100779"/>
              <a:gd name="connsiteY2-506" fmla="*/ 2051906 h 2052500"/>
              <a:gd name="connsiteX3-507" fmla="*/ 23654 w 2100779"/>
              <a:gd name="connsiteY3-508" fmla="*/ 1555791 h 2052500"/>
              <a:gd name="connsiteX4-509" fmla="*/ 472393 w 2100779"/>
              <a:gd name="connsiteY4-510" fmla="*/ 0 h 2052500"/>
              <a:gd name="connsiteX0-511" fmla="*/ 496457 w 2124843"/>
              <a:gd name="connsiteY0-512" fmla="*/ 0 h 2052470"/>
              <a:gd name="connsiteX1-513" fmla="*/ 2124843 w 2124843"/>
              <a:gd name="connsiteY1-514" fmla="*/ 392162 h 2052470"/>
              <a:gd name="connsiteX2-515" fmla="*/ 1316602 w 2124843"/>
              <a:gd name="connsiteY2-516" fmla="*/ 2051906 h 2052470"/>
              <a:gd name="connsiteX3-517" fmla="*/ 22046 w 2124843"/>
              <a:gd name="connsiteY3-518" fmla="*/ 1547745 h 2052470"/>
              <a:gd name="connsiteX4-519" fmla="*/ 496457 w 2124843"/>
              <a:gd name="connsiteY4-520" fmla="*/ 0 h 2052470"/>
              <a:gd name="connsiteX0-521" fmla="*/ 486906 w 2115292"/>
              <a:gd name="connsiteY0-522" fmla="*/ 0 h 2052470"/>
              <a:gd name="connsiteX1-523" fmla="*/ 2115292 w 2115292"/>
              <a:gd name="connsiteY1-524" fmla="*/ 392162 h 2052470"/>
              <a:gd name="connsiteX2-525" fmla="*/ 1307051 w 2115292"/>
              <a:gd name="connsiteY2-526" fmla="*/ 2051906 h 2052470"/>
              <a:gd name="connsiteX3-527" fmla="*/ 12495 w 2115292"/>
              <a:gd name="connsiteY3-528" fmla="*/ 1547745 h 2052470"/>
              <a:gd name="connsiteX4-529" fmla="*/ 486906 w 2115292"/>
              <a:gd name="connsiteY4-530" fmla="*/ 0 h 2052470"/>
              <a:gd name="connsiteX0-531" fmla="*/ 483725 w 2112111"/>
              <a:gd name="connsiteY0-532" fmla="*/ 0 h 2052470"/>
              <a:gd name="connsiteX1-533" fmla="*/ 2112111 w 2112111"/>
              <a:gd name="connsiteY1-534" fmla="*/ 392162 h 2052470"/>
              <a:gd name="connsiteX2-535" fmla="*/ 1303870 w 2112111"/>
              <a:gd name="connsiteY2-536" fmla="*/ 2051906 h 2052470"/>
              <a:gd name="connsiteX3-537" fmla="*/ 9314 w 2112111"/>
              <a:gd name="connsiteY3-538" fmla="*/ 1547745 h 2052470"/>
              <a:gd name="connsiteX4-539" fmla="*/ 483725 w 2112111"/>
              <a:gd name="connsiteY4-540" fmla="*/ 0 h 2052470"/>
              <a:gd name="connsiteX0-541" fmla="*/ 477592 w 2105978"/>
              <a:gd name="connsiteY0-542" fmla="*/ 0 h 2052470"/>
              <a:gd name="connsiteX1-543" fmla="*/ 2105978 w 2105978"/>
              <a:gd name="connsiteY1-544" fmla="*/ 392162 h 2052470"/>
              <a:gd name="connsiteX2-545" fmla="*/ 1297737 w 2105978"/>
              <a:gd name="connsiteY2-546" fmla="*/ 2051906 h 2052470"/>
              <a:gd name="connsiteX3-547" fmla="*/ 3181 w 2105978"/>
              <a:gd name="connsiteY3-548" fmla="*/ 1547745 h 2052470"/>
              <a:gd name="connsiteX4-549" fmla="*/ 477592 w 2105978"/>
              <a:gd name="connsiteY4-550" fmla="*/ 0 h 2052470"/>
              <a:gd name="connsiteX0-551" fmla="*/ 477592 w 2082861"/>
              <a:gd name="connsiteY0-552" fmla="*/ 0 h 2052470"/>
              <a:gd name="connsiteX1-553" fmla="*/ 2082861 w 2082861"/>
              <a:gd name="connsiteY1-554" fmla="*/ 399953 h 2052470"/>
              <a:gd name="connsiteX2-555" fmla="*/ 1297737 w 2082861"/>
              <a:gd name="connsiteY2-556" fmla="*/ 2051906 h 2052470"/>
              <a:gd name="connsiteX3-557" fmla="*/ 3181 w 2082861"/>
              <a:gd name="connsiteY3-558" fmla="*/ 1547745 h 2052470"/>
              <a:gd name="connsiteX4-559" fmla="*/ 477592 w 2082861"/>
              <a:gd name="connsiteY4-560" fmla="*/ 0 h 2052470"/>
              <a:gd name="connsiteX0-561" fmla="*/ 477592 w 2082861"/>
              <a:gd name="connsiteY0-562" fmla="*/ 0 h 2052470"/>
              <a:gd name="connsiteX1-563" fmla="*/ 2082861 w 2082861"/>
              <a:gd name="connsiteY1-564" fmla="*/ 399953 h 2052470"/>
              <a:gd name="connsiteX2-565" fmla="*/ 1297737 w 2082861"/>
              <a:gd name="connsiteY2-566" fmla="*/ 2051906 h 2052470"/>
              <a:gd name="connsiteX3-567" fmla="*/ 3181 w 2082861"/>
              <a:gd name="connsiteY3-568" fmla="*/ 1547745 h 2052470"/>
              <a:gd name="connsiteX4-569" fmla="*/ 477592 w 2082861"/>
              <a:gd name="connsiteY4-570" fmla="*/ 0 h 2052470"/>
              <a:gd name="connsiteX0-571" fmla="*/ 477592 w 2082861"/>
              <a:gd name="connsiteY0-572" fmla="*/ 0 h 2052470"/>
              <a:gd name="connsiteX1-573" fmla="*/ 2082861 w 2082861"/>
              <a:gd name="connsiteY1-574" fmla="*/ 399953 h 2052470"/>
              <a:gd name="connsiteX2-575" fmla="*/ 1297737 w 2082861"/>
              <a:gd name="connsiteY2-576" fmla="*/ 2051906 h 2052470"/>
              <a:gd name="connsiteX3-577" fmla="*/ 3181 w 2082861"/>
              <a:gd name="connsiteY3-578" fmla="*/ 1547745 h 2052470"/>
              <a:gd name="connsiteX4-579" fmla="*/ 477592 w 2082861"/>
              <a:gd name="connsiteY4-580" fmla="*/ 0 h 2052470"/>
              <a:gd name="connsiteX0-581" fmla="*/ 477592 w 2082861"/>
              <a:gd name="connsiteY0-582" fmla="*/ 0 h 2052470"/>
              <a:gd name="connsiteX1-583" fmla="*/ 2082861 w 2082861"/>
              <a:gd name="connsiteY1-584" fmla="*/ 399953 h 2052470"/>
              <a:gd name="connsiteX2-585" fmla="*/ 1297737 w 2082861"/>
              <a:gd name="connsiteY2-586" fmla="*/ 2051906 h 2052470"/>
              <a:gd name="connsiteX3-587" fmla="*/ 3181 w 2082861"/>
              <a:gd name="connsiteY3-588" fmla="*/ 1547745 h 2052470"/>
              <a:gd name="connsiteX4-589" fmla="*/ 477592 w 2082861"/>
              <a:gd name="connsiteY4-590" fmla="*/ 0 h 2052470"/>
              <a:gd name="connsiteX0-591" fmla="*/ 496384 w 2082622"/>
              <a:gd name="connsiteY0-592" fmla="*/ 0 h 2035229"/>
              <a:gd name="connsiteX1-593" fmla="*/ 2082622 w 2082622"/>
              <a:gd name="connsiteY1-594" fmla="*/ 382712 h 2035229"/>
              <a:gd name="connsiteX2-595" fmla="*/ 1297498 w 2082622"/>
              <a:gd name="connsiteY2-596" fmla="*/ 2034665 h 2035229"/>
              <a:gd name="connsiteX3-597" fmla="*/ 2942 w 2082622"/>
              <a:gd name="connsiteY3-598" fmla="*/ 1530504 h 2035229"/>
              <a:gd name="connsiteX4-599" fmla="*/ 496384 w 2082622"/>
              <a:gd name="connsiteY4-600" fmla="*/ 0 h 2035229"/>
              <a:gd name="connsiteX0-601" fmla="*/ 496546 w 2082784"/>
              <a:gd name="connsiteY0-602" fmla="*/ 0 h 2035229"/>
              <a:gd name="connsiteX1-603" fmla="*/ 2082784 w 2082784"/>
              <a:gd name="connsiteY1-604" fmla="*/ 382712 h 2035229"/>
              <a:gd name="connsiteX2-605" fmla="*/ 1297660 w 2082784"/>
              <a:gd name="connsiteY2-606" fmla="*/ 2034665 h 2035229"/>
              <a:gd name="connsiteX3-607" fmla="*/ 3104 w 2082784"/>
              <a:gd name="connsiteY3-608" fmla="*/ 1530504 h 2035229"/>
              <a:gd name="connsiteX4-609" fmla="*/ 496546 w 2082784"/>
              <a:gd name="connsiteY4-610" fmla="*/ 0 h 2035229"/>
              <a:gd name="connsiteX0-611" fmla="*/ 496521 w 2082759"/>
              <a:gd name="connsiteY0-612" fmla="*/ 0 h 2035229"/>
              <a:gd name="connsiteX1-613" fmla="*/ 2082759 w 2082759"/>
              <a:gd name="connsiteY1-614" fmla="*/ 382712 h 2035229"/>
              <a:gd name="connsiteX2-615" fmla="*/ 1297635 w 2082759"/>
              <a:gd name="connsiteY2-616" fmla="*/ 2034665 h 2035229"/>
              <a:gd name="connsiteX3-617" fmla="*/ 3079 w 2082759"/>
              <a:gd name="connsiteY3-618" fmla="*/ 1530504 h 2035229"/>
              <a:gd name="connsiteX4-619" fmla="*/ 496521 w 2082759"/>
              <a:gd name="connsiteY4-620" fmla="*/ 0 h 20352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2759" h="2035229">
                <a:moveTo>
                  <a:pt x="496521" y="0"/>
                </a:moveTo>
                <a:lnTo>
                  <a:pt x="2082759" y="382712"/>
                </a:lnTo>
                <a:cubicBezTo>
                  <a:pt x="1768600" y="918806"/>
                  <a:pt x="1547691" y="1781093"/>
                  <a:pt x="1297635" y="2034665"/>
                </a:cubicBezTo>
                <a:cubicBezTo>
                  <a:pt x="722991" y="2045428"/>
                  <a:pt x="241450" y="1903047"/>
                  <a:pt x="3079" y="1530504"/>
                </a:cubicBezTo>
                <a:cubicBezTo>
                  <a:pt x="-27940" y="916465"/>
                  <a:pt x="178219" y="463217"/>
                  <a:pt x="496521" y="0"/>
                </a:cubicBezTo>
                <a:close/>
              </a:path>
            </a:pathLst>
          </a:custGeom>
          <a:pattFill prst="dkUpDiag">
            <a:fgClr>
              <a:schemeClr val="bg1">
                <a:lumMod val="85000"/>
              </a:schemeClr>
            </a:fgClr>
            <a:bgClr>
              <a:schemeClr val="bg1"/>
            </a:bgClr>
          </a:pattFill>
          <a:scene3d>
            <a:camera prst="isometricOffAxis1Right"/>
            <a:lightRig rig="threePt" dir="t"/>
          </a:scene3d>
        </p:spPr>
        <p:txBody>
          <a:bodyPr/>
          <a:lstStyle>
            <a:lvl1pPr marL="0" indent="0" algn="ctr">
              <a:buNone/>
              <a:defRPr sz="1200"/>
            </a:lvl1pPr>
          </a:lstStyle>
          <a:p>
            <a:endParaRPr lang="id-ID"/>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1" Type="http://schemas.openxmlformats.org/officeDocument/2006/relationships/theme" Target="../theme/theme2.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0" Type="http://schemas.openxmlformats.org/officeDocument/2006/relationships/theme" Target="../theme/theme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userDrawn="1"/>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Lst>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userDrawn="1"/>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8.wdp"/><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8.wdp"/><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8.wdp"/><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8.wdp"/><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2.xml"/><Relationship Id="rId2" Type="http://schemas.microsoft.com/office/2007/relationships/hdphoto" Target="../media/image10.wdp"/><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0.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6.emf"/><Relationship Id="rId1" Type="http://schemas.openxmlformats.org/officeDocument/2006/relationships/image" Target="../media/image17.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7.emf"/><Relationship Id="rId1" Type="http://schemas.openxmlformats.org/officeDocument/2006/relationships/image" Target="../media/image17.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8.emf"/><Relationship Id="rId1" Type="http://schemas.openxmlformats.org/officeDocument/2006/relationships/image" Target="../media/image1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0.jpe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31.emf"/><Relationship Id="rId2" Type="http://schemas.openxmlformats.org/officeDocument/2006/relationships/image" Target="../media/image30.jpeg"/><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2.emf"/><Relationship Id="rId1" Type="http://schemas.openxmlformats.org/officeDocument/2006/relationships/image" Target="../media/image17.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3.emf"/><Relationship Id="rId1" Type="http://schemas.openxmlformats.org/officeDocument/2006/relationships/image" Target="../media/image17.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6.emf"/></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7.emf"/><Relationship Id="rId1" Type="http://schemas.openxmlformats.org/officeDocument/2006/relationships/image" Target="../media/image17.jpe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8.png"/><Relationship Id="rId1" Type="http://schemas.openxmlformats.org/officeDocument/2006/relationships/image" Target="../media/image12.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2.jpeg"/><Relationship Id="rId1" Type="http://schemas.openxmlformats.org/officeDocument/2006/relationships/image" Target="../media/image4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3.emf"/></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5.emf"/><Relationship Id="rId1" Type="http://schemas.openxmlformats.org/officeDocument/2006/relationships/image" Target="../media/image44.e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6.em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7.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9.jpeg"/><Relationship Id="rId1" Type="http://schemas.openxmlformats.org/officeDocument/2006/relationships/image" Target="../media/image48.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4294967295"/>
          </p:nvPr>
        </p:nvSpPr>
        <p:spPr>
          <a:xfrm>
            <a:off x="-6137" y="0"/>
            <a:ext cx="12192000" cy="6858000"/>
          </a:xfrm>
          <a:prstGeom prst="rect">
            <a:avLst/>
          </a:prstGeom>
        </p:spPr>
      </p:sp>
      <p:sp>
        <p:nvSpPr>
          <p:cNvPr id="5" name="矩形 4"/>
          <p:cNvSpPr/>
          <p:nvPr/>
        </p:nvSpPr>
        <p:spPr>
          <a:xfrm>
            <a:off x="9684385" y="-635"/>
            <a:ext cx="456565"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a:xfrm>
            <a:off x="5626100" y="682176"/>
            <a:ext cx="6159500" cy="838835"/>
          </a:xfrm>
        </p:spPr>
        <p:txBody>
          <a:bodyPr/>
          <a:lstStyle/>
          <a:p>
            <a:r>
              <a:rPr lang="zh-CN" altLang="en-US" dirty="0">
                <a:sym typeface="+mn-ea"/>
              </a:rPr>
              <a:t>第</a:t>
            </a:r>
            <a:r>
              <a:rPr lang="en-US" altLang="zh-CN" dirty="0">
                <a:sym typeface="+mn-ea"/>
              </a:rPr>
              <a:t>5</a:t>
            </a:r>
            <a:r>
              <a:rPr lang="zh-CN" altLang="en-US" dirty="0">
                <a:sym typeface="+mn-ea"/>
              </a:rPr>
              <a:t>章 树形结构</a:t>
            </a:r>
            <a:endParaRPr lang="zh-CN" altLang="en-US" dirty="0"/>
          </a:p>
        </p:txBody>
      </p:sp>
      <p:sp>
        <p:nvSpPr>
          <p:cNvPr id="4" name="矩形 3"/>
          <p:cNvSpPr/>
          <p:nvPr/>
        </p:nvSpPr>
        <p:spPr>
          <a:xfrm>
            <a:off x="8410575" y="1570355"/>
            <a:ext cx="3372485" cy="71247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矩形 5"/>
          <p:cNvSpPr/>
          <p:nvPr/>
        </p:nvSpPr>
        <p:spPr>
          <a:xfrm>
            <a:off x="0" y="0"/>
            <a:ext cx="406400" cy="68573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endParaRPr lang="zh-CN" altLang="en-US" dirty="0"/>
          </a:p>
        </p:txBody>
      </p:sp>
      <p:sp>
        <p:nvSpPr>
          <p:cNvPr id="17" name="灯片编号占位符 16"/>
          <p:cNvSpPr>
            <a:spLocks noGrp="1"/>
          </p:cNvSpPr>
          <p:nvPr>
            <p:ph type="sldNum" sz="quarter" idx="12"/>
          </p:nvPr>
        </p:nvSpPr>
        <p:spPr/>
        <p:txBody>
          <a:bodyPr/>
          <a:lstStyle/>
          <a:p>
            <a:fld id="{D96DE7E8-BD74-40B2-922D-194240FC5D5C}" type="slidenum">
              <a:rPr lang="zh-CN" altLang="en-US" smtClean="0"/>
            </a:fld>
            <a:endParaRPr lang="zh-CN" altLang="en-US" dirty="0"/>
          </a:p>
        </p:txBody>
      </p:sp>
      <p:grpSp>
        <p:nvGrpSpPr>
          <p:cNvPr id="28" name="组合 27"/>
          <p:cNvGrpSpPr/>
          <p:nvPr/>
        </p:nvGrpSpPr>
        <p:grpSpPr>
          <a:xfrm>
            <a:off x="3126739" y="1027504"/>
            <a:ext cx="2721722" cy="4520274"/>
            <a:chOff x="2423851" y="1776319"/>
            <a:chExt cx="2131050" cy="4520049"/>
          </a:xfrm>
        </p:grpSpPr>
        <p:grpSp>
          <p:nvGrpSpPr>
            <p:cNvPr id="10" name="组合 9"/>
            <p:cNvGrpSpPr/>
            <p:nvPr/>
          </p:nvGrpSpPr>
          <p:grpSpPr>
            <a:xfrm>
              <a:off x="2592495" y="1776319"/>
              <a:ext cx="1754509" cy="853154"/>
              <a:chOff x="3906719" y="2945496"/>
              <a:chExt cx="1754509" cy="853154"/>
            </a:xfrm>
          </p:grpSpPr>
          <p:sp>
            <p:nvSpPr>
              <p:cNvPr id="7" name="任意多边形 126"/>
              <p:cNvSpPr/>
              <p:nvPr/>
            </p:nvSpPr>
            <p:spPr bwMode="auto">
              <a:xfrm>
                <a:off x="4109033" y="3611094"/>
                <a:ext cx="1552195" cy="187556"/>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a:p>
            </p:txBody>
          </p:sp>
          <p:sp>
            <p:nvSpPr>
              <p:cNvPr id="9" name="文本占位符 14"/>
              <p:cNvSpPr txBox="1"/>
              <p:nvPr/>
            </p:nvSpPr>
            <p:spPr>
              <a:xfrm>
                <a:off x="3906719" y="2945496"/>
                <a:ext cx="1750973" cy="646299"/>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dirty="0"/>
                  <a:t>第一节</a:t>
                </a:r>
                <a:endParaRPr lang="zh-CN" altLang="en-US" sz="3600" dirty="0"/>
              </a:p>
            </p:txBody>
          </p:sp>
        </p:grpSp>
        <p:grpSp>
          <p:nvGrpSpPr>
            <p:cNvPr id="11" name="组合 10"/>
            <p:cNvGrpSpPr/>
            <p:nvPr/>
          </p:nvGrpSpPr>
          <p:grpSpPr>
            <a:xfrm>
              <a:off x="2423851" y="3053023"/>
              <a:ext cx="2131050" cy="876465"/>
              <a:chOff x="3738075" y="3198068"/>
              <a:chExt cx="2131050" cy="876465"/>
            </a:xfrm>
          </p:grpSpPr>
          <p:sp>
            <p:nvSpPr>
              <p:cNvPr id="12" name="任意多边形 126"/>
              <p:cNvSpPr/>
              <p:nvPr/>
            </p:nvSpPr>
            <p:spPr bwMode="auto">
              <a:xfrm>
                <a:off x="4108519" y="3883480"/>
                <a:ext cx="1552709" cy="191053"/>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a:p>
            </p:txBody>
          </p:sp>
          <p:sp>
            <p:nvSpPr>
              <p:cNvPr id="13" name="文本占位符 14"/>
              <p:cNvSpPr txBox="1"/>
              <p:nvPr/>
            </p:nvSpPr>
            <p:spPr>
              <a:xfrm>
                <a:off x="3738075" y="3198068"/>
                <a:ext cx="2131050" cy="584746"/>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t>第二节</a:t>
                </a:r>
                <a:endParaRPr lang="zh-CN" altLang="en-US" sz="3200" dirty="0"/>
              </a:p>
            </p:txBody>
          </p:sp>
        </p:grpSp>
        <p:grpSp>
          <p:nvGrpSpPr>
            <p:cNvPr id="14" name="组合 13"/>
            <p:cNvGrpSpPr/>
            <p:nvPr/>
          </p:nvGrpSpPr>
          <p:grpSpPr>
            <a:xfrm>
              <a:off x="2677560" y="4276224"/>
              <a:ext cx="1678382" cy="898934"/>
              <a:chOff x="3991784" y="3397137"/>
              <a:chExt cx="1678382" cy="898934"/>
            </a:xfrm>
          </p:grpSpPr>
          <p:sp>
            <p:nvSpPr>
              <p:cNvPr id="15" name="任意多边形 126"/>
              <p:cNvSpPr/>
              <p:nvPr/>
            </p:nvSpPr>
            <p:spPr bwMode="auto">
              <a:xfrm>
                <a:off x="4109109" y="4124629"/>
                <a:ext cx="1552708" cy="171442"/>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6" name="文本占位符 14"/>
              <p:cNvSpPr txBox="1"/>
              <p:nvPr/>
            </p:nvSpPr>
            <p:spPr>
              <a:xfrm>
                <a:off x="3991784" y="3397137"/>
                <a:ext cx="1678382" cy="584746"/>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t>第三节</a:t>
                </a:r>
                <a:endParaRPr lang="zh-CN" altLang="en-US" sz="3200" dirty="0"/>
              </a:p>
            </p:txBody>
          </p:sp>
        </p:grpSp>
        <p:grpSp>
          <p:nvGrpSpPr>
            <p:cNvPr id="22" name="组合 21"/>
            <p:cNvGrpSpPr/>
            <p:nvPr/>
          </p:nvGrpSpPr>
          <p:grpSpPr>
            <a:xfrm>
              <a:off x="2673034" y="5480391"/>
              <a:ext cx="1790570" cy="815977"/>
              <a:chOff x="3987258" y="2553042"/>
              <a:chExt cx="1790570" cy="815977"/>
            </a:xfrm>
          </p:grpSpPr>
          <p:sp>
            <p:nvSpPr>
              <p:cNvPr id="23" name="任意多边形 126"/>
              <p:cNvSpPr/>
              <p:nvPr/>
            </p:nvSpPr>
            <p:spPr bwMode="auto">
              <a:xfrm>
                <a:off x="4108519" y="3197577"/>
                <a:ext cx="1552708" cy="171442"/>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a:p>
            </p:txBody>
          </p:sp>
          <p:sp>
            <p:nvSpPr>
              <p:cNvPr id="24" name="文本占位符 14"/>
              <p:cNvSpPr txBox="1"/>
              <p:nvPr/>
            </p:nvSpPr>
            <p:spPr>
              <a:xfrm>
                <a:off x="3987258" y="2553042"/>
                <a:ext cx="1790570" cy="584746"/>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t>第四节</a:t>
                </a:r>
                <a:endParaRPr lang="zh-CN" altLang="en-US" sz="3200" dirty="0"/>
              </a:p>
            </p:txBody>
          </p:sp>
        </p:grpSp>
      </p:grpSp>
      <p:pic>
        <p:nvPicPr>
          <p:cNvPr id="8" name="Picture 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015" y="1754505"/>
            <a:ext cx="2590800" cy="363061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组合 17"/>
          <p:cNvGrpSpPr/>
          <p:nvPr/>
        </p:nvGrpSpPr>
        <p:grpSpPr>
          <a:xfrm>
            <a:off x="6027922" y="1053119"/>
            <a:ext cx="5165819" cy="4489496"/>
            <a:chOff x="2688717" y="1807095"/>
            <a:chExt cx="2143789" cy="4489273"/>
          </a:xfrm>
        </p:grpSpPr>
        <p:grpSp>
          <p:nvGrpSpPr>
            <p:cNvPr id="19" name="组合 18"/>
            <p:cNvGrpSpPr/>
            <p:nvPr/>
          </p:nvGrpSpPr>
          <p:grpSpPr>
            <a:xfrm>
              <a:off x="2794809" y="1807095"/>
              <a:ext cx="1932684" cy="822378"/>
              <a:chOff x="4109033" y="2976272"/>
              <a:chExt cx="1932684" cy="822378"/>
            </a:xfrm>
          </p:grpSpPr>
          <p:sp>
            <p:nvSpPr>
              <p:cNvPr id="33" name="任意多边形 126"/>
              <p:cNvSpPr/>
              <p:nvPr/>
            </p:nvSpPr>
            <p:spPr bwMode="auto">
              <a:xfrm>
                <a:off x="4109033" y="3643657"/>
                <a:ext cx="1932684" cy="154993"/>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a:p>
            </p:txBody>
          </p:sp>
          <p:sp>
            <p:nvSpPr>
              <p:cNvPr id="34" name="文本占位符 14"/>
              <p:cNvSpPr txBox="1"/>
              <p:nvPr/>
            </p:nvSpPr>
            <p:spPr>
              <a:xfrm>
                <a:off x="4207239" y="2976272"/>
                <a:ext cx="1750973" cy="584746"/>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t>树</a:t>
                </a:r>
                <a:endParaRPr lang="zh-CN" altLang="en-US" sz="3200" dirty="0"/>
              </a:p>
            </p:txBody>
          </p:sp>
        </p:grpSp>
        <p:grpSp>
          <p:nvGrpSpPr>
            <p:cNvPr id="20" name="组合 19"/>
            <p:cNvGrpSpPr/>
            <p:nvPr/>
          </p:nvGrpSpPr>
          <p:grpSpPr>
            <a:xfrm>
              <a:off x="2688717" y="3053023"/>
              <a:ext cx="2131050" cy="876465"/>
              <a:chOff x="4002941" y="3198068"/>
              <a:chExt cx="2131050" cy="876465"/>
            </a:xfrm>
          </p:grpSpPr>
          <p:sp>
            <p:nvSpPr>
              <p:cNvPr id="31" name="任意多边形 126"/>
              <p:cNvSpPr/>
              <p:nvPr/>
            </p:nvSpPr>
            <p:spPr bwMode="auto">
              <a:xfrm>
                <a:off x="4108519" y="3883480"/>
                <a:ext cx="1933198" cy="191053"/>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a:p>
            </p:txBody>
          </p:sp>
          <p:sp>
            <p:nvSpPr>
              <p:cNvPr id="32" name="文本占位符 14"/>
              <p:cNvSpPr txBox="1"/>
              <p:nvPr/>
            </p:nvSpPr>
            <p:spPr>
              <a:xfrm>
                <a:off x="4002941" y="3198068"/>
                <a:ext cx="2131050" cy="584746"/>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t>二叉树</a:t>
                </a:r>
                <a:endParaRPr lang="zh-CN" altLang="en-US" sz="3200" dirty="0"/>
              </a:p>
            </p:txBody>
          </p:sp>
        </p:grpSp>
        <p:grpSp>
          <p:nvGrpSpPr>
            <p:cNvPr id="21" name="组合 20"/>
            <p:cNvGrpSpPr/>
            <p:nvPr/>
          </p:nvGrpSpPr>
          <p:grpSpPr>
            <a:xfrm>
              <a:off x="2781983" y="4276224"/>
              <a:ext cx="2050523" cy="898934"/>
              <a:chOff x="4096207" y="3397137"/>
              <a:chExt cx="2050523" cy="898934"/>
            </a:xfrm>
          </p:grpSpPr>
          <p:sp>
            <p:nvSpPr>
              <p:cNvPr id="29" name="任意多边形 126"/>
              <p:cNvSpPr/>
              <p:nvPr/>
            </p:nvSpPr>
            <p:spPr bwMode="auto">
              <a:xfrm>
                <a:off x="4109108" y="4124629"/>
                <a:ext cx="1933198" cy="171442"/>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30" name="文本占位符 14"/>
              <p:cNvSpPr txBox="1"/>
              <p:nvPr/>
            </p:nvSpPr>
            <p:spPr>
              <a:xfrm>
                <a:off x="4096207" y="3397137"/>
                <a:ext cx="2050523" cy="584746"/>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t>哈夫曼树及哈夫曼编码</a:t>
                </a:r>
                <a:endParaRPr lang="zh-CN" altLang="en-US" sz="3200" dirty="0"/>
              </a:p>
            </p:txBody>
          </p:sp>
        </p:grpSp>
        <p:grpSp>
          <p:nvGrpSpPr>
            <p:cNvPr id="25" name="组合 24"/>
            <p:cNvGrpSpPr/>
            <p:nvPr/>
          </p:nvGrpSpPr>
          <p:grpSpPr>
            <a:xfrm>
              <a:off x="2794295" y="5480391"/>
              <a:ext cx="1933198" cy="815977"/>
              <a:chOff x="4108519" y="2553042"/>
              <a:chExt cx="1933198" cy="815977"/>
            </a:xfrm>
          </p:grpSpPr>
          <p:sp>
            <p:nvSpPr>
              <p:cNvPr id="26" name="任意多边形 126"/>
              <p:cNvSpPr/>
              <p:nvPr/>
            </p:nvSpPr>
            <p:spPr bwMode="auto">
              <a:xfrm>
                <a:off x="4108519" y="3197577"/>
                <a:ext cx="1933198" cy="171442"/>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a:p>
            </p:txBody>
          </p:sp>
          <p:sp>
            <p:nvSpPr>
              <p:cNvPr id="27" name="文本占位符 14"/>
              <p:cNvSpPr txBox="1"/>
              <p:nvPr/>
            </p:nvSpPr>
            <p:spPr>
              <a:xfrm>
                <a:off x="4196095" y="2553042"/>
                <a:ext cx="1790570" cy="584746"/>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t>树和森林</a:t>
                </a:r>
                <a:endParaRPr lang="zh-CN" altLang="en-US" sz="3200" dirty="0"/>
              </a:p>
            </p:txBody>
          </p:sp>
        </p:gr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第一节</a:t>
            </a:r>
            <a:endParaRPr lang="zh-CN" altLang="en-US" dirty="0"/>
          </a:p>
        </p:txBody>
      </p:sp>
      <p:sp>
        <p:nvSpPr>
          <p:cNvPr id="3" name="文本占位符 2"/>
          <p:cNvSpPr>
            <a:spLocks noGrp="1"/>
          </p:cNvSpPr>
          <p:nvPr>
            <p:ph type="body" sz="quarter" idx="11"/>
          </p:nvPr>
        </p:nvSpPr>
        <p:spPr/>
        <p:txBody>
          <a:bodyPr/>
          <a:lstStyle/>
          <a:p>
            <a:r>
              <a:rPr lang="zh-CN" altLang="en-US" dirty="0"/>
              <a:t>什么是树</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365" y="318349"/>
            <a:ext cx="7973400" cy="700405"/>
          </a:xfrm>
        </p:spPr>
        <p:txBody>
          <a:bodyPr/>
          <a:lstStyle/>
          <a:p>
            <a:r>
              <a:rPr lang="en-US" altLang="zh-CN" dirty="0"/>
              <a:t>1.1 </a:t>
            </a:r>
            <a:r>
              <a:rPr lang="zh-CN" altLang="en-US" dirty="0"/>
              <a:t>树的基本概念</a:t>
            </a:r>
            <a:endParaRPr lang="zh-CN" altLang="en-US" dirty="0"/>
          </a:p>
        </p:txBody>
      </p:sp>
      <p:sp>
        <p:nvSpPr>
          <p:cNvPr id="5" name="灯片编号占位符 4"/>
          <p:cNvSpPr>
            <a:spLocks noGrp="1"/>
          </p:cNvSpPr>
          <p:nvPr>
            <p:ph type="sldNum" sz="quarter" idx="12"/>
          </p:nvPr>
        </p:nvSpPr>
        <p:spPr>
          <a:xfrm>
            <a:off x="9376045" y="635761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0" name="FLYING IMPRESSION FID FEIZHAO    qq:1964271550"/>
          <p:cNvSpPr/>
          <p:nvPr/>
        </p:nvSpPr>
        <p:spPr>
          <a:xfrm>
            <a:off x="839936" y="1828165"/>
            <a:ext cx="932180" cy="897255"/>
          </a:xfrm>
          <a:prstGeom prst="round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E7E6E6">
                  <a:lumMod val="25000"/>
                </a:srgbClr>
              </a:solidFill>
              <a:effectLst/>
              <a:uLnTx/>
              <a:uFillTx/>
              <a:latin typeface="Arial" panose="020B0604020202020204"/>
              <a:ea typeface="+mn-ea"/>
              <a:cs typeface="+mn-cs"/>
              <a:sym typeface="+mn-lt"/>
            </a:endParaRPr>
          </a:p>
        </p:txBody>
      </p:sp>
      <p:grpSp>
        <p:nvGrpSpPr>
          <p:cNvPr id="31" name="FLYING IMPRESSION FID FEIZHAO    qq:1964271550"/>
          <p:cNvGrpSpPr/>
          <p:nvPr/>
        </p:nvGrpSpPr>
        <p:grpSpPr>
          <a:xfrm>
            <a:off x="1111081" y="2034540"/>
            <a:ext cx="473075" cy="456565"/>
            <a:chOff x="7287419" y="3505994"/>
            <a:chExt cx="464344" cy="465138"/>
          </a:xfrm>
          <a:solidFill>
            <a:schemeClr val="bg1"/>
          </a:solidFill>
        </p:grpSpPr>
        <p:sp>
          <p:nvSpPr>
            <p:cNvPr id="33" name="FLYING IMPRESSION FID FEIZHAO    qq:1964271550"/>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E7E6E6">
                    <a:lumMod val="25000"/>
                  </a:srgbClr>
                </a:solidFill>
                <a:effectLst/>
                <a:uLnTx/>
                <a:uFillTx/>
                <a:latin typeface="Arial" panose="020B0604020202020204"/>
                <a:ea typeface="+mn-ea"/>
                <a:cs typeface="+mn-cs"/>
                <a:sym typeface="+mn-lt"/>
              </a:endParaRPr>
            </a:p>
          </p:txBody>
        </p:sp>
        <p:sp>
          <p:nvSpPr>
            <p:cNvPr id="41" name="FLYING IMPRESSION FID FEIZHAO    qq:1964271550"/>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E7E6E6">
                    <a:lumMod val="25000"/>
                  </a:srgbClr>
                </a:solidFill>
                <a:effectLst/>
                <a:uLnTx/>
                <a:uFillTx/>
                <a:latin typeface="Arial" panose="020B0604020202020204"/>
                <a:ea typeface="+mn-ea"/>
                <a:cs typeface="+mn-cs"/>
                <a:sym typeface="+mn-lt"/>
              </a:endParaRPr>
            </a:p>
          </p:txBody>
        </p:sp>
        <p:sp>
          <p:nvSpPr>
            <p:cNvPr id="42" name="FLYING IMPRESSION FID FEIZHAO    qq:1964271550"/>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E7E6E6">
                    <a:lumMod val="25000"/>
                  </a:srgbClr>
                </a:solidFill>
                <a:effectLst/>
                <a:uLnTx/>
                <a:uFillTx/>
                <a:latin typeface="Arial" panose="020B0604020202020204"/>
                <a:ea typeface="+mn-ea"/>
                <a:cs typeface="+mn-cs"/>
                <a:sym typeface="+mn-lt"/>
              </a:endParaRPr>
            </a:p>
          </p:txBody>
        </p:sp>
        <p:sp>
          <p:nvSpPr>
            <p:cNvPr id="43" name="FLYING IMPRESSION FID FEIZHAO    qq:196427155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E7E6E6">
                    <a:lumMod val="25000"/>
                  </a:srgbClr>
                </a:solidFill>
                <a:effectLst/>
                <a:uLnTx/>
                <a:uFillTx/>
                <a:latin typeface="Arial" panose="020B0604020202020204"/>
                <a:ea typeface="+mn-ea"/>
                <a:cs typeface="+mn-cs"/>
                <a:sym typeface="+mn-lt"/>
              </a:endParaRPr>
            </a:p>
          </p:txBody>
        </p:sp>
        <p:sp>
          <p:nvSpPr>
            <p:cNvPr id="44" name="FLYING IMPRESSION FID FEIZHAO    qq:1964271550"/>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E7E6E6">
                    <a:lumMod val="25000"/>
                  </a:srgbClr>
                </a:solidFill>
                <a:effectLst/>
                <a:uLnTx/>
                <a:uFillTx/>
                <a:latin typeface="Arial" panose="020B0604020202020204"/>
                <a:ea typeface="+mn-ea"/>
                <a:cs typeface="+mn-cs"/>
                <a:sym typeface="+mn-lt"/>
              </a:endParaRPr>
            </a:p>
          </p:txBody>
        </p:sp>
        <p:sp>
          <p:nvSpPr>
            <p:cNvPr id="45" name="FLYING IMPRESSION FID FEIZHAO    qq:1964271550"/>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E7E6E6">
                    <a:lumMod val="25000"/>
                  </a:srgbClr>
                </a:solidFill>
                <a:effectLst/>
                <a:uLnTx/>
                <a:uFillTx/>
                <a:latin typeface="Arial" panose="020B0604020202020204"/>
                <a:ea typeface="+mn-ea"/>
                <a:cs typeface="+mn-cs"/>
                <a:sym typeface="+mn-lt"/>
              </a:endParaRPr>
            </a:p>
          </p:txBody>
        </p:sp>
      </p:grpSp>
      <p:sp>
        <p:nvSpPr>
          <p:cNvPr id="46" name="FLYING IMPRESSION FID FEIZHAO    qq:1964271550"/>
          <p:cNvSpPr/>
          <p:nvPr/>
        </p:nvSpPr>
        <p:spPr>
          <a:xfrm>
            <a:off x="839938" y="3887361"/>
            <a:ext cx="932180" cy="897255"/>
          </a:xfrm>
          <a:prstGeom prst="round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E7E6E6">
                  <a:lumMod val="25000"/>
                </a:srgbClr>
              </a:solidFill>
              <a:effectLst/>
              <a:uLnTx/>
              <a:uFillTx/>
              <a:latin typeface="Arial" panose="020B0604020202020204"/>
              <a:ea typeface="+mn-ea"/>
              <a:cs typeface="+mn-cs"/>
              <a:sym typeface="+mn-lt"/>
            </a:endParaRPr>
          </a:p>
        </p:txBody>
      </p:sp>
      <p:grpSp>
        <p:nvGrpSpPr>
          <p:cNvPr id="47" name="FLYING IMPRESSION FID FEIZHAO    qq:1964271550"/>
          <p:cNvGrpSpPr/>
          <p:nvPr/>
        </p:nvGrpSpPr>
        <p:grpSpPr>
          <a:xfrm>
            <a:off x="1066633" y="4108341"/>
            <a:ext cx="473075" cy="455295"/>
            <a:chOff x="7287419" y="2577307"/>
            <a:chExt cx="464344" cy="464344"/>
          </a:xfrm>
          <a:solidFill>
            <a:schemeClr val="bg1"/>
          </a:solidFill>
        </p:grpSpPr>
        <p:sp>
          <p:nvSpPr>
            <p:cNvPr id="48" name="FLYING IMPRESSION FID FEIZHAO    qq:1964271550"/>
            <p:cNvSpPr/>
            <p:nvPr/>
          </p:nvSpPr>
          <p:spPr bwMode="auto">
            <a:xfrm>
              <a:off x="7287419"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a:ln>
                  <a:noFill/>
                </a:ln>
                <a:solidFill>
                  <a:srgbClr val="E7E6E6">
                    <a:lumMod val="25000"/>
                  </a:srgbClr>
                </a:solidFill>
                <a:effectLst>
                  <a:outerShdw blurRad="38100" dist="38100" dir="2700000" algn="tl">
                    <a:srgbClr val="000000"/>
                  </a:outerShdw>
                </a:effectLst>
                <a:uLnTx/>
                <a:uFillTx/>
                <a:latin typeface="Arial" panose="020B0604020202020204"/>
                <a:ea typeface="+mn-ea"/>
                <a:cs typeface="+mn-cs"/>
                <a:sym typeface="+mn-lt"/>
              </a:endParaRPr>
            </a:p>
          </p:txBody>
        </p:sp>
        <p:sp>
          <p:nvSpPr>
            <p:cNvPr id="49" name="FLYING IMPRESSION FID FEIZHAO    qq:1964271550"/>
            <p:cNvSpPr/>
            <p:nvPr/>
          </p:nvSpPr>
          <p:spPr bwMode="auto">
            <a:xfrm>
              <a:off x="7606507"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a:ln>
                  <a:noFill/>
                </a:ln>
                <a:solidFill>
                  <a:srgbClr val="E7E6E6">
                    <a:lumMod val="25000"/>
                  </a:srgbClr>
                </a:solidFill>
                <a:effectLst>
                  <a:outerShdw blurRad="38100" dist="38100" dir="2700000" algn="tl">
                    <a:srgbClr val="000000"/>
                  </a:outerShdw>
                </a:effectLst>
                <a:uLnTx/>
                <a:uFillTx/>
                <a:latin typeface="Arial" panose="020B0604020202020204"/>
                <a:ea typeface="+mn-ea"/>
                <a:cs typeface="+mn-cs"/>
                <a:sym typeface="+mn-lt"/>
              </a:endParaRPr>
            </a:p>
          </p:txBody>
        </p:sp>
        <p:sp>
          <p:nvSpPr>
            <p:cNvPr id="50" name="FLYING IMPRESSION FID FEIZHAO    qq:1964271550"/>
            <p:cNvSpPr/>
            <p:nvPr/>
          </p:nvSpPr>
          <p:spPr bwMode="auto">
            <a:xfrm>
              <a:off x="7446963" y="2577307"/>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marL="0" marR="0" lvl="0" indent="0" algn="ctr" defTabSz="128905"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a:ln>
                  <a:noFill/>
                </a:ln>
                <a:solidFill>
                  <a:srgbClr val="E7E6E6">
                    <a:lumMod val="25000"/>
                  </a:srgbClr>
                </a:solidFill>
                <a:effectLst>
                  <a:outerShdw blurRad="38100" dist="38100" dir="2700000" algn="tl">
                    <a:srgbClr val="000000"/>
                  </a:outerShdw>
                </a:effectLst>
                <a:uLnTx/>
                <a:uFillTx/>
                <a:latin typeface="Arial" panose="020B0604020202020204"/>
                <a:ea typeface="+mn-ea"/>
                <a:cs typeface="+mn-cs"/>
                <a:sym typeface="+mn-lt"/>
              </a:endParaRPr>
            </a:p>
          </p:txBody>
        </p:sp>
      </p:grpSp>
      <p:sp>
        <p:nvSpPr>
          <p:cNvPr id="64" name="TextBox 20"/>
          <p:cNvSpPr txBox="1"/>
          <p:nvPr/>
        </p:nvSpPr>
        <p:spPr>
          <a:xfrm>
            <a:off x="2197735" y="1613362"/>
            <a:ext cx="3519641" cy="1417568"/>
          </a:xfrm>
          <a:prstGeom prst="rect">
            <a:avLst/>
          </a:prstGeom>
          <a:noFill/>
        </p:spPr>
        <p:txBody>
          <a:bodyPr wrap="square" rtlCol="0">
            <a:spAutoFit/>
          </a:bodyPr>
          <a:lstStyle/>
          <a:p>
            <a:pPr marL="0" marR="0" lvl="0" indent="0" algn="ctr" defTabSz="914400" rtl="0" eaLnBrk="1" fontAlgn="auto" latinLnBrk="0" hangingPunct="1">
              <a:lnSpc>
                <a:spcPct val="150000"/>
              </a:lnSpc>
              <a:spcBef>
                <a:spcPct val="20000"/>
              </a:spcBef>
              <a:spcAft>
                <a:spcPts val="0"/>
              </a:spcAft>
              <a:buClrTx/>
              <a:buSzTx/>
              <a:buFontTx/>
              <a:buNone/>
              <a:defRPr/>
            </a:pPr>
            <a:r>
              <a:rPr lang="zh-CN" altLang="zh-CN" sz="2000" b="1" dirty="0">
                <a:solidFill>
                  <a:srgbClr val="11373F"/>
                </a:solidFill>
                <a:latin typeface="Arial" panose="020B0604020202020204"/>
                <a:ea typeface="黑体" panose="02010609060101010101" pitchFamily="49" charset="-122"/>
              </a:rPr>
              <a:t>人们在生活中所见的家谱</a:t>
            </a:r>
            <a:r>
              <a:rPr lang="zh-CN" altLang="en-US" sz="2000" b="1" dirty="0">
                <a:solidFill>
                  <a:srgbClr val="11373F"/>
                </a:solidFill>
                <a:latin typeface="Arial" panose="020B0604020202020204"/>
                <a:ea typeface="黑体" panose="02010609060101010101" pitchFamily="49" charset="-122"/>
              </a:rPr>
              <a:t>、</a:t>
            </a:r>
            <a:r>
              <a:rPr lang="zh-CN" altLang="zh-CN" sz="2000" b="1" dirty="0">
                <a:solidFill>
                  <a:srgbClr val="11373F"/>
                </a:solidFill>
                <a:latin typeface="Arial" panose="020B0604020202020204"/>
                <a:ea typeface="黑体" panose="02010609060101010101" pitchFamily="49" charset="-122"/>
              </a:rPr>
              <a:t>文件系统等，虽然表现形式各异，在本质上是树结构。</a:t>
            </a:r>
            <a:endParaRPr lang="zh-CN" altLang="zh-CN" sz="2000" b="1" dirty="0">
              <a:solidFill>
                <a:srgbClr val="11373F"/>
              </a:solidFill>
              <a:latin typeface="Arial" panose="020B0604020202020204"/>
              <a:ea typeface="黑体" panose="02010609060101010101" pitchFamily="49" charset="-122"/>
            </a:endParaRPr>
          </a:p>
        </p:txBody>
      </p:sp>
      <p:sp>
        <p:nvSpPr>
          <p:cNvPr id="66" name="TextBox 20"/>
          <p:cNvSpPr txBox="1"/>
          <p:nvPr/>
        </p:nvSpPr>
        <p:spPr>
          <a:xfrm>
            <a:off x="2197735" y="3603625"/>
            <a:ext cx="4088765" cy="1428276"/>
          </a:xfrm>
          <a:prstGeom prst="rect">
            <a:avLst/>
          </a:prstGeom>
          <a:noFill/>
        </p:spPr>
        <p:txBody>
          <a:bodyPr wrap="square" rtlCol="0">
            <a:spAutoFit/>
          </a:bodyPr>
          <a:lstStyle/>
          <a:p>
            <a:pPr marL="0" marR="0" lvl="0" indent="0" algn="ctr" defTabSz="914400" rtl="0" eaLnBrk="1" fontAlgn="auto" latinLnBrk="0" hangingPunct="1">
              <a:lnSpc>
                <a:spcPct val="150000"/>
              </a:lnSpc>
              <a:spcBef>
                <a:spcPct val="20000"/>
              </a:spcBef>
              <a:spcAft>
                <a:spcPts val="0"/>
              </a:spcAft>
              <a:buClrTx/>
              <a:buSzTx/>
              <a:buFontTx/>
              <a:buNone/>
              <a:defRPr/>
            </a:pPr>
            <a:r>
              <a:rPr lang="zh-CN" altLang="zh-CN" sz="2000" b="1" dirty="0">
                <a:solidFill>
                  <a:srgbClr val="11373F"/>
                </a:solidFill>
                <a:latin typeface="Arial" panose="020B0604020202020204"/>
                <a:ea typeface="黑体" panose="02010609060101010101" pitchFamily="49" charset="-122"/>
              </a:rPr>
              <a:t>树的表示方法有多种，如树形表示法、文氏图表示法、凹入图表示法和广义表表示法</a:t>
            </a:r>
            <a:r>
              <a:rPr lang="zh-CN" altLang="en-US" sz="2000" b="1" dirty="0">
                <a:solidFill>
                  <a:srgbClr val="11373F"/>
                </a:solidFill>
                <a:latin typeface="Arial" panose="020B0604020202020204"/>
                <a:ea typeface="黑体" panose="02010609060101010101" pitchFamily="49" charset="-122"/>
              </a:rPr>
              <a:t>。</a:t>
            </a:r>
            <a:endParaRPr lang="zh-CN" altLang="en-US" sz="2000" b="1" dirty="0">
              <a:solidFill>
                <a:srgbClr val="11373F"/>
              </a:solidFill>
              <a:latin typeface="Arial" panose="020B0604020202020204"/>
              <a:ea typeface="黑体" panose="02010609060101010101" pitchFamily="49" charset="-122"/>
              <a:sym typeface="+mn-ea"/>
            </a:endParaRPr>
          </a:p>
        </p:txBody>
      </p:sp>
      <p:grpSp>
        <p:nvGrpSpPr>
          <p:cNvPr id="11" name="Group 67"/>
          <p:cNvGrpSpPr/>
          <p:nvPr/>
        </p:nvGrpSpPr>
        <p:grpSpPr>
          <a:xfrm rot="16200000">
            <a:off x="5666771" y="185725"/>
            <a:ext cx="307004" cy="2356562"/>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 name="Group 55"/>
          <p:cNvGrpSpPr/>
          <p:nvPr/>
        </p:nvGrpSpPr>
        <p:grpSpPr>
          <a:xfrm rot="16200000" flipH="1">
            <a:off x="4563110" y="942147"/>
            <a:ext cx="302895" cy="4800600"/>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 name="Group 31"/>
          <p:cNvGrpSpPr/>
          <p:nvPr/>
        </p:nvGrpSpPr>
        <p:grpSpPr>
          <a:xfrm rot="16200000">
            <a:off x="6278526" y="2002483"/>
            <a:ext cx="309529" cy="1127030"/>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7" name="Group 31"/>
          <p:cNvGrpSpPr/>
          <p:nvPr/>
        </p:nvGrpSpPr>
        <p:grpSpPr>
          <a:xfrm rot="16200000">
            <a:off x="6374411" y="4338250"/>
            <a:ext cx="309529" cy="1127030"/>
            <a:chOff x="5502862" y="5355294"/>
            <a:chExt cx="412706" cy="1502706"/>
          </a:xfrm>
        </p:grpSpPr>
        <p:sp>
          <p:nvSpPr>
            <p:cNvPr id="9"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4" name="Group 43"/>
          <p:cNvGrpSpPr/>
          <p:nvPr/>
        </p:nvGrpSpPr>
        <p:grpSpPr>
          <a:xfrm rot="16200000">
            <a:off x="5260975" y="3768809"/>
            <a:ext cx="305435" cy="3351530"/>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pic>
        <p:nvPicPr>
          <p:cNvPr id="89" name="图片 88"/>
          <p:cNvPicPr>
            <a:picLocks noChangeAspect="1"/>
          </p:cNvPicPr>
          <p:nvPr/>
        </p:nvPicPr>
        <p:blipFill>
          <a:blip r:embed="rId1">
            <a:duotone>
              <a:schemeClr val="accent2">
                <a:shade val="45000"/>
                <a:satMod val="135000"/>
              </a:schemeClr>
              <a:prstClr val="white"/>
            </a:duotone>
          </a:blip>
          <a:stretch>
            <a:fillRect/>
          </a:stretch>
        </p:blipFill>
        <p:spPr>
          <a:xfrm>
            <a:off x="7987458" y="1202502"/>
            <a:ext cx="3518084" cy="1812642"/>
          </a:xfrm>
          <a:prstGeom prst="rect">
            <a:avLst/>
          </a:prstGeom>
        </p:spPr>
      </p:pic>
      <p:pic>
        <p:nvPicPr>
          <p:cNvPr id="90" name="图片 89"/>
          <p:cNvPicPr>
            <a:picLocks noChangeAspect="1"/>
          </p:cNvPicPr>
          <p:nvPr/>
        </p:nvPicPr>
        <p:blipFill>
          <a:blip r:embed="rId2">
            <a:duotone>
              <a:schemeClr val="accent4">
                <a:shade val="45000"/>
                <a:satMod val="135000"/>
              </a:schemeClr>
              <a:prstClr val="white"/>
            </a:duotone>
          </a:blip>
          <a:stretch>
            <a:fillRect/>
          </a:stretch>
        </p:blipFill>
        <p:spPr>
          <a:xfrm>
            <a:off x="8011430" y="3622036"/>
            <a:ext cx="3967824" cy="20622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p:cNvPicPr>
            <a:picLocks noChangeAspect="1"/>
          </p:cNvPicPr>
          <p:nvPr/>
        </p:nvPicPr>
        <p:blipFill>
          <a:blip r:embed="rId1">
            <a:duotone>
              <a:schemeClr val="accent1">
                <a:shade val="45000"/>
                <a:satMod val="135000"/>
              </a:schemeClr>
              <a:prstClr val="white"/>
            </a:duotone>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1563594" y="2310944"/>
            <a:ext cx="2398226" cy="2253305"/>
          </a:xfrm>
          <a:prstGeom prst="rect">
            <a:avLst/>
          </a:prstGeom>
        </p:spPr>
      </p:pic>
      <p:sp>
        <p:nvSpPr>
          <p:cNvPr id="2" name="标题 1"/>
          <p:cNvSpPr>
            <a:spLocks noGrp="1"/>
          </p:cNvSpPr>
          <p:nvPr>
            <p:ph type="title"/>
          </p:nvPr>
        </p:nvSpPr>
        <p:spPr>
          <a:xfrm>
            <a:off x="180000" y="311567"/>
            <a:ext cx="11833200" cy="700405"/>
          </a:xfrm>
        </p:spPr>
        <p:txBody>
          <a:bodyPr/>
          <a:lstStyle/>
          <a:p>
            <a:r>
              <a:rPr lang="en-US" altLang="zh-CN" dirty="0"/>
              <a:t>1.2 </a:t>
            </a:r>
            <a:r>
              <a:rPr lang="zh-CN" altLang="en-US" dirty="0"/>
              <a:t>树的术语</a:t>
            </a:r>
            <a:endParaRPr lang="zh-CN" altLang="en-US" dirty="0"/>
          </a:p>
        </p:txBody>
      </p:sp>
      <p:sp>
        <p:nvSpPr>
          <p:cNvPr id="19" name="弧形 18"/>
          <p:cNvSpPr/>
          <p:nvPr/>
        </p:nvSpPr>
        <p:spPr>
          <a:xfrm>
            <a:off x="1226185" y="2149475"/>
            <a:ext cx="2905125" cy="2948305"/>
          </a:xfrm>
          <a:prstGeom prst="arc">
            <a:avLst>
              <a:gd name="adj1" fmla="val 21244691"/>
              <a:gd name="adj2" fmla="val 15268458"/>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1" name="弧形 20"/>
          <p:cNvSpPr/>
          <p:nvPr/>
        </p:nvSpPr>
        <p:spPr>
          <a:xfrm>
            <a:off x="842010" y="1758950"/>
            <a:ext cx="3674110" cy="3728720"/>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2" name="椭圆 21"/>
          <p:cNvSpPr/>
          <p:nvPr/>
        </p:nvSpPr>
        <p:spPr>
          <a:xfrm>
            <a:off x="3686810" y="208216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3" name="任意多边形: 形状 36"/>
          <p:cNvSpPr/>
          <p:nvPr/>
        </p:nvSpPr>
        <p:spPr bwMode="auto">
          <a:xfrm>
            <a:off x="3870325" y="226377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5" name="椭圆 24"/>
          <p:cNvSpPr/>
          <p:nvPr/>
        </p:nvSpPr>
        <p:spPr>
          <a:xfrm>
            <a:off x="1258570" y="428942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6" name="任意多边形: 形状 38"/>
          <p:cNvSpPr/>
          <p:nvPr/>
        </p:nvSpPr>
        <p:spPr bwMode="auto">
          <a:xfrm>
            <a:off x="1442720" y="447103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7" name="弧形 26"/>
          <p:cNvSpPr/>
          <p:nvPr/>
        </p:nvSpPr>
        <p:spPr>
          <a:xfrm rot="5400000">
            <a:off x="302941" y="1243920"/>
            <a:ext cx="4663666" cy="4631372"/>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8" name="椭圆 27"/>
          <p:cNvSpPr/>
          <p:nvPr/>
        </p:nvSpPr>
        <p:spPr>
          <a:xfrm>
            <a:off x="4552950" y="3328670"/>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9" name="任意多边形: 形状 41"/>
          <p:cNvSpPr/>
          <p:nvPr/>
        </p:nvSpPr>
        <p:spPr bwMode="auto">
          <a:xfrm>
            <a:off x="4737100" y="351472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0" name="文本框 42"/>
          <p:cNvSpPr txBox="1"/>
          <p:nvPr/>
        </p:nvSpPr>
        <p:spPr>
          <a:xfrm>
            <a:off x="4342765" y="391858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结点的度</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1" name="文本框 43"/>
          <p:cNvSpPr txBox="1"/>
          <p:nvPr/>
        </p:nvSpPr>
        <p:spPr>
          <a:xfrm>
            <a:off x="3475990" y="266509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b="1" dirty="0">
                <a:solidFill>
                  <a:prstClr val="black"/>
                </a:solidFill>
                <a:latin typeface="Arial" panose="020B0604020202020204"/>
                <a:ea typeface="黑体" panose="02010609060101010101" pitchFamily="49" charset="-122"/>
                <a:cs typeface="+mn-ea"/>
                <a:sym typeface="+mn-lt"/>
              </a:rPr>
              <a:t>结</a:t>
            </a: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点的长度</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2" name="文本框 44"/>
          <p:cNvSpPr txBox="1"/>
          <p:nvPr/>
        </p:nvSpPr>
        <p:spPr>
          <a:xfrm>
            <a:off x="1048385" y="487870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b="1" dirty="0">
                <a:solidFill>
                  <a:prstClr val="black"/>
                </a:solidFill>
                <a:latin typeface="Arial" panose="020B0604020202020204"/>
                <a:ea typeface="黑体" panose="02010609060101010101" pitchFamily="49" charset="-122"/>
                <a:cs typeface="+mn-ea"/>
                <a:sym typeface="+mn-lt"/>
              </a:rPr>
              <a:t>结</a:t>
            </a: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4" name="文本框 16"/>
          <p:cNvSpPr txBox="1"/>
          <p:nvPr/>
        </p:nvSpPr>
        <p:spPr>
          <a:xfrm>
            <a:off x="5657303" y="949506"/>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构成树的数据元素，就是其他数据结构中存储的数据项，在树形表示法中用圆圈表示。</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36" name="椭圆 35"/>
          <p:cNvSpPr/>
          <p:nvPr/>
        </p:nvSpPr>
        <p:spPr>
          <a:xfrm>
            <a:off x="2894965" y="5361305"/>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37" name="任意多边形: 形状 41"/>
          <p:cNvSpPr/>
          <p:nvPr/>
        </p:nvSpPr>
        <p:spPr bwMode="auto">
          <a:xfrm>
            <a:off x="3078480" y="554799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9" name="文本框 42"/>
          <p:cNvSpPr txBox="1"/>
          <p:nvPr/>
        </p:nvSpPr>
        <p:spPr>
          <a:xfrm>
            <a:off x="2685415" y="6018530"/>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结点的路径</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12" name="任意多边形 126"/>
          <p:cNvSpPr/>
          <p:nvPr/>
        </p:nvSpPr>
        <p:spPr bwMode="auto">
          <a:xfrm>
            <a:off x="5546838" y="773193"/>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 name="任意多边形 126"/>
          <p:cNvSpPr/>
          <p:nvPr/>
        </p:nvSpPr>
        <p:spPr bwMode="auto">
          <a:xfrm flipV="1">
            <a:off x="7417140" y="1646275"/>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 name="文本框 4"/>
          <p:cNvSpPr txBox="1"/>
          <p:nvPr/>
        </p:nvSpPr>
        <p:spPr>
          <a:xfrm>
            <a:off x="5707667" y="308368"/>
            <a:ext cx="914400" cy="461665"/>
          </a:xfrm>
          <a:prstGeom prst="rect">
            <a:avLst/>
          </a:prstGeom>
          <a:noFill/>
        </p:spPr>
        <p:txBody>
          <a:bodyPr wrap="square" rtlCol="0">
            <a:spAutoFit/>
          </a:bodyPr>
          <a:lstStyle/>
          <a:p>
            <a:r>
              <a:rPr lang="zh-CN" altLang="en-US" sz="2400" b="1" dirty="0"/>
              <a:t>结点</a:t>
            </a:r>
            <a:endParaRPr lang="zh-CN" altLang="en-US" sz="2400" b="1" dirty="0"/>
          </a:p>
        </p:txBody>
      </p:sp>
      <p:sp>
        <p:nvSpPr>
          <p:cNvPr id="55" name="文本框 16"/>
          <p:cNvSpPr txBox="1"/>
          <p:nvPr/>
        </p:nvSpPr>
        <p:spPr>
          <a:xfrm>
            <a:off x="5657302" y="2408726"/>
            <a:ext cx="6214679" cy="724237"/>
          </a:xfrm>
          <a:prstGeom prst="rect">
            <a:avLst/>
          </a:prstGeom>
          <a:noFill/>
        </p:spPr>
        <p:txBody>
          <a:bodyPr wrap="square"/>
          <a:lstStyle/>
          <a:p>
            <a:pPr indent="0" algn="just">
              <a:buNone/>
            </a:pPr>
            <a:r>
              <a:rPr lang="zh-CN" altLang="zh-CN" dirty="0">
                <a:solidFill>
                  <a:prstClr val="black"/>
                </a:solidFill>
                <a:latin typeface="微软雅黑" panose="020B0503020204020204" charset="-122"/>
                <a:ea typeface="微软雅黑" panose="020B0503020204020204" charset="-122"/>
              </a:rPr>
              <a:t>从根结点到该结点所经过结点的顺序排列。</a:t>
            </a:r>
            <a:endParaRPr lang="zh-CN" altLang="zh-CN" dirty="0">
              <a:solidFill>
                <a:prstClr val="black"/>
              </a:solidFill>
              <a:latin typeface="微软雅黑" panose="020B0503020204020204" charset="-122"/>
              <a:ea typeface="微软雅黑" panose="020B0503020204020204" charset="-122"/>
            </a:endParaRPr>
          </a:p>
        </p:txBody>
      </p:sp>
      <p:sp>
        <p:nvSpPr>
          <p:cNvPr id="56" name="任意多边形 126"/>
          <p:cNvSpPr/>
          <p:nvPr/>
        </p:nvSpPr>
        <p:spPr bwMode="auto">
          <a:xfrm>
            <a:off x="5546837" y="2232413"/>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7" name="任意多边形 126"/>
          <p:cNvSpPr/>
          <p:nvPr/>
        </p:nvSpPr>
        <p:spPr bwMode="auto">
          <a:xfrm flipV="1">
            <a:off x="7417139" y="2810921"/>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8" name="文本框 57"/>
          <p:cNvSpPr txBox="1"/>
          <p:nvPr/>
        </p:nvSpPr>
        <p:spPr>
          <a:xfrm>
            <a:off x="5707665" y="1767588"/>
            <a:ext cx="2337827" cy="461665"/>
          </a:xfrm>
          <a:prstGeom prst="rect">
            <a:avLst/>
          </a:prstGeom>
          <a:noFill/>
        </p:spPr>
        <p:txBody>
          <a:bodyPr wrap="square" rtlCol="0">
            <a:spAutoFit/>
          </a:bodyPr>
          <a:lstStyle/>
          <a:p>
            <a:r>
              <a:rPr lang="zh-CN" altLang="en-US" sz="2400" b="1" dirty="0"/>
              <a:t>结点的路径</a:t>
            </a:r>
            <a:endParaRPr lang="zh-CN" altLang="en-US" sz="2400" b="1" dirty="0"/>
          </a:p>
        </p:txBody>
      </p:sp>
      <p:sp>
        <p:nvSpPr>
          <p:cNvPr id="59" name="文本框 16"/>
          <p:cNvSpPr txBox="1"/>
          <p:nvPr/>
        </p:nvSpPr>
        <p:spPr>
          <a:xfrm>
            <a:off x="5657301" y="3663863"/>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路径中包含的分支数。</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60" name="任意多边形 126"/>
          <p:cNvSpPr/>
          <p:nvPr/>
        </p:nvSpPr>
        <p:spPr bwMode="auto">
          <a:xfrm>
            <a:off x="5546836" y="3487550"/>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1" name="任意多边形 126"/>
          <p:cNvSpPr/>
          <p:nvPr/>
        </p:nvSpPr>
        <p:spPr bwMode="auto">
          <a:xfrm flipV="1">
            <a:off x="7417138" y="4047647"/>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2" name="文本框 61"/>
          <p:cNvSpPr txBox="1"/>
          <p:nvPr/>
        </p:nvSpPr>
        <p:spPr>
          <a:xfrm>
            <a:off x="5707665" y="3022725"/>
            <a:ext cx="2564892" cy="461665"/>
          </a:xfrm>
          <a:prstGeom prst="rect">
            <a:avLst/>
          </a:prstGeom>
          <a:noFill/>
        </p:spPr>
        <p:txBody>
          <a:bodyPr wrap="square" rtlCol="0">
            <a:spAutoFit/>
          </a:bodyPr>
          <a:lstStyle/>
          <a:p>
            <a:r>
              <a:rPr lang="zh-CN" altLang="en-US" sz="2400" b="1" dirty="0"/>
              <a:t>路径的长度</a:t>
            </a:r>
            <a:endParaRPr lang="zh-CN" altLang="en-US" sz="2400" b="1" dirty="0"/>
          </a:p>
        </p:txBody>
      </p:sp>
      <p:sp>
        <p:nvSpPr>
          <p:cNvPr id="63" name="文本框 16"/>
          <p:cNvSpPr txBox="1"/>
          <p:nvPr/>
        </p:nvSpPr>
        <p:spPr>
          <a:xfrm>
            <a:off x="5639410" y="4798675"/>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结点拥有的子树的数目。</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64" name="任意多边形 126"/>
          <p:cNvSpPr/>
          <p:nvPr/>
        </p:nvSpPr>
        <p:spPr bwMode="auto">
          <a:xfrm>
            <a:off x="5528945" y="4622362"/>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5" name="任意多边形 126"/>
          <p:cNvSpPr/>
          <p:nvPr/>
        </p:nvSpPr>
        <p:spPr bwMode="auto">
          <a:xfrm flipV="1">
            <a:off x="7399247" y="5170185"/>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6" name="文本框 65"/>
          <p:cNvSpPr txBox="1"/>
          <p:nvPr/>
        </p:nvSpPr>
        <p:spPr>
          <a:xfrm>
            <a:off x="5689773" y="4157537"/>
            <a:ext cx="1662247" cy="461665"/>
          </a:xfrm>
          <a:prstGeom prst="rect">
            <a:avLst/>
          </a:prstGeom>
          <a:noFill/>
        </p:spPr>
        <p:txBody>
          <a:bodyPr wrap="square" rtlCol="0">
            <a:spAutoFit/>
          </a:bodyPr>
          <a:lstStyle/>
          <a:p>
            <a:r>
              <a:rPr lang="zh-CN" altLang="en-US" sz="2400" b="1" dirty="0"/>
              <a:t>结点的度</a:t>
            </a:r>
            <a:endParaRPr lang="zh-CN" altLang="en-US" sz="2400" b="1" dirty="0"/>
          </a:p>
        </p:txBody>
      </p:sp>
      <p:sp>
        <p:nvSpPr>
          <p:cNvPr id="67" name="椭圆 66"/>
          <p:cNvSpPr/>
          <p:nvPr/>
        </p:nvSpPr>
        <p:spPr>
          <a:xfrm>
            <a:off x="1397172" y="1840409"/>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68" name="任意多边形: 形状 41"/>
          <p:cNvSpPr/>
          <p:nvPr/>
        </p:nvSpPr>
        <p:spPr bwMode="auto">
          <a:xfrm>
            <a:off x="1580687" y="2027099"/>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69" name="文本框 42"/>
          <p:cNvSpPr txBox="1"/>
          <p:nvPr/>
        </p:nvSpPr>
        <p:spPr>
          <a:xfrm>
            <a:off x="1187622" y="2497634"/>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树的度</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70" name="文本框 16"/>
          <p:cNvSpPr txBox="1"/>
          <p:nvPr/>
        </p:nvSpPr>
        <p:spPr>
          <a:xfrm>
            <a:off x="5698627" y="6010522"/>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en-US" dirty="0">
                <a:solidFill>
                  <a:prstClr val="black"/>
                </a:solidFill>
                <a:latin typeface="微软雅黑" panose="020B0503020204020204" charset="-122"/>
                <a:ea typeface="微软雅黑" panose="020B0503020204020204" charset="-122"/>
              </a:rPr>
              <a:t>树中所有结点的度的最大值</a:t>
            </a:r>
            <a:r>
              <a:rPr lang="zh-CN" altLang="zh-CN" dirty="0">
                <a:solidFill>
                  <a:prstClr val="black"/>
                </a:solidFill>
                <a:latin typeface="微软雅黑" panose="020B0503020204020204" charset="-122"/>
                <a:ea typeface="微软雅黑" panose="020B0503020204020204" charset="-122"/>
              </a:rPr>
              <a:t>。</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71" name="任意多边形 126"/>
          <p:cNvSpPr/>
          <p:nvPr/>
        </p:nvSpPr>
        <p:spPr bwMode="auto">
          <a:xfrm>
            <a:off x="5588162" y="5834209"/>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72" name="任意多边形 126"/>
          <p:cNvSpPr/>
          <p:nvPr/>
        </p:nvSpPr>
        <p:spPr bwMode="auto">
          <a:xfrm flipV="1">
            <a:off x="7458464" y="6382032"/>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73" name="文本框 72"/>
          <p:cNvSpPr txBox="1"/>
          <p:nvPr/>
        </p:nvSpPr>
        <p:spPr>
          <a:xfrm>
            <a:off x="5748990" y="5369384"/>
            <a:ext cx="1662247" cy="461665"/>
          </a:xfrm>
          <a:prstGeom prst="rect">
            <a:avLst/>
          </a:prstGeom>
          <a:noFill/>
        </p:spPr>
        <p:txBody>
          <a:bodyPr wrap="square" rtlCol="0">
            <a:spAutoFit/>
          </a:bodyPr>
          <a:lstStyle/>
          <a:p>
            <a:r>
              <a:rPr lang="zh-CN" altLang="en-US" sz="2400" b="1" dirty="0"/>
              <a:t>树的度</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p:cNvPicPr>
            <a:picLocks noChangeAspect="1"/>
          </p:cNvPicPr>
          <p:nvPr/>
        </p:nvPicPr>
        <p:blipFill>
          <a:blip r:embed="rId1">
            <a:duotone>
              <a:schemeClr val="accent1">
                <a:shade val="45000"/>
                <a:satMod val="135000"/>
              </a:schemeClr>
              <a:prstClr val="white"/>
            </a:duotone>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8431515" y="2473831"/>
            <a:ext cx="2398226" cy="2253305"/>
          </a:xfrm>
          <a:prstGeom prst="rect">
            <a:avLst/>
          </a:prstGeom>
        </p:spPr>
      </p:pic>
      <p:sp>
        <p:nvSpPr>
          <p:cNvPr id="2" name="标题 1"/>
          <p:cNvSpPr>
            <a:spLocks noGrp="1"/>
          </p:cNvSpPr>
          <p:nvPr>
            <p:ph type="title"/>
          </p:nvPr>
        </p:nvSpPr>
        <p:spPr>
          <a:xfrm>
            <a:off x="180000" y="311567"/>
            <a:ext cx="11833200" cy="700405"/>
          </a:xfrm>
        </p:spPr>
        <p:txBody>
          <a:bodyPr/>
          <a:lstStyle/>
          <a:p>
            <a:r>
              <a:rPr lang="en-US" altLang="zh-CN" dirty="0"/>
              <a:t>1.2 </a:t>
            </a:r>
            <a:r>
              <a:rPr lang="zh-CN" altLang="en-US" dirty="0"/>
              <a:t>树的术语</a:t>
            </a:r>
            <a:endParaRPr lang="zh-CN" altLang="en-US" dirty="0"/>
          </a:p>
        </p:txBody>
      </p:sp>
      <p:sp>
        <p:nvSpPr>
          <p:cNvPr id="19" name="弧形 18"/>
          <p:cNvSpPr/>
          <p:nvPr/>
        </p:nvSpPr>
        <p:spPr>
          <a:xfrm>
            <a:off x="8095432" y="2236955"/>
            <a:ext cx="2905125" cy="2948305"/>
          </a:xfrm>
          <a:prstGeom prst="arc">
            <a:avLst>
              <a:gd name="adj1" fmla="val 21244691"/>
              <a:gd name="adj2" fmla="val 15268458"/>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1" name="弧形 20"/>
          <p:cNvSpPr/>
          <p:nvPr/>
        </p:nvSpPr>
        <p:spPr>
          <a:xfrm>
            <a:off x="7711257" y="1846430"/>
            <a:ext cx="3674110" cy="3728720"/>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2" name="椭圆 21"/>
          <p:cNvSpPr/>
          <p:nvPr/>
        </p:nvSpPr>
        <p:spPr>
          <a:xfrm>
            <a:off x="10556057" y="216964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3" name="任意多边形: 形状 36"/>
          <p:cNvSpPr/>
          <p:nvPr/>
        </p:nvSpPr>
        <p:spPr bwMode="auto">
          <a:xfrm>
            <a:off x="10739572" y="235125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5" name="椭圆 24"/>
          <p:cNvSpPr/>
          <p:nvPr/>
        </p:nvSpPr>
        <p:spPr>
          <a:xfrm>
            <a:off x="8127817" y="437690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6" name="任意多边形: 形状 38"/>
          <p:cNvSpPr/>
          <p:nvPr/>
        </p:nvSpPr>
        <p:spPr bwMode="auto">
          <a:xfrm>
            <a:off x="8311967" y="455851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7" name="弧形 26"/>
          <p:cNvSpPr/>
          <p:nvPr/>
        </p:nvSpPr>
        <p:spPr>
          <a:xfrm rot="5400000">
            <a:off x="7172188" y="1331400"/>
            <a:ext cx="4663666" cy="4631372"/>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1" name="文本框 43"/>
          <p:cNvSpPr txBox="1"/>
          <p:nvPr/>
        </p:nvSpPr>
        <p:spPr>
          <a:xfrm>
            <a:off x="10345237" y="275384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子结点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2" name="文本框 44"/>
          <p:cNvSpPr txBox="1"/>
          <p:nvPr/>
        </p:nvSpPr>
        <p:spPr>
          <a:xfrm>
            <a:off x="7917632" y="496618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分支结点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4" name="文本框 16"/>
          <p:cNvSpPr txBox="1"/>
          <p:nvPr/>
        </p:nvSpPr>
        <p:spPr>
          <a:xfrm>
            <a:off x="500651" y="2109618"/>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树中度为</a:t>
            </a:r>
            <a:r>
              <a:rPr lang="en-US" altLang="zh-CN" dirty="0">
                <a:solidFill>
                  <a:prstClr val="black"/>
                </a:solidFill>
                <a:latin typeface="微软雅黑" panose="020B0503020204020204" charset="-122"/>
                <a:ea typeface="微软雅黑" panose="020B0503020204020204" charset="-122"/>
              </a:rPr>
              <a:t>0</a:t>
            </a:r>
            <a:r>
              <a:rPr lang="zh-CN" altLang="zh-CN" dirty="0">
                <a:solidFill>
                  <a:prstClr val="black"/>
                </a:solidFill>
                <a:latin typeface="微软雅黑" panose="020B0503020204020204" charset="-122"/>
                <a:ea typeface="微软雅黑" panose="020B0503020204020204" charset="-122"/>
              </a:rPr>
              <a:t>的结点，也叫终端结点。</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36" name="椭圆 35"/>
          <p:cNvSpPr/>
          <p:nvPr/>
        </p:nvSpPr>
        <p:spPr>
          <a:xfrm>
            <a:off x="9764212" y="5448785"/>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37" name="任意多边形: 形状 41"/>
          <p:cNvSpPr/>
          <p:nvPr/>
        </p:nvSpPr>
        <p:spPr bwMode="auto">
          <a:xfrm>
            <a:off x="9947727" y="563547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9" name="文本框 42"/>
          <p:cNvSpPr txBox="1"/>
          <p:nvPr/>
        </p:nvSpPr>
        <p:spPr>
          <a:xfrm>
            <a:off x="9570300" y="6008931"/>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父结点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12" name="任意多边形 126"/>
          <p:cNvSpPr/>
          <p:nvPr/>
        </p:nvSpPr>
        <p:spPr bwMode="auto">
          <a:xfrm>
            <a:off x="390186" y="1933305"/>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 name="任意多边形 126"/>
          <p:cNvSpPr/>
          <p:nvPr/>
        </p:nvSpPr>
        <p:spPr bwMode="auto">
          <a:xfrm flipV="1">
            <a:off x="2260488" y="2573181"/>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 name="文本框 4"/>
          <p:cNvSpPr txBox="1"/>
          <p:nvPr/>
        </p:nvSpPr>
        <p:spPr>
          <a:xfrm>
            <a:off x="551014" y="1468480"/>
            <a:ext cx="139274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叶结点</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55" name="文本框 16"/>
          <p:cNvSpPr txBox="1"/>
          <p:nvPr/>
        </p:nvSpPr>
        <p:spPr>
          <a:xfrm>
            <a:off x="500650" y="3550427"/>
            <a:ext cx="6214679" cy="724237"/>
          </a:xfrm>
          <a:prstGeom prst="rect">
            <a:avLst/>
          </a:prstGeom>
          <a:noFill/>
        </p:spPr>
        <p:txBody>
          <a:bodyPr wrap="square"/>
          <a:lstStyle/>
          <a:p>
            <a:pPr indent="0" algn="just">
              <a:buNone/>
            </a:pPr>
            <a:r>
              <a:rPr lang="zh-CN" altLang="zh-CN" dirty="0">
                <a:solidFill>
                  <a:prstClr val="black"/>
                </a:solidFill>
                <a:latin typeface="微软雅黑" panose="020B0503020204020204" charset="-122"/>
                <a:ea typeface="微软雅黑" panose="020B0503020204020204" charset="-122"/>
              </a:rPr>
              <a:t>树中度不为</a:t>
            </a:r>
            <a:r>
              <a:rPr lang="en-US" altLang="zh-CN" dirty="0">
                <a:solidFill>
                  <a:prstClr val="black"/>
                </a:solidFill>
                <a:latin typeface="微软雅黑" panose="020B0503020204020204" charset="-122"/>
                <a:ea typeface="微软雅黑" panose="020B0503020204020204" charset="-122"/>
              </a:rPr>
              <a:t>0</a:t>
            </a:r>
            <a:r>
              <a:rPr lang="zh-CN" altLang="zh-CN" dirty="0">
                <a:solidFill>
                  <a:prstClr val="black"/>
                </a:solidFill>
                <a:latin typeface="微软雅黑" panose="020B0503020204020204" charset="-122"/>
                <a:ea typeface="微软雅黑" panose="020B0503020204020204" charset="-122"/>
              </a:rPr>
              <a:t>的结点，也叫非终端结点。</a:t>
            </a:r>
            <a:endParaRPr lang="zh-CN" altLang="zh-CN" dirty="0">
              <a:solidFill>
                <a:prstClr val="black"/>
              </a:solidFill>
              <a:latin typeface="微软雅黑" panose="020B0503020204020204" charset="-122"/>
              <a:ea typeface="微软雅黑" panose="020B0503020204020204" charset="-122"/>
            </a:endParaRPr>
          </a:p>
        </p:txBody>
      </p:sp>
      <p:sp>
        <p:nvSpPr>
          <p:cNvPr id="56" name="任意多边形 126"/>
          <p:cNvSpPr/>
          <p:nvPr/>
        </p:nvSpPr>
        <p:spPr bwMode="auto">
          <a:xfrm>
            <a:off x="390185" y="3294333"/>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7" name="任意多边形 126"/>
          <p:cNvSpPr/>
          <p:nvPr/>
        </p:nvSpPr>
        <p:spPr bwMode="auto">
          <a:xfrm flipV="1">
            <a:off x="2260487" y="3983307"/>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8" name="文本框 57"/>
          <p:cNvSpPr txBox="1"/>
          <p:nvPr/>
        </p:nvSpPr>
        <p:spPr>
          <a:xfrm>
            <a:off x="551013" y="2755864"/>
            <a:ext cx="233782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分支结点</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59" name="文本框 16"/>
          <p:cNvSpPr txBox="1"/>
          <p:nvPr/>
        </p:nvSpPr>
        <p:spPr>
          <a:xfrm>
            <a:off x="500649" y="4823975"/>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en-US" altLang="zh-CN" dirty="0">
                <a:solidFill>
                  <a:prstClr val="black"/>
                </a:solidFill>
                <a:latin typeface="微软雅黑" panose="020B0503020204020204" charset="-122"/>
                <a:ea typeface="微软雅黑" panose="020B0503020204020204" charset="-122"/>
              </a:rPr>
              <a:t> </a:t>
            </a:r>
            <a:r>
              <a:rPr lang="zh-CN" altLang="zh-CN" dirty="0">
                <a:solidFill>
                  <a:prstClr val="black"/>
                </a:solidFill>
                <a:latin typeface="微软雅黑" panose="020B0503020204020204" charset="-122"/>
                <a:ea typeface="微软雅黑" panose="020B0503020204020204" charset="-122"/>
              </a:rPr>
              <a:t>结点的子树的根结点，也叫孩子结点。</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60" name="任意多边形 126"/>
          <p:cNvSpPr/>
          <p:nvPr/>
        </p:nvSpPr>
        <p:spPr bwMode="auto">
          <a:xfrm>
            <a:off x="390184" y="4629251"/>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1" name="任意多边形 126"/>
          <p:cNvSpPr/>
          <p:nvPr/>
        </p:nvSpPr>
        <p:spPr bwMode="auto">
          <a:xfrm flipV="1">
            <a:off x="2260486" y="5238444"/>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2" name="文本框 61"/>
          <p:cNvSpPr txBox="1"/>
          <p:nvPr/>
        </p:nvSpPr>
        <p:spPr>
          <a:xfrm>
            <a:off x="551013" y="4139878"/>
            <a:ext cx="25648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Arial" panose="020B0604020202020204"/>
                <a:ea typeface="黑体" panose="02010609060101010101" pitchFamily="49" charset="-122"/>
              </a:rPr>
              <a:t>子结点</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63" name="文本框 16"/>
          <p:cNvSpPr txBox="1"/>
          <p:nvPr/>
        </p:nvSpPr>
        <p:spPr>
          <a:xfrm>
            <a:off x="482758" y="5958787"/>
            <a:ext cx="6214679" cy="724237"/>
          </a:xfrm>
          <a:prstGeom prst="rect">
            <a:avLst/>
          </a:prstGeom>
          <a:noFill/>
        </p:spPr>
        <p:txBody>
          <a:bodyPr wrap="square"/>
          <a:lstStyle/>
          <a:p>
            <a:pPr indent="0" algn="just">
              <a:buNone/>
            </a:pPr>
            <a:r>
              <a:rPr lang="en-US" altLang="zh-CN" dirty="0">
                <a:solidFill>
                  <a:prstClr val="black"/>
                </a:solidFill>
                <a:latin typeface="微软雅黑" panose="020B0503020204020204" charset="-122"/>
                <a:ea typeface="微软雅黑" panose="020B0503020204020204" charset="-122"/>
              </a:rPr>
              <a:t> </a:t>
            </a:r>
            <a:r>
              <a:rPr lang="zh-CN" altLang="zh-CN" dirty="0">
                <a:solidFill>
                  <a:prstClr val="black"/>
                </a:solidFill>
                <a:latin typeface="微软雅黑" panose="020B0503020204020204" charset="-122"/>
                <a:ea typeface="微软雅黑" panose="020B0503020204020204" charset="-122"/>
              </a:rPr>
              <a:t>具有子结点的结点叫该子结点的父结点，也叫双亲结点。</a:t>
            </a:r>
            <a:endParaRPr lang="zh-CN" altLang="zh-CN" dirty="0">
              <a:solidFill>
                <a:prstClr val="black"/>
              </a:solidFill>
              <a:latin typeface="微软雅黑" panose="020B0503020204020204" charset="-122"/>
              <a:ea typeface="微软雅黑" panose="020B0503020204020204" charset="-122"/>
            </a:endParaRPr>
          </a:p>
        </p:txBody>
      </p:sp>
      <p:sp>
        <p:nvSpPr>
          <p:cNvPr id="64" name="任意多边形 126"/>
          <p:cNvSpPr/>
          <p:nvPr/>
        </p:nvSpPr>
        <p:spPr bwMode="auto">
          <a:xfrm>
            <a:off x="372293" y="5782474"/>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5" name="任意多边形 126"/>
          <p:cNvSpPr/>
          <p:nvPr/>
        </p:nvSpPr>
        <p:spPr bwMode="auto">
          <a:xfrm flipV="1">
            <a:off x="2242595" y="6360982"/>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6" name="文本框 65"/>
          <p:cNvSpPr txBox="1"/>
          <p:nvPr/>
        </p:nvSpPr>
        <p:spPr>
          <a:xfrm>
            <a:off x="533121" y="5317649"/>
            <a:ext cx="16622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父结点</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67" name="椭圆 66"/>
          <p:cNvSpPr/>
          <p:nvPr/>
        </p:nvSpPr>
        <p:spPr>
          <a:xfrm>
            <a:off x="8266419" y="1927889"/>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68" name="任意多边形: 形状 41"/>
          <p:cNvSpPr/>
          <p:nvPr/>
        </p:nvSpPr>
        <p:spPr bwMode="auto">
          <a:xfrm>
            <a:off x="8449934" y="2114579"/>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69" name="文本框 42"/>
          <p:cNvSpPr txBox="1"/>
          <p:nvPr/>
        </p:nvSpPr>
        <p:spPr>
          <a:xfrm>
            <a:off x="8056869" y="2585114"/>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叶结点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p:cNvPicPr>
            <a:picLocks noChangeAspect="1"/>
          </p:cNvPicPr>
          <p:nvPr/>
        </p:nvPicPr>
        <p:blipFill>
          <a:blip r:embed="rId1">
            <a:duotone>
              <a:schemeClr val="accent1">
                <a:shade val="45000"/>
                <a:satMod val="135000"/>
              </a:schemeClr>
              <a:prstClr val="white"/>
            </a:duotone>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1563594" y="2310944"/>
            <a:ext cx="2398226" cy="2253305"/>
          </a:xfrm>
          <a:prstGeom prst="rect">
            <a:avLst/>
          </a:prstGeom>
        </p:spPr>
      </p:pic>
      <p:sp>
        <p:nvSpPr>
          <p:cNvPr id="2" name="标题 1"/>
          <p:cNvSpPr>
            <a:spLocks noGrp="1"/>
          </p:cNvSpPr>
          <p:nvPr>
            <p:ph type="title"/>
          </p:nvPr>
        </p:nvSpPr>
        <p:spPr>
          <a:xfrm>
            <a:off x="180000" y="311567"/>
            <a:ext cx="11833200" cy="700405"/>
          </a:xfrm>
        </p:spPr>
        <p:txBody>
          <a:bodyPr/>
          <a:lstStyle/>
          <a:p>
            <a:r>
              <a:rPr lang="en-US" altLang="zh-CN" dirty="0"/>
              <a:t>1.2 </a:t>
            </a:r>
            <a:r>
              <a:rPr lang="zh-CN" altLang="en-US" dirty="0"/>
              <a:t>树的术语</a:t>
            </a:r>
            <a:endParaRPr lang="zh-CN" altLang="en-US" dirty="0"/>
          </a:p>
        </p:txBody>
      </p:sp>
      <p:sp>
        <p:nvSpPr>
          <p:cNvPr id="19" name="弧形 18"/>
          <p:cNvSpPr/>
          <p:nvPr/>
        </p:nvSpPr>
        <p:spPr>
          <a:xfrm>
            <a:off x="1226185" y="2149475"/>
            <a:ext cx="2905125" cy="2948305"/>
          </a:xfrm>
          <a:prstGeom prst="arc">
            <a:avLst>
              <a:gd name="adj1" fmla="val 21244691"/>
              <a:gd name="adj2" fmla="val 15268458"/>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1" name="弧形 20"/>
          <p:cNvSpPr/>
          <p:nvPr/>
        </p:nvSpPr>
        <p:spPr>
          <a:xfrm>
            <a:off x="842010" y="1758950"/>
            <a:ext cx="3674110" cy="3728720"/>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2" name="椭圆 21"/>
          <p:cNvSpPr/>
          <p:nvPr/>
        </p:nvSpPr>
        <p:spPr>
          <a:xfrm>
            <a:off x="3686810" y="208216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3" name="任意多边形: 形状 36"/>
          <p:cNvSpPr/>
          <p:nvPr/>
        </p:nvSpPr>
        <p:spPr bwMode="auto">
          <a:xfrm>
            <a:off x="3870325" y="226377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5" name="椭圆 24"/>
          <p:cNvSpPr/>
          <p:nvPr/>
        </p:nvSpPr>
        <p:spPr>
          <a:xfrm>
            <a:off x="1258570" y="428942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6" name="任意多边形: 形状 38"/>
          <p:cNvSpPr/>
          <p:nvPr/>
        </p:nvSpPr>
        <p:spPr bwMode="auto">
          <a:xfrm>
            <a:off x="1442720" y="447103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7" name="弧形 26"/>
          <p:cNvSpPr/>
          <p:nvPr/>
        </p:nvSpPr>
        <p:spPr>
          <a:xfrm rot="5400000">
            <a:off x="302941" y="1243920"/>
            <a:ext cx="4663666" cy="4631372"/>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1" name="文本框 43"/>
          <p:cNvSpPr txBox="1"/>
          <p:nvPr/>
        </p:nvSpPr>
        <p:spPr>
          <a:xfrm>
            <a:off x="3475990" y="266509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兄弟结点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2" name="文本框 44"/>
          <p:cNvSpPr txBox="1"/>
          <p:nvPr/>
        </p:nvSpPr>
        <p:spPr>
          <a:xfrm>
            <a:off x="1048385" y="487870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祖先结点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4" name="文本框 16"/>
          <p:cNvSpPr txBox="1"/>
          <p:nvPr/>
        </p:nvSpPr>
        <p:spPr>
          <a:xfrm>
            <a:off x="5418283" y="1706087"/>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结点的子树中的任意结点</a:t>
            </a:r>
            <a:r>
              <a:rPr lang="zh-CN" altLang="en-US" dirty="0">
                <a:solidFill>
                  <a:prstClr val="black"/>
                </a:solidFill>
                <a:latin typeface="微软雅黑" panose="020B0503020204020204" charset="-122"/>
                <a:ea typeface="微软雅黑" panose="020B0503020204020204" charset="-122"/>
              </a:rPr>
              <a:t>。</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36" name="椭圆 35"/>
          <p:cNvSpPr/>
          <p:nvPr/>
        </p:nvSpPr>
        <p:spPr>
          <a:xfrm>
            <a:off x="2894965" y="5361305"/>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37" name="任意多边形: 形状 41"/>
          <p:cNvSpPr/>
          <p:nvPr/>
        </p:nvSpPr>
        <p:spPr bwMode="auto">
          <a:xfrm>
            <a:off x="3078480" y="554799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9" name="文本框 42"/>
          <p:cNvSpPr txBox="1"/>
          <p:nvPr/>
        </p:nvSpPr>
        <p:spPr>
          <a:xfrm>
            <a:off x="2685415" y="6018530"/>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结点的层次</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12" name="任意多边形 126"/>
          <p:cNvSpPr/>
          <p:nvPr/>
        </p:nvSpPr>
        <p:spPr bwMode="auto">
          <a:xfrm>
            <a:off x="5307818" y="1529774"/>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 name="任意多边形 126"/>
          <p:cNvSpPr/>
          <p:nvPr/>
        </p:nvSpPr>
        <p:spPr bwMode="auto">
          <a:xfrm flipV="1">
            <a:off x="7178120" y="2169650"/>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 name="文本框 4"/>
          <p:cNvSpPr txBox="1"/>
          <p:nvPr/>
        </p:nvSpPr>
        <p:spPr>
          <a:xfrm>
            <a:off x="5468646" y="1046538"/>
            <a:ext cx="27121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子孙结点</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55" name="文本框 16"/>
          <p:cNvSpPr txBox="1"/>
          <p:nvPr/>
        </p:nvSpPr>
        <p:spPr>
          <a:xfrm>
            <a:off x="5418282" y="3146896"/>
            <a:ext cx="6214679" cy="724237"/>
          </a:xfrm>
          <a:prstGeom prst="rect">
            <a:avLst/>
          </a:prstGeom>
          <a:noFill/>
        </p:spPr>
        <p:txBody>
          <a:bodyPr wrap="square"/>
          <a:lstStyle/>
          <a:p>
            <a:pPr indent="0" algn="just">
              <a:buNone/>
            </a:pPr>
            <a:r>
              <a:rPr lang="zh-CN" altLang="zh-CN" dirty="0">
                <a:solidFill>
                  <a:prstClr val="black"/>
                </a:solidFill>
                <a:latin typeface="微软雅黑" panose="020B0503020204020204" charset="-122"/>
                <a:ea typeface="微软雅黑" panose="020B0503020204020204" charset="-122"/>
              </a:rPr>
              <a:t>结点的路径中除自身之外的所有结点。</a:t>
            </a:r>
            <a:endParaRPr lang="zh-CN" altLang="zh-CN" dirty="0">
              <a:solidFill>
                <a:prstClr val="black"/>
              </a:solidFill>
              <a:latin typeface="微软雅黑" panose="020B0503020204020204" charset="-122"/>
              <a:ea typeface="微软雅黑" panose="020B0503020204020204" charset="-122"/>
            </a:endParaRPr>
          </a:p>
        </p:txBody>
      </p:sp>
      <p:sp>
        <p:nvSpPr>
          <p:cNvPr id="56" name="任意多边形 126"/>
          <p:cNvSpPr/>
          <p:nvPr/>
        </p:nvSpPr>
        <p:spPr bwMode="auto">
          <a:xfrm>
            <a:off x="5307817" y="2927624"/>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7" name="任意多边形 126"/>
          <p:cNvSpPr/>
          <p:nvPr/>
        </p:nvSpPr>
        <p:spPr bwMode="auto">
          <a:xfrm flipV="1">
            <a:off x="7178119" y="3555228"/>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8" name="文本框 57"/>
          <p:cNvSpPr txBox="1"/>
          <p:nvPr/>
        </p:nvSpPr>
        <p:spPr>
          <a:xfrm>
            <a:off x="5468645" y="2438251"/>
            <a:ext cx="233782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祖先结点</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59" name="文本框 16"/>
          <p:cNvSpPr txBox="1"/>
          <p:nvPr/>
        </p:nvSpPr>
        <p:spPr>
          <a:xfrm>
            <a:off x="5418281" y="4377485"/>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和结点具有同一父结点的结点。</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60" name="任意多边形 126"/>
          <p:cNvSpPr/>
          <p:nvPr/>
        </p:nvSpPr>
        <p:spPr bwMode="auto">
          <a:xfrm>
            <a:off x="5307816" y="4213446"/>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1" name="任意多边形 126"/>
          <p:cNvSpPr/>
          <p:nvPr/>
        </p:nvSpPr>
        <p:spPr bwMode="auto">
          <a:xfrm flipV="1">
            <a:off x="7178118" y="4798091"/>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2" name="文本框 61"/>
          <p:cNvSpPr txBox="1"/>
          <p:nvPr/>
        </p:nvSpPr>
        <p:spPr>
          <a:xfrm>
            <a:off x="5468645" y="3742484"/>
            <a:ext cx="25648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Arial" panose="020B0604020202020204"/>
                <a:ea typeface="黑体" panose="02010609060101010101" pitchFamily="49" charset="-122"/>
              </a:rPr>
              <a:t>兄弟结点</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63" name="文本框 16"/>
          <p:cNvSpPr txBox="1"/>
          <p:nvPr/>
        </p:nvSpPr>
        <p:spPr>
          <a:xfrm>
            <a:off x="5400390" y="5776188"/>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树中根结点的层次为</a:t>
            </a:r>
            <a:r>
              <a:rPr lang="en-US" altLang="zh-CN" dirty="0">
                <a:solidFill>
                  <a:prstClr val="black"/>
                </a:solidFill>
                <a:latin typeface="微软雅黑" panose="020B0503020204020204" charset="-122"/>
                <a:ea typeface="微软雅黑" panose="020B0503020204020204" charset="-122"/>
              </a:rPr>
              <a:t>0</a:t>
            </a:r>
            <a:r>
              <a:rPr lang="zh-CN" altLang="zh-CN" dirty="0">
                <a:solidFill>
                  <a:prstClr val="black"/>
                </a:solidFill>
                <a:latin typeface="微软雅黑" panose="020B0503020204020204" charset="-122"/>
                <a:ea typeface="微软雅黑" panose="020B0503020204020204" charset="-122"/>
              </a:rPr>
              <a:t>，其他结点的层次是父结点的层次加</a:t>
            </a:r>
            <a:r>
              <a:rPr lang="en-US" altLang="zh-CN" dirty="0">
                <a:solidFill>
                  <a:prstClr val="black"/>
                </a:solidFill>
                <a:latin typeface="微软雅黑" panose="020B0503020204020204" charset="-122"/>
                <a:ea typeface="微软雅黑" panose="020B0503020204020204" charset="-122"/>
              </a:rPr>
              <a:t>1</a:t>
            </a:r>
            <a:r>
              <a:rPr lang="zh-CN" altLang="zh-CN" dirty="0">
                <a:solidFill>
                  <a:prstClr val="black"/>
                </a:solidFill>
                <a:latin typeface="微软雅黑" panose="020B0503020204020204" charset="-122"/>
                <a:ea typeface="微软雅黑" panose="020B0503020204020204" charset="-122"/>
              </a:rPr>
              <a:t>。</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64" name="任意多边形 126"/>
          <p:cNvSpPr/>
          <p:nvPr/>
        </p:nvSpPr>
        <p:spPr bwMode="auto">
          <a:xfrm>
            <a:off x="5289925" y="5544642"/>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5" name="任意多边形 126"/>
          <p:cNvSpPr/>
          <p:nvPr/>
        </p:nvSpPr>
        <p:spPr bwMode="auto">
          <a:xfrm flipV="1">
            <a:off x="7160227" y="6227477"/>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6" name="文本框 65"/>
          <p:cNvSpPr txBox="1"/>
          <p:nvPr/>
        </p:nvSpPr>
        <p:spPr>
          <a:xfrm>
            <a:off x="5450753" y="5012310"/>
            <a:ext cx="212251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结点的层次</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67" name="椭圆 66"/>
          <p:cNvSpPr/>
          <p:nvPr/>
        </p:nvSpPr>
        <p:spPr>
          <a:xfrm>
            <a:off x="1397172" y="1840409"/>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68" name="任意多边形: 形状 41"/>
          <p:cNvSpPr/>
          <p:nvPr/>
        </p:nvSpPr>
        <p:spPr bwMode="auto">
          <a:xfrm>
            <a:off x="1580687" y="2027099"/>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69" name="文本框 42"/>
          <p:cNvSpPr txBox="1"/>
          <p:nvPr/>
        </p:nvSpPr>
        <p:spPr>
          <a:xfrm>
            <a:off x="1187622" y="2497634"/>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b="1" dirty="0">
                <a:solidFill>
                  <a:prstClr val="black"/>
                </a:solidFill>
                <a:latin typeface="Arial" panose="020B0604020202020204"/>
                <a:ea typeface="黑体" panose="02010609060101010101" pitchFamily="49" charset="-122"/>
                <a:cs typeface="+mn-ea"/>
                <a:sym typeface="+mn-lt"/>
              </a:rPr>
              <a:t>子孙结点</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p:cNvPicPr>
            <a:picLocks noChangeAspect="1"/>
          </p:cNvPicPr>
          <p:nvPr/>
        </p:nvPicPr>
        <p:blipFill>
          <a:blip r:embed="rId1">
            <a:duotone>
              <a:schemeClr val="accent1">
                <a:shade val="45000"/>
                <a:satMod val="135000"/>
              </a:schemeClr>
              <a:prstClr val="white"/>
            </a:duotone>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8462608" y="2550946"/>
            <a:ext cx="2398226" cy="2253305"/>
          </a:xfrm>
          <a:prstGeom prst="rect">
            <a:avLst/>
          </a:prstGeom>
        </p:spPr>
      </p:pic>
      <p:sp>
        <p:nvSpPr>
          <p:cNvPr id="2" name="标题 1"/>
          <p:cNvSpPr>
            <a:spLocks noGrp="1"/>
          </p:cNvSpPr>
          <p:nvPr>
            <p:ph type="title"/>
          </p:nvPr>
        </p:nvSpPr>
        <p:spPr>
          <a:xfrm>
            <a:off x="180000" y="311567"/>
            <a:ext cx="11833200" cy="700405"/>
          </a:xfrm>
        </p:spPr>
        <p:txBody>
          <a:bodyPr/>
          <a:lstStyle/>
          <a:p>
            <a:r>
              <a:rPr lang="en-US" altLang="zh-CN" dirty="0"/>
              <a:t>1.2 </a:t>
            </a:r>
            <a:r>
              <a:rPr lang="zh-CN" altLang="en-US" dirty="0"/>
              <a:t>树的术语</a:t>
            </a:r>
            <a:endParaRPr lang="zh-CN" altLang="en-US" dirty="0"/>
          </a:p>
        </p:txBody>
      </p:sp>
      <p:sp>
        <p:nvSpPr>
          <p:cNvPr id="19" name="弧形 18"/>
          <p:cNvSpPr/>
          <p:nvPr/>
        </p:nvSpPr>
        <p:spPr>
          <a:xfrm>
            <a:off x="8095432" y="2236955"/>
            <a:ext cx="2905125" cy="2948305"/>
          </a:xfrm>
          <a:prstGeom prst="arc">
            <a:avLst>
              <a:gd name="adj1" fmla="val 21244691"/>
              <a:gd name="adj2" fmla="val 15268458"/>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1" name="弧形 20"/>
          <p:cNvSpPr/>
          <p:nvPr/>
        </p:nvSpPr>
        <p:spPr>
          <a:xfrm>
            <a:off x="7711257" y="1846430"/>
            <a:ext cx="3674110" cy="3728720"/>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2" name="椭圆 21"/>
          <p:cNvSpPr/>
          <p:nvPr/>
        </p:nvSpPr>
        <p:spPr>
          <a:xfrm>
            <a:off x="10556057" y="216964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3" name="任意多边形: 形状 36"/>
          <p:cNvSpPr/>
          <p:nvPr/>
        </p:nvSpPr>
        <p:spPr bwMode="auto">
          <a:xfrm>
            <a:off x="10739572" y="235125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5" name="椭圆 24"/>
          <p:cNvSpPr/>
          <p:nvPr/>
        </p:nvSpPr>
        <p:spPr>
          <a:xfrm>
            <a:off x="8127817" y="437690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26" name="任意多边形: 形状 38"/>
          <p:cNvSpPr/>
          <p:nvPr/>
        </p:nvSpPr>
        <p:spPr bwMode="auto">
          <a:xfrm>
            <a:off x="8311967" y="455851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27" name="弧形 26"/>
          <p:cNvSpPr/>
          <p:nvPr/>
        </p:nvSpPr>
        <p:spPr>
          <a:xfrm rot="5400000">
            <a:off x="7172188" y="1331400"/>
            <a:ext cx="4663666" cy="4631372"/>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1" name="文本框 43"/>
          <p:cNvSpPr txBox="1"/>
          <p:nvPr/>
        </p:nvSpPr>
        <p:spPr>
          <a:xfrm>
            <a:off x="10345237" y="275384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森林</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2" name="文本框 44"/>
          <p:cNvSpPr txBox="1"/>
          <p:nvPr/>
        </p:nvSpPr>
        <p:spPr>
          <a:xfrm>
            <a:off x="7917632" y="4966185"/>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b="1" dirty="0">
                <a:solidFill>
                  <a:prstClr val="black"/>
                </a:solidFill>
                <a:latin typeface="Arial" panose="020B0604020202020204"/>
                <a:ea typeface="黑体" panose="02010609060101010101" pitchFamily="49" charset="-122"/>
                <a:cs typeface="+mn-ea"/>
                <a:sym typeface="+mn-lt"/>
              </a:rPr>
              <a:t>有序树</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34" name="文本框 16"/>
          <p:cNvSpPr txBox="1"/>
          <p:nvPr/>
        </p:nvSpPr>
        <p:spPr>
          <a:xfrm>
            <a:off x="448829" y="1771452"/>
            <a:ext cx="6214679" cy="724237"/>
          </a:xfrm>
          <a:prstGeom prst="rect">
            <a:avLst/>
          </a:prstGeom>
          <a:noFill/>
        </p:spPr>
        <p:txBody>
          <a:bodyPr wrap="square"/>
          <a:lstStyle/>
          <a:p>
            <a:pPr marL="0" marR="0" lvl="0" indent="0" algn="l" defTabSz="914400" rtl="0" eaLnBrk="1" fontAlgn="auto" latinLnBrk="0" hangingPunct="1">
              <a:lnSpc>
                <a:spcPct val="120000"/>
              </a:lnSpc>
              <a:spcBef>
                <a:spcPct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树中所有结点的层次数的最大值加</a:t>
            </a:r>
            <a:r>
              <a:rPr lang="en-US" altLang="zh-CN" dirty="0">
                <a:solidFill>
                  <a:prstClr val="black"/>
                </a:solidFill>
                <a:latin typeface="微软雅黑" panose="020B0503020204020204" charset="-122"/>
                <a:ea typeface="微软雅黑" panose="020B0503020204020204" charset="-122"/>
              </a:rPr>
              <a:t>1</a:t>
            </a:r>
            <a:r>
              <a:rPr lang="zh-CN" altLang="zh-CN" dirty="0">
                <a:solidFill>
                  <a:prstClr val="black"/>
                </a:solidFill>
                <a:latin typeface="微软雅黑" panose="020B0503020204020204" charset="-122"/>
                <a:ea typeface="微软雅黑" panose="020B0503020204020204" charset="-122"/>
              </a:rPr>
              <a:t>。</a:t>
            </a:r>
            <a:endParaRPr lang="zh-CN" altLang="en-US" dirty="0">
              <a:solidFill>
                <a:prstClr val="black"/>
              </a:solidFill>
              <a:latin typeface="微软雅黑" panose="020B0503020204020204" charset="-122"/>
              <a:ea typeface="微软雅黑" panose="020B0503020204020204" charset="-122"/>
              <a:sym typeface="+mn-ea"/>
            </a:endParaRPr>
          </a:p>
        </p:txBody>
      </p:sp>
      <p:sp>
        <p:nvSpPr>
          <p:cNvPr id="36" name="椭圆 35"/>
          <p:cNvSpPr/>
          <p:nvPr/>
        </p:nvSpPr>
        <p:spPr>
          <a:xfrm>
            <a:off x="9764212" y="5448785"/>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37" name="任意多边形: 形状 41"/>
          <p:cNvSpPr/>
          <p:nvPr/>
        </p:nvSpPr>
        <p:spPr bwMode="auto">
          <a:xfrm>
            <a:off x="9947727" y="563547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39" name="文本框 42"/>
          <p:cNvSpPr txBox="1"/>
          <p:nvPr/>
        </p:nvSpPr>
        <p:spPr>
          <a:xfrm>
            <a:off x="9570300" y="6008931"/>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无序树</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
        <p:nvSpPr>
          <p:cNvPr id="12" name="任意多边形 126"/>
          <p:cNvSpPr/>
          <p:nvPr/>
        </p:nvSpPr>
        <p:spPr bwMode="auto">
          <a:xfrm>
            <a:off x="338364" y="1595139"/>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 name="任意多边形 126"/>
          <p:cNvSpPr/>
          <p:nvPr/>
        </p:nvSpPr>
        <p:spPr bwMode="auto">
          <a:xfrm flipV="1">
            <a:off x="2208666" y="2235015"/>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 name="文本框 4"/>
          <p:cNvSpPr txBox="1"/>
          <p:nvPr/>
        </p:nvSpPr>
        <p:spPr>
          <a:xfrm>
            <a:off x="499192" y="1130314"/>
            <a:ext cx="200194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Arial" panose="020B0604020202020204"/>
                <a:ea typeface="黑体" panose="02010609060101010101" pitchFamily="49" charset="-122"/>
              </a:rPr>
              <a:t>树的深度</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55" name="文本框 16"/>
          <p:cNvSpPr txBox="1"/>
          <p:nvPr/>
        </p:nvSpPr>
        <p:spPr>
          <a:xfrm>
            <a:off x="448829" y="3106231"/>
            <a:ext cx="6214679" cy="724237"/>
          </a:xfrm>
          <a:prstGeom prst="rect">
            <a:avLst/>
          </a:prstGeom>
          <a:noFill/>
        </p:spPr>
        <p:txBody>
          <a:bodyPr wrap="square"/>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zh-CN" dirty="0">
                <a:solidFill>
                  <a:prstClr val="black"/>
                </a:solidFill>
                <a:latin typeface="微软雅黑" panose="020B0503020204020204" charset="-122"/>
                <a:ea typeface="微软雅黑" panose="020B0503020204020204" charset="-122"/>
              </a:rPr>
              <a:t>树的各结点的所有子树具有次序关系，不可以改变位置。</a:t>
            </a:r>
            <a:endParaRPr lang="zh-CN" altLang="zh-CN" dirty="0">
              <a:solidFill>
                <a:prstClr val="black"/>
              </a:solidFill>
              <a:latin typeface="微软雅黑" panose="020B0503020204020204" charset="-122"/>
              <a:ea typeface="微软雅黑" panose="020B0503020204020204" charset="-122"/>
            </a:endParaRPr>
          </a:p>
        </p:txBody>
      </p:sp>
      <p:sp>
        <p:nvSpPr>
          <p:cNvPr id="56" name="任意多边形 126"/>
          <p:cNvSpPr/>
          <p:nvPr/>
        </p:nvSpPr>
        <p:spPr bwMode="auto">
          <a:xfrm>
            <a:off x="338364" y="2850137"/>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7" name="任意多边形 126"/>
          <p:cNvSpPr/>
          <p:nvPr/>
        </p:nvSpPr>
        <p:spPr bwMode="auto">
          <a:xfrm flipV="1">
            <a:off x="2208666" y="3539111"/>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58" name="文本框 57"/>
          <p:cNvSpPr txBox="1"/>
          <p:nvPr/>
        </p:nvSpPr>
        <p:spPr>
          <a:xfrm>
            <a:off x="499192" y="2366901"/>
            <a:ext cx="233782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Arial" panose="020B0604020202020204"/>
                <a:ea typeface="黑体" panose="02010609060101010101" pitchFamily="49" charset="-122"/>
              </a:rPr>
              <a:t>有序树</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59" name="文本框 16"/>
          <p:cNvSpPr txBox="1"/>
          <p:nvPr/>
        </p:nvSpPr>
        <p:spPr>
          <a:xfrm>
            <a:off x="399299" y="4497172"/>
            <a:ext cx="6214679" cy="724237"/>
          </a:xfrm>
          <a:prstGeom prst="rect">
            <a:avLst/>
          </a:prstGeom>
          <a:noFill/>
        </p:spPr>
        <p:txBody>
          <a:bodyPr wrap="square"/>
          <a:lstStyle/>
          <a:p>
            <a:pPr>
              <a:lnSpc>
                <a:spcPct val="120000"/>
              </a:lnSpc>
              <a:spcBef>
                <a:spcPct val="0"/>
              </a:spcBef>
              <a:defRPr/>
            </a:pPr>
            <a:r>
              <a:rPr lang="zh-CN" altLang="zh-CN" dirty="0">
                <a:solidFill>
                  <a:prstClr val="black"/>
                </a:solidFill>
                <a:latin typeface="微软雅黑" panose="020B0503020204020204" charset="-122"/>
                <a:ea typeface="微软雅黑" panose="020B0503020204020204" charset="-122"/>
              </a:rPr>
              <a:t>树的各结点的所有子树之间无次序关系，可以改变位置。</a:t>
            </a:r>
            <a:endParaRPr lang="zh-CN" altLang="zh-CN" dirty="0">
              <a:solidFill>
                <a:prstClr val="black"/>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20000"/>
              </a:lnSpc>
              <a:spcBef>
                <a:spcPct val="0"/>
              </a:spcBef>
              <a:spcAft>
                <a:spcPts val="0"/>
              </a:spcAft>
              <a:buClrTx/>
              <a:buSzTx/>
              <a:buFontTx/>
              <a:buNone/>
              <a:defRPr/>
            </a:pPr>
            <a:endParaRPr lang="zh-CN" altLang="en-US" dirty="0">
              <a:solidFill>
                <a:prstClr val="black"/>
              </a:solidFill>
              <a:latin typeface="微软雅黑" panose="020B0503020204020204" charset="-122"/>
              <a:ea typeface="微软雅黑" panose="020B0503020204020204" charset="-122"/>
              <a:sym typeface="+mn-ea"/>
            </a:endParaRPr>
          </a:p>
        </p:txBody>
      </p:sp>
      <p:sp>
        <p:nvSpPr>
          <p:cNvPr id="60" name="任意多边形 126"/>
          <p:cNvSpPr/>
          <p:nvPr/>
        </p:nvSpPr>
        <p:spPr bwMode="auto">
          <a:xfrm>
            <a:off x="288834" y="4302448"/>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1" name="任意多边形 126"/>
          <p:cNvSpPr/>
          <p:nvPr/>
        </p:nvSpPr>
        <p:spPr bwMode="auto">
          <a:xfrm flipV="1">
            <a:off x="2159136" y="4911641"/>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2" name="文本框 61"/>
          <p:cNvSpPr txBox="1"/>
          <p:nvPr/>
        </p:nvSpPr>
        <p:spPr>
          <a:xfrm>
            <a:off x="456319" y="3819269"/>
            <a:ext cx="25648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Arial" panose="020B0604020202020204"/>
                <a:ea typeface="黑体" panose="02010609060101010101" pitchFamily="49" charset="-122"/>
              </a:rPr>
              <a:t>无序树</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63" name="文本框 16"/>
          <p:cNvSpPr txBox="1"/>
          <p:nvPr/>
        </p:nvSpPr>
        <p:spPr>
          <a:xfrm>
            <a:off x="452797" y="5733759"/>
            <a:ext cx="6214679" cy="724237"/>
          </a:xfrm>
          <a:prstGeom prst="rect">
            <a:avLst/>
          </a:prstGeom>
          <a:noFill/>
        </p:spPr>
        <p:txBody>
          <a:bodyPr wrap="square"/>
          <a:lstStyle/>
          <a:p>
            <a:pPr indent="0" algn="just">
              <a:buNone/>
            </a:pPr>
            <a:r>
              <a:rPr lang="zh-CN" altLang="zh-CN" dirty="0">
                <a:solidFill>
                  <a:prstClr val="black"/>
                </a:solidFill>
                <a:latin typeface="微软雅黑" panose="020B0503020204020204" charset="-122"/>
                <a:ea typeface="微软雅黑" panose="020B0503020204020204" charset="-122"/>
              </a:rPr>
              <a:t>由多个互不相交的树构成的集合。给森林加上一个根结点就变成一棵树，将树的根结点删除就变成森林。 </a:t>
            </a:r>
            <a:endParaRPr lang="zh-CN" altLang="zh-CN" dirty="0">
              <a:solidFill>
                <a:prstClr val="black"/>
              </a:solidFill>
              <a:latin typeface="微软雅黑" panose="020B0503020204020204" charset="-122"/>
              <a:ea typeface="微软雅黑" panose="020B0503020204020204" charset="-122"/>
            </a:endParaRPr>
          </a:p>
        </p:txBody>
      </p:sp>
      <p:sp>
        <p:nvSpPr>
          <p:cNvPr id="64" name="任意多边形 126"/>
          <p:cNvSpPr/>
          <p:nvPr/>
        </p:nvSpPr>
        <p:spPr bwMode="auto">
          <a:xfrm>
            <a:off x="342332" y="5557446"/>
            <a:ext cx="6465161"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5" name="任意多边形 126"/>
          <p:cNvSpPr/>
          <p:nvPr/>
        </p:nvSpPr>
        <p:spPr bwMode="auto">
          <a:xfrm flipV="1">
            <a:off x="2212634" y="6479626"/>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66" name="文本框 65"/>
          <p:cNvSpPr txBox="1"/>
          <p:nvPr/>
        </p:nvSpPr>
        <p:spPr>
          <a:xfrm>
            <a:off x="503160" y="5092621"/>
            <a:ext cx="16622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Arial" panose="020B0604020202020204"/>
                <a:ea typeface="黑体" panose="02010609060101010101" pitchFamily="49" charset="-122"/>
              </a:rPr>
              <a:t>森林</a:t>
            </a:r>
            <a:endPar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67" name="椭圆 66"/>
          <p:cNvSpPr/>
          <p:nvPr/>
        </p:nvSpPr>
        <p:spPr>
          <a:xfrm>
            <a:off x="8266419" y="1927889"/>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a:ea typeface="+mn-ea"/>
              <a:cs typeface="+mn-cs"/>
              <a:sym typeface="+mn-lt"/>
            </a:endParaRPr>
          </a:p>
        </p:txBody>
      </p:sp>
      <p:sp>
        <p:nvSpPr>
          <p:cNvPr id="68" name="任意多边形: 形状 41"/>
          <p:cNvSpPr/>
          <p:nvPr/>
        </p:nvSpPr>
        <p:spPr bwMode="auto">
          <a:xfrm>
            <a:off x="8449934" y="2114579"/>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sym typeface="+mn-lt"/>
            </a:endParaRPr>
          </a:p>
        </p:txBody>
      </p:sp>
      <p:sp>
        <p:nvSpPr>
          <p:cNvPr id="69" name="文本框 42"/>
          <p:cNvSpPr txBox="1"/>
          <p:nvPr/>
        </p:nvSpPr>
        <p:spPr>
          <a:xfrm>
            <a:off x="8056869" y="2585114"/>
            <a:ext cx="1001395" cy="389255"/>
          </a:xfrm>
          <a:prstGeom prst="rect">
            <a:avLst/>
          </a:prstGeom>
          <a:noFill/>
        </p:spPr>
        <p:txBody>
          <a:bodyPr wrap="none" lIns="72000" tIns="72000" rIns="72000" bIns="72000" anchor="ctr" anchorCtr="0">
            <a:normAutofit fontScale="87500" lnSpcReduction="100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rPr>
              <a:t>树的深度</a:t>
            </a:r>
            <a:endParaRPr kumimoji="0" lang="zh-CN" altLang="en-US" sz="18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第二节</a:t>
            </a:r>
            <a:endParaRPr lang="zh-CN" altLang="en-US" dirty="0"/>
          </a:p>
        </p:txBody>
      </p:sp>
      <p:sp>
        <p:nvSpPr>
          <p:cNvPr id="3" name="文本占位符 2"/>
          <p:cNvSpPr>
            <a:spLocks noGrp="1"/>
          </p:cNvSpPr>
          <p:nvPr>
            <p:ph type="body" sz="quarter" idx="11"/>
          </p:nvPr>
        </p:nvSpPr>
        <p:spPr/>
        <p:txBody>
          <a:bodyPr/>
          <a:lstStyle/>
          <a:p>
            <a:r>
              <a:rPr lang="zh-CN" altLang="en-US" dirty="0"/>
              <a:t>二叉树</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394970" y="1593784"/>
            <a:ext cx="6130776" cy="4601260"/>
          </a:xfrm>
          <a:prstGeom prst="rect">
            <a:avLst/>
          </a:prstGeom>
          <a:noFill/>
        </p:spPr>
        <p:txBody>
          <a:bodyPr wrap="square">
            <a:spAutoFit/>
          </a:bodyPr>
          <a:lstStyle/>
          <a:p>
            <a:pPr marL="228600" marR="0" lvl="0" indent="2667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400" b="1" i="0" u="none" strike="noStrike" kern="100" cap="none" spc="0" normalizeH="0" baseline="0" noProof="0" dirty="0">
                <a:ln>
                  <a:noFill/>
                </a:ln>
                <a:solidFill>
                  <a:srgbClr val="FFC000"/>
                </a:solidFill>
                <a:effectLst/>
                <a:uLnTx/>
                <a:uFillTx/>
                <a:latin typeface="+mj-ea"/>
                <a:ea typeface="+mj-ea"/>
                <a:cs typeface="Times New Roman" panose="02020603050405020304" pitchFamily="18" charset="0"/>
              </a:rPr>
              <a:t>1. </a:t>
            </a:r>
            <a:r>
              <a:rPr kumimoji="0" lang="zh-CN" altLang="zh-CN" sz="2400" b="1" i="0" u="none" strike="noStrike" kern="100" cap="none" spc="0" normalizeH="0" baseline="0" noProof="0" dirty="0">
                <a:ln>
                  <a:noFill/>
                </a:ln>
                <a:solidFill>
                  <a:srgbClr val="FFC000"/>
                </a:solidFill>
                <a:effectLst/>
                <a:uLnTx/>
                <a:uFillTx/>
                <a:latin typeface="+mj-ea"/>
                <a:ea typeface="+mj-ea"/>
                <a:cs typeface="Times New Roman" panose="02020603050405020304" pitchFamily="18" charset="0"/>
              </a:rPr>
              <a:t>普通二叉树</a:t>
            </a:r>
            <a:endParaRPr kumimoji="0" lang="zh-CN" altLang="zh-CN" sz="2400" b="1" i="0" u="none" strike="noStrike" kern="1200" cap="none" spc="0" normalizeH="0" baseline="0" noProof="0" dirty="0">
              <a:ln>
                <a:noFill/>
              </a:ln>
              <a:solidFill>
                <a:srgbClr val="FFC000"/>
              </a:solidFill>
              <a:effectLst/>
              <a:uLnTx/>
              <a:uFillTx/>
              <a:latin typeface="+mj-ea"/>
              <a:ea typeface="+mj-ea"/>
              <a:cs typeface="宋体" panose="02010600030101010101" pitchFamily="2" charset="-122"/>
            </a:endParaRPr>
          </a:p>
          <a:p>
            <a:pPr marL="22860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prstClr val="black"/>
                </a:solidFill>
                <a:latin typeface="微软雅黑" panose="020B0503020204020204" charset="-122"/>
                <a:ea typeface="微软雅黑" panose="020B0503020204020204" charset="-122"/>
              </a:rPr>
              <a:t>        </a:t>
            </a:r>
            <a:r>
              <a:rPr lang="zh-CN" altLang="zh-CN" dirty="0">
                <a:solidFill>
                  <a:prstClr val="black"/>
                </a:solidFill>
                <a:latin typeface="微软雅黑" panose="020B0503020204020204" charset="-122"/>
                <a:ea typeface="微软雅黑" panose="020B0503020204020204" charset="-122"/>
              </a:rPr>
              <a:t>二叉树是特殊的有序树，它也是由</a:t>
            </a:r>
            <a:r>
              <a:rPr lang="en-US" altLang="zh-CN" dirty="0">
                <a:solidFill>
                  <a:prstClr val="black"/>
                </a:solidFill>
                <a:latin typeface="微软雅黑" panose="020B0503020204020204" charset="-122"/>
                <a:ea typeface="微软雅黑" panose="020B0503020204020204" charset="-122"/>
              </a:rPr>
              <a:t>n</a:t>
            </a:r>
            <a:r>
              <a:rPr lang="zh-CN" altLang="zh-CN" dirty="0">
                <a:solidFill>
                  <a:prstClr val="black"/>
                </a:solidFill>
                <a:latin typeface="微软雅黑" panose="020B0503020204020204" charset="-122"/>
                <a:ea typeface="微软雅黑" panose="020B0503020204020204" charset="-122"/>
              </a:rPr>
              <a:t>个结点构成的有限集合。当</a:t>
            </a:r>
            <a:r>
              <a:rPr lang="en-US" altLang="zh-CN" dirty="0">
                <a:solidFill>
                  <a:prstClr val="black"/>
                </a:solidFill>
                <a:latin typeface="微软雅黑" panose="020B0503020204020204" charset="-122"/>
                <a:ea typeface="微软雅黑" panose="020B0503020204020204" charset="-122"/>
              </a:rPr>
              <a:t>n=0</a:t>
            </a:r>
            <a:r>
              <a:rPr lang="zh-CN" altLang="zh-CN" dirty="0">
                <a:solidFill>
                  <a:prstClr val="black"/>
                </a:solidFill>
                <a:latin typeface="微软雅黑" panose="020B0503020204020204" charset="-122"/>
                <a:ea typeface="微软雅黑" panose="020B0503020204020204" charset="-122"/>
              </a:rPr>
              <a:t>时称为空二叉树。二叉树的每个结点</a:t>
            </a:r>
            <a:r>
              <a:rPr lang="zh-CN" altLang="zh-CN" dirty="0">
                <a:solidFill>
                  <a:srgbClr val="FF0000"/>
                </a:solidFill>
                <a:latin typeface="微软雅黑" panose="020B0503020204020204" charset="-122"/>
                <a:ea typeface="微软雅黑" panose="020B0503020204020204" charset="-122"/>
              </a:rPr>
              <a:t>最多</a:t>
            </a:r>
            <a:r>
              <a:rPr lang="zh-CN" altLang="zh-CN" dirty="0">
                <a:solidFill>
                  <a:prstClr val="black"/>
                </a:solidFill>
                <a:latin typeface="微软雅黑" panose="020B0503020204020204" charset="-122"/>
                <a:ea typeface="微软雅黑" panose="020B0503020204020204" charset="-122"/>
              </a:rPr>
              <a:t>只有两棵子树，子树也为二叉树，互不相交且有左右之分，分别称为左二叉树和右二叉树。</a:t>
            </a:r>
            <a:endParaRPr lang="zh-CN" altLang="zh-CN" dirty="0">
              <a:solidFill>
                <a:prstClr val="black"/>
              </a:solidFill>
              <a:latin typeface="微软雅黑" panose="020B0503020204020204" charset="-122"/>
              <a:ea typeface="微软雅黑" panose="020B0503020204020204" charset="-122"/>
            </a:endParaRPr>
          </a:p>
          <a:p>
            <a:pPr marL="22860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prstClr val="black"/>
                </a:solidFill>
                <a:latin typeface="微软雅黑" panose="020B0503020204020204" charset="-122"/>
                <a:ea typeface="微软雅黑" panose="020B0503020204020204" charset="-122"/>
              </a:rPr>
              <a:t>        </a:t>
            </a:r>
            <a:r>
              <a:rPr lang="zh-CN" altLang="zh-CN" dirty="0">
                <a:solidFill>
                  <a:prstClr val="black"/>
                </a:solidFill>
                <a:latin typeface="微软雅黑" panose="020B0503020204020204" charset="-122"/>
                <a:ea typeface="微软雅黑" panose="020B0503020204020204" charset="-122"/>
              </a:rPr>
              <a:t>二叉树也是递归定义的，在树中定义的度、层次等术语同样也适用于二叉树。</a:t>
            </a:r>
            <a:endParaRPr lang="zh-CN" altLang="zh-CN" dirty="0">
              <a:solidFill>
                <a:prstClr val="black"/>
              </a:solidFill>
              <a:latin typeface="微软雅黑" panose="020B0503020204020204" charset="-122"/>
              <a:ea typeface="微软雅黑" panose="020B0503020204020204" charset="-122"/>
            </a:endParaRPr>
          </a:p>
          <a:p>
            <a:pPr marL="228600" indent="266700" algn="just">
              <a:lnSpc>
                <a:spcPct val="90000"/>
              </a:lnSpc>
              <a:spcBef>
                <a:spcPts val="1000"/>
              </a:spcBef>
              <a:buFont typeface="Arial" panose="020B0604020202020204" pitchFamily="34" charset="0"/>
              <a:buChar char="•"/>
              <a:defRPr/>
            </a:pPr>
            <a:r>
              <a:rPr lang="en-US" altLang="zh-CN" sz="2400" b="1" kern="100" dirty="0">
                <a:solidFill>
                  <a:srgbClr val="FFC000"/>
                </a:solidFill>
                <a:latin typeface="+mj-ea"/>
                <a:ea typeface="+mj-ea"/>
                <a:cs typeface="Times New Roman" panose="02020603050405020304" pitchFamily="18" charset="0"/>
              </a:rPr>
              <a:t>2. </a:t>
            </a:r>
            <a:r>
              <a:rPr lang="zh-CN" altLang="zh-CN" sz="2400" b="1" kern="100" dirty="0">
                <a:solidFill>
                  <a:srgbClr val="FFC000"/>
                </a:solidFill>
                <a:latin typeface="+mj-ea"/>
                <a:ea typeface="+mj-ea"/>
                <a:cs typeface="Times New Roman" panose="02020603050405020304" pitchFamily="18" charset="0"/>
              </a:rPr>
              <a:t>满二叉树</a:t>
            </a:r>
            <a:endParaRPr lang="zh-CN" altLang="zh-CN" sz="2400" b="1" kern="100" dirty="0">
              <a:solidFill>
                <a:srgbClr val="FFC000"/>
              </a:solidFill>
              <a:latin typeface="+mj-ea"/>
              <a:ea typeface="+mj-ea"/>
              <a:cs typeface="Times New Roman" panose="02020603050405020304" pitchFamily="18" charset="0"/>
            </a:endParaRPr>
          </a:p>
          <a:p>
            <a:pPr marL="228600" algn="just">
              <a:lnSpc>
                <a:spcPct val="90000"/>
              </a:lnSpc>
              <a:spcBef>
                <a:spcPts val="1000"/>
              </a:spcBef>
              <a:defRPr/>
            </a:pPr>
            <a:r>
              <a:rPr lang="en-US" altLang="zh-CN" dirty="0">
                <a:solidFill>
                  <a:prstClr val="black"/>
                </a:solidFill>
                <a:latin typeface="微软雅黑" panose="020B0503020204020204" charset="-122"/>
                <a:ea typeface="微软雅黑" panose="020B0503020204020204" charset="-122"/>
              </a:rPr>
              <a:t>        </a:t>
            </a:r>
            <a:r>
              <a:rPr lang="zh-CN" altLang="zh-CN" dirty="0">
                <a:solidFill>
                  <a:prstClr val="black"/>
                </a:solidFill>
                <a:latin typeface="微软雅黑" panose="020B0503020204020204" charset="-122"/>
                <a:ea typeface="微软雅黑" panose="020B0503020204020204" charset="-122"/>
              </a:rPr>
              <a:t>满二叉树是特殊的二叉树，它要求除叶结点外的其他结点都具有两棵子树，并且所有的叶结点都在同一层</a:t>
            </a:r>
            <a:r>
              <a:rPr lang="zh-CN" altLang="en-US" dirty="0">
                <a:solidFill>
                  <a:prstClr val="black"/>
                </a:solidFill>
                <a:latin typeface="微软雅黑" panose="020B0503020204020204" charset="-122"/>
                <a:ea typeface="微软雅黑" panose="020B0503020204020204" charset="-122"/>
              </a:rPr>
              <a:t>上</a:t>
            </a:r>
            <a:r>
              <a:rPr lang="zh-CN" altLang="zh-CN" dirty="0">
                <a:solidFill>
                  <a:prstClr val="black"/>
                </a:solidFill>
                <a:latin typeface="微软雅黑" panose="020B0503020204020204" charset="-122"/>
                <a:ea typeface="微软雅黑" panose="020B0503020204020204" charset="-122"/>
              </a:rPr>
              <a:t>。</a:t>
            </a:r>
            <a:endParaRPr lang="zh-CN" altLang="zh-CN" dirty="0">
              <a:solidFill>
                <a:prstClr val="black"/>
              </a:solidFill>
              <a:latin typeface="微软雅黑" panose="020B0503020204020204" charset="-122"/>
              <a:ea typeface="微软雅黑" panose="020B0503020204020204" charset="-122"/>
            </a:endParaRPr>
          </a:p>
          <a:p>
            <a:pPr marL="228600" indent="266700" algn="just">
              <a:lnSpc>
                <a:spcPct val="90000"/>
              </a:lnSpc>
              <a:spcBef>
                <a:spcPts val="1000"/>
              </a:spcBef>
              <a:buFont typeface="Arial" panose="020B0604020202020204" pitchFamily="34" charset="0"/>
              <a:buChar char="•"/>
              <a:defRPr/>
            </a:pPr>
            <a:r>
              <a:rPr lang="en-US" altLang="zh-CN" sz="2400" b="1" kern="100" dirty="0">
                <a:solidFill>
                  <a:srgbClr val="FFC000"/>
                </a:solidFill>
                <a:latin typeface="+mj-ea"/>
                <a:ea typeface="+mj-ea"/>
                <a:cs typeface="Times New Roman" panose="02020603050405020304" pitchFamily="18" charset="0"/>
              </a:rPr>
              <a:t>3. </a:t>
            </a:r>
            <a:r>
              <a:rPr lang="zh-CN" altLang="zh-CN" sz="2400" b="1" kern="100" dirty="0">
                <a:solidFill>
                  <a:srgbClr val="FFC000"/>
                </a:solidFill>
                <a:latin typeface="+mj-ea"/>
                <a:ea typeface="+mj-ea"/>
                <a:cs typeface="Times New Roman" panose="02020603050405020304" pitchFamily="18" charset="0"/>
              </a:rPr>
              <a:t>完全二叉树</a:t>
            </a:r>
            <a:endParaRPr lang="zh-CN" altLang="zh-CN" sz="2400" b="1" kern="100" dirty="0">
              <a:solidFill>
                <a:srgbClr val="FFC000"/>
              </a:solidFill>
              <a:latin typeface="+mj-ea"/>
              <a:ea typeface="+mj-ea"/>
              <a:cs typeface="Times New Roman" panose="02020603050405020304" pitchFamily="18" charset="0"/>
            </a:endParaRPr>
          </a:p>
          <a:p>
            <a:pPr marL="228600" algn="just">
              <a:lnSpc>
                <a:spcPct val="90000"/>
              </a:lnSpc>
              <a:spcBef>
                <a:spcPts val="1000"/>
              </a:spcBef>
              <a:defRPr/>
            </a:pPr>
            <a:r>
              <a:rPr lang="en-US" altLang="zh-CN" dirty="0">
                <a:solidFill>
                  <a:prstClr val="black"/>
                </a:solidFill>
                <a:latin typeface="微软雅黑" panose="020B0503020204020204" charset="-122"/>
                <a:ea typeface="微软雅黑" panose="020B0503020204020204" charset="-122"/>
              </a:rPr>
              <a:t>       </a:t>
            </a:r>
            <a:r>
              <a:rPr lang="zh-CN" altLang="zh-CN" dirty="0">
                <a:solidFill>
                  <a:prstClr val="black"/>
                </a:solidFill>
                <a:latin typeface="微软雅黑" panose="020B0503020204020204" charset="-122"/>
                <a:ea typeface="微软雅黑" panose="020B0503020204020204" charset="-122"/>
              </a:rPr>
              <a:t>完全二叉树是特殊的二叉树，若完全二叉树具有</a:t>
            </a:r>
            <a:r>
              <a:rPr lang="en-US" altLang="zh-CN" dirty="0">
                <a:solidFill>
                  <a:prstClr val="black"/>
                </a:solidFill>
                <a:latin typeface="微软雅黑" panose="020B0503020204020204" charset="-122"/>
                <a:ea typeface="微软雅黑" panose="020B0503020204020204" charset="-122"/>
              </a:rPr>
              <a:t>n</a:t>
            </a:r>
            <a:r>
              <a:rPr lang="zh-CN" altLang="zh-CN" dirty="0">
                <a:solidFill>
                  <a:prstClr val="black"/>
                </a:solidFill>
                <a:latin typeface="微软雅黑" panose="020B0503020204020204" charset="-122"/>
                <a:ea typeface="微软雅黑" panose="020B0503020204020204" charset="-122"/>
              </a:rPr>
              <a:t>个结点，它要求</a:t>
            </a:r>
            <a:r>
              <a:rPr lang="en-US" altLang="zh-CN" dirty="0">
                <a:solidFill>
                  <a:prstClr val="black"/>
                </a:solidFill>
                <a:latin typeface="微软雅黑" panose="020B0503020204020204" charset="-122"/>
                <a:ea typeface="微软雅黑" panose="020B0503020204020204" charset="-122"/>
              </a:rPr>
              <a:t>n</a:t>
            </a:r>
            <a:r>
              <a:rPr lang="zh-CN" altLang="zh-CN" dirty="0">
                <a:solidFill>
                  <a:prstClr val="black"/>
                </a:solidFill>
                <a:latin typeface="微软雅黑" panose="020B0503020204020204" charset="-122"/>
                <a:ea typeface="微软雅黑" panose="020B0503020204020204" charset="-122"/>
              </a:rPr>
              <a:t>个结点与满二叉树的前</a:t>
            </a:r>
            <a:r>
              <a:rPr lang="en-US" altLang="zh-CN" dirty="0">
                <a:solidFill>
                  <a:prstClr val="black"/>
                </a:solidFill>
                <a:latin typeface="微软雅黑" panose="020B0503020204020204" charset="-122"/>
                <a:ea typeface="微软雅黑" panose="020B0503020204020204" charset="-122"/>
              </a:rPr>
              <a:t>n</a:t>
            </a:r>
            <a:r>
              <a:rPr lang="zh-CN" altLang="zh-CN" dirty="0">
                <a:solidFill>
                  <a:prstClr val="black"/>
                </a:solidFill>
                <a:latin typeface="微软雅黑" panose="020B0503020204020204" charset="-122"/>
                <a:ea typeface="微软雅黑" panose="020B0503020204020204" charset="-122"/>
              </a:rPr>
              <a:t>个结点具有完全相同的逻辑结构。</a:t>
            </a:r>
            <a:endParaRPr lang="zh-CN" altLang="zh-CN" dirty="0">
              <a:solidFill>
                <a:prstClr val="black"/>
              </a:solidFill>
              <a:latin typeface="微软雅黑" panose="020B0503020204020204" charset="-122"/>
              <a:ea typeface="微软雅黑" panose="020B0503020204020204" charset="-122"/>
            </a:endParaRPr>
          </a:p>
        </p:txBody>
      </p:sp>
      <p:sp>
        <p:nvSpPr>
          <p:cNvPr id="32" name="Isosceles Triangle 31"/>
          <p:cNvSpPr/>
          <p:nvPr/>
        </p:nvSpPr>
        <p:spPr>
          <a:xfrm rot="16200000">
            <a:off x="7225183" y="-1141914"/>
            <a:ext cx="3835430" cy="6093797"/>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 name="标题 7"/>
          <p:cNvSpPr>
            <a:spLocks noGrp="1"/>
          </p:cNvSpPr>
          <p:nvPr>
            <p:ph type="title"/>
          </p:nvPr>
        </p:nvSpPr>
        <p:spPr>
          <a:xfrm>
            <a:off x="180000" y="360663"/>
            <a:ext cx="11833200" cy="700405"/>
          </a:xfrm>
        </p:spPr>
        <p:txBody>
          <a:bodyPr/>
          <a:lstStyle/>
          <a:p>
            <a:r>
              <a:rPr lang="en-US" altLang="zh-CN" dirty="0">
                <a:solidFill>
                  <a:schemeClr val="accent2"/>
                </a:solidFill>
                <a:sym typeface="+mn-ea"/>
              </a:rPr>
              <a:t>2.1 </a:t>
            </a:r>
            <a:r>
              <a:rPr lang="zh-CN" altLang="en-US" dirty="0">
                <a:solidFill>
                  <a:schemeClr val="accent2"/>
                </a:solidFill>
                <a:sym typeface="+mn-ea"/>
              </a:rPr>
              <a:t>二叉树的基本概念</a:t>
            </a:r>
            <a:endParaRPr lang="zh-CN" altLang="zh-CN" dirty="0">
              <a:solidFill>
                <a:schemeClr val="accent2"/>
              </a:solidFill>
              <a:sym typeface="+mn-ea"/>
            </a:endParaRPr>
          </a:p>
        </p:txBody>
      </p:sp>
      <p:pic>
        <p:nvPicPr>
          <p:cNvPr id="17" name="图片 16"/>
          <p:cNvPicPr>
            <a:picLocks noChangeAspect="1"/>
          </p:cNvPicPr>
          <p:nvPr/>
        </p:nvPicPr>
        <p:blipFill rotWithShape="1">
          <a:blip r:embed="rId1">
            <a:duotone>
              <a:srgbClr val="ED7D31">
                <a:shade val="45000"/>
                <a:satMod val="135000"/>
              </a:srgbClr>
              <a:prstClr val="white"/>
            </a:duotone>
            <a:extLst>
              <a:ext uri="{BEBA8EAE-BF5A-486C-A8C5-ECC9F3942E4B}">
                <a14:imgProps xmlns:a14="http://schemas.microsoft.com/office/drawing/2010/main">
                  <a14:imgLayer r:embed="rId2">
                    <a14:imgEffect>
                      <a14:sharpenSoften amount="50000"/>
                    </a14:imgEffect>
                  </a14:imgLayer>
                </a14:imgProps>
              </a:ext>
            </a:extLst>
          </a:blip>
          <a:srcRect t="-541" r="3024" b="-1"/>
          <a:stretch>
            <a:fillRect/>
          </a:stretch>
        </p:blipFill>
        <p:spPr>
          <a:xfrm>
            <a:off x="7142369" y="3320070"/>
            <a:ext cx="4296836" cy="25652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二叉树的性质</a:t>
            </a:r>
            <a:endParaRPr lang="zh-CN" altLang="en-US" dirty="0"/>
          </a:p>
        </p:txBody>
      </p:sp>
      <p:sp>
        <p:nvSpPr>
          <p:cNvPr id="3" name="内容占位符 2"/>
          <p:cNvSpPr>
            <a:spLocks noGrp="1"/>
          </p:cNvSpPr>
          <p:nvPr>
            <p:ph idx="1"/>
          </p:nvPr>
        </p:nvSpPr>
        <p:spPr>
          <a:xfrm>
            <a:off x="180000" y="1244600"/>
            <a:ext cx="11833200" cy="5659427"/>
          </a:xfrm>
        </p:spPr>
        <p:txBody>
          <a:bodyPr>
            <a:normAutofit fontScale="92500" lnSpcReduction="10000"/>
          </a:bodyPr>
          <a:lstStyle/>
          <a:p>
            <a:pPr indent="266700" algn="just"/>
            <a:r>
              <a:rPr lang="zh-CN" altLang="zh-CN" sz="3600" b="1" kern="100" dirty="0">
                <a:solidFill>
                  <a:srgbClr val="FFC000"/>
                </a:solidFill>
                <a:effectLst/>
                <a:latin typeface="仿宋" panose="02010609060101010101" pitchFamily="49" charset="-122"/>
                <a:ea typeface="仿宋" panose="02010609060101010101" pitchFamily="49" charset="-122"/>
                <a:cs typeface="Times New Roman" panose="02020603050405020304" pitchFamily="18" charset="0"/>
              </a:rPr>
              <a:t>性质</a:t>
            </a:r>
            <a:r>
              <a:rPr lang="en-US" altLang="zh-CN" sz="3600" b="1" kern="100" dirty="0">
                <a:solidFill>
                  <a:srgbClr val="FFC000"/>
                </a:solidFill>
                <a:effectLst/>
                <a:latin typeface="仿宋" panose="02010609060101010101" pitchFamily="49" charset="-122"/>
                <a:ea typeface="仿宋" panose="02010609060101010101" pitchFamily="49" charset="-122"/>
                <a:cs typeface="Times New Roman" panose="02020603050405020304" pitchFamily="18" charset="0"/>
              </a:rPr>
              <a:t>1</a:t>
            </a:r>
            <a:r>
              <a:rPr lang="zh-CN" altLang="zh-CN" sz="3600" b="1" kern="100" dirty="0">
                <a:solidFill>
                  <a:srgbClr val="FFC000"/>
                </a:solidFill>
                <a:effectLst/>
                <a:latin typeface="仿宋" panose="02010609060101010101" pitchFamily="49" charset="-122"/>
                <a:ea typeface="仿宋" panose="02010609060101010101" pitchFamily="49" charset="-122"/>
                <a:cs typeface="Times New Roman" panose="02020603050405020304" pitchFamily="18" charset="0"/>
              </a:rPr>
              <a:t>： 二叉树中第</a:t>
            </a:r>
            <a:r>
              <a:rPr lang="en-US" altLang="zh-CN" sz="3600" b="1" kern="100" dirty="0" err="1">
                <a:solidFill>
                  <a:srgbClr val="FFC000"/>
                </a:solidFill>
                <a:effectLst/>
                <a:latin typeface="仿宋" panose="02010609060101010101" pitchFamily="49" charset="-122"/>
                <a:ea typeface="仿宋" panose="02010609060101010101" pitchFamily="49" charset="-122"/>
                <a:cs typeface="Times New Roman" panose="02020603050405020304" pitchFamily="18" charset="0"/>
              </a:rPr>
              <a:t>i</a:t>
            </a:r>
            <a:r>
              <a:rPr lang="zh-CN" altLang="zh-CN" sz="3600" b="1" kern="100" dirty="0">
                <a:solidFill>
                  <a:srgbClr val="FFC000"/>
                </a:solidFill>
                <a:effectLst/>
                <a:latin typeface="仿宋" panose="02010609060101010101" pitchFamily="49" charset="-122"/>
                <a:ea typeface="仿宋" panose="02010609060101010101" pitchFamily="49" charset="-122"/>
                <a:cs typeface="Times New Roman" panose="02020603050405020304" pitchFamily="18" charset="0"/>
              </a:rPr>
              <a:t>层的结点数最多为</a:t>
            </a:r>
            <a:r>
              <a:rPr lang="en-US" altLang="zh-CN" sz="3600" b="1" kern="100" dirty="0">
                <a:solidFill>
                  <a:srgbClr val="FFC000"/>
                </a:solidFill>
                <a:effectLst/>
                <a:latin typeface="仿宋" panose="02010609060101010101" pitchFamily="49" charset="-122"/>
                <a:ea typeface="仿宋" panose="02010609060101010101" pitchFamily="49" charset="-122"/>
                <a:cs typeface="Times New Roman" panose="02020603050405020304" pitchFamily="18" charset="0"/>
              </a:rPr>
              <a:t>2i</a:t>
            </a:r>
            <a:r>
              <a:rPr lang="zh-CN" altLang="zh-CN" sz="3600" b="1" kern="100" dirty="0">
                <a:solidFill>
                  <a:srgbClr val="FFC000"/>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altLang="zh-CN" sz="3600" b="1" dirty="0">
              <a:solidFill>
                <a:srgbClr val="FFC000"/>
              </a:solidFill>
              <a:effectLst/>
              <a:latin typeface="仿宋" panose="02010609060101010101" pitchFamily="49" charset="-122"/>
              <a:ea typeface="仿宋" panose="02010609060101010101" pitchFamily="49" charset="-122"/>
              <a:cs typeface="宋体" panose="02010600030101010101" pitchFamily="2" charset="-122"/>
            </a:endParaRPr>
          </a:p>
          <a:p>
            <a:pPr indent="0" algn="just">
              <a:buNone/>
            </a:pPr>
            <a:r>
              <a:rPr lang="en-US" altLang="zh-CN" sz="28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         </a:t>
            </a:r>
            <a:r>
              <a:rPr lang="zh-CN"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证明： 当</a:t>
            </a:r>
            <a:r>
              <a:rPr lang="en-US" altLang="zh-CN" sz="2600" kern="100" dirty="0" err="1">
                <a:solidFill>
                  <a:srgbClr val="656565"/>
                </a:solidFill>
                <a:effectLst/>
                <a:latin typeface="汉仪颜楷简" panose="00020600040101010101" charset="-122"/>
                <a:ea typeface="汉仪颜楷简" panose="00020600040101010101" charset="-122"/>
                <a:cs typeface="Times New Roman" panose="02020603050405020304" pitchFamily="18" charset="0"/>
              </a:rPr>
              <a:t>i</a:t>
            </a:r>
            <a:r>
              <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=0</a:t>
            </a:r>
            <a:r>
              <a:rPr lang="zh-CN"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时只有一个根结点，成立； 假设对所有的</a:t>
            </a:r>
            <a:r>
              <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k(0≤k&lt;</a:t>
            </a:r>
            <a:r>
              <a:rPr lang="en-US" altLang="zh-CN" sz="2600" kern="100" dirty="0" err="1">
                <a:solidFill>
                  <a:srgbClr val="656565"/>
                </a:solidFill>
                <a:effectLst/>
                <a:latin typeface="汉仪颜楷简" panose="00020600040101010101" charset="-122"/>
                <a:ea typeface="汉仪颜楷简" panose="00020600040101010101" charset="-122"/>
                <a:cs typeface="Times New Roman" panose="02020603050405020304" pitchFamily="18" charset="0"/>
              </a:rPr>
              <a:t>i</a:t>
            </a:r>
            <a:r>
              <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a:t>
            </a:r>
            <a:r>
              <a:rPr lang="zh-CN"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成立，即第</a:t>
            </a:r>
            <a:r>
              <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i-1</a:t>
            </a:r>
            <a:r>
              <a:rPr lang="zh-CN"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层上最多有</a:t>
            </a:r>
            <a:r>
              <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2</a:t>
            </a:r>
            <a:r>
              <a:rPr lang="en-US" altLang="zh-CN" sz="2600" kern="100" baseline="300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i-1</a:t>
            </a:r>
            <a:r>
              <a:rPr lang="zh-CN"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个结点，那么由于每个结点最多有两棵子树，在第</a:t>
            </a:r>
            <a:r>
              <a:rPr lang="en-US" altLang="zh-CN" sz="2600" kern="100" dirty="0" err="1">
                <a:solidFill>
                  <a:srgbClr val="656565"/>
                </a:solidFill>
                <a:effectLst/>
                <a:latin typeface="汉仪颜楷简" panose="00020600040101010101" charset="-122"/>
                <a:ea typeface="汉仪颜楷简" panose="00020600040101010101" charset="-122"/>
                <a:cs typeface="Times New Roman" panose="02020603050405020304" pitchFamily="18" charset="0"/>
              </a:rPr>
              <a:t>i</a:t>
            </a:r>
            <a:r>
              <a:rPr lang="zh-CN"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层上结点数最多为</a:t>
            </a:r>
            <a:r>
              <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2</a:t>
            </a:r>
            <a:r>
              <a:rPr lang="en-US" altLang="zh-CN" sz="2600" kern="100" baseline="300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i-1</a:t>
            </a:r>
            <a:r>
              <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×2=2</a:t>
            </a:r>
            <a:r>
              <a:rPr lang="en-US" altLang="zh-CN" sz="2600" kern="100" baseline="300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i</a:t>
            </a:r>
            <a:r>
              <a:rPr lang="zh-CN"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个，得证。</a:t>
            </a:r>
            <a:endParaRPr lang="en-US" altLang="zh-CN" sz="26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endParaRPr>
          </a:p>
          <a:p>
            <a:pPr indent="0" algn="just">
              <a:buNone/>
            </a:pPr>
            <a:endParaRPr lang="zh-CN" altLang="zh-CN" sz="2600" dirty="0">
              <a:solidFill>
                <a:srgbClr val="656565"/>
              </a:solidFill>
              <a:effectLst/>
              <a:latin typeface="汉仪颜楷简" panose="00020600040101010101" charset="-122"/>
              <a:ea typeface="汉仪颜楷简" panose="00020600040101010101" charset="-122"/>
              <a:cs typeface="宋体" panose="02010600030101010101" pitchFamily="2" charset="-122"/>
            </a:endParaRPr>
          </a:p>
          <a:p>
            <a:pPr indent="266700" algn="just"/>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性质</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 深度为</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h</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的二叉树最多有</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2h-1</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个结点。</a:t>
            </a:r>
            <a:endPar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证明： 由性质</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得，深度为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h</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的二叉树的结点个数最多为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20+21+…+2h-1=2h-1</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，得证。</a:t>
            </a:r>
            <a:endPar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性质</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3</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 若二叉树的叶结点的个数为</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n</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，度为</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的结点个数为</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m</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，有</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n=m+1</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endPar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证明： 设二叉树中度为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的结点个数为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k</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，二叉树的结点总数为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s</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，有</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s=</a:t>
            </a:r>
            <a:r>
              <a:rPr lang="en-US" altLang="zh-CN" sz="2600" kern="100" dirty="0" err="1">
                <a:solidFill>
                  <a:srgbClr val="656565"/>
                </a:solidFill>
                <a:latin typeface="汉仪颜楷简" panose="00020600040101010101" charset="-122"/>
                <a:ea typeface="汉仪颜楷简" panose="00020600040101010101" charset="-122"/>
                <a:cs typeface="Times New Roman" panose="02020603050405020304" pitchFamily="18" charset="0"/>
              </a:rPr>
              <a:t>k+n+m</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。又因为除根结点外每个结点都有一个进入它的分支，所以</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s-1=k+2*m</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。整理后得到</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n=m+1</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，得证。</a:t>
            </a: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二叉树的性质</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0000" y="1244600"/>
                <a:ext cx="11833200" cy="5659427"/>
              </a:xfrm>
            </p:spPr>
            <p:txBody>
              <a:bodyPr>
                <a:normAutofit fontScale="85000" lnSpcReduction="20000"/>
              </a:bodyPr>
              <a:lstStyle/>
              <a:p>
                <a:pPr indent="266700" algn="just">
                  <a:lnSpc>
                    <a:spcPct val="110000"/>
                  </a:lnSpc>
                  <a:spcAft>
                    <a:spcPts val="1200"/>
                  </a:spcAft>
                </a:pP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性质</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4</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 具有</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n</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个结点的完全二叉树，其深度为</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   </a:t>
                </a:r>
                <a14:m>
                  <m:oMath xmlns:m="http://schemas.openxmlformats.org/officeDocument/2006/math">
                    <m:d>
                      <m:dPr>
                        <m:begChr m:val="⌊"/>
                        <m:endChr m:val="⌋"/>
                        <m:ctrlPr>
                          <a:rPr lang="zh-CN" altLang="zh-CN" sz="3600" b="1" i="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ctrlPr>
                      </m:dPr>
                      <m:e>
                        <m:func>
                          <m:funcPr>
                            <m:ctrlPr>
                              <a:rPr lang="zh-CN" altLang="zh-CN" sz="3600" b="1" i="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ctrlPr>
                          </m:funcPr>
                          <m:fName>
                            <m:sSub>
                              <m:sSubPr>
                                <m:ctrlPr>
                                  <a:rPr lang="zh-CN" altLang="zh-CN" sz="3600" b="1" i="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ctrlPr>
                              </m:sSubPr>
                              <m:e>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𝒍𝒐𝒈</m:t>
                                </m:r>
                              </m:e>
                              <m:sub>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𝟐</m:t>
                                </m:r>
                              </m:sub>
                            </m:sSub>
                          </m:fName>
                          <m:e>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𝒏</m:t>
                            </m:r>
                          </m:e>
                        </m:func>
                      </m:e>
                    </m:d>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m:t>
                    </m:r>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𝟏</m:t>
                    </m:r>
                  </m:oMath>
                </a14:m>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或者</a:t>
                </a:r>
                <a14:m>
                  <m:oMath xmlns:m="http://schemas.openxmlformats.org/officeDocument/2006/math">
                    <m:d>
                      <m:dPr>
                        <m:begChr m:val="⌈"/>
                        <m:endChr m:val="⌉"/>
                        <m:ctrlPr>
                          <a:rPr lang="zh-CN" altLang="zh-CN" sz="3600" b="1" i="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ctrlPr>
                      </m:dPr>
                      <m:e>
                        <m:func>
                          <m:funcPr>
                            <m:ctrlPr>
                              <a:rPr lang="zh-CN" altLang="zh-CN" sz="3600" b="1" i="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ctrlPr>
                          </m:funcPr>
                          <m:fName>
                            <m:sSub>
                              <m:sSubPr>
                                <m:ctrlPr>
                                  <a:rPr lang="zh-CN" altLang="zh-CN" sz="3600" b="1" i="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ctrlPr>
                              </m:sSubPr>
                              <m:e>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𝒍𝒐𝒈</m:t>
                                </m:r>
                              </m:e>
                              <m:sub>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𝟐</m:t>
                                </m:r>
                              </m:sub>
                            </m:sSub>
                          </m:fName>
                          <m:e>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m:t>
                            </m:r>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𝒏</m:t>
                            </m:r>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m:t>
                            </m:r>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𝟏</m:t>
                            </m:r>
                            <m:r>
                              <a:rPr lang="en-US" altLang="zh-CN" sz="3600" b="1" kern="100">
                                <a:solidFill>
                                  <a:srgbClr val="FFC000"/>
                                </a:solidFill>
                                <a:latin typeface="Cambria Math" panose="02040503050406030204" pitchFamily="18" charset="0"/>
                                <a:ea typeface="仿宋" panose="02010609060101010101" pitchFamily="49" charset="-122"/>
                                <a:cs typeface="Times New Roman" panose="02020603050405020304" pitchFamily="18" charset="0"/>
                              </a:rPr>
                              <m:t>)</m:t>
                            </m:r>
                          </m:e>
                        </m:func>
                      </m:e>
                    </m:d>
                  </m:oMath>
                </a14:m>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endPar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lnSpc>
                    <a:spcPct val="110000"/>
                  </a:lnSpc>
                  <a:spcAft>
                    <a:spcPts val="1200"/>
                  </a:spcAft>
                  <a:buNone/>
                </a:pP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证明： 设此二叉树的深度为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h</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，由性质</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可得</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2h-1≤n&lt;2h</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，两边取对数，可得</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h-1≤log2n&lt;h</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，因为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h</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为整数，所以</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h=</a:t>
                </a:r>
                <a14:m>
                  <m:oMath xmlns:m="http://schemas.openxmlformats.org/officeDocument/2006/math">
                    <m:d>
                      <m:dPr>
                        <m:begChr m:val="⌊"/>
                        <m:endChr m:val="⌋"/>
                        <m:ctrlPr>
                          <a:rPr lang="zh-CN" altLang="zh-CN" sz="2600" i="1" kern="100">
                            <a:solidFill>
                              <a:srgbClr val="656565"/>
                            </a:solidFill>
                            <a:latin typeface="Cambria Math" panose="02040503050406030204" pitchFamily="18" charset="0"/>
                            <a:ea typeface="汉仪颜楷简" panose="00020600040101010101" charset="-122"/>
                            <a:cs typeface="Times New Roman" panose="02020603050405020304" pitchFamily="18" charset="0"/>
                          </a:rPr>
                        </m:ctrlPr>
                      </m:dPr>
                      <m:e>
                        <m:func>
                          <m:funcPr>
                            <m:ctrlPr>
                              <a:rPr lang="zh-CN" altLang="zh-CN" sz="2600" i="1" kern="100">
                                <a:solidFill>
                                  <a:srgbClr val="656565"/>
                                </a:solidFill>
                                <a:latin typeface="Cambria Math" panose="02040503050406030204" pitchFamily="18" charset="0"/>
                                <a:ea typeface="汉仪颜楷简" panose="00020600040101010101" charset="-122"/>
                                <a:cs typeface="Times New Roman" panose="02020603050405020304" pitchFamily="18" charset="0"/>
                              </a:rPr>
                            </m:ctrlPr>
                          </m:funcPr>
                          <m:fName>
                            <m:sSub>
                              <m:sSubPr>
                                <m:ctrlPr>
                                  <a:rPr lang="zh-CN" altLang="zh-CN" sz="2600" i="1" kern="100">
                                    <a:solidFill>
                                      <a:srgbClr val="656565"/>
                                    </a:solidFill>
                                    <a:latin typeface="Cambria Math" panose="02040503050406030204" pitchFamily="18" charset="0"/>
                                    <a:ea typeface="汉仪颜楷简" panose="00020600040101010101" charset="-122"/>
                                    <a:cs typeface="Times New Roman" panose="02020603050405020304" pitchFamily="18" charset="0"/>
                                  </a:rPr>
                                </m:ctrlPr>
                              </m:sSubPr>
                              <m:e>
                                <m:r>
                                  <m:rPr>
                                    <m:sty m:val="p"/>
                                  </m:rP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log</m:t>
                                </m:r>
                              </m:e>
                              <m:sub>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2</m:t>
                                </m:r>
                              </m:sub>
                            </m:sSub>
                          </m:fName>
                          <m:e>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𝑛</m:t>
                            </m:r>
                          </m:e>
                        </m:func>
                      </m:e>
                    </m:d>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m:t>
                    </m:r>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1</m:t>
                    </m:r>
                  </m:oMath>
                </a14:m>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，得证。</a:t>
                </a:r>
                <a:endPar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spcAft>
                    <a:spcPts val="1200"/>
                  </a:spcAft>
                  <a:buNone/>
                </a:pP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lnSpc>
                    <a:spcPct val="110000"/>
                  </a:lnSpc>
                  <a:spcAft>
                    <a:spcPts val="1200"/>
                  </a:spcAft>
                </a:pP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性质</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5</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 具有</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n</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个结点的完全二叉树，从根结点开始自上而下、从左向右对结点从</a:t>
                </a:r>
                <a:r>
                  <a:rPr lang="en-US"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0</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开始编号。对于任意一个编号为</a:t>
                </a:r>
                <a:r>
                  <a:rPr lang="en-US" altLang="zh-CN" sz="3600" b="1" kern="100" dirty="0" err="1">
                    <a:solidFill>
                      <a:srgbClr val="FFC000"/>
                    </a:solidFill>
                    <a:latin typeface="仿宋" panose="02010609060101010101" pitchFamily="49" charset="-122"/>
                    <a:ea typeface="仿宋" panose="02010609060101010101" pitchFamily="49" charset="-122"/>
                    <a:cs typeface="Times New Roman" panose="02020603050405020304" pitchFamily="18" charset="0"/>
                  </a:rPr>
                  <a:t>i</a:t>
                </a:r>
                <a:r>
                  <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的结点： </a:t>
                </a:r>
                <a:endParaRPr lang="zh-CN" altLang="zh-CN" sz="36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lnSpc>
                    <a:spcPct val="110000"/>
                  </a:lnSpc>
                  <a:spcAft>
                    <a:spcPts val="1200"/>
                  </a:spcAft>
                  <a:buNone/>
                </a:pP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证明：</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a:t>
                </a:r>
                <a:r>
                  <a:rPr lang="en-US" altLang="zh-CN" sz="2600" kern="100" dirty="0" err="1">
                    <a:solidFill>
                      <a:srgbClr val="656565"/>
                    </a:solidFill>
                    <a:latin typeface="汉仪颜楷简" panose="00020600040101010101" charset="-122"/>
                    <a:ea typeface="汉仪颜楷简" panose="00020600040101010101" charset="-122"/>
                    <a:cs typeface="Times New Roman" panose="02020603050405020304" pitchFamily="18" charset="0"/>
                  </a:rPr>
                  <a:t>i</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=0</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，结点为根结点，没有父结点； 若</a:t>
                </a:r>
                <a:r>
                  <a:rPr lang="en-US" altLang="zh-CN" sz="2600" kern="100" dirty="0" err="1">
                    <a:solidFill>
                      <a:srgbClr val="656565"/>
                    </a:solidFill>
                    <a:latin typeface="汉仪颜楷简" panose="00020600040101010101" charset="-122"/>
                    <a:ea typeface="汉仪颜楷简" panose="00020600040101010101" charset="-122"/>
                    <a:cs typeface="Times New Roman" panose="02020603050405020304" pitchFamily="18" charset="0"/>
                  </a:rPr>
                  <a:t>i</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&gt;0</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，则父结点的编号为</a:t>
                </a:r>
                <a14:m>
                  <m:oMath xmlns:m="http://schemas.openxmlformats.org/officeDocument/2006/math">
                    <m:d>
                      <m:dPr>
                        <m:begChr m:val="⌊"/>
                        <m:endChr m:val="⌋"/>
                        <m:ctrlPr>
                          <a:rPr lang="zh-CN" altLang="zh-CN" sz="2600" i="1" kern="100">
                            <a:solidFill>
                              <a:srgbClr val="656565"/>
                            </a:solidFill>
                            <a:latin typeface="Cambria Math" panose="02040503050406030204" pitchFamily="18" charset="0"/>
                            <a:ea typeface="汉仪颜楷简" panose="00020600040101010101" charset="-122"/>
                            <a:cs typeface="Times New Roman" panose="02020603050405020304" pitchFamily="18" charset="0"/>
                          </a:rPr>
                        </m:ctrlPr>
                      </m:dPr>
                      <m:e>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m:t>
                        </m:r>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𝑖</m:t>
                        </m:r>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m:t>
                        </m:r>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1</m:t>
                        </m:r>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m:t>
                        </m:r>
                        <m:r>
                          <a:rPr lang="en-US" altLang="zh-CN" sz="2600" kern="100">
                            <a:solidFill>
                              <a:srgbClr val="656565"/>
                            </a:solidFill>
                            <a:latin typeface="Cambria Math" panose="02040503050406030204" pitchFamily="18" charset="0"/>
                            <a:ea typeface="汉仪颜楷简" panose="00020600040101010101" charset="-122"/>
                            <a:cs typeface="Times New Roman" panose="02020603050405020304" pitchFamily="18" charset="0"/>
                          </a:rPr>
                          <m:t>2</m:t>
                        </m:r>
                      </m:e>
                    </m:d>
                  </m:oMath>
                </a14:m>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spcAft>
                    <a:spcPts val="1200"/>
                  </a:spcAft>
                  <a:buNone/>
                </a:pP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(2)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2i+1≥n</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，该结点无左孩子，否则左孩子结点的编号为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2i+1</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spcAft>
                    <a:spcPts val="1200"/>
                  </a:spcAft>
                  <a:buNone/>
                </a:pP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(3)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2i+2≥n</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，该结点无右孩子，否则右孩子结点的编号为</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2i+2</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0000" y="1244600"/>
                <a:ext cx="11833200" cy="5659427"/>
              </a:xfrm>
              <a:blipFill rotWithShape="1">
                <a:blip r:embed="rId1"/>
                <a:stretch>
                  <a:fillRect l="-2" r="2" b="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二叉树的性质</a:t>
            </a:r>
            <a:r>
              <a:rPr lang="en-US" altLang="zh-CN" dirty="0"/>
              <a:t>——</a:t>
            </a:r>
            <a:r>
              <a:rPr lang="zh-CN" altLang="en-US" dirty="0"/>
              <a:t>例题</a:t>
            </a:r>
            <a:endParaRPr lang="zh-CN" altLang="en-US" dirty="0"/>
          </a:p>
        </p:txBody>
      </p:sp>
      <p:sp>
        <p:nvSpPr>
          <p:cNvPr id="3" name="内容占位符 2"/>
          <p:cNvSpPr>
            <a:spLocks noGrp="1"/>
          </p:cNvSpPr>
          <p:nvPr>
            <p:ph sz="half" idx="1"/>
          </p:nvPr>
        </p:nvSpPr>
        <p:spPr>
          <a:xfrm>
            <a:off x="180000" y="1317319"/>
            <a:ext cx="8283872" cy="971750"/>
          </a:xfrm>
        </p:spPr>
        <p:txBody>
          <a:bodyPr>
            <a:normAutofit fontScale="62500" lnSpcReduction="20000"/>
          </a:bodyPr>
          <a:lstStyle/>
          <a:p>
            <a:pPr marL="0" indent="0">
              <a:lnSpc>
                <a:spcPct val="120000"/>
              </a:lnSpc>
              <a:buNone/>
            </a:pPr>
            <a:r>
              <a:rPr lang="zh-CN" altLang="zh-CN" sz="4200" b="1" dirty="0">
                <a:solidFill>
                  <a:schemeClr val="accent2"/>
                </a:solidFill>
              </a:rPr>
              <a:t>【例</a:t>
            </a:r>
            <a:r>
              <a:rPr lang="en-US" altLang="zh-CN" sz="4200" b="1" dirty="0">
                <a:solidFill>
                  <a:schemeClr val="accent2"/>
                </a:solidFill>
              </a:rPr>
              <a:t>5.1</a:t>
            </a:r>
            <a:r>
              <a:rPr lang="zh-CN" altLang="zh-CN" sz="4200" b="1" dirty="0">
                <a:solidFill>
                  <a:schemeClr val="accent2"/>
                </a:solidFill>
              </a:rPr>
              <a:t>】对于任意一个满二叉树，其分支数</a:t>
            </a:r>
            <a:r>
              <a:rPr lang="en-US" altLang="zh-CN" sz="4200" b="1" dirty="0">
                <a:solidFill>
                  <a:schemeClr val="accent2"/>
                </a:solidFill>
              </a:rPr>
              <a:t>B</a:t>
            </a:r>
            <a:r>
              <a:rPr lang="zh-CN" altLang="zh-CN" sz="4200" b="1" dirty="0">
                <a:solidFill>
                  <a:schemeClr val="accent2"/>
                </a:solidFill>
              </a:rPr>
              <a:t>＝</a:t>
            </a:r>
            <a:r>
              <a:rPr lang="en-US" altLang="zh-CN" sz="4200" b="1" dirty="0">
                <a:solidFill>
                  <a:schemeClr val="accent2"/>
                </a:solidFill>
              </a:rPr>
              <a:t>2(n</a:t>
            </a:r>
            <a:r>
              <a:rPr lang="en-US" altLang="zh-CN" sz="2300" b="1" dirty="0">
                <a:solidFill>
                  <a:schemeClr val="accent2"/>
                </a:solidFill>
              </a:rPr>
              <a:t>0</a:t>
            </a:r>
            <a:r>
              <a:rPr lang="en-US" altLang="zh-CN" sz="4200" b="1" dirty="0">
                <a:solidFill>
                  <a:schemeClr val="accent2"/>
                </a:solidFill>
              </a:rPr>
              <a:t>-1)</a:t>
            </a:r>
            <a:r>
              <a:rPr lang="zh-CN" altLang="zh-CN" sz="4200" b="1" dirty="0">
                <a:solidFill>
                  <a:schemeClr val="accent2"/>
                </a:solidFill>
              </a:rPr>
              <a:t>，其中</a:t>
            </a:r>
            <a:r>
              <a:rPr lang="en-US" altLang="zh-CN" sz="4200" b="1" dirty="0">
                <a:solidFill>
                  <a:schemeClr val="accent2"/>
                </a:solidFill>
              </a:rPr>
              <a:t>n</a:t>
            </a:r>
            <a:r>
              <a:rPr lang="en-US" altLang="zh-CN" sz="2500" b="1" dirty="0">
                <a:solidFill>
                  <a:schemeClr val="accent2"/>
                </a:solidFill>
              </a:rPr>
              <a:t>0</a:t>
            </a:r>
            <a:r>
              <a:rPr lang="zh-CN" altLang="zh-CN" sz="4200" b="1" dirty="0">
                <a:solidFill>
                  <a:schemeClr val="accent2"/>
                </a:solidFill>
              </a:rPr>
              <a:t>为终端结点数。</a:t>
            </a:r>
            <a:endParaRPr lang="en-US" altLang="zh-CN" sz="4200" b="1" dirty="0">
              <a:solidFill>
                <a:schemeClr val="accent2"/>
              </a:solidFill>
            </a:endParaRPr>
          </a:p>
          <a:p>
            <a:pPr marL="0" indent="0">
              <a:lnSpc>
                <a:spcPct val="120000"/>
              </a:lnSpc>
              <a:buNone/>
            </a:pPr>
            <a:endParaRPr lang="zh-CN" altLang="zh-CN" sz="4200" b="1" dirty="0">
              <a:solidFill>
                <a:schemeClr val="accent2"/>
              </a:solidFill>
            </a:endParaRPr>
          </a:p>
          <a:p>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内容占位符 5"/>
          <p:cNvPicPr>
            <a:picLocks noGrp="1" noChangeAspect="1"/>
          </p:cNvPicPr>
          <p:nvPr>
            <p:ph sz="half" idx="2"/>
          </p:nvPr>
        </p:nvPicPr>
        <p:blipFill>
          <a:blip r:embed="rId1" cstate="print">
            <a:extLst>
              <a:ext uri="{28A0092B-C50C-407E-A947-70E740481C1C}">
                <a14:useLocalDpi xmlns:a14="http://schemas.microsoft.com/office/drawing/2010/main" val="0"/>
              </a:ext>
            </a:extLst>
          </a:blip>
          <a:stretch>
            <a:fillRect/>
          </a:stretch>
        </p:blipFill>
        <p:spPr>
          <a:xfrm>
            <a:off x="8463872" y="0"/>
            <a:ext cx="3725764" cy="6858000"/>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905195" y="2607630"/>
                <a:ext cx="6130776" cy="3748719"/>
              </a:xfrm>
              <a:prstGeom prst="rect">
                <a:avLst/>
              </a:prstGeom>
              <a:noFill/>
            </p:spPr>
            <p:txBody>
              <a:bodyPr wrap="square">
                <a:spAutoFit/>
              </a:bodyPr>
              <a:lstStyle/>
              <a:p>
                <a:pPr marL="0" indent="0">
                  <a:lnSpc>
                    <a:spcPct val="120000"/>
                  </a:lnSpc>
                  <a:buNone/>
                </a:pPr>
                <a:r>
                  <a:rPr lang="zh-CN" altLang="zh-CN" sz="1800" dirty="0"/>
                  <a:t>解： 设</a:t>
                </a:r>
                <a:r>
                  <a:rPr lang="en-US" altLang="zh-CN" sz="1800" dirty="0"/>
                  <a:t>n2</a:t>
                </a:r>
                <a:r>
                  <a:rPr lang="zh-CN" altLang="zh-CN" sz="1800" dirty="0"/>
                  <a:t>为度为</a:t>
                </a:r>
                <a:r>
                  <a:rPr lang="en-US" altLang="zh-CN" sz="1800" dirty="0"/>
                  <a:t>2</a:t>
                </a:r>
                <a:r>
                  <a:rPr lang="zh-CN" altLang="zh-CN" sz="1800" dirty="0"/>
                  <a:t>的结点，因为在满二叉树中没有度为</a:t>
                </a:r>
                <a:r>
                  <a:rPr lang="en-US" altLang="zh-CN" sz="1800" dirty="0"/>
                  <a:t>1</a:t>
                </a:r>
                <a:r>
                  <a:rPr lang="zh-CN" altLang="zh-CN" sz="1800" dirty="0"/>
                  <a:t>的结点，所以有 </a:t>
                </a:r>
                <a:endParaRPr lang="zh-CN" altLang="zh-CN" sz="1800" dirty="0"/>
              </a:p>
              <a:p>
                <a:pPr marL="0" indent="0">
                  <a:lnSpc>
                    <a:spcPct val="120000"/>
                  </a:lnSpc>
                  <a:buNone/>
                </a:pPr>
                <a14:m>
                  <m:oMathPara xmlns:m="http://schemas.openxmlformats.org/officeDocument/2006/math">
                    <m:oMathParaPr>
                      <m:jc m:val="center"/>
                    </m:oMathParaPr>
                    <m:oMath xmlns:m="http://schemas.openxmlformats.org/officeDocument/2006/math">
                      <m:r>
                        <a:rPr lang="en-US" altLang="zh-CN" sz="1800" b="1" i="1">
                          <a:latin typeface="Cambria Math" panose="02040503050406030204" pitchFamily="18" charset="0"/>
                        </a:rPr>
                        <m:t>𝐧</m:t>
                      </m:r>
                      <m:r>
                        <a:rPr lang="en-US" altLang="zh-CN" sz="1800" b="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𝟎</m:t>
                          </m:r>
                        </m:sub>
                      </m:sSub>
                      <m:r>
                        <a:rPr lang="en-US" altLang="zh-CN" sz="1800" b="1" i="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𝟐</m:t>
                          </m:r>
                        </m:sub>
                      </m:sSub>
                    </m:oMath>
                  </m:oMathPara>
                </a14:m>
                <a:endParaRPr lang="zh-CN" altLang="zh-CN" sz="1800" b="1" dirty="0"/>
              </a:p>
              <a:p>
                <a:pPr marL="0" indent="0">
                  <a:lnSpc>
                    <a:spcPct val="120000"/>
                  </a:lnSpc>
                  <a:buNone/>
                </a:pPr>
                <a:r>
                  <a:rPr lang="en-US" altLang="zh-CN" sz="1800" dirty="0"/>
                  <a:t>	</a:t>
                </a:r>
                <a:r>
                  <a:rPr lang="zh-CN" altLang="zh-CN" sz="1800" dirty="0"/>
                  <a:t>设</a:t>
                </a:r>
                <a:r>
                  <a:rPr lang="en-US" altLang="zh-CN" sz="1800" dirty="0"/>
                  <a:t>B</a:t>
                </a:r>
                <a:r>
                  <a:rPr lang="zh-CN" altLang="zh-CN" sz="1800" dirty="0"/>
                  <a:t>为树中分支数，则</a:t>
                </a:r>
                <a:endParaRPr lang="zh-CN" altLang="zh-CN" sz="1800" dirty="0"/>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sz="1800" b="1" i="1">
                          <a:latin typeface="Cambria Math" panose="02040503050406030204" pitchFamily="18" charset="0"/>
                        </a:rPr>
                        <m:t>𝐧</m:t>
                      </m:r>
                      <m:r>
                        <a:rPr lang="en-US" altLang="zh-CN" sz="1800" b="1">
                          <a:latin typeface="Cambria Math" panose="02040503050406030204" pitchFamily="18" charset="0"/>
                        </a:rPr>
                        <m:t>=</m:t>
                      </m:r>
                      <m:r>
                        <a:rPr lang="en-US" altLang="zh-CN" sz="1800" b="1" i="1">
                          <a:latin typeface="Cambria Math" panose="02040503050406030204" pitchFamily="18" charset="0"/>
                        </a:rPr>
                        <m:t>𝑩</m:t>
                      </m:r>
                      <m:r>
                        <a:rPr lang="en-US" altLang="zh-CN" sz="1800" b="1" i="1">
                          <a:latin typeface="Cambria Math" panose="02040503050406030204" pitchFamily="18" charset="0"/>
                        </a:rPr>
                        <m:t>+</m:t>
                      </m:r>
                      <m:r>
                        <a:rPr lang="en-US" altLang="zh-CN" sz="1800" b="1" i="1">
                          <a:latin typeface="Cambria Math" panose="02040503050406030204" pitchFamily="18" charset="0"/>
                        </a:rPr>
                        <m:t>𝟏</m:t>
                      </m:r>
                    </m:oMath>
                  </m:oMathPara>
                </a14:m>
                <a:endParaRPr lang="zh-CN" altLang="zh-CN" sz="1800" b="1" dirty="0"/>
              </a:p>
              <a:p>
                <a:pPr marL="0" indent="0">
                  <a:lnSpc>
                    <a:spcPct val="120000"/>
                  </a:lnSpc>
                  <a:buNone/>
                </a:pPr>
                <a:r>
                  <a:rPr lang="en-US" altLang="zh-CN" sz="1800" dirty="0"/>
                  <a:t>	</a:t>
                </a:r>
                <a:r>
                  <a:rPr lang="zh-CN" altLang="zh-CN" sz="1800" dirty="0"/>
                  <a:t>所以</a:t>
                </a:r>
                <a:endParaRPr lang="zh-CN" altLang="zh-CN" sz="1800" dirty="0"/>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sz="1800" b="1" i="1">
                          <a:latin typeface="Cambria Math" panose="02040503050406030204" pitchFamily="18" charset="0"/>
                        </a:rPr>
                        <m:t>𝐁</m:t>
                      </m:r>
                      <m:r>
                        <a:rPr lang="en-US" altLang="zh-CN" sz="1800" b="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𝟎</m:t>
                          </m:r>
                        </m:sub>
                      </m:sSub>
                      <m:r>
                        <a:rPr lang="en-US" altLang="zh-CN" sz="1800" b="1" i="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𝟐</m:t>
                          </m:r>
                        </m:sub>
                      </m:sSub>
                      <m:r>
                        <a:rPr lang="en-US" altLang="zh-CN" sz="1800" b="1" i="1">
                          <a:latin typeface="Cambria Math" panose="02040503050406030204" pitchFamily="18" charset="0"/>
                        </a:rPr>
                        <m:t>−</m:t>
                      </m:r>
                      <m:r>
                        <a:rPr lang="en-US" altLang="zh-CN" sz="1800" b="1" i="1">
                          <a:latin typeface="Cambria Math" panose="02040503050406030204" pitchFamily="18" charset="0"/>
                        </a:rPr>
                        <m:t>𝟏</m:t>
                      </m:r>
                    </m:oMath>
                  </m:oMathPara>
                </a14:m>
                <a:endParaRPr lang="zh-CN" altLang="zh-CN" sz="1800" b="1" dirty="0"/>
              </a:p>
              <a:p>
                <a:pPr marL="0" indent="0">
                  <a:lnSpc>
                    <a:spcPct val="120000"/>
                  </a:lnSpc>
                  <a:buNone/>
                </a:pPr>
                <a:r>
                  <a:rPr lang="en-US" altLang="zh-CN" sz="1800" dirty="0"/>
                  <a:t>	</a:t>
                </a:r>
                <a:r>
                  <a:rPr lang="zh-CN" altLang="zh-CN" sz="1800" dirty="0"/>
                  <a:t>再由二叉树的性质</a:t>
                </a:r>
                <a:endParaRPr lang="zh-CN" altLang="zh-CN" sz="1800" dirty="0"/>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𝟎</m:t>
                          </m:r>
                        </m:sub>
                      </m:sSub>
                      <m:r>
                        <a:rPr lang="en-US" altLang="zh-CN" sz="1800" b="1" i="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𝟐</m:t>
                          </m:r>
                        </m:sub>
                      </m:sSub>
                      <m:r>
                        <a:rPr lang="en-US" altLang="zh-CN" sz="1800" b="1" i="1">
                          <a:latin typeface="Cambria Math" panose="02040503050406030204" pitchFamily="18" charset="0"/>
                        </a:rPr>
                        <m:t>+</m:t>
                      </m:r>
                      <m:r>
                        <a:rPr lang="en-US" altLang="zh-CN" sz="1800" b="1" i="1">
                          <a:latin typeface="Cambria Math" panose="02040503050406030204" pitchFamily="18" charset="0"/>
                        </a:rPr>
                        <m:t>𝟏</m:t>
                      </m:r>
                    </m:oMath>
                  </m:oMathPara>
                </a14:m>
                <a:endParaRPr lang="zh-CN" altLang="zh-CN" sz="1800" b="1" dirty="0"/>
              </a:p>
              <a:p>
                <a:pPr marL="0" indent="0">
                  <a:lnSpc>
                    <a:spcPct val="120000"/>
                  </a:lnSpc>
                  <a:buNone/>
                </a:pPr>
                <a:r>
                  <a:rPr lang="en-US" altLang="zh-CN" sz="1800" dirty="0"/>
                  <a:t>	</a:t>
                </a:r>
                <a:r>
                  <a:rPr lang="zh-CN" altLang="zh-CN" sz="1800" dirty="0"/>
                  <a:t>代入上式有</a:t>
                </a:r>
                <a:endParaRPr lang="zh-CN" altLang="zh-CN" sz="1800" dirty="0"/>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sz="1800" b="1" i="1">
                          <a:latin typeface="Cambria Math" panose="02040503050406030204" pitchFamily="18" charset="0"/>
                        </a:rPr>
                        <m:t>𝐁</m:t>
                      </m:r>
                      <m:r>
                        <a:rPr lang="en-US" altLang="zh-CN" sz="1800" b="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𝟎</m:t>
                          </m:r>
                        </m:sub>
                      </m:sSub>
                      <m:r>
                        <a:rPr lang="en-US" altLang="zh-CN" sz="1800" b="1" i="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𝟎</m:t>
                          </m:r>
                        </m:sub>
                      </m:sSub>
                      <m:r>
                        <a:rPr lang="en-US" altLang="zh-CN" sz="1800" b="1" i="1">
                          <a:latin typeface="Cambria Math" panose="02040503050406030204" pitchFamily="18" charset="0"/>
                        </a:rPr>
                        <m:t>−</m:t>
                      </m:r>
                      <m:r>
                        <a:rPr lang="en-US" altLang="zh-CN" sz="1800" b="1" i="1">
                          <a:latin typeface="Cambria Math" panose="02040503050406030204" pitchFamily="18" charset="0"/>
                        </a:rPr>
                        <m:t>𝟏</m:t>
                      </m:r>
                      <m:r>
                        <a:rPr lang="en-US" altLang="zh-CN" sz="1800" b="1" i="1">
                          <a:latin typeface="Cambria Math" panose="02040503050406030204" pitchFamily="18" charset="0"/>
                        </a:rPr>
                        <m:t>−</m:t>
                      </m:r>
                      <m:r>
                        <a:rPr lang="en-US" altLang="zh-CN" sz="1800" b="1" i="1">
                          <a:latin typeface="Cambria Math" panose="02040503050406030204" pitchFamily="18" charset="0"/>
                        </a:rPr>
                        <m:t>𝟏</m:t>
                      </m:r>
                      <m:r>
                        <a:rPr lang="en-US" altLang="zh-CN" sz="1800" b="1" i="1">
                          <a:latin typeface="Cambria Math" panose="02040503050406030204" pitchFamily="18" charset="0"/>
                        </a:rPr>
                        <m:t>=</m:t>
                      </m:r>
                      <m:r>
                        <a:rPr lang="en-US" altLang="zh-CN" sz="1800" b="1" i="1">
                          <a:latin typeface="Cambria Math" panose="02040503050406030204" pitchFamily="18" charset="0"/>
                        </a:rPr>
                        <m:t>𝟐</m:t>
                      </m:r>
                      <m:r>
                        <a:rPr lang="en-US" altLang="zh-CN" sz="1800" b="1" i="1">
                          <a:latin typeface="Cambria Math" panose="02040503050406030204" pitchFamily="18" charset="0"/>
                        </a:rPr>
                        <m:t>(</m:t>
                      </m:r>
                      <m:sSub>
                        <m:sSubPr>
                          <m:ctrlPr>
                            <a:rPr lang="zh-CN" altLang="zh-CN" sz="1800" b="1" i="1">
                              <a:latin typeface="Cambria Math" panose="02040503050406030204" pitchFamily="18" charset="0"/>
                            </a:rPr>
                          </m:ctrlPr>
                        </m:sSubPr>
                        <m:e>
                          <m:r>
                            <a:rPr lang="en-US" altLang="zh-CN" sz="1800" b="1" i="1">
                              <a:latin typeface="Cambria Math" panose="02040503050406030204" pitchFamily="18" charset="0"/>
                            </a:rPr>
                            <m:t>𝒏</m:t>
                          </m:r>
                        </m:e>
                        <m:sub>
                          <m:r>
                            <a:rPr lang="en-US" altLang="zh-CN" sz="1800" b="1" i="1">
                              <a:latin typeface="Cambria Math" panose="02040503050406030204" pitchFamily="18" charset="0"/>
                            </a:rPr>
                            <m:t>𝟎</m:t>
                          </m:r>
                        </m:sub>
                      </m:sSub>
                      <m:r>
                        <a:rPr lang="en-US" altLang="zh-CN" sz="1800" b="1" i="1">
                          <a:latin typeface="Cambria Math" panose="02040503050406030204" pitchFamily="18" charset="0"/>
                        </a:rPr>
                        <m:t>−</m:t>
                      </m:r>
                      <m:r>
                        <a:rPr lang="en-US" altLang="zh-CN" sz="1800" b="1" i="1">
                          <a:latin typeface="Cambria Math" panose="02040503050406030204" pitchFamily="18" charset="0"/>
                        </a:rPr>
                        <m:t>𝟏</m:t>
                      </m:r>
                      <m:r>
                        <a:rPr lang="en-US" altLang="zh-CN" sz="1800" b="1" i="1" smtClean="0">
                          <a:latin typeface="Cambria Math" panose="02040503050406030204" pitchFamily="18" charset="0"/>
                        </a:rPr>
                        <m:t>)</m:t>
                      </m:r>
                    </m:oMath>
                  </m:oMathPara>
                </a14:m>
                <a:endParaRPr lang="zh-CN" altLang="zh-CN" sz="1800" b="1" dirty="0"/>
              </a:p>
            </p:txBody>
          </p:sp>
        </mc:Choice>
        <mc:Fallback>
          <p:sp>
            <p:nvSpPr>
              <p:cNvPr id="7" name="文本框 6"/>
              <p:cNvSpPr txBox="1">
                <a:spLocks noRot="1" noChangeAspect="1" noMove="1" noResize="1" noEditPoints="1" noAdjustHandles="1" noChangeArrowheads="1" noChangeShapeType="1" noTextEdit="1"/>
              </p:cNvSpPr>
              <p:nvPr/>
            </p:nvSpPr>
            <p:spPr>
              <a:xfrm>
                <a:off x="905195" y="2607630"/>
                <a:ext cx="6130776" cy="3748719"/>
              </a:xfrm>
              <a:prstGeom prst="rect">
                <a:avLst/>
              </a:prstGeom>
              <a:blipFill rotWithShape="1">
                <a:blip r:embed="rId2"/>
                <a:stretch>
                  <a:fillRect l="-5" t="-9" r="3" b="1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二叉树的性质</a:t>
            </a:r>
            <a:r>
              <a:rPr lang="en-US" altLang="zh-CN" dirty="0"/>
              <a:t>——</a:t>
            </a:r>
            <a:r>
              <a:rPr lang="zh-CN" altLang="en-US" dirty="0"/>
              <a:t>例题</a:t>
            </a:r>
            <a:endParaRPr lang="zh-CN" altLang="en-US" dirty="0"/>
          </a:p>
        </p:txBody>
      </p:sp>
      <p:sp>
        <p:nvSpPr>
          <p:cNvPr id="3" name="内容占位符 2"/>
          <p:cNvSpPr>
            <a:spLocks noGrp="1"/>
          </p:cNvSpPr>
          <p:nvPr>
            <p:ph sz="half" idx="1"/>
          </p:nvPr>
        </p:nvSpPr>
        <p:spPr>
          <a:xfrm>
            <a:off x="180000" y="1407372"/>
            <a:ext cx="8283872" cy="1323554"/>
          </a:xfrm>
        </p:spPr>
        <p:txBody>
          <a:bodyPr>
            <a:normAutofit fontScale="85000" lnSpcReduction="20000"/>
          </a:bodyPr>
          <a:lstStyle/>
          <a:p>
            <a:pPr marL="0" indent="0">
              <a:lnSpc>
                <a:spcPct val="120000"/>
              </a:lnSpc>
              <a:buNone/>
            </a:pPr>
            <a:r>
              <a:rPr lang="zh-CN" altLang="zh-CN" sz="2900" b="1" dirty="0">
                <a:solidFill>
                  <a:schemeClr val="accent2"/>
                </a:solidFill>
              </a:rPr>
              <a:t>【例</a:t>
            </a:r>
            <a:r>
              <a:rPr lang="en-US" altLang="zh-CN" sz="2900" b="1" dirty="0">
                <a:solidFill>
                  <a:schemeClr val="accent2"/>
                </a:solidFill>
              </a:rPr>
              <a:t>5.2</a:t>
            </a:r>
            <a:r>
              <a:rPr lang="zh-CN" altLang="zh-CN" sz="2900" b="1" dirty="0">
                <a:solidFill>
                  <a:schemeClr val="accent2"/>
                </a:solidFill>
              </a:rPr>
              <a:t>】已知一棵度为</a:t>
            </a:r>
            <a:r>
              <a:rPr lang="en-US" altLang="zh-CN" sz="2900" b="1" dirty="0">
                <a:solidFill>
                  <a:schemeClr val="accent2"/>
                </a:solidFill>
              </a:rPr>
              <a:t>m</a:t>
            </a:r>
            <a:r>
              <a:rPr lang="zh-CN" altLang="zh-CN" sz="2900" b="1" dirty="0">
                <a:solidFill>
                  <a:schemeClr val="accent2"/>
                </a:solidFill>
              </a:rPr>
              <a:t>的树中有</a:t>
            </a:r>
            <a:r>
              <a:rPr lang="en-US" altLang="zh-CN" sz="2900" b="1" dirty="0">
                <a:solidFill>
                  <a:schemeClr val="accent2"/>
                </a:solidFill>
              </a:rPr>
              <a:t>n</a:t>
            </a:r>
            <a:r>
              <a:rPr lang="en-US" altLang="zh-CN" sz="1700" b="1" dirty="0">
                <a:solidFill>
                  <a:schemeClr val="accent2"/>
                </a:solidFill>
              </a:rPr>
              <a:t>1</a:t>
            </a:r>
            <a:r>
              <a:rPr lang="zh-CN" altLang="zh-CN" sz="2900" b="1" dirty="0">
                <a:solidFill>
                  <a:schemeClr val="accent2"/>
                </a:solidFill>
              </a:rPr>
              <a:t>个度为</a:t>
            </a:r>
            <a:r>
              <a:rPr lang="en-US" altLang="zh-CN" sz="2900" b="1" dirty="0">
                <a:solidFill>
                  <a:schemeClr val="accent2"/>
                </a:solidFill>
              </a:rPr>
              <a:t>1</a:t>
            </a:r>
            <a:r>
              <a:rPr lang="zh-CN" altLang="zh-CN" sz="2900" b="1" dirty="0">
                <a:solidFill>
                  <a:schemeClr val="accent2"/>
                </a:solidFill>
              </a:rPr>
              <a:t>的结点、</a:t>
            </a:r>
            <a:r>
              <a:rPr lang="en-US" altLang="zh-CN" sz="2900" b="1" dirty="0">
                <a:solidFill>
                  <a:schemeClr val="accent2"/>
                </a:solidFill>
              </a:rPr>
              <a:t>n</a:t>
            </a:r>
            <a:r>
              <a:rPr lang="en-US" altLang="zh-CN" sz="1700" b="1" dirty="0">
                <a:solidFill>
                  <a:schemeClr val="accent2"/>
                </a:solidFill>
              </a:rPr>
              <a:t>2</a:t>
            </a:r>
            <a:r>
              <a:rPr lang="zh-CN" altLang="zh-CN" sz="2900" b="1" dirty="0">
                <a:solidFill>
                  <a:schemeClr val="accent2"/>
                </a:solidFill>
              </a:rPr>
              <a:t>个度为</a:t>
            </a:r>
            <a:r>
              <a:rPr lang="en-US" altLang="zh-CN" sz="2900" b="1" dirty="0">
                <a:solidFill>
                  <a:schemeClr val="accent2"/>
                </a:solidFill>
              </a:rPr>
              <a:t>2</a:t>
            </a:r>
            <a:r>
              <a:rPr lang="zh-CN" altLang="zh-CN" sz="2900" b="1" dirty="0">
                <a:solidFill>
                  <a:schemeClr val="accent2"/>
                </a:solidFill>
              </a:rPr>
              <a:t>的结点、</a:t>
            </a:r>
            <a:r>
              <a:rPr lang="en-US" altLang="zh-CN" sz="2900" b="1" dirty="0">
                <a:solidFill>
                  <a:schemeClr val="accent2"/>
                </a:solidFill>
              </a:rPr>
              <a:t>…</a:t>
            </a:r>
            <a:r>
              <a:rPr lang="zh-CN" altLang="zh-CN" sz="2900" b="1" dirty="0">
                <a:solidFill>
                  <a:schemeClr val="accent2"/>
                </a:solidFill>
              </a:rPr>
              <a:t>、</a:t>
            </a:r>
            <a:r>
              <a:rPr lang="en-US" altLang="zh-CN" sz="2900" b="1" dirty="0">
                <a:solidFill>
                  <a:schemeClr val="accent2"/>
                </a:solidFill>
              </a:rPr>
              <a:t>n</a:t>
            </a:r>
            <a:r>
              <a:rPr lang="en-US" altLang="zh-CN" sz="2300" b="1" dirty="0">
                <a:solidFill>
                  <a:schemeClr val="accent2"/>
                </a:solidFill>
              </a:rPr>
              <a:t>m</a:t>
            </a:r>
            <a:r>
              <a:rPr lang="zh-CN" altLang="zh-CN" sz="2900" b="1" dirty="0">
                <a:solidFill>
                  <a:schemeClr val="accent2"/>
                </a:solidFill>
              </a:rPr>
              <a:t>个度为</a:t>
            </a:r>
            <a:r>
              <a:rPr lang="en-US" altLang="zh-CN" sz="2900" b="1" dirty="0">
                <a:solidFill>
                  <a:schemeClr val="accent2"/>
                </a:solidFill>
              </a:rPr>
              <a:t>m</a:t>
            </a:r>
            <a:r>
              <a:rPr lang="zh-CN" altLang="zh-CN" sz="2900" b="1" dirty="0">
                <a:solidFill>
                  <a:schemeClr val="accent2"/>
                </a:solidFill>
              </a:rPr>
              <a:t>的结点，问该树中共有多少个叶子结点？</a:t>
            </a:r>
            <a:endParaRPr lang="en-US" altLang="zh-CN" sz="2900" b="1" dirty="0">
              <a:solidFill>
                <a:schemeClr val="accent2"/>
              </a:solidFill>
            </a:endParaRPr>
          </a:p>
          <a:p>
            <a:pPr marL="0" indent="0">
              <a:lnSpc>
                <a:spcPct val="120000"/>
              </a:lnSpc>
              <a:buNone/>
            </a:pPr>
            <a:endParaRPr lang="zh-CN" altLang="zh-CN" sz="2900" b="1" dirty="0">
              <a:solidFill>
                <a:schemeClr val="accent2"/>
              </a:solidFill>
            </a:endParaRPr>
          </a:p>
          <a:p>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内容占位符 5"/>
          <p:cNvPicPr>
            <a:picLocks noGrp="1" noChangeAspect="1"/>
          </p:cNvPicPr>
          <p:nvPr>
            <p:ph sz="half" idx="2"/>
          </p:nvPr>
        </p:nvPicPr>
        <p:blipFill>
          <a:blip r:embed="rId1" cstate="print">
            <a:extLst>
              <a:ext uri="{28A0092B-C50C-407E-A947-70E740481C1C}">
                <a14:useLocalDpi xmlns:a14="http://schemas.microsoft.com/office/drawing/2010/main" val="0"/>
              </a:ext>
            </a:extLst>
          </a:blip>
          <a:stretch>
            <a:fillRect/>
          </a:stretch>
        </p:blipFill>
        <p:spPr>
          <a:xfrm>
            <a:off x="8463872" y="0"/>
            <a:ext cx="3725764" cy="6858000"/>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1021796" y="3175335"/>
                <a:ext cx="6130776" cy="2412840"/>
              </a:xfrm>
              <a:prstGeom prst="rect">
                <a:avLst/>
              </a:prstGeom>
              <a:noFill/>
            </p:spPr>
            <p:txBody>
              <a:bodyPr wrap="square">
                <a:spAutoFit/>
              </a:bodyPr>
              <a:lstStyle/>
              <a:p>
                <a:pPr marL="0" indent="0">
                  <a:lnSpc>
                    <a:spcPct val="120000"/>
                  </a:lnSpc>
                  <a:buNone/>
                </a:pPr>
                <a:r>
                  <a:rPr lang="zh-CN" altLang="zh-CN" sz="1800" dirty="0"/>
                  <a:t>解： 设该树的总结点数为</a:t>
                </a:r>
                <a:r>
                  <a:rPr lang="en-US" altLang="zh-CN" sz="1800" dirty="0"/>
                  <a:t>n</a:t>
                </a:r>
                <a:r>
                  <a:rPr lang="zh-CN" altLang="zh-CN" sz="1800" dirty="0"/>
                  <a:t>，则</a:t>
                </a:r>
                <a:endParaRPr lang="zh-CN" altLang="zh-CN" sz="1800" dirty="0"/>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𝐧</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𝟎</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𝟏</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𝟐</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𝒎</m:t>
                          </m:r>
                        </m:sub>
                      </m:sSub>
                    </m:oMath>
                  </m:oMathPara>
                </a14:m>
                <a:endParaRPr lang="zh-CN" altLang="zh-CN" sz="1800" dirty="0"/>
              </a:p>
              <a:p>
                <a:pPr marL="0" indent="0">
                  <a:lnSpc>
                    <a:spcPct val="120000"/>
                  </a:lnSpc>
                  <a:buNone/>
                </a:pPr>
                <a:r>
                  <a:rPr lang="zh-CN" altLang="zh-CN" sz="1800" dirty="0"/>
                  <a:t>又</a:t>
                </a:r>
                <a:endParaRPr lang="zh-CN" altLang="zh-CN" sz="1800" dirty="0"/>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𝐧</m:t>
                      </m:r>
                      <m:r>
                        <a:rPr lang="en-US" altLang="zh-CN" sz="1800">
                          <a:latin typeface="Cambria Math" panose="02040503050406030204" pitchFamily="18" charset="0"/>
                        </a:rPr>
                        <m:t>=</m:t>
                      </m:r>
                      <m:r>
                        <a:rPr lang="zh-CN" altLang="zh-CN" sz="1800">
                          <a:latin typeface="Cambria Math" panose="02040503050406030204" pitchFamily="18" charset="0"/>
                        </a:rPr>
                        <m:t>分支数</m:t>
                      </m:r>
                      <m:r>
                        <a:rPr lang="en-US" altLang="zh-CN" sz="1800">
                          <a:latin typeface="Cambria Math" panose="02040503050406030204" pitchFamily="18" charset="0"/>
                        </a:rPr>
                        <m:t>+</m:t>
                      </m:r>
                      <m:r>
                        <a:rPr lang="en-US" altLang="zh-CN" sz="1800">
                          <a:latin typeface="Cambria Math" panose="02040503050406030204" pitchFamily="18" charset="0"/>
                        </a:rPr>
                        <m:t>𝟏</m:t>
                      </m:r>
                      <m:r>
                        <a:rPr lang="en-US" altLang="zh-CN" sz="1800">
                          <a:latin typeface="Cambria Math" panose="02040503050406030204" pitchFamily="18" charset="0"/>
                        </a:rPr>
                        <m:t>=</m:t>
                      </m:r>
                      <m:r>
                        <a:rPr lang="en-US" altLang="zh-CN" sz="1800">
                          <a:latin typeface="Cambria Math" panose="02040503050406030204" pitchFamily="18" charset="0"/>
                        </a:rPr>
                        <m:t>𝟎</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𝟎</m:t>
                          </m:r>
                        </m:sub>
                      </m:sSub>
                      <m:r>
                        <a:rPr lang="en-US" altLang="zh-CN" sz="1800">
                          <a:latin typeface="Cambria Math" panose="02040503050406030204" pitchFamily="18" charset="0"/>
                        </a:rPr>
                        <m:t>+</m:t>
                      </m:r>
                      <m:r>
                        <a:rPr lang="en-US" altLang="zh-CN" sz="1800">
                          <a:latin typeface="Cambria Math" panose="02040503050406030204" pitchFamily="18" charset="0"/>
                        </a:rPr>
                        <m:t>𝟏</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𝟏</m:t>
                          </m:r>
                        </m:sub>
                      </m:sSub>
                      <m:r>
                        <a:rPr lang="en-US" altLang="zh-CN" sz="1800">
                          <a:latin typeface="Cambria Math" panose="02040503050406030204" pitchFamily="18" charset="0"/>
                        </a:rPr>
                        <m:t>+</m:t>
                      </m:r>
                      <m:r>
                        <a:rPr lang="en-US" altLang="zh-CN" sz="1800">
                          <a:latin typeface="Cambria Math" panose="02040503050406030204" pitchFamily="18" charset="0"/>
                        </a:rPr>
                        <m:t>𝟐</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𝟐</m:t>
                          </m:r>
                        </m:sub>
                      </m:sSub>
                      <m:r>
                        <a:rPr lang="en-US" altLang="zh-CN" sz="1800">
                          <a:latin typeface="Cambria Math" panose="02040503050406030204" pitchFamily="18" charset="0"/>
                        </a:rPr>
                        <m:t>+…+</m:t>
                      </m:r>
                      <m:r>
                        <a:rPr lang="en-US" altLang="zh-CN" sz="1800">
                          <a:latin typeface="Cambria Math" panose="02040503050406030204" pitchFamily="18" charset="0"/>
                        </a:rPr>
                        <m:t>𝒎</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𝒎</m:t>
                          </m:r>
                        </m:sub>
                      </m:sSub>
                      <m:r>
                        <a:rPr lang="en-US" altLang="zh-CN" sz="1800">
                          <a:latin typeface="Cambria Math" panose="02040503050406030204" pitchFamily="18" charset="0"/>
                        </a:rPr>
                        <m:t>+</m:t>
                      </m:r>
                      <m:r>
                        <a:rPr lang="en-US" altLang="zh-CN" sz="1800">
                          <a:latin typeface="Cambria Math" panose="02040503050406030204" pitchFamily="18" charset="0"/>
                        </a:rPr>
                        <m:t>𝟏</m:t>
                      </m:r>
                    </m:oMath>
                  </m:oMathPara>
                </a14:m>
                <a:endParaRPr lang="zh-CN" altLang="zh-CN" sz="1800" dirty="0"/>
              </a:p>
              <a:p>
                <a:pPr marL="0" indent="0">
                  <a:lnSpc>
                    <a:spcPct val="120000"/>
                  </a:lnSpc>
                  <a:buNone/>
                </a:pPr>
                <a:r>
                  <a:rPr lang="zh-CN" altLang="zh-CN" sz="1800" dirty="0"/>
                  <a:t>由上述两式可得</a:t>
                </a:r>
                <a:endParaRPr lang="zh-CN" altLang="zh-CN" sz="1800" dirty="0"/>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𝟎</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𝟐</m:t>
                          </m:r>
                        </m:sub>
                      </m:sSub>
                      <m:r>
                        <a:rPr lang="en-US" altLang="zh-CN" sz="1800">
                          <a:latin typeface="Cambria Math" panose="02040503050406030204" pitchFamily="18" charset="0"/>
                        </a:rPr>
                        <m:t>+</m:t>
                      </m:r>
                      <m:r>
                        <a:rPr lang="en-US" altLang="zh-CN" sz="1800">
                          <a:latin typeface="Cambria Math" panose="02040503050406030204" pitchFamily="18" charset="0"/>
                        </a:rPr>
                        <m:t>𝟐</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𝟑</m:t>
                          </m:r>
                        </m:sub>
                      </m:sSub>
                      <m:r>
                        <a:rPr lang="en-US" altLang="zh-CN" sz="1800">
                          <a:latin typeface="Cambria Math" panose="02040503050406030204" pitchFamily="18" charset="0"/>
                        </a:rPr>
                        <m:t>+…+(</m:t>
                      </m:r>
                      <m:r>
                        <a:rPr lang="en-US" altLang="zh-CN" sz="1800">
                          <a:latin typeface="Cambria Math" panose="02040503050406030204" pitchFamily="18" charset="0"/>
                        </a:rPr>
                        <m:t>𝒎</m:t>
                      </m:r>
                      <m:r>
                        <a:rPr lang="en-US" altLang="zh-CN" sz="1800">
                          <a:latin typeface="Cambria Math" panose="02040503050406030204" pitchFamily="18" charset="0"/>
                        </a:rPr>
                        <m:t>−</m:t>
                      </m:r>
                      <m:r>
                        <a:rPr lang="en-US" altLang="zh-CN" sz="1800">
                          <a:latin typeface="Cambria Math" panose="02040503050406030204" pitchFamily="18" charset="0"/>
                        </a:rPr>
                        <m:t>𝟏</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𝒏</m:t>
                          </m:r>
                        </m:e>
                        <m:sub>
                          <m:r>
                            <a:rPr lang="en-US" altLang="zh-CN" sz="1800">
                              <a:latin typeface="Cambria Math" panose="02040503050406030204" pitchFamily="18" charset="0"/>
                            </a:rPr>
                            <m:t>𝒎</m:t>
                          </m:r>
                        </m:sub>
                      </m:sSub>
                      <m:r>
                        <a:rPr lang="en-US" altLang="zh-CN" sz="1800">
                          <a:latin typeface="Cambria Math" panose="02040503050406030204" pitchFamily="18" charset="0"/>
                        </a:rPr>
                        <m:t>+</m:t>
                      </m:r>
                      <m:r>
                        <a:rPr lang="en-US" altLang="zh-CN" sz="1800">
                          <a:latin typeface="Cambria Math" panose="02040503050406030204" pitchFamily="18" charset="0"/>
                        </a:rPr>
                        <m:t>𝟏</m:t>
                      </m:r>
                    </m:oMath>
                  </m:oMathPara>
                </a14:m>
                <a:endParaRPr lang="zh-CN" altLang="zh-CN" sz="1800" dirty="0"/>
              </a:p>
            </p:txBody>
          </p:sp>
        </mc:Choice>
        <mc:Fallback>
          <p:sp>
            <p:nvSpPr>
              <p:cNvPr id="7" name="文本框 6"/>
              <p:cNvSpPr txBox="1">
                <a:spLocks noRot="1" noChangeAspect="1" noMove="1" noResize="1" noEditPoints="1" noAdjustHandles="1" noChangeArrowheads="1" noChangeShapeType="1" noTextEdit="1"/>
              </p:cNvSpPr>
              <p:nvPr/>
            </p:nvSpPr>
            <p:spPr>
              <a:xfrm>
                <a:off x="1021796" y="3175335"/>
                <a:ext cx="6130776" cy="2412840"/>
              </a:xfrm>
              <a:prstGeom prst="rect">
                <a:avLst/>
              </a:prstGeom>
              <a:blipFill rotWithShape="1">
                <a:blip r:embed="rId2"/>
                <a:stretch>
                  <a:fillRect l="-1" t="-14" r="9" b="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二叉树的存储结构</a:t>
            </a:r>
            <a:endParaRPr lang="zh-CN" altLang="en-US" dirty="0"/>
          </a:p>
        </p:txBody>
      </p:sp>
      <p:sp>
        <p:nvSpPr>
          <p:cNvPr id="3" name="内容占位符 2"/>
          <p:cNvSpPr>
            <a:spLocks noGrp="1"/>
          </p:cNvSpPr>
          <p:nvPr>
            <p:ph sz="half" idx="1"/>
          </p:nvPr>
        </p:nvSpPr>
        <p:spPr>
          <a:xfrm>
            <a:off x="179999" y="1241118"/>
            <a:ext cx="7098379" cy="5480356"/>
          </a:xfrm>
        </p:spPr>
        <p:txBody>
          <a:bodyPr>
            <a:normAutofit/>
          </a:bodyPr>
          <a:lstStyle/>
          <a:p>
            <a:pPr indent="0" algn="just">
              <a:lnSpc>
                <a:spcPct val="110000"/>
              </a:lnSpc>
              <a:spcAft>
                <a:spcPts val="1200"/>
              </a:spcAft>
              <a:buNone/>
            </a:pPr>
            <a:r>
              <a:rPr lang="zh-CN" altLang="en-US" sz="34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34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1</a:t>
            </a:r>
            <a:r>
              <a:rPr lang="zh-CN" altLang="en-US" sz="34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）二叉树的顺序存储结构</a:t>
            </a:r>
            <a:endParaRPr lang="en-US" altLang="zh-CN" sz="34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266700" algn="just"/>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的顺序存储结构是指将二叉树的各个结点存放在一组地址连续的存储单元中，所有结点按结点序号进行顺序存储。因为二叉树为非线性结构，所以必须先将二叉树的结点排成线性序列再进行存储，实际上是对二叉树先进行一次层次遍历。二叉树的各结点间的逻辑关系由结点在线性序列中的相对位置确定。</a:t>
            </a: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可以利用</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2.2</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节中的性质</a:t>
            </a:r>
            <a:r>
              <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5</a:t>
            </a:r>
            <a:r>
              <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将二叉树的结点排成线性序列，将结点存放在下标为对应编号的数组元素中。为了存储非完全二叉树，需要在树中添加虚结点使其成为完全二叉树后再进行存储，这样会造成存储空间的浪费。</a:t>
            </a:r>
            <a:endParaRPr lang="zh-CN"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内容占位符 5"/>
          <p:cNvPicPr>
            <a:picLocks noGrp="1" noChangeAspect="1"/>
          </p:cNvPicPr>
          <p:nvPr>
            <p:ph sz="half" idx="2"/>
          </p:nvPr>
        </p:nvPicPr>
        <p:blipFill>
          <a:blip r:embed="rId1"/>
          <a:stretch>
            <a:fillRect/>
          </a:stretch>
        </p:blipFill>
        <p:spPr>
          <a:xfrm>
            <a:off x="7541808" y="3356893"/>
            <a:ext cx="4391025" cy="2865939"/>
          </a:xfrm>
          <a:prstGeom prst="rect">
            <a:avLst/>
          </a:prstGeom>
        </p:spPr>
      </p:pic>
      <p:sp>
        <p:nvSpPr>
          <p:cNvPr id="7" name="Isosceles Triangle 31"/>
          <p:cNvSpPr/>
          <p:nvPr/>
        </p:nvSpPr>
        <p:spPr>
          <a:xfrm rot="16200000">
            <a:off x="7225183" y="-1141914"/>
            <a:ext cx="3835430" cy="6093797"/>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二叉树的存储结构</a:t>
            </a:r>
            <a:endParaRPr lang="zh-CN" altLang="en-US" dirty="0"/>
          </a:p>
        </p:txBody>
      </p:sp>
      <p:sp>
        <p:nvSpPr>
          <p:cNvPr id="3" name="内容占位符 2"/>
          <p:cNvSpPr>
            <a:spLocks noGrp="1"/>
          </p:cNvSpPr>
          <p:nvPr>
            <p:ph sz="half" idx="1"/>
          </p:nvPr>
        </p:nvSpPr>
        <p:spPr>
          <a:xfrm>
            <a:off x="179999" y="1241118"/>
            <a:ext cx="11676515" cy="5616882"/>
          </a:xfrm>
        </p:spPr>
        <p:txBody>
          <a:bodyPr>
            <a:normAutofit fontScale="40000" lnSpcReduction="20000"/>
          </a:bodyPr>
          <a:lstStyle/>
          <a:p>
            <a:pPr indent="0" algn="just">
              <a:lnSpc>
                <a:spcPct val="130000"/>
              </a:lnSpc>
              <a:spcAft>
                <a:spcPts val="1200"/>
              </a:spcAft>
              <a:buNone/>
            </a:pPr>
            <a:r>
              <a:rPr lang="zh-CN" altLang="en-US" sz="8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8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a:t>
            </a:r>
            <a:r>
              <a:rPr lang="zh-CN" altLang="en-US" sz="8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）二叉树的链式存储结构</a:t>
            </a:r>
            <a:endParaRPr lang="en-US" altLang="zh-CN" sz="8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lnSpc>
                <a:spcPct val="120000"/>
              </a:lnSpc>
              <a:buNone/>
            </a:pPr>
            <a:r>
              <a:rPr lang="en-US" altLang="zh-CN" sz="4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en-US" altLang="zh-CN" sz="4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的链式存储结构是指将二叉树的各个结点随机存放在存储空间中，二叉树的各结点间的逻辑关系由指针确定。每个结点至少要有两条链分别连接左、右孩子结点才能表达二叉树的层次关系。根据指针域个数的不同，二叉树的链式存储结构又分为以下两种： </a:t>
            </a:r>
            <a:endPar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lnSpc>
                <a:spcPct val="120000"/>
              </a:lnSpc>
            </a:pPr>
            <a:r>
              <a:rPr lang="en-US" altLang="zh-CN" sz="51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a.</a:t>
            </a:r>
            <a:r>
              <a:rPr lang="zh-CN" altLang="zh-CN" sz="51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二叉链式存储结构</a:t>
            </a:r>
            <a:endParaRPr lang="zh-CN" altLang="zh-CN" sz="51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二叉树的每个结点设置两个指针域和一个数据域。数据域中存放结点的值，指针域中存放左、右孩子结点的存储地址。</a:t>
            </a:r>
            <a:endPar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采用二叉链表存储二叉树，每个结点只存储了到其孩子结点的单向关系，没有存储到其父结点的关系，因此要获得父结点将花费较多的时间，需要从根结点开始在二叉树中进行查找，所花费的时间是遍历部分二叉树的时间，且与查找结点所处的位置有关。</a:t>
            </a:r>
            <a:endPar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lnSpc>
                <a:spcPct val="120000"/>
              </a:lnSpc>
            </a:pPr>
            <a:r>
              <a:rPr lang="en-US" altLang="zh-CN" sz="51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b. </a:t>
            </a:r>
            <a:r>
              <a:rPr lang="zh-CN" altLang="zh-CN" sz="51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三叉链式存储结构</a:t>
            </a:r>
            <a:endParaRPr lang="zh-CN" altLang="zh-CN" sz="51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二叉树的每个结点设置</a:t>
            </a:r>
            <a:r>
              <a:rPr lang="en-US"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个指针域和一个数据域。数据域中存放结点的值，指针域中存放左、右孩子结点和父结点的存储地址。</a:t>
            </a:r>
            <a:endParaRPr lang="zh-CN" altLang="zh-CN" sz="5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二叉树的存储结构</a:t>
            </a:r>
            <a:endParaRPr lang="zh-CN" altLang="en-US" dirty="0"/>
          </a:p>
        </p:txBody>
      </p:sp>
      <p:sp>
        <p:nvSpPr>
          <p:cNvPr id="3" name="内容占位符 2"/>
          <p:cNvSpPr>
            <a:spLocks noGrp="1"/>
          </p:cNvSpPr>
          <p:nvPr>
            <p:ph sz="half" idx="1"/>
          </p:nvPr>
        </p:nvSpPr>
        <p:spPr>
          <a:xfrm>
            <a:off x="180000" y="1112241"/>
            <a:ext cx="8614196" cy="5616882"/>
          </a:xfrm>
        </p:spPr>
        <p:txBody>
          <a:bodyPr>
            <a:normAutofit/>
          </a:bodyPr>
          <a:lstStyle/>
          <a:p>
            <a:pPr indent="0" algn="just">
              <a:lnSpc>
                <a:spcPct val="130000"/>
              </a:lnSpc>
              <a:spcAft>
                <a:spcPts val="1200"/>
              </a:spcAft>
              <a:buNone/>
            </a:pPr>
            <a:r>
              <a:rPr lang="zh-CN" altLang="en-US" sz="3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3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a:t>
            </a:r>
            <a:r>
              <a:rPr lang="zh-CN" altLang="en-US" sz="3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）二叉树的链式存储结构</a:t>
            </a:r>
            <a:endParaRPr lang="en-US" altLang="zh-CN" sz="3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下图所示为二叉链式存储和三叉链式存储的结点结构。</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zh-CN" altLang="en-US" sz="26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endPar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endPar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endParaRPr lang="en-US" altLang="zh-CN"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endParaRPr lang="zh-CN" altLang="en-US" sz="26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两种链式存储结构各有优缺点，二叉链式存储结构空间利用率高，而三叉链式存储结构既便于查找孩子结点，又便于查找父结点。在实际应用中，二叉链式存储结构更加常用，因此本书中二叉树的相关算法都是基于二叉链式存储结构设计的。</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595874" y="2786153"/>
            <a:ext cx="6774558" cy="1393387"/>
          </a:xfrm>
          <a:prstGeom prst="rect">
            <a:avLst/>
          </a:prstGeom>
          <a:noFill/>
          <a:ln>
            <a:noFill/>
          </a:ln>
        </p:spPr>
      </p:pic>
      <p:pic>
        <p:nvPicPr>
          <p:cNvPr id="8" name="内容占位符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8904660" y="0"/>
            <a:ext cx="3284976" cy="685800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4660" y="-42545"/>
            <a:ext cx="3287340" cy="69005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二叉树的存储结构</a:t>
            </a:r>
            <a:endParaRPr lang="zh-CN" altLang="en-US" dirty="0"/>
          </a:p>
        </p:txBody>
      </p:sp>
      <p:sp>
        <p:nvSpPr>
          <p:cNvPr id="3" name="内容占位符 2"/>
          <p:cNvSpPr>
            <a:spLocks noGrp="1"/>
          </p:cNvSpPr>
          <p:nvPr>
            <p:ph sz="half" idx="1"/>
          </p:nvPr>
        </p:nvSpPr>
        <p:spPr>
          <a:xfrm>
            <a:off x="179999" y="1492735"/>
            <a:ext cx="7718207" cy="649051"/>
          </a:xfrm>
        </p:spPr>
        <p:txBody>
          <a:bodyPr>
            <a:normAutofit fontScale="25000" lnSpcReduction="20000"/>
          </a:bodyPr>
          <a:lstStyle/>
          <a:p>
            <a:pPr indent="0" algn="just">
              <a:lnSpc>
                <a:spcPct val="130000"/>
              </a:lnSpc>
              <a:spcAft>
                <a:spcPts val="1200"/>
              </a:spcAft>
              <a:buNone/>
            </a:pPr>
            <a:r>
              <a:rPr lang="zh-CN" altLang="en-US"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3</a:t>
            </a:r>
            <a:r>
              <a:rPr lang="zh-CN" altLang="en-US"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）二叉链式存储结构的节点类的描述</a:t>
            </a:r>
            <a:endParaRPr lang="en-US" altLang="zh-CN"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图片 5"/>
          <p:cNvPicPr>
            <a:picLocks noChangeAspect="1"/>
          </p:cNvPicPr>
          <p:nvPr/>
        </p:nvPicPr>
        <p:blipFill rotWithShape="1">
          <a:blip r:embed="rId1"/>
          <a:srcRect r="44507"/>
          <a:stretch>
            <a:fillRect/>
          </a:stretch>
        </p:blipFill>
        <p:spPr>
          <a:xfrm>
            <a:off x="1402620" y="2181271"/>
            <a:ext cx="9896749" cy="402329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二叉树的存储结构</a:t>
            </a:r>
            <a:endParaRPr lang="zh-CN" altLang="en-US" dirty="0"/>
          </a:p>
        </p:txBody>
      </p:sp>
      <p:sp>
        <p:nvSpPr>
          <p:cNvPr id="3" name="内容占位符 2"/>
          <p:cNvSpPr>
            <a:spLocks noGrp="1"/>
          </p:cNvSpPr>
          <p:nvPr>
            <p:ph sz="half" idx="1"/>
          </p:nvPr>
        </p:nvSpPr>
        <p:spPr>
          <a:xfrm>
            <a:off x="179999" y="1351584"/>
            <a:ext cx="7718207" cy="649051"/>
          </a:xfrm>
        </p:spPr>
        <p:txBody>
          <a:bodyPr>
            <a:normAutofit fontScale="25000" lnSpcReduction="20000"/>
          </a:bodyPr>
          <a:lstStyle/>
          <a:p>
            <a:pPr indent="0" algn="just">
              <a:lnSpc>
                <a:spcPct val="130000"/>
              </a:lnSpc>
              <a:spcAft>
                <a:spcPts val="1200"/>
              </a:spcAft>
              <a:buNone/>
            </a:pPr>
            <a:r>
              <a:rPr lang="zh-CN" altLang="en-US"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4</a:t>
            </a:r>
            <a:r>
              <a:rPr lang="zh-CN" altLang="en-US"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）二叉树类的描述</a:t>
            </a:r>
            <a:endParaRPr lang="en-US" altLang="zh-CN" sz="112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pic>
        <p:nvPicPr>
          <p:cNvPr id="7" name="图片 6"/>
          <p:cNvPicPr>
            <a:picLocks noChangeAspect="1"/>
          </p:cNvPicPr>
          <p:nvPr/>
        </p:nvPicPr>
        <p:blipFill rotWithShape="1">
          <a:blip r:embed="rId1"/>
          <a:srcRect l="3933" r="51596"/>
          <a:stretch>
            <a:fillRect/>
          </a:stretch>
        </p:blipFill>
        <p:spPr>
          <a:xfrm>
            <a:off x="603913" y="2167682"/>
            <a:ext cx="10353186" cy="35035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2"/>
          <p:cNvPicPr>
            <a:picLocks noGrp="1" noChangeAspect="1"/>
          </p:cNvPicPr>
          <p:nvPr>
            <p:ph type="pic" sz="quarter" idx="12"/>
          </p:nvPr>
        </p:nvPicPr>
        <p:blipFill rotWithShape="1">
          <a:blip r:embed="rId1" cstate="print">
            <a:extLst>
              <a:ext uri="{28A0092B-C50C-407E-A947-70E740481C1C}">
                <a14:useLocalDpi xmlns:a14="http://schemas.microsoft.com/office/drawing/2010/main" val="0"/>
              </a:ext>
            </a:extLst>
          </a:blip>
          <a:srcRect l="15879" r="15879"/>
          <a:stretch>
            <a:fillRect/>
          </a:stretch>
        </p:blipFill>
        <p:spPr/>
      </p:pic>
      <p:sp>
        <p:nvSpPr>
          <p:cNvPr id="2" name="文本框 1"/>
          <p:cNvSpPr txBox="1"/>
          <p:nvPr/>
        </p:nvSpPr>
        <p:spPr>
          <a:xfrm>
            <a:off x="160655" y="389255"/>
            <a:ext cx="4429760" cy="706755"/>
          </a:xfrm>
          <a:prstGeom prst="rect">
            <a:avLst/>
          </a:prstGeom>
          <a:noFill/>
        </p:spPr>
        <p:txBody>
          <a:bodyPr wrap="square" rtlCol="0" anchor="t">
            <a:spAutoFit/>
          </a:bodyPr>
          <a:lstStyle/>
          <a:p>
            <a:r>
              <a:rPr lang="en-US" altLang="zh-CN" sz="4000" b="1" dirty="0">
                <a:solidFill>
                  <a:schemeClr val="accent2"/>
                </a:solidFill>
                <a:sym typeface="+mn-ea"/>
              </a:rPr>
              <a:t>2.4 </a:t>
            </a:r>
            <a:r>
              <a:rPr lang="zh-CN" altLang="en-US" sz="4000" b="1" dirty="0">
                <a:solidFill>
                  <a:schemeClr val="accent2"/>
                </a:solidFill>
                <a:sym typeface="+mn-ea"/>
              </a:rPr>
              <a:t>二叉树的遍历</a:t>
            </a:r>
            <a:endParaRPr lang="zh-CN" altLang="en-US" sz="4000" b="1" dirty="0">
              <a:solidFill>
                <a:schemeClr val="accent2"/>
              </a:solidFill>
              <a:sym typeface="+mn-ea"/>
            </a:endParaRPr>
          </a:p>
        </p:txBody>
      </p:sp>
      <p:sp>
        <p:nvSpPr>
          <p:cNvPr id="5" name="文本框 4"/>
          <p:cNvSpPr txBox="1"/>
          <p:nvPr/>
        </p:nvSpPr>
        <p:spPr>
          <a:xfrm>
            <a:off x="664385" y="2263467"/>
            <a:ext cx="5490473" cy="2523768"/>
          </a:xfrm>
          <a:prstGeom prst="rect">
            <a:avLst/>
          </a:prstGeom>
          <a:noFill/>
        </p:spPr>
        <p:txBody>
          <a:bodyPr wrap="square" rtlCol="0" anchor="t">
            <a:spAutoFit/>
          </a:bodyPr>
          <a:lstStyle/>
          <a:p>
            <a:pPr>
              <a:spcBef>
                <a:spcPts val="600"/>
              </a:spcBef>
              <a:spcAft>
                <a:spcPts val="600"/>
              </a:spcAft>
            </a:pPr>
            <a:r>
              <a:rPr lang="zh-CN" altLang="en-US" sz="3600" kern="100" dirty="0">
                <a:solidFill>
                  <a:srgbClr val="FFC000"/>
                </a:solidFill>
                <a:effectLst/>
                <a:latin typeface="汉仪颜楷简" panose="00020600040101010101" charset="-122"/>
                <a:ea typeface="汉仪颜楷简" panose="00020600040101010101" charset="-122"/>
                <a:cs typeface="Times New Roman" panose="02020603050405020304" pitchFamily="18" charset="0"/>
              </a:rPr>
              <a:t>定义：</a:t>
            </a:r>
            <a:endParaRPr lang="en-US" altLang="zh-CN" sz="3600" kern="100" dirty="0">
              <a:solidFill>
                <a:srgbClr val="FFC000"/>
              </a:solidFill>
              <a:effectLst/>
              <a:latin typeface="汉仪颜楷简" panose="00020600040101010101" charset="-122"/>
              <a:ea typeface="汉仪颜楷简" panose="00020600040101010101" charset="-122"/>
              <a:cs typeface="Times New Roman" panose="02020603050405020304" pitchFamily="18" charset="0"/>
            </a:endParaRPr>
          </a:p>
          <a:p>
            <a:pPr indent="457200">
              <a:spcBef>
                <a:spcPts val="600"/>
              </a:spcBef>
              <a:spcAft>
                <a:spcPts val="600"/>
              </a:spcAft>
            </a:pPr>
            <a:r>
              <a:rPr lang="en-US" altLang="zh-CN" sz="28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   </a:t>
            </a:r>
            <a:r>
              <a:rPr lang="zh-CN" altLang="zh-CN" sz="2800" kern="100" dirty="0">
                <a:solidFill>
                  <a:srgbClr val="656565"/>
                </a:solidFill>
                <a:effectLst/>
                <a:latin typeface="汉仪颜楷简" panose="00020600040101010101" charset="-122"/>
                <a:ea typeface="汉仪颜楷简" panose="00020600040101010101" charset="-122"/>
                <a:cs typeface="Times New Roman" panose="02020603050405020304" pitchFamily="18" charset="0"/>
              </a:rPr>
              <a:t>二叉树的遍历是指沿着某条搜索路径访问二叉树的结点，每个结点被访问的次数有且仅有一次。</a:t>
            </a:r>
            <a:endParaRPr lang="zh-CN" altLang="zh-CN" sz="2800" dirty="0">
              <a:solidFill>
                <a:srgbClr val="656565"/>
              </a:solidFill>
              <a:effectLst/>
              <a:latin typeface="汉仪颜楷简" panose="00020600040101010101" charset="-122"/>
              <a:ea typeface="汉仪颜楷简" panose="00020600040101010101"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二叉树的遍历</a:t>
            </a:r>
            <a:endParaRPr lang="zh-CN" altLang="en-US" dirty="0"/>
          </a:p>
        </p:txBody>
      </p:sp>
      <p:sp>
        <p:nvSpPr>
          <p:cNvPr id="3" name="内容占位符 2"/>
          <p:cNvSpPr>
            <a:spLocks noGrp="1"/>
          </p:cNvSpPr>
          <p:nvPr>
            <p:ph sz="half" idx="1"/>
          </p:nvPr>
        </p:nvSpPr>
        <p:spPr>
          <a:xfrm>
            <a:off x="180000" y="1241118"/>
            <a:ext cx="6859040" cy="5480356"/>
          </a:xfrm>
        </p:spPr>
        <p:txBody>
          <a:bodyPr>
            <a:normAutofit fontScale="40000" lnSpcReduction="20000"/>
          </a:bodyPr>
          <a:lstStyle/>
          <a:p>
            <a:pPr indent="0" algn="just">
              <a:lnSpc>
                <a:spcPct val="130000"/>
              </a:lnSpc>
              <a:spcAft>
                <a:spcPts val="1200"/>
              </a:spcAft>
              <a:buNone/>
            </a:pPr>
            <a:r>
              <a:rPr lang="zh-CN" altLang="en-US" sz="7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7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1</a:t>
            </a:r>
            <a:r>
              <a:rPr lang="zh-CN" altLang="en-US" sz="7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zh-CN" altLang="zh-CN" sz="7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二叉树的遍历方法</a:t>
            </a:r>
            <a:endParaRPr lang="zh-CN" altLang="zh-CN" sz="7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lnSpc>
                <a:spcPct val="110000"/>
              </a:lnSpc>
              <a:buNone/>
            </a:pPr>
            <a:r>
              <a:rPr lang="en-US" altLang="zh-CN" sz="4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二叉树通常可划分为</a:t>
            </a:r>
            <a:r>
              <a:rPr lang="en-US"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个部分，即根结点、左子树和右子树。根据</a:t>
            </a:r>
            <a:r>
              <a:rPr lang="en-US"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个部分的访问顺序不同，可将二叉树的遍历方法分为以下几种。 </a:t>
            </a:r>
            <a:endPar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a. </a:t>
            </a:r>
            <a:r>
              <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层次遍历</a:t>
            </a:r>
            <a:endPar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自上而下、从左到右依次访问每层的结点。</a:t>
            </a:r>
            <a:endPar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b. </a:t>
            </a:r>
            <a:r>
              <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先序遍历</a:t>
            </a:r>
            <a:endPar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先访问根结点，再先序遍历左子树，最后先序遍历右子树。</a:t>
            </a:r>
            <a:endPar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c. </a:t>
            </a:r>
            <a:r>
              <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中序遍历</a:t>
            </a:r>
            <a:endPar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先中序遍历左子树，再访问根结点，最后中序遍历右子树。</a:t>
            </a:r>
            <a:endPar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d. </a:t>
            </a:r>
            <a:r>
              <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后序遍历</a:t>
            </a:r>
            <a:endParaRPr lang="zh-CN" altLang="zh-CN" sz="45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None/>
            </a:pPr>
            <a:r>
              <a:rPr lang="en-US"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先后序遍历左子树，再后序遍历右子树，最后访问根结点。</a:t>
            </a:r>
            <a:endParaRPr lang="zh-CN" altLang="zh-CN" sz="45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7" name="Isosceles Triangle 31"/>
          <p:cNvSpPr/>
          <p:nvPr/>
        </p:nvSpPr>
        <p:spPr>
          <a:xfrm rot="16200000">
            <a:off x="7225183" y="-1141914"/>
            <a:ext cx="3835430" cy="6093797"/>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9" name="内容占位符 8"/>
          <p:cNvPicPr>
            <a:picLocks noGrp="1" noChangeAspect="1"/>
          </p:cNvPicPr>
          <p:nvPr>
            <p:ph sz="half" idx="2"/>
          </p:nvPr>
        </p:nvPicPr>
        <p:blipFill>
          <a:blip r:embed="rId1"/>
          <a:stretch>
            <a:fillRect/>
          </a:stretch>
        </p:blipFill>
        <p:spPr>
          <a:xfrm>
            <a:off x="7379576" y="3822700"/>
            <a:ext cx="4469685" cy="20679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二叉树的遍历</a:t>
            </a:r>
            <a:endParaRPr lang="zh-CN" altLang="en-US" dirty="0"/>
          </a:p>
        </p:txBody>
      </p:sp>
      <p:pic>
        <p:nvPicPr>
          <p:cNvPr id="13" name="图片 12"/>
          <p:cNvPicPr>
            <a:picLocks noChangeAspect="1"/>
          </p:cNvPicPr>
          <p:nvPr/>
        </p:nvPicPr>
        <p:blipFill rotWithShape="1">
          <a:blip r:embed="rId1"/>
          <a:srcRect l="3508" r="54126" b="8844"/>
          <a:stretch>
            <a:fillRect/>
          </a:stretch>
        </p:blipFill>
        <p:spPr>
          <a:xfrm>
            <a:off x="7352622" y="3296249"/>
            <a:ext cx="4810412" cy="2335004"/>
          </a:xfrm>
          <a:prstGeom prst="rect">
            <a:avLst/>
          </a:prstGeom>
        </p:spPr>
      </p:pic>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Isosceles Triangle 31"/>
          <p:cNvSpPr/>
          <p:nvPr/>
        </p:nvSpPr>
        <p:spPr>
          <a:xfrm rot="16200000">
            <a:off x="7225183" y="-1141914"/>
            <a:ext cx="3835430" cy="6093797"/>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1" name="内容占位符 2"/>
          <p:cNvSpPr>
            <a:spLocks noGrp="1"/>
          </p:cNvSpPr>
          <p:nvPr/>
        </p:nvSpPr>
        <p:spPr>
          <a:xfrm>
            <a:off x="706316" y="1289478"/>
            <a:ext cx="10626969" cy="48477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just">
              <a:lnSpc>
                <a:spcPct val="110000"/>
              </a:lnSpc>
              <a:spcAft>
                <a:spcPts val="1200"/>
              </a:spcAft>
              <a:buNone/>
            </a:pP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a:t>
            </a: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）二叉树遍历操作实现的递归算法</a:t>
            </a:r>
            <a:endPar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endParaRPr lang="en-US" altLang="zh-CN" sz="2400" b="1" kern="100" dirty="0">
              <a:solidFill>
                <a:srgbClr val="656565"/>
              </a:solidFill>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zh-CN" altLang="zh-CN" sz="2400" b="1"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pic>
        <p:nvPicPr>
          <p:cNvPr id="12" name="图片 11"/>
          <p:cNvPicPr>
            <a:picLocks noChangeAspect="1"/>
          </p:cNvPicPr>
          <p:nvPr/>
        </p:nvPicPr>
        <p:blipFill rotWithShape="1">
          <a:blip r:embed="rId2"/>
          <a:srcRect l="4107" r="55413" b="14721"/>
          <a:stretch>
            <a:fillRect/>
          </a:stretch>
        </p:blipFill>
        <p:spPr>
          <a:xfrm>
            <a:off x="1476828" y="1843048"/>
            <a:ext cx="4542972" cy="2159038"/>
          </a:xfrm>
          <a:prstGeom prst="rect">
            <a:avLst/>
          </a:prstGeom>
        </p:spPr>
      </p:pic>
      <p:sp>
        <p:nvSpPr>
          <p:cNvPr id="14" name="文本框 7"/>
          <p:cNvSpPr txBox="1"/>
          <p:nvPr/>
        </p:nvSpPr>
        <p:spPr>
          <a:xfrm>
            <a:off x="324865" y="2834584"/>
            <a:ext cx="159599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C000"/>
                </a:solidFill>
              </a:rPr>
              <a:t>前序遍历</a:t>
            </a:r>
            <a:endParaRPr lang="zh-CN" altLang="en-US" sz="2400" b="1" dirty="0">
              <a:solidFill>
                <a:srgbClr val="FFC000"/>
              </a:solidFill>
            </a:endParaRPr>
          </a:p>
        </p:txBody>
      </p:sp>
      <p:pic>
        <p:nvPicPr>
          <p:cNvPr id="15" name="图片 14"/>
          <p:cNvPicPr>
            <a:picLocks noChangeAspect="1"/>
          </p:cNvPicPr>
          <p:nvPr/>
        </p:nvPicPr>
        <p:blipFill rotWithShape="1">
          <a:blip r:embed="rId3"/>
          <a:srcRect l="3383" r="52809" b="17801"/>
          <a:stretch>
            <a:fillRect/>
          </a:stretch>
        </p:blipFill>
        <p:spPr>
          <a:xfrm>
            <a:off x="1672840" y="4197771"/>
            <a:ext cx="5100511" cy="2159038"/>
          </a:xfrm>
          <a:prstGeom prst="rect">
            <a:avLst/>
          </a:prstGeom>
        </p:spPr>
      </p:pic>
      <p:sp>
        <p:nvSpPr>
          <p:cNvPr id="16" name="文本框 10"/>
          <p:cNvSpPr txBox="1"/>
          <p:nvPr/>
        </p:nvSpPr>
        <p:spPr>
          <a:xfrm>
            <a:off x="324864" y="4960885"/>
            <a:ext cx="148552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C000"/>
                </a:solidFill>
              </a:rPr>
              <a:t>后序遍历</a:t>
            </a:r>
            <a:endParaRPr lang="zh-CN" altLang="en-US" sz="2400" b="1" dirty="0">
              <a:solidFill>
                <a:srgbClr val="FFC000"/>
              </a:solidFill>
            </a:endParaRPr>
          </a:p>
        </p:txBody>
      </p:sp>
      <p:sp>
        <p:nvSpPr>
          <p:cNvPr id="17" name="文本框 8"/>
          <p:cNvSpPr txBox="1"/>
          <p:nvPr/>
        </p:nvSpPr>
        <p:spPr>
          <a:xfrm>
            <a:off x="7836854" y="2760984"/>
            <a:ext cx="1504989"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C000"/>
                </a:solidFill>
              </a:rPr>
              <a:t>中序遍历</a:t>
            </a:r>
            <a:endParaRPr lang="zh-CN" altLang="en-US" sz="2400" b="1" dirty="0">
              <a:solidFill>
                <a:srgbClr val="FFC000"/>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二叉树的遍历</a:t>
            </a:r>
            <a:endParaRPr lang="zh-CN" altLang="en-US" dirty="0"/>
          </a:p>
        </p:txBody>
      </p:sp>
      <p:sp>
        <p:nvSpPr>
          <p:cNvPr id="3" name="内容占位符 2"/>
          <p:cNvSpPr>
            <a:spLocks noGrp="1"/>
          </p:cNvSpPr>
          <p:nvPr>
            <p:ph sz="half" idx="1"/>
          </p:nvPr>
        </p:nvSpPr>
        <p:spPr>
          <a:xfrm>
            <a:off x="180000" y="1112241"/>
            <a:ext cx="6681253" cy="5616882"/>
          </a:xfrm>
        </p:spPr>
        <p:txBody>
          <a:bodyPr>
            <a:normAutofit/>
          </a:bodyPr>
          <a:lstStyle/>
          <a:p>
            <a:pPr indent="0" algn="just">
              <a:buNone/>
            </a:pP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3</a:t>
            </a: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）二叉树遍历操作实现的非递归算法</a:t>
            </a:r>
            <a:endPar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r>
              <a:rPr lang="en-US" altLang="zh-CN" sz="2400"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        </a:t>
            </a:r>
            <a:endParaRPr lang="en-US" altLang="zh-CN" sz="2400" kern="100" dirty="0">
              <a:solidFill>
                <a:srgbClr val="656565"/>
              </a:solidFill>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en-US" altLang="zh-CN" sz="2400"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        </a:t>
            </a:r>
            <a:r>
              <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二叉树遍历操作的递归算法结构简洁，易于实现，但是在时间上开销较大，运行效率较低，为了解决这一问题，可以将递归算法转换为非递归算法，转换方式有以下两种： </a:t>
            </a:r>
            <a:endPar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marL="0" lvl="0"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a:t>
            </a:r>
            <a:r>
              <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使用临时遍历保存中间结果，用循环结构代替递归过程； </a:t>
            </a:r>
            <a:endPar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marL="0" lvl="0"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b.</a:t>
            </a:r>
            <a:r>
              <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利用栈保存中间结果。</a:t>
            </a:r>
            <a:endPar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marL="0"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二叉树遍历操作实现的非递归算法利用栈结构通过回溯访问二叉树的每个结点。</a:t>
            </a:r>
            <a:endParaRPr lang="zh-CN"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pic>
        <p:nvPicPr>
          <p:cNvPr id="10" name="内容占位符 9"/>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7040053" y="0"/>
            <a:ext cx="5151947"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09455" y="-20955"/>
            <a:ext cx="5640330" cy="6900545"/>
          </a:xfrm>
          <a:prstGeom prst="rect">
            <a:avLst/>
          </a:prstGeom>
        </p:spPr>
      </p:pic>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dirty="0">
                <a:latin typeface="Arial" panose="020B0604020202020204"/>
                <a:ea typeface="黑体" panose="02010609060101010101" pitchFamily="49" charset="-122"/>
                <a:sym typeface="+mn-ea"/>
              </a:rPr>
              <a:t>2.4 </a:t>
            </a:r>
            <a:r>
              <a:rPr lang="zh-CN" altLang="en-US" dirty="0">
                <a:latin typeface="Arial" panose="020B0604020202020204"/>
                <a:ea typeface="黑体" panose="02010609060101010101" pitchFamily="49" charset="-122"/>
                <a:sym typeface="+mn-ea"/>
              </a:rPr>
              <a:t>二叉树的遍历</a:t>
            </a:r>
            <a:endParaRPr kumimoji="0" lang="zh-CN" altLang="en-US" sz="44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endParaRPr>
          </a:p>
        </p:txBody>
      </p:sp>
      <p:sp>
        <p:nvSpPr>
          <p:cNvPr id="5" name="内容占位符 4"/>
          <p:cNvSpPr>
            <a:spLocks noGrp="1"/>
          </p:cNvSpPr>
          <p:nvPr>
            <p:ph idx="1"/>
          </p:nvPr>
        </p:nvSpPr>
        <p:spPr>
          <a:xfrm>
            <a:off x="192169" y="2013528"/>
            <a:ext cx="6104721" cy="3997805"/>
          </a:xfrm>
        </p:spPr>
        <p:txBody>
          <a:bodyPr>
            <a:normAutofit/>
          </a:bodyPr>
          <a:lstStyle/>
          <a:p>
            <a:pPr indent="0" algn="just">
              <a:buNone/>
            </a:pPr>
            <a:r>
              <a:rPr lang="en-US" altLang="zh-CN" sz="18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A. </a:t>
            </a:r>
            <a:r>
              <a:rPr lang="zh-CN" altLang="zh-CN" sz="18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先序遍历</a:t>
            </a:r>
            <a:endParaRPr lang="zh-CN" altLang="zh-CN" sz="18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先序遍历从二叉树的根结点出发，沿着该结点的左子树向下搜索，每遇到一个结点先访问该结点，并将该结点的右子树入栈。先序遍历左子树完成后再从栈顶弹出右子树的根结点，然后采用相同的方法先序遍历右子树，直到二叉树的所有结点都被访问。其主要步骤如下</a:t>
            </a: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endPar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 </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将二叉树的根结点入栈。</a:t>
            </a:r>
            <a:endPar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 </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若栈非空，将结点从栈中弹出并访问。</a:t>
            </a:r>
            <a:endPar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 </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依次访问当前访问结点的左孩子结点，并将当前结点的右孩子结点入栈。</a:t>
            </a:r>
            <a:endPar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(4) </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重复步骤</a:t>
            </a: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和</a:t>
            </a: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，直到栈为空。</a:t>
            </a:r>
            <a:endPar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pic>
        <p:nvPicPr>
          <p:cNvPr id="12" name="图片 11"/>
          <p:cNvPicPr>
            <a:picLocks noChangeAspect="1"/>
          </p:cNvPicPr>
          <p:nvPr/>
        </p:nvPicPr>
        <p:blipFill rotWithShape="1">
          <a:blip r:embed="rId2"/>
          <a:srcRect r="39887"/>
          <a:stretch>
            <a:fillRect/>
          </a:stretch>
        </p:blipFill>
        <p:spPr>
          <a:xfrm>
            <a:off x="6744409" y="1244600"/>
            <a:ext cx="5447591" cy="4766733"/>
          </a:xfrm>
          <a:prstGeom prst="rect">
            <a:avLst/>
          </a:prstGeom>
        </p:spPr>
      </p:pic>
      <p:sp>
        <p:nvSpPr>
          <p:cNvPr id="9" name="文本框 8"/>
          <p:cNvSpPr txBox="1"/>
          <p:nvPr/>
        </p:nvSpPr>
        <p:spPr>
          <a:xfrm>
            <a:off x="-188831" y="1363360"/>
            <a:ext cx="6933240" cy="480131"/>
          </a:xfrm>
          <a:prstGeom prst="rect">
            <a:avLst/>
          </a:prstGeom>
          <a:noFill/>
        </p:spPr>
        <p:txBody>
          <a:bodyPr wrap="square">
            <a:spAutoFit/>
          </a:bodyPr>
          <a:lstStyle/>
          <a:p>
            <a:pPr marL="22860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3</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）二叉树遍历操作实现的非递归算法</a:t>
            </a:r>
            <a:endPar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09455" y="-20955"/>
            <a:ext cx="5640330" cy="6900545"/>
          </a:xfrm>
          <a:prstGeom prst="rect">
            <a:avLst/>
          </a:prstGeom>
        </p:spPr>
      </p:pic>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sym typeface="+mn-ea"/>
              </a:rPr>
              <a:t>2.4 </a:t>
            </a:r>
            <a:r>
              <a:rPr kumimoji="0" lang="zh-CN" altLang="en-US" sz="44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sym typeface="+mn-ea"/>
              </a:rPr>
              <a:t>二叉树的遍历</a:t>
            </a:r>
            <a:endParaRPr kumimoji="0" lang="zh-CN" altLang="en-US" sz="44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endParaRPr>
          </a:p>
        </p:txBody>
      </p:sp>
      <p:sp>
        <p:nvSpPr>
          <p:cNvPr id="5" name="内容占位符 4"/>
          <p:cNvSpPr>
            <a:spLocks noGrp="1"/>
          </p:cNvSpPr>
          <p:nvPr>
            <p:ph idx="1"/>
          </p:nvPr>
        </p:nvSpPr>
        <p:spPr>
          <a:xfrm>
            <a:off x="214636" y="1947227"/>
            <a:ext cx="6183979" cy="4245755"/>
          </a:xfrm>
        </p:spPr>
        <p:txBody>
          <a:bodyPr>
            <a:normAutofit/>
          </a:bodyPr>
          <a:lstStyle/>
          <a:p>
            <a:pPr indent="0" algn="just">
              <a:buFont typeface="Arial" panose="020B0604020202020204" pitchFamily="34" charset="0"/>
              <a:buNone/>
            </a:pPr>
            <a:r>
              <a:rPr lang="en-US" altLang="zh-CN" sz="18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B. </a:t>
            </a:r>
            <a:r>
              <a:rPr lang="zh-CN" altLang="en-US" sz="18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中</a:t>
            </a:r>
            <a:r>
              <a:rPr lang="zh-CN" altLang="zh-CN" sz="18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序遍历</a:t>
            </a:r>
            <a:endParaRPr lang="zh-CN" altLang="zh-CN" sz="18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buFont typeface="Arial" panose="020B0604020202020204" pitchFamily="34" charset="0"/>
              <a:buNone/>
            </a:pP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中序遍历从二叉树的根结点出发，沿着该结点的左子树向下搜索，每遇到一个结点就使其入栈，直到结点的左孩子结点为空。再从栈顶弹出结点并访问，然后采用相同的方法中序遍历结点的右子树，直到二叉树的所有结点都被访问。其主要步骤如下</a:t>
            </a: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endParaRPr lang="zh-CN"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 </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将二叉树的根结点入栈。</a:t>
            </a:r>
            <a:endPar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 </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若栈非空，将栈顶结点的左孩子结点依次入栈，直到栈顶结点的左孩子结点为空。</a:t>
            </a:r>
            <a:endPar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 </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将栈顶结点弹出并访问，并使栈顶结点的右孩子结点入栈。</a:t>
            </a:r>
            <a:endPar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(4) </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重复步骤</a:t>
            </a: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和</a:t>
            </a: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，直到栈为空。</a:t>
            </a:r>
            <a:endPar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pic>
        <p:nvPicPr>
          <p:cNvPr id="6" name="图片 5"/>
          <p:cNvPicPr>
            <a:picLocks noChangeAspect="1"/>
          </p:cNvPicPr>
          <p:nvPr/>
        </p:nvPicPr>
        <p:blipFill rotWithShape="1">
          <a:blip r:embed="rId2"/>
          <a:srcRect r="55173"/>
          <a:stretch>
            <a:fillRect/>
          </a:stretch>
        </p:blipFill>
        <p:spPr>
          <a:xfrm>
            <a:off x="7393280" y="1176984"/>
            <a:ext cx="4448917" cy="4847700"/>
          </a:xfrm>
          <a:prstGeom prst="rect">
            <a:avLst/>
          </a:prstGeom>
        </p:spPr>
      </p:pic>
      <p:sp>
        <p:nvSpPr>
          <p:cNvPr id="7" name="文本框 6"/>
          <p:cNvSpPr txBox="1"/>
          <p:nvPr/>
        </p:nvSpPr>
        <p:spPr>
          <a:xfrm>
            <a:off x="-188831" y="1363360"/>
            <a:ext cx="6933240" cy="480131"/>
          </a:xfrm>
          <a:prstGeom prst="rect">
            <a:avLst/>
          </a:prstGeom>
          <a:noFill/>
        </p:spPr>
        <p:txBody>
          <a:bodyPr wrap="square">
            <a:spAutoFit/>
          </a:bodyPr>
          <a:lstStyle/>
          <a:p>
            <a:pPr marL="22860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3</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）二叉树遍历操作实现的非递归算法</a:t>
            </a:r>
            <a:endPar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54931" y="-20955"/>
            <a:ext cx="5394853" cy="6900545"/>
          </a:xfrm>
          <a:prstGeom prst="rect">
            <a:avLst/>
          </a:prstGeom>
        </p:spPr>
      </p:pic>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sym typeface="+mn-ea"/>
              </a:rPr>
              <a:t>2.4 </a:t>
            </a:r>
            <a:r>
              <a:rPr kumimoji="0" lang="zh-CN" altLang="en-US" sz="44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sym typeface="+mn-ea"/>
              </a:rPr>
              <a:t>二叉树的遍历</a:t>
            </a:r>
            <a:endParaRPr kumimoji="0" lang="zh-CN" altLang="en-US" sz="44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endParaRPr>
          </a:p>
        </p:txBody>
      </p:sp>
      <p:sp>
        <p:nvSpPr>
          <p:cNvPr id="5" name="内容占位符 4"/>
          <p:cNvSpPr>
            <a:spLocks noGrp="1"/>
          </p:cNvSpPr>
          <p:nvPr>
            <p:ph idx="1"/>
          </p:nvPr>
        </p:nvSpPr>
        <p:spPr>
          <a:xfrm>
            <a:off x="73585" y="1958109"/>
            <a:ext cx="6670824" cy="4809836"/>
          </a:xfrm>
        </p:spPr>
        <p:txBody>
          <a:bodyPr>
            <a:normAutofit fontScale="77500" lnSpcReduction="20000"/>
          </a:bodyPr>
          <a:lstStyle/>
          <a:p>
            <a:pPr indent="0" algn="just">
              <a:lnSpc>
                <a:spcPct val="110000"/>
              </a:lnSpc>
              <a:buFont typeface="Arial" panose="020B0604020202020204" pitchFamily="34" charset="0"/>
              <a:buNone/>
            </a:pPr>
            <a:r>
              <a:rPr lang="en-US" altLang="zh-CN" sz="21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C. </a:t>
            </a:r>
            <a:r>
              <a:rPr lang="zh-CN" altLang="en-US" sz="21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后</a:t>
            </a:r>
            <a:r>
              <a:rPr lang="zh-CN" altLang="zh-CN" sz="21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序遍历</a:t>
            </a:r>
            <a:endParaRPr lang="zh-CN" altLang="zh-CN" sz="2100" kern="100" dirty="0">
              <a:solidFill>
                <a:schemeClr val="accent2"/>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10000"/>
              </a:lnSpc>
              <a:buFont typeface="Arial" panose="020B0604020202020204" pitchFamily="34" charset="0"/>
              <a:buNone/>
            </a:pP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后序遍历从二叉树的根结点出发，沿着该结点的左子树向下搜索，每遇到一个结点需要判断其是否为第一次经过，若是则使结点入栈，后序遍历该结点的左子树，完成后再遍历该结点的右子树，最后从栈顶弹出该结点并访问。后序遍历算法的实现需要引入两个变量，一个为访问标记变量</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flag</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，用于标记栈顶结点是否被访问，若</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flag=true</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，证明该结点已被访问，其左子树和右子树已经遍历完毕，可继续弹出栈顶结点，否则需要先遍历栈顶结点的右子树； 一个为结点指针</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t,</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指向最后一个被访问的结点，查看栈顶结点的右孩子结点，证明此结点的右子树已经遍历完毕，栈顶结点可出栈并访问。其主要步骤如下</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zh-CN"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endParaRPr lang="zh-CN"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lnSpc>
                <a:spcPct val="110000"/>
              </a:lnSpc>
            </a:pP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 </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将二叉树的根结点入栈，</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t</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赋值为空。</a:t>
            </a:r>
            <a:endPar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lnSpc>
                <a:spcPct val="110000"/>
              </a:lnSpc>
            </a:pP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 </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若栈非空，将栈顶结点的左孩子结点依次入栈，直到栈顶结点的左孩子结点为空。</a:t>
            </a:r>
            <a:endPar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lnSpc>
                <a:spcPct val="110000"/>
              </a:lnSpc>
            </a:pP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 </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若栈非空，查看栈顶结点的右孩子结点，若右孩子结点为空或者与</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p</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相等，则弹出栈顶结点并访问，同时使</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t</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指向该结点，并置</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flag</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为</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true</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否则将栈顶结点的右孩子结点入栈，并置</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flag</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为</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false</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266700" algn="just">
              <a:lnSpc>
                <a:spcPct val="110000"/>
              </a:lnSpc>
            </a:pP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(4) </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flag</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为</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true</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，重复步骤</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否则重复步骤</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和</a:t>
            </a:r>
            <a:r>
              <a:rPr lang="en-US" altLang="zh-CN"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en-US" sz="21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，直到栈为空</a:t>
            </a:r>
            <a:r>
              <a:rPr lang="zh-CN" altLang="en-US" sz="19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en-US" sz="19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pic>
        <p:nvPicPr>
          <p:cNvPr id="7" name="图片 6"/>
          <p:cNvPicPr>
            <a:picLocks noChangeAspect="1"/>
          </p:cNvPicPr>
          <p:nvPr/>
        </p:nvPicPr>
        <p:blipFill rotWithShape="1">
          <a:blip r:embed="rId2"/>
          <a:srcRect r="39170"/>
          <a:stretch>
            <a:fillRect/>
          </a:stretch>
        </p:blipFill>
        <p:spPr>
          <a:xfrm>
            <a:off x="7457723" y="721496"/>
            <a:ext cx="4382487" cy="5745344"/>
          </a:xfrm>
          <a:prstGeom prst="rect">
            <a:avLst/>
          </a:prstGeom>
        </p:spPr>
      </p:pic>
      <p:sp>
        <p:nvSpPr>
          <p:cNvPr id="6" name="文本框 5"/>
          <p:cNvSpPr txBox="1"/>
          <p:nvPr/>
        </p:nvSpPr>
        <p:spPr>
          <a:xfrm>
            <a:off x="-188831" y="1363360"/>
            <a:ext cx="6933240" cy="480131"/>
          </a:xfrm>
          <a:prstGeom prst="rect">
            <a:avLst/>
          </a:prstGeom>
          <a:noFill/>
        </p:spPr>
        <p:txBody>
          <a:bodyPr wrap="square">
            <a:spAutoFit/>
          </a:bodyPr>
          <a:lstStyle/>
          <a:p>
            <a:pPr marL="22860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3</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）二叉树遍历操作实现的非递归算法</a:t>
            </a:r>
            <a:endPar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2"/>
          <p:cNvPicPr>
            <a:picLocks noGrp="1" noChangeAspect="1"/>
          </p:cNvPicPr>
          <p:nvPr>
            <p:ph type="pic" sz="quarter" idx="12"/>
          </p:nvPr>
        </p:nvPicPr>
        <p:blipFill rotWithShape="1">
          <a:blip r:embed="rId1" cstate="print">
            <a:extLst>
              <a:ext uri="{28A0092B-C50C-407E-A947-70E740481C1C}">
                <a14:useLocalDpi xmlns:a14="http://schemas.microsoft.com/office/drawing/2010/main" val="0"/>
              </a:ext>
            </a:extLst>
          </a:blip>
          <a:srcRect l="15879" r="15879"/>
          <a:stretch>
            <a:fillRect/>
          </a:stretch>
        </p:blipFill>
        <p:spPr/>
      </p:pic>
      <p:sp>
        <p:nvSpPr>
          <p:cNvPr id="2" name="文本框 1"/>
          <p:cNvSpPr txBox="1"/>
          <p:nvPr/>
        </p:nvSpPr>
        <p:spPr>
          <a:xfrm>
            <a:off x="160655" y="389255"/>
            <a:ext cx="6441036" cy="70788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ED7D31"/>
                </a:solidFill>
                <a:effectLst/>
                <a:uLnTx/>
                <a:uFillTx/>
                <a:latin typeface="Arial" panose="020B0604020202020204"/>
                <a:ea typeface="黑体" panose="02010609060101010101" pitchFamily="49" charset="-122"/>
                <a:cs typeface="+mn-cs"/>
                <a:sym typeface="+mn-ea"/>
              </a:rPr>
              <a:t>2.5 </a:t>
            </a:r>
            <a:r>
              <a:rPr kumimoji="0" lang="zh-CN" altLang="en-US" sz="4000" b="1" i="0" u="none" strike="noStrike" kern="1200" cap="none" spc="0" normalizeH="0" baseline="0" noProof="0" dirty="0">
                <a:ln>
                  <a:noFill/>
                </a:ln>
                <a:solidFill>
                  <a:srgbClr val="ED7D31"/>
                </a:solidFill>
                <a:effectLst/>
                <a:uLnTx/>
                <a:uFillTx/>
                <a:latin typeface="Arial" panose="020B0604020202020204"/>
                <a:ea typeface="黑体" panose="02010609060101010101" pitchFamily="49" charset="-122"/>
                <a:cs typeface="+mn-cs"/>
                <a:sym typeface="+mn-ea"/>
              </a:rPr>
              <a:t>二叉树遍历</a:t>
            </a:r>
            <a:r>
              <a:rPr lang="zh-CN" altLang="en-US" sz="4000" b="1" dirty="0">
                <a:solidFill>
                  <a:srgbClr val="ED7D31"/>
                </a:solidFill>
                <a:latin typeface="Arial" panose="020B0604020202020204"/>
                <a:ea typeface="黑体" panose="02010609060101010101" pitchFamily="49" charset="-122"/>
                <a:sym typeface="+mn-ea"/>
              </a:rPr>
              <a:t>算法的应用</a:t>
            </a:r>
            <a:endParaRPr kumimoji="0" lang="zh-CN" altLang="en-US" sz="4000" b="1" i="0" u="none" strike="noStrike" kern="1200" cap="none" spc="0" normalizeH="0" baseline="0" noProof="0" dirty="0">
              <a:ln>
                <a:noFill/>
              </a:ln>
              <a:solidFill>
                <a:srgbClr val="ED7D31"/>
              </a:solidFill>
              <a:effectLst/>
              <a:uLnTx/>
              <a:uFillTx/>
              <a:latin typeface="Arial" panose="020B0604020202020204"/>
              <a:ea typeface="黑体" panose="02010609060101010101" pitchFamily="49" charset="-122"/>
              <a:cs typeface="+mn-cs"/>
              <a:sym typeface="+mn-ea"/>
            </a:endParaRPr>
          </a:p>
        </p:txBody>
      </p:sp>
      <p:sp>
        <p:nvSpPr>
          <p:cNvPr id="5" name="文本框 4"/>
          <p:cNvSpPr txBox="1"/>
          <p:nvPr/>
        </p:nvSpPr>
        <p:spPr>
          <a:xfrm>
            <a:off x="181975" y="1622989"/>
            <a:ext cx="5553534" cy="4360168"/>
          </a:xfrm>
          <a:prstGeom prst="rect">
            <a:avLst/>
          </a:prstGeom>
          <a:noFill/>
        </p:spPr>
        <p:txBody>
          <a:bodyPr wrap="square" rtlCol="0" anchor="t">
            <a:spAutoFit/>
          </a:bodyPr>
          <a:lstStyle/>
          <a:p>
            <a:pPr indent="0" algn="just">
              <a:buNone/>
            </a:pPr>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1</a:t>
            </a:r>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）二叉树上的查找算法</a:t>
            </a:r>
            <a:endParaRPr lang="en-US" altLang="zh-CN"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marL="228600" indent="0" algn="just">
              <a:lnSpc>
                <a:spcPct val="90000"/>
              </a:lnSpc>
              <a:spcBef>
                <a:spcPts val="1000"/>
              </a:spcBef>
              <a:buFont typeface="Arial" panose="020B0604020202020204" pitchFamily="34" charset="0"/>
              <a:buNone/>
            </a:pP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二叉树上的查找是在二叉树中查找值为</a:t>
            </a: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x</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的结点，若找到返回该结点，否则返回空值，可以在二叉树的先序遍历过程中进行查找，主要步骤如下</a:t>
            </a:r>
            <a:r>
              <a:rPr lang="zh-CN" altLang="en-US"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endPar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marL="228600" indent="0" algn="just">
              <a:lnSpc>
                <a:spcPct val="90000"/>
              </a:lnSpc>
              <a:spcBef>
                <a:spcPts val="1000"/>
              </a:spcBef>
              <a:buFont typeface="Arial" panose="020B0604020202020204" pitchFamily="34" charset="0"/>
              <a:buNone/>
            </a:pP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(1) </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若二叉树为空，则不存在值为</a:t>
            </a: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x</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的结点，返回空值； 否则将根结点的值与</a:t>
            </a: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x</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进行比较，若相等，返回该结点。</a:t>
            </a:r>
            <a:endPar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marL="228600" indent="0" algn="just">
              <a:lnSpc>
                <a:spcPct val="90000"/>
              </a:lnSpc>
              <a:spcBef>
                <a:spcPts val="1000"/>
              </a:spcBef>
              <a:buFont typeface="Arial" panose="020B0604020202020204" pitchFamily="34" charset="0"/>
              <a:buNone/>
            </a:pP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(2) </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若根结点的值与</a:t>
            </a: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x</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的值不等，则在左子树中进行查找，若找到，则返回该结点。</a:t>
            </a:r>
            <a:endPar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marL="228600" indent="0" algn="just">
              <a:lnSpc>
                <a:spcPct val="90000"/>
              </a:lnSpc>
              <a:spcBef>
                <a:spcPts val="1000"/>
              </a:spcBef>
              <a:buFont typeface="Arial" panose="020B0604020202020204" pitchFamily="34" charset="0"/>
              <a:buNone/>
            </a:pPr>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(3) </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若没有找到，则在根结点的右子树中进行查找，若找到，返回该结点，否则返回空值。</a:t>
            </a:r>
            <a:endPar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a:xfrm>
            <a:off x="9544922" y="6382987"/>
            <a:ext cx="2468278" cy="338487"/>
          </a:xfrm>
        </p:spPr>
        <p:txBody>
          <a:bodyPr/>
          <a:lstStyle/>
          <a:p>
            <a:fld id="{D96DE7E8-BD74-40B2-922D-194240FC5D5C}" type="slidenum">
              <a:rPr lang="zh-CN" altLang="en-US" smtClean="0"/>
            </a:fld>
            <a:endParaRPr lang="zh-CN" altLang="en-US"/>
          </a:p>
        </p:txBody>
      </p:sp>
      <p:sp>
        <p:nvSpPr>
          <p:cNvPr id="4" name="标题 1"/>
          <p:cNvSpPr>
            <a:spLocks noGrp="1"/>
          </p:cNvSpPr>
          <p:nvPr/>
        </p:nvSpPr>
        <p:spPr>
          <a:xfrm>
            <a:off x="200781" y="357593"/>
            <a:ext cx="11833200" cy="707886"/>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ED7D31"/>
                </a:solidFill>
                <a:effectLst/>
                <a:uLnTx/>
                <a:uFillTx/>
                <a:latin typeface="Arial" panose="020B0604020202020204"/>
                <a:ea typeface="黑体" panose="02010609060101010101" pitchFamily="49" charset="-122"/>
                <a:cs typeface="+mn-cs"/>
                <a:sym typeface="+mn-ea"/>
              </a:rPr>
              <a:t>2.5 </a:t>
            </a:r>
            <a:r>
              <a:rPr kumimoji="0" lang="zh-CN" altLang="en-US" sz="4000" b="1" i="0" u="none" strike="noStrike" kern="1200" cap="none" spc="0" normalizeH="0" baseline="0" noProof="0" dirty="0">
                <a:ln>
                  <a:noFill/>
                </a:ln>
                <a:solidFill>
                  <a:srgbClr val="ED7D31"/>
                </a:solidFill>
                <a:effectLst/>
                <a:uLnTx/>
                <a:uFillTx/>
                <a:latin typeface="Arial" panose="020B0604020202020204"/>
                <a:ea typeface="黑体" panose="02010609060101010101" pitchFamily="49" charset="-122"/>
                <a:cs typeface="+mn-cs"/>
                <a:sym typeface="+mn-ea"/>
              </a:rPr>
              <a:t>二叉树遍历</a:t>
            </a:r>
            <a:r>
              <a:rPr lang="zh-CN" altLang="en-US" sz="4000" b="1" dirty="0">
                <a:solidFill>
                  <a:srgbClr val="ED7D31"/>
                </a:solidFill>
                <a:latin typeface="Arial" panose="020B0604020202020204"/>
                <a:ea typeface="黑体" panose="02010609060101010101" pitchFamily="49" charset="-122"/>
                <a:sym typeface="+mn-ea"/>
              </a:rPr>
              <a:t>算法的应用</a:t>
            </a:r>
            <a:endParaRPr kumimoji="0" lang="zh-CN" altLang="en-US" sz="4000" b="1" i="0" u="none" strike="noStrike" kern="1200" cap="none" spc="0" normalizeH="0" baseline="0" noProof="0" dirty="0">
              <a:ln>
                <a:noFill/>
              </a:ln>
              <a:solidFill>
                <a:srgbClr val="ED7D31"/>
              </a:solidFill>
              <a:effectLst/>
              <a:uLnTx/>
              <a:uFillTx/>
              <a:latin typeface="Arial" panose="020B0604020202020204"/>
              <a:ea typeface="黑体" panose="02010609060101010101" pitchFamily="49" charset="-122"/>
              <a:cs typeface="+mn-cs"/>
              <a:sym typeface="+mn-ea"/>
            </a:endParaRPr>
          </a:p>
        </p:txBody>
      </p:sp>
      <p:sp>
        <p:nvSpPr>
          <p:cNvPr id="5" name="灯片编号占位符 3"/>
          <p:cNvSpPr>
            <a:spLocks noGrp="1"/>
          </p:cNvSpPr>
          <p:nvPr/>
        </p:nvSpPr>
        <p:spPr>
          <a:xfrm>
            <a:off x="9917702" y="6178843"/>
            <a:ext cx="2468278" cy="338487"/>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6DE7E8-BD74-40B2-922D-194240FC5D5C}" type="slidenum">
              <a:rPr lang="zh-CN" altLang="en-US" smtClean="0"/>
            </a:fld>
            <a:endParaRPr lang="zh-CN" altLang="en-US"/>
          </a:p>
        </p:txBody>
      </p:sp>
      <p:pic>
        <p:nvPicPr>
          <p:cNvPr id="9" name="H0009(S3).png"/>
          <p:cNvPicPr>
            <a:picLocks noChangeAspect="1" noChangeArrowheads="1"/>
          </p:cNvPicPr>
          <p:nvPr/>
        </p:nvPicPr>
        <p:blipFill>
          <a:blip r:embed="rId1" cstate="print">
            <a:extLst>
              <a:ext uri="{28A0092B-C50C-407E-A947-70E740481C1C}">
                <a14:useLocalDpi xmlns:a14="http://schemas.microsoft.com/office/drawing/2010/main" val="0"/>
              </a:ext>
            </a:extLst>
          </a:blip>
          <a:srcRect l="25430" t="18610" r="7008"/>
          <a:stretch>
            <a:fillRect/>
          </a:stretch>
        </p:blipFill>
        <p:spPr bwMode="auto">
          <a:xfrm>
            <a:off x="7041242" y="1620694"/>
            <a:ext cx="5240963" cy="503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0" name="矩形 9"/>
          <p:cNvSpPr/>
          <p:nvPr/>
        </p:nvSpPr>
        <p:spPr>
          <a:xfrm>
            <a:off x="7693572" y="1999388"/>
            <a:ext cx="1851350" cy="3165395"/>
          </a:xfrm>
          <a:prstGeom prst="rect">
            <a:avLst/>
          </a:prstGeom>
          <a:blipFill dpi="0" rotWithShape="1">
            <a:blip r:embed="rId2" cstate="print">
              <a:extLst>
                <a:ext uri="{28A0092B-C50C-407E-A947-70E740481C1C}">
                  <a14:useLocalDpi xmlns:a14="http://schemas.microsoft.com/office/drawing/2010/main" val="0"/>
                </a:ext>
              </a:extLst>
            </a:blip>
            <a:srcRect/>
            <a:stretch>
              <a:fillRect l="-63725" r="-7254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ea typeface="汉仪雅酷黑简" panose="00020600040101010101" charset="-122"/>
            </a:endParaRPr>
          </a:p>
        </p:txBody>
      </p:sp>
      <p:sp>
        <p:nvSpPr>
          <p:cNvPr id="35" name="文本框 34"/>
          <p:cNvSpPr txBox="1"/>
          <p:nvPr/>
        </p:nvSpPr>
        <p:spPr>
          <a:xfrm>
            <a:off x="215390" y="1372967"/>
            <a:ext cx="6192694" cy="523220"/>
          </a:xfrm>
          <a:prstGeom prst="rect">
            <a:avLst/>
          </a:prstGeom>
          <a:noFill/>
        </p:spPr>
        <p:txBody>
          <a:bodyPr wrap="square">
            <a:spAutoFit/>
          </a:bodyPr>
          <a:lstStyle/>
          <a:p>
            <a:pPr indent="0" algn="just">
              <a:buNone/>
            </a:pPr>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1</a:t>
            </a:r>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）二叉树上的查找算法</a:t>
            </a:r>
            <a:endParaRPr lang="en-US" altLang="zh-CN"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p:txBody>
      </p:sp>
      <p:pic>
        <p:nvPicPr>
          <p:cNvPr id="36" name="图片 35"/>
          <p:cNvPicPr>
            <a:picLocks noChangeAspect="1"/>
          </p:cNvPicPr>
          <p:nvPr/>
        </p:nvPicPr>
        <p:blipFill rotWithShape="1">
          <a:blip r:embed="rId3"/>
          <a:srcRect l="5416" r="50252"/>
          <a:stretch>
            <a:fillRect/>
          </a:stretch>
        </p:blipFill>
        <p:spPr>
          <a:xfrm>
            <a:off x="638049" y="1999389"/>
            <a:ext cx="5240963" cy="495133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09455" y="-20955"/>
            <a:ext cx="5640330" cy="6900545"/>
          </a:xfrm>
          <a:prstGeom prst="rect">
            <a:avLst/>
          </a:prstGeom>
        </p:spPr>
      </p:pic>
      <p:sp>
        <p:nvSpPr>
          <p:cNvPr id="8" name="标题 1"/>
          <p:cNvSpPr>
            <a:spLocks noGrp="1"/>
          </p:cNvSpPr>
          <p:nvPr/>
        </p:nvSpPr>
        <p:spPr>
          <a:xfrm>
            <a:off x="180001" y="390489"/>
            <a:ext cx="9843135" cy="6463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4000" dirty="0">
                <a:latin typeface="Arial" panose="020B0604020202020204"/>
                <a:ea typeface="黑体" panose="02010609060101010101" pitchFamily="49" charset="-122"/>
                <a:sym typeface="+mn-ea"/>
              </a:rPr>
              <a:t>2.5 </a:t>
            </a:r>
            <a:r>
              <a:rPr lang="zh-CN" altLang="en-US" sz="4000" dirty="0">
                <a:latin typeface="Arial" panose="020B0604020202020204"/>
                <a:ea typeface="黑体" panose="02010609060101010101" pitchFamily="49" charset="-122"/>
                <a:sym typeface="+mn-ea"/>
              </a:rPr>
              <a:t>二叉树遍历算法的应用</a:t>
            </a:r>
            <a:endParaRPr kumimoji="0" lang="zh-CN" altLang="en-US" sz="40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endParaRPr>
          </a:p>
        </p:txBody>
      </p:sp>
      <p:sp>
        <p:nvSpPr>
          <p:cNvPr id="5" name="内容占位符 4"/>
          <p:cNvSpPr>
            <a:spLocks noGrp="1"/>
          </p:cNvSpPr>
          <p:nvPr>
            <p:ph idx="1"/>
          </p:nvPr>
        </p:nvSpPr>
        <p:spPr>
          <a:xfrm>
            <a:off x="180001" y="1244600"/>
            <a:ext cx="6075326" cy="4932363"/>
          </a:xfrm>
        </p:spPr>
        <p:txBody>
          <a:bodyPr>
            <a:normAutofit fontScale="92500"/>
          </a:bodyPr>
          <a:lstStyle/>
          <a:p>
            <a:pPr indent="0" algn="just">
              <a:buNone/>
            </a:pPr>
            <a:r>
              <a:rPr lang="zh-CN" altLang="en-US" sz="3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3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a:t>
            </a:r>
            <a:r>
              <a:rPr lang="zh-CN" altLang="en-US" sz="3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）统计二叉树的结点个数的算法</a:t>
            </a:r>
            <a:endParaRPr lang="en-US" altLang="zh-CN" sz="30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二叉树的结点个数等于根结点加上左、右子树的结点的个数，可以利用二叉树的先序遍历序列，引入一个计数变量</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的初值为</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0</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，每访问根结点一次就将</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的值加</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，其主要</a:t>
            </a:r>
            <a:r>
              <a:rPr lang="zh-CN" altLang="en-US" sz="22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操作步骤</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如下：</a:t>
            </a:r>
            <a:endPar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(1) 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值初始化为</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0</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(2) </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若二叉树为空，返回</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值。</a:t>
            </a:r>
            <a:endPar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(3) </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若二叉树非空，则</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值加</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统计根结点的左子树的结点个数，</a:t>
            </a:r>
            <a:endPar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并将其加到</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中； </a:t>
            </a:r>
            <a:endPar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统计根结点的右子树的结点个数，</a:t>
            </a:r>
            <a:endPar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并将其加到</a:t>
            </a:r>
            <a:r>
              <a:rPr lang="en-US" altLang="zh-CN"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count</a:t>
            </a:r>
            <a:r>
              <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中。</a:t>
            </a:r>
            <a:endParaRPr lang="zh-CN" altLang="en-US" sz="22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pic>
        <p:nvPicPr>
          <p:cNvPr id="6" name="图片 5"/>
          <p:cNvPicPr>
            <a:picLocks noChangeAspect="1"/>
          </p:cNvPicPr>
          <p:nvPr/>
        </p:nvPicPr>
        <p:blipFill rotWithShape="1">
          <a:blip r:embed="rId2"/>
          <a:srcRect l="3708" r="56254" b="10641"/>
          <a:stretch>
            <a:fillRect/>
          </a:stretch>
        </p:blipFill>
        <p:spPr>
          <a:xfrm>
            <a:off x="7201026" y="1929828"/>
            <a:ext cx="4810973" cy="322864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09455" y="-20955"/>
            <a:ext cx="5640330" cy="6900545"/>
          </a:xfrm>
          <a:prstGeom prst="rect">
            <a:avLst/>
          </a:prstGeom>
        </p:spPr>
      </p:pic>
      <p:sp>
        <p:nvSpPr>
          <p:cNvPr id="8" name="标题 1"/>
          <p:cNvSpPr>
            <a:spLocks noGrp="1"/>
          </p:cNvSpPr>
          <p:nvPr/>
        </p:nvSpPr>
        <p:spPr>
          <a:xfrm>
            <a:off x="180000" y="390787"/>
            <a:ext cx="9843135" cy="6463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4000" dirty="0">
                <a:latin typeface="Arial" panose="020B0604020202020204"/>
                <a:ea typeface="黑体" panose="02010609060101010101" pitchFamily="49" charset="-122"/>
                <a:sym typeface="+mn-ea"/>
              </a:rPr>
              <a:t>2.5 </a:t>
            </a:r>
            <a:r>
              <a:rPr lang="zh-CN" altLang="en-US" sz="4000" dirty="0">
                <a:latin typeface="Arial" panose="020B0604020202020204"/>
                <a:ea typeface="黑体" panose="02010609060101010101" pitchFamily="49" charset="-122"/>
                <a:sym typeface="+mn-ea"/>
              </a:rPr>
              <a:t>二叉树遍历算法的应用</a:t>
            </a:r>
            <a:endParaRPr kumimoji="0" lang="zh-CN" altLang="en-US" sz="40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endParaRPr>
          </a:p>
        </p:txBody>
      </p:sp>
      <p:sp>
        <p:nvSpPr>
          <p:cNvPr id="5" name="内容占位符 4"/>
          <p:cNvSpPr>
            <a:spLocks noGrp="1"/>
          </p:cNvSpPr>
          <p:nvPr>
            <p:ph idx="1"/>
          </p:nvPr>
        </p:nvSpPr>
        <p:spPr>
          <a:xfrm>
            <a:off x="180000" y="1244600"/>
            <a:ext cx="6069451" cy="4932363"/>
          </a:xfrm>
        </p:spPr>
        <p:txBody>
          <a:bodyPr>
            <a:normAutofit/>
          </a:bodyPr>
          <a:lstStyle/>
          <a:p>
            <a:pPr indent="0" algn="just">
              <a:buNone/>
            </a:pP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3</a:t>
            </a: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）求二叉树的深度</a:t>
            </a:r>
            <a:endPar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二叉树的深度是所有结点的层次数的最大值加</a:t>
            </a: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，也就是左子树和右子树的深度的最大值加</a:t>
            </a: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，可以采用后序遍历的递归算法解决此问题，其</a:t>
            </a:r>
            <a:r>
              <a:rPr lang="zh-CN" altLang="en-US" sz="24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主要步骤</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如下：</a:t>
            </a:r>
            <a:endPar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(1)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若二叉树为空，返回</a:t>
            </a: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0</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(2)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若二叉树非空，</a:t>
            </a:r>
            <a:endPar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求左子树的深度、求右子树的深度。</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(3)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比较左、右子树的深度，</a:t>
            </a:r>
            <a:endPar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取最大值加</a:t>
            </a: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即为二叉树的深度。</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pic>
        <p:nvPicPr>
          <p:cNvPr id="6" name="图片 5"/>
          <p:cNvPicPr>
            <a:picLocks noChangeAspect="1"/>
          </p:cNvPicPr>
          <p:nvPr/>
        </p:nvPicPr>
        <p:blipFill rotWithShape="1">
          <a:blip r:embed="rId2"/>
          <a:srcRect l="3864" r="64922"/>
          <a:stretch>
            <a:fillRect/>
          </a:stretch>
        </p:blipFill>
        <p:spPr>
          <a:xfrm>
            <a:off x="7527816" y="1421152"/>
            <a:ext cx="3803608" cy="45792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标题 1"/>
          <p:cNvSpPr>
            <a:spLocks noGrp="1"/>
          </p:cNvSpPr>
          <p:nvPr/>
        </p:nvSpPr>
        <p:spPr>
          <a:xfrm>
            <a:off x="179400" y="389718"/>
            <a:ext cx="11833200" cy="6463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sz="4000" dirty="0">
                <a:sym typeface="+mn-ea"/>
              </a:rPr>
              <a:t>2.6 </a:t>
            </a:r>
            <a:r>
              <a:rPr lang="zh-CN" altLang="en-US" sz="4000" dirty="0">
                <a:sym typeface="+mn-ea"/>
              </a:rPr>
              <a:t>二叉树的建立</a:t>
            </a:r>
            <a:endParaRPr lang="zh-CN" altLang="en-US" sz="4000" dirty="0"/>
          </a:p>
        </p:txBody>
      </p:sp>
      <p:sp>
        <p:nvSpPr>
          <p:cNvPr id="166" name="灯片编号占位符 3"/>
          <p:cNvSpPr>
            <a:spLocks noGrp="1"/>
          </p:cNvSpPr>
          <p:nvPr/>
        </p:nvSpPr>
        <p:spPr>
          <a:xfrm>
            <a:off x="9201590" y="6244281"/>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6DE7E8-BD74-40B2-922D-194240FC5D5C}" type="slidenum">
              <a:rPr lang="zh-CN" altLang="en-US" smtClean="0"/>
            </a:fld>
            <a:endParaRPr lang="zh-CN" altLang="en-US"/>
          </a:p>
        </p:txBody>
      </p:sp>
      <p:sp>
        <p:nvSpPr>
          <p:cNvPr id="167" name="内容占位符 2"/>
          <p:cNvSpPr>
            <a:spLocks noGrp="1"/>
          </p:cNvSpPr>
          <p:nvPr/>
        </p:nvSpPr>
        <p:spPr>
          <a:xfrm>
            <a:off x="428795" y="1446222"/>
            <a:ext cx="6731000" cy="49745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gn="just">
              <a:lnSpc>
                <a:spcPct val="100000"/>
              </a:lnSpc>
              <a:buNone/>
            </a:pP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二叉树遍历操作可使非线性结构的树转换成线性序列。</a:t>
            </a:r>
            <a:r>
              <a:rPr lang="zh-CN" altLang="zh-CN" sz="20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先序遍历序列和后序遍历序列反映父结点和孩子结点间的层次关系，中序遍历序列反映兄弟结点间的左右次序关系。</a:t>
            </a:r>
            <a:r>
              <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因为二叉树是具有层次关系的结点构成的非线性结构，并且每个结点的孩子结点具有左右次序，所以已知一种遍历序列无法唯一确定一棵二叉树，只有同时知道中序和先序遍历序列，或者同时知道中序和后序遍历序列，才能同时确定结点的层次关系和结点的左右次序，才能唯一确定一棵二叉树</a:t>
            </a:r>
            <a:r>
              <a:rPr lang="zh-CN" altLang="en-US"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p:txBody>
      </p:sp>
      <p:grpSp>
        <p:nvGrpSpPr>
          <p:cNvPr id="168" name="组合 167"/>
          <p:cNvGrpSpPr/>
          <p:nvPr/>
        </p:nvGrpSpPr>
        <p:grpSpPr>
          <a:xfrm>
            <a:off x="7792889" y="1422094"/>
            <a:ext cx="4293354" cy="4745191"/>
            <a:chOff x="12044" y="3348"/>
            <a:chExt cx="5151" cy="5795"/>
          </a:xfrm>
        </p:grpSpPr>
        <p:grpSp>
          <p:nvGrpSpPr>
            <p:cNvPr id="189" name="Group 19"/>
            <p:cNvGrpSpPr/>
            <p:nvPr/>
          </p:nvGrpSpPr>
          <p:grpSpPr>
            <a:xfrm>
              <a:off x="13287" y="6985"/>
              <a:ext cx="486" cy="2151"/>
              <a:chOff x="4980416" y="5037518"/>
              <a:chExt cx="412706" cy="1820482"/>
            </a:xfrm>
          </p:grpSpPr>
          <p:sp>
            <p:nvSpPr>
              <p:cNvPr id="309" name="Freeform: Shape 20"/>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0" name="Freeform: Shape 21"/>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1" name="Freeform: Shape 22"/>
              <p:cNvSpPr/>
              <p:nvPr/>
            </p:nvSpPr>
            <p:spPr bwMode="auto">
              <a:xfrm>
                <a:off x="5078038" y="5468401"/>
                <a:ext cx="125899" cy="1386906"/>
              </a:xfrm>
              <a:custGeom>
                <a:avLst/>
                <a:gdLst>
                  <a:gd name="T0" fmla="*/ 79 w 79"/>
                  <a:gd name="T1" fmla="*/ 871 h 871"/>
                  <a:gd name="T2" fmla="*/ 0 w 79"/>
                  <a:gd name="T3" fmla="*/ 871 h 871"/>
                  <a:gd name="T4" fmla="*/ 0 w 79"/>
                  <a:gd name="T5" fmla="*/ 33 h 871"/>
                  <a:gd name="T6" fmla="*/ 39 w 79"/>
                  <a:gd name="T7" fmla="*/ 1 h 871"/>
                  <a:gd name="T8" fmla="*/ 79 w 79"/>
                  <a:gd name="T9" fmla="*/ 33 h 871"/>
                  <a:gd name="T10" fmla="*/ 79 w 79"/>
                  <a:gd name="T11" fmla="*/ 871 h 871"/>
                </a:gdLst>
                <a:ahLst/>
                <a:cxnLst>
                  <a:cxn ang="0">
                    <a:pos x="T0" y="T1"/>
                  </a:cxn>
                  <a:cxn ang="0">
                    <a:pos x="T2" y="T3"/>
                  </a:cxn>
                  <a:cxn ang="0">
                    <a:pos x="T4" y="T5"/>
                  </a:cxn>
                  <a:cxn ang="0">
                    <a:pos x="T6" y="T7"/>
                  </a:cxn>
                  <a:cxn ang="0">
                    <a:pos x="T8" y="T9"/>
                  </a:cxn>
                  <a:cxn ang="0">
                    <a:pos x="T10" y="T11"/>
                  </a:cxn>
                </a:cxnLst>
                <a:rect l="0" t="0" r="r" b="b"/>
                <a:pathLst>
                  <a:path w="79" h="871">
                    <a:moveTo>
                      <a:pt x="79" y="871"/>
                    </a:moveTo>
                    <a:cubicBezTo>
                      <a:pt x="0" y="871"/>
                      <a:pt x="0" y="871"/>
                      <a:pt x="0" y="871"/>
                    </a:cubicBezTo>
                    <a:cubicBezTo>
                      <a:pt x="0" y="33"/>
                      <a:pt x="0" y="33"/>
                      <a:pt x="0" y="33"/>
                    </a:cubicBezTo>
                    <a:cubicBezTo>
                      <a:pt x="0" y="33"/>
                      <a:pt x="5" y="2"/>
                      <a:pt x="39" y="1"/>
                    </a:cubicBezTo>
                    <a:cubicBezTo>
                      <a:pt x="73" y="0"/>
                      <a:pt x="79" y="33"/>
                      <a:pt x="79" y="33"/>
                    </a:cubicBezTo>
                    <a:cubicBezTo>
                      <a:pt x="79" y="871"/>
                      <a:pt x="79" y="871"/>
                      <a:pt x="79" y="871"/>
                    </a:cubicBezTo>
                  </a:path>
                </a:pathLst>
              </a:custGeom>
              <a:solidFill>
                <a:schemeClr val="accent1">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2" name="Freeform: Shape 23"/>
              <p:cNvSpPr/>
              <p:nvPr/>
            </p:nvSpPr>
            <p:spPr bwMode="auto">
              <a:xfrm>
                <a:off x="5200571" y="5465708"/>
                <a:ext cx="101662" cy="1387579"/>
              </a:xfrm>
              <a:custGeom>
                <a:avLst/>
                <a:gdLst>
                  <a:gd name="T0" fmla="*/ 64 w 64"/>
                  <a:gd name="T1" fmla="*/ 872 h 872"/>
                  <a:gd name="T2" fmla="*/ 0 w 64"/>
                  <a:gd name="T3" fmla="*/ 872 h 872"/>
                  <a:gd name="T4" fmla="*/ 0 w 64"/>
                  <a:gd name="T5" fmla="*/ 33 h 872"/>
                  <a:gd name="T6" fmla="*/ 31 w 64"/>
                  <a:gd name="T7" fmla="*/ 1 h 872"/>
                  <a:gd name="T8" fmla="*/ 64 w 64"/>
                  <a:gd name="T9" fmla="*/ 33 h 872"/>
                  <a:gd name="T10" fmla="*/ 64 w 64"/>
                  <a:gd name="T11" fmla="*/ 872 h 872"/>
                </a:gdLst>
                <a:ahLst/>
                <a:cxnLst>
                  <a:cxn ang="0">
                    <a:pos x="T0" y="T1"/>
                  </a:cxn>
                  <a:cxn ang="0">
                    <a:pos x="T2" y="T3"/>
                  </a:cxn>
                  <a:cxn ang="0">
                    <a:pos x="T4" y="T5"/>
                  </a:cxn>
                  <a:cxn ang="0">
                    <a:pos x="T6" y="T7"/>
                  </a:cxn>
                  <a:cxn ang="0">
                    <a:pos x="T8" y="T9"/>
                  </a:cxn>
                  <a:cxn ang="0">
                    <a:pos x="T10" y="T11"/>
                  </a:cxn>
                </a:cxnLst>
                <a:rect l="0" t="0" r="r" b="b"/>
                <a:pathLst>
                  <a:path w="64" h="872">
                    <a:moveTo>
                      <a:pt x="64" y="872"/>
                    </a:moveTo>
                    <a:cubicBezTo>
                      <a:pt x="0" y="872"/>
                      <a:pt x="0" y="872"/>
                      <a:pt x="0" y="872"/>
                    </a:cubicBezTo>
                    <a:cubicBezTo>
                      <a:pt x="0" y="33"/>
                      <a:pt x="0" y="33"/>
                      <a:pt x="0" y="33"/>
                    </a:cubicBezTo>
                    <a:cubicBezTo>
                      <a:pt x="0" y="33"/>
                      <a:pt x="4" y="2"/>
                      <a:pt x="31" y="1"/>
                    </a:cubicBezTo>
                    <a:cubicBezTo>
                      <a:pt x="58" y="0"/>
                      <a:pt x="64" y="33"/>
                      <a:pt x="64" y="33"/>
                    </a:cubicBezTo>
                    <a:cubicBezTo>
                      <a:pt x="64" y="872"/>
                      <a:pt x="64" y="872"/>
                      <a:pt x="64" y="872"/>
                    </a:cubicBezTo>
                  </a:path>
                </a:pathLst>
              </a:custGeom>
              <a:solidFill>
                <a:srgbClr val="ABA07A"/>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3" name="Freeform: Shape 24"/>
              <p:cNvSpPr/>
              <p:nvPr/>
            </p:nvSpPr>
            <p:spPr bwMode="auto">
              <a:xfrm>
                <a:off x="4980416" y="5465708"/>
                <a:ext cx="100315" cy="1387579"/>
              </a:xfrm>
              <a:custGeom>
                <a:avLst/>
                <a:gdLst>
                  <a:gd name="T0" fmla="*/ 63 w 63"/>
                  <a:gd name="T1" fmla="*/ 872 h 872"/>
                  <a:gd name="T2" fmla="*/ 0 w 63"/>
                  <a:gd name="T3" fmla="*/ 872 h 872"/>
                  <a:gd name="T4" fmla="*/ 0 w 63"/>
                  <a:gd name="T5" fmla="*/ 33 h 872"/>
                  <a:gd name="T6" fmla="*/ 31 w 63"/>
                  <a:gd name="T7" fmla="*/ 1 h 872"/>
                  <a:gd name="T8" fmla="*/ 63 w 63"/>
                  <a:gd name="T9" fmla="*/ 33 h 872"/>
                  <a:gd name="T10" fmla="*/ 63 w 63"/>
                  <a:gd name="T11" fmla="*/ 872 h 872"/>
                </a:gdLst>
                <a:ahLst/>
                <a:cxnLst>
                  <a:cxn ang="0">
                    <a:pos x="T0" y="T1"/>
                  </a:cxn>
                  <a:cxn ang="0">
                    <a:pos x="T2" y="T3"/>
                  </a:cxn>
                  <a:cxn ang="0">
                    <a:pos x="T4" y="T5"/>
                  </a:cxn>
                  <a:cxn ang="0">
                    <a:pos x="T6" y="T7"/>
                  </a:cxn>
                  <a:cxn ang="0">
                    <a:pos x="T8" y="T9"/>
                  </a:cxn>
                  <a:cxn ang="0">
                    <a:pos x="T10" y="T11"/>
                  </a:cxn>
                </a:cxnLst>
                <a:rect l="0" t="0" r="r" b="b"/>
                <a:pathLst>
                  <a:path w="63" h="872">
                    <a:moveTo>
                      <a:pt x="63" y="872"/>
                    </a:moveTo>
                    <a:cubicBezTo>
                      <a:pt x="0" y="872"/>
                      <a:pt x="0" y="872"/>
                      <a:pt x="0" y="872"/>
                    </a:cubicBezTo>
                    <a:cubicBezTo>
                      <a:pt x="0" y="33"/>
                      <a:pt x="0" y="33"/>
                      <a:pt x="0" y="33"/>
                    </a:cubicBezTo>
                    <a:cubicBezTo>
                      <a:pt x="0" y="33"/>
                      <a:pt x="4" y="2"/>
                      <a:pt x="31" y="1"/>
                    </a:cubicBezTo>
                    <a:cubicBezTo>
                      <a:pt x="57" y="0"/>
                      <a:pt x="63" y="33"/>
                      <a:pt x="63" y="33"/>
                    </a:cubicBezTo>
                    <a:lnTo>
                      <a:pt x="63" y="872"/>
                    </a:lnTo>
                    <a:close/>
                  </a:path>
                </a:pathLst>
              </a:custGeom>
              <a:solidFill>
                <a:schemeClr val="accent1">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4" name="Freeform: Shape 25"/>
              <p:cNvSpPr/>
              <p:nvPr/>
            </p:nvSpPr>
            <p:spPr bwMode="auto">
              <a:xfrm>
                <a:off x="5076019" y="5038865"/>
                <a:ext cx="132631" cy="192551"/>
              </a:xfrm>
              <a:custGeom>
                <a:avLst/>
                <a:gdLst>
                  <a:gd name="T0" fmla="*/ 0 w 83"/>
                  <a:gd name="T1" fmla="*/ 111 h 121"/>
                  <a:gd name="T2" fmla="*/ 83 w 83"/>
                  <a:gd name="T3" fmla="*/ 113 h 121"/>
                  <a:gd name="T4" fmla="*/ 49 w 83"/>
                  <a:gd name="T5" fmla="*/ 0 h 121"/>
                  <a:gd name="T6" fmla="*/ 29 w 83"/>
                  <a:gd name="T7" fmla="*/ 0 h 121"/>
                  <a:gd name="T8" fmla="*/ 0 w 83"/>
                  <a:gd name="T9" fmla="*/ 111 h 121"/>
                </a:gdLst>
                <a:ahLst/>
                <a:cxnLst>
                  <a:cxn ang="0">
                    <a:pos x="T0" y="T1"/>
                  </a:cxn>
                  <a:cxn ang="0">
                    <a:pos x="T2" y="T3"/>
                  </a:cxn>
                  <a:cxn ang="0">
                    <a:pos x="T4" y="T5"/>
                  </a:cxn>
                  <a:cxn ang="0">
                    <a:pos x="T6" y="T7"/>
                  </a:cxn>
                  <a:cxn ang="0">
                    <a:pos x="T8" y="T9"/>
                  </a:cxn>
                </a:cxnLst>
                <a:rect l="0" t="0" r="r" b="b"/>
                <a:pathLst>
                  <a:path w="83" h="121">
                    <a:moveTo>
                      <a:pt x="0" y="111"/>
                    </a:moveTo>
                    <a:cubicBezTo>
                      <a:pt x="0" y="111"/>
                      <a:pt x="40" y="121"/>
                      <a:pt x="83" y="113"/>
                    </a:cubicBezTo>
                    <a:cubicBezTo>
                      <a:pt x="49" y="0"/>
                      <a:pt x="49" y="0"/>
                      <a:pt x="49" y="0"/>
                    </a:cubicBezTo>
                    <a:cubicBezTo>
                      <a:pt x="29" y="0"/>
                      <a:pt x="29" y="0"/>
                      <a:pt x="29" y="0"/>
                    </a:cubicBezTo>
                    <a:cubicBezTo>
                      <a:pt x="0" y="111"/>
                      <a:pt x="0" y="111"/>
                      <a:pt x="0" y="111"/>
                    </a:cubicBezTo>
                  </a:path>
                </a:pathLst>
              </a:custGeom>
              <a:solidFill>
                <a:schemeClr val="accent1">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5" name="Freeform: Shape 26"/>
              <p:cNvSpPr/>
              <p:nvPr/>
            </p:nvSpPr>
            <p:spPr bwMode="auto">
              <a:xfrm>
                <a:off x="5143344" y="5037518"/>
                <a:ext cx="249778" cy="1820482"/>
              </a:xfrm>
              <a:custGeom>
                <a:avLst/>
                <a:gdLst>
                  <a:gd name="T0" fmla="*/ 34 w 157"/>
                  <a:gd name="T1" fmla="*/ 0 h 1144"/>
                  <a:gd name="T2" fmla="*/ 0 w 157"/>
                  <a:gd name="T3" fmla="*/ 1 h 1144"/>
                  <a:gd name="T4" fmla="*/ 7 w 157"/>
                  <a:gd name="T5" fmla="*/ 1 h 1144"/>
                  <a:gd name="T6" fmla="*/ 41 w 157"/>
                  <a:gd name="T7" fmla="*/ 114 h 1144"/>
                  <a:gd name="T8" fmla="*/ 41 w 157"/>
                  <a:gd name="T9" fmla="*/ 114 h 1144"/>
                  <a:gd name="T10" fmla="*/ 94 w 157"/>
                  <a:gd name="T11" fmla="*/ 285 h 1144"/>
                  <a:gd name="T12" fmla="*/ 94 w 157"/>
                  <a:gd name="T13" fmla="*/ 286 h 1144"/>
                  <a:gd name="T14" fmla="*/ 100 w 157"/>
                  <a:gd name="T15" fmla="*/ 302 h 1144"/>
                  <a:gd name="T16" fmla="*/ 100 w 157"/>
                  <a:gd name="T17" fmla="*/ 1141 h 1144"/>
                  <a:gd name="T18" fmla="*/ 38 w 157"/>
                  <a:gd name="T19" fmla="*/ 1141 h 1144"/>
                  <a:gd name="T20" fmla="*/ 38 w 157"/>
                  <a:gd name="T21" fmla="*/ 1142 h 1144"/>
                  <a:gd name="T22" fmla="*/ 0 w 157"/>
                  <a:gd name="T23" fmla="*/ 1142 h 1144"/>
                  <a:gd name="T24" fmla="*/ 0 w 157"/>
                  <a:gd name="T25" fmla="*/ 1144 h 1144"/>
                  <a:gd name="T26" fmla="*/ 157 w 157"/>
                  <a:gd name="T27" fmla="*/ 1142 h 1144"/>
                  <a:gd name="T28" fmla="*/ 142 w 157"/>
                  <a:gd name="T29" fmla="*/ 290 h 1144"/>
                  <a:gd name="T30" fmla="*/ 34 w 157"/>
                  <a:gd name="T31" fmla="*/ 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144">
                    <a:moveTo>
                      <a:pt x="34" y="0"/>
                    </a:moveTo>
                    <a:cubicBezTo>
                      <a:pt x="0" y="1"/>
                      <a:pt x="0" y="1"/>
                      <a:pt x="0" y="1"/>
                    </a:cubicBezTo>
                    <a:cubicBezTo>
                      <a:pt x="7" y="1"/>
                      <a:pt x="7" y="1"/>
                      <a:pt x="7" y="1"/>
                    </a:cubicBezTo>
                    <a:cubicBezTo>
                      <a:pt x="41" y="114"/>
                      <a:pt x="41" y="114"/>
                      <a:pt x="41" y="114"/>
                    </a:cubicBezTo>
                    <a:cubicBezTo>
                      <a:pt x="41" y="114"/>
                      <a:pt x="41" y="114"/>
                      <a:pt x="41" y="114"/>
                    </a:cubicBezTo>
                    <a:cubicBezTo>
                      <a:pt x="94" y="285"/>
                      <a:pt x="94" y="285"/>
                      <a:pt x="94" y="285"/>
                    </a:cubicBezTo>
                    <a:cubicBezTo>
                      <a:pt x="94" y="286"/>
                      <a:pt x="94" y="286"/>
                      <a:pt x="94" y="286"/>
                    </a:cubicBezTo>
                    <a:cubicBezTo>
                      <a:pt x="98" y="294"/>
                      <a:pt x="100" y="302"/>
                      <a:pt x="100" y="302"/>
                    </a:cubicBezTo>
                    <a:cubicBezTo>
                      <a:pt x="100" y="1141"/>
                      <a:pt x="100" y="1141"/>
                      <a:pt x="100" y="1141"/>
                    </a:cubicBezTo>
                    <a:cubicBezTo>
                      <a:pt x="38" y="1141"/>
                      <a:pt x="38" y="1141"/>
                      <a:pt x="38" y="1141"/>
                    </a:cubicBezTo>
                    <a:cubicBezTo>
                      <a:pt x="38" y="1142"/>
                      <a:pt x="38" y="1142"/>
                      <a:pt x="38" y="1142"/>
                    </a:cubicBezTo>
                    <a:cubicBezTo>
                      <a:pt x="0" y="1142"/>
                      <a:pt x="0" y="1142"/>
                      <a:pt x="0" y="1142"/>
                    </a:cubicBezTo>
                    <a:cubicBezTo>
                      <a:pt x="0" y="1144"/>
                      <a:pt x="0" y="1144"/>
                      <a:pt x="0" y="1144"/>
                    </a:cubicBezTo>
                    <a:cubicBezTo>
                      <a:pt x="157" y="1142"/>
                      <a:pt x="157" y="1142"/>
                      <a:pt x="157" y="11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6" name="Freeform: Shape 27"/>
              <p:cNvSpPr/>
              <p:nvPr/>
            </p:nvSpPr>
            <p:spPr bwMode="auto">
              <a:xfrm>
                <a:off x="5143344" y="5218624"/>
                <a:ext cx="149463" cy="294886"/>
              </a:xfrm>
              <a:custGeom>
                <a:avLst/>
                <a:gdLst>
                  <a:gd name="T0" fmla="*/ 41 w 94"/>
                  <a:gd name="T1" fmla="*/ 0 h 185"/>
                  <a:gd name="T2" fmla="*/ 6 w 94"/>
                  <a:gd name="T3" fmla="*/ 3 h 185"/>
                  <a:gd name="T4" fmla="*/ 0 w 94"/>
                  <a:gd name="T5" fmla="*/ 3 h 185"/>
                  <a:gd name="T6" fmla="*/ 0 w 94"/>
                  <a:gd name="T7" fmla="*/ 158 h 185"/>
                  <a:gd name="T8" fmla="*/ 37 w 94"/>
                  <a:gd name="T9" fmla="*/ 185 h 185"/>
                  <a:gd name="T10" fmla="*/ 67 w 94"/>
                  <a:gd name="T11" fmla="*/ 156 h 185"/>
                  <a:gd name="T12" fmla="*/ 68 w 94"/>
                  <a:gd name="T13" fmla="*/ 156 h 185"/>
                  <a:gd name="T14" fmla="*/ 94 w 94"/>
                  <a:gd name="T15" fmla="*/ 172 h 185"/>
                  <a:gd name="T16" fmla="*/ 94 w 94"/>
                  <a:gd name="T17" fmla="*/ 171 h 185"/>
                  <a:gd name="T18" fmla="*/ 41 w 94"/>
                  <a:gd name="T19"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85">
                    <a:moveTo>
                      <a:pt x="41" y="0"/>
                    </a:moveTo>
                    <a:cubicBezTo>
                      <a:pt x="28" y="2"/>
                      <a:pt x="16" y="3"/>
                      <a:pt x="6" y="3"/>
                    </a:cubicBezTo>
                    <a:cubicBezTo>
                      <a:pt x="4" y="3"/>
                      <a:pt x="2" y="3"/>
                      <a:pt x="0" y="3"/>
                    </a:cubicBezTo>
                    <a:cubicBezTo>
                      <a:pt x="0" y="158"/>
                      <a:pt x="0" y="158"/>
                      <a:pt x="0" y="158"/>
                    </a:cubicBezTo>
                    <a:cubicBezTo>
                      <a:pt x="24" y="159"/>
                      <a:pt x="34" y="177"/>
                      <a:pt x="37" y="185"/>
                    </a:cubicBezTo>
                    <a:cubicBezTo>
                      <a:pt x="38" y="178"/>
                      <a:pt x="45" y="157"/>
                      <a:pt x="67" y="156"/>
                    </a:cubicBezTo>
                    <a:cubicBezTo>
                      <a:pt x="68" y="156"/>
                      <a:pt x="68" y="156"/>
                      <a:pt x="68" y="156"/>
                    </a:cubicBezTo>
                    <a:cubicBezTo>
                      <a:pt x="81" y="156"/>
                      <a:pt x="89" y="164"/>
                      <a:pt x="94" y="172"/>
                    </a:cubicBezTo>
                    <a:cubicBezTo>
                      <a:pt x="94" y="171"/>
                      <a:pt x="94" y="171"/>
                      <a:pt x="94" y="171"/>
                    </a:cubicBezTo>
                    <a:cubicBezTo>
                      <a:pt x="41" y="0"/>
                      <a:pt x="41" y="0"/>
                      <a:pt x="41"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7" name="Freeform: Shape 28"/>
              <p:cNvSpPr/>
              <p:nvPr/>
            </p:nvSpPr>
            <p:spPr bwMode="auto">
              <a:xfrm>
                <a:off x="5143344" y="5470421"/>
                <a:ext cx="60593" cy="1384886"/>
              </a:xfrm>
              <a:custGeom>
                <a:avLst/>
                <a:gdLst>
                  <a:gd name="T0" fmla="*/ 0 w 38"/>
                  <a:gd name="T1" fmla="*/ 0 h 870"/>
                  <a:gd name="T2" fmla="*/ 0 w 38"/>
                  <a:gd name="T3" fmla="*/ 870 h 870"/>
                  <a:gd name="T4" fmla="*/ 38 w 38"/>
                  <a:gd name="T5" fmla="*/ 870 h 870"/>
                  <a:gd name="T6" fmla="*/ 38 w 38"/>
                  <a:gd name="T7" fmla="*/ 869 h 870"/>
                  <a:gd name="T8" fmla="*/ 36 w 38"/>
                  <a:gd name="T9" fmla="*/ 869 h 870"/>
                  <a:gd name="T10" fmla="*/ 36 w 38"/>
                  <a:gd name="T11" fmla="*/ 30 h 870"/>
                  <a:gd name="T12" fmla="*/ 37 w 38"/>
                  <a:gd name="T13" fmla="*/ 27 h 870"/>
                  <a:gd name="T14" fmla="*/ 0 w 38"/>
                  <a:gd name="T15" fmla="*/ 0 h 8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870">
                    <a:moveTo>
                      <a:pt x="0" y="0"/>
                    </a:moveTo>
                    <a:cubicBezTo>
                      <a:pt x="0" y="870"/>
                      <a:pt x="0" y="870"/>
                      <a:pt x="0" y="870"/>
                    </a:cubicBezTo>
                    <a:cubicBezTo>
                      <a:pt x="38" y="870"/>
                      <a:pt x="38" y="870"/>
                      <a:pt x="38" y="870"/>
                    </a:cubicBezTo>
                    <a:cubicBezTo>
                      <a:pt x="38" y="869"/>
                      <a:pt x="38" y="869"/>
                      <a:pt x="38" y="869"/>
                    </a:cubicBezTo>
                    <a:cubicBezTo>
                      <a:pt x="36" y="869"/>
                      <a:pt x="36" y="869"/>
                      <a:pt x="36" y="869"/>
                    </a:cubicBezTo>
                    <a:cubicBezTo>
                      <a:pt x="36" y="30"/>
                      <a:pt x="36" y="30"/>
                      <a:pt x="36" y="30"/>
                    </a:cubicBezTo>
                    <a:cubicBezTo>
                      <a:pt x="36" y="30"/>
                      <a:pt x="37" y="29"/>
                      <a:pt x="37" y="27"/>
                    </a:cubicBezTo>
                    <a:cubicBezTo>
                      <a:pt x="34" y="19"/>
                      <a:pt x="24" y="1"/>
                      <a:pt x="0" y="0"/>
                    </a:cubicBezTo>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8" name="Freeform: Shape 29"/>
              <p:cNvSpPr/>
              <p:nvPr/>
            </p:nvSpPr>
            <p:spPr bwMode="auto">
              <a:xfrm>
                <a:off x="5200571" y="5467055"/>
                <a:ext cx="101662" cy="1386232"/>
              </a:xfrm>
              <a:custGeom>
                <a:avLst/>
                <a:gdLst>
                  <a:gd name="T0" fmla="*/ 32 w 64"/>
                  <a:gd name="T1" fmla="*/ 0 h 871"/>
                  <a:gd name="T2" fmla="*/ 31 w 64"/>
                  <a:gd name="T3" fmla="*/ 0 h 871"/>
                  <a:gd name="T4" fmla="*/ 1 w 64"/>
                  <a:gd name="T5" fmla="*/ 29 h 871"/>
                  <a:gd name="T6" fmla="*/ 0 w 64"/>
                  <a:gd name="T7" fmla="*/ 32 h 871"/>
                  <a:gd name="T8" fmla="*/ 0 w 64"/>
                  <a:gd name="T9" fmla="*/ 871 h 871"/>
                  <a:gd name="T10" fmla="*/ 2 w 64"/>
                  <a:gd name="T11" fmla="*/ 871 h 871"/>
                  <a:gd name="T12" fmla="*/ 64 w 64"/>
                  <a:gd name="T13" fmla="*/ 871 h 871"/>
                  <a:gd name="T14" fmla="*/ 64 w 64"/>
                  <a:gd name="T15" fmla="*/ 32 h 871"/>
                  <a:gd name="T16" fmla="*/ 58 w 64"/>
                  <a:gd name="T17" fmla="*/ 16 h 871"/>
                  <a:gd name="T18" fmla="*/ 32 w 64"/>
                  <a:gd name="T19" fmla="*/ 0 h 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871">
                    <a:moveTo>
                      <a:pt x="32" y="0"/>
                    </a:moveTo>
                    <a:cubicBezTo>
                      <a:pt x="32" y="0"/>
                      <a:pt x="32" y="0"/>
                      <a:pt x="31" y="0"/>
                    </a:cubicBezTo>
                    <a:cubicBezTo>
                      <a:pt x="9" y="1"/>
                      <a:pt x="2" y="22"/>
                      <a:pt x="1" y="29"/>
                    </a:cubicBezTo>
                    <a:cubicBezTo>
                      <a:pt x="1" y="31"/>
                      <a:pt x="0" y="32"/>
                      <a:pt x="0" y="32"/>
                    </a:cubicBezTo>
                    <a:cubicBezTo>
                      <a:pt x="0" y="871"/>
                      <a:pt x="0" y="871"/>
                      <a:pt x="0" y="871"/>
                    </a:cubicBezTo>
                    <a:cubicBezTo>
                      <a:pt x="2" y="871"/>
                      <a:pt x="2" y="871"/>
                      <a:pt x="2" y="871"/>
                    </a:cubicBezTo>
                    <a:cubicBezTo>
                      <a:pt x="64" y="871"/>
                      <a:pt x="64" y="871"/>
                      <a:pt x="64" y="871"/>
                    </a:cubicBezTo>
                    <a:cubicBezTo>
                      <a:pt x="64" y="32"/>
                      <a:pt x="64" y="32"/>
                      <a:pt x="64" y="32"/>
                    </a:cubicBezTo>
                    <a:cubicBezTo>
                      <a:pt x="64" y="32"/>
                      <a:pt x="62" y="24"/>
                      <a:pt x="58" y="16"/>
                    </a:cubicBezTo>
                    <a:cubicBezTo>
                      <a:pt x="53" y="8"/>
                      <a:pt x="45" y="0"/>
                      <a:pt x="32" y="0"/>
                    </a:cubicBezTo>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9" name="Freeform: Shape 30"/>
              <p:cNvSpPr/>
              <p:nvPr/>
            </p:nvSpPr>
            <p:spPr bwMode="auto">
              <a:xfrm>
                <a:off x="5143344" y="5038865"/>
                <a:ext cx="65306" cy="184472"/>
              </a:xfrm>
              <a:custGeom>
                <a:avLst/>
                <a:gdLst>
                  <a:gd name="T0" fmla="*/ 7 w 41"/>
                  <a:gd name="T1" fmla="*/ 0 h 116"/>
                  <a:gd name="T2" fmla="*/ 0 w 41"/>
                  <a:gd name="T3" fmla="*/ 0 h 116"/>
                  <a:gd name="T4" fmla="*/ 0 w 41"/>
                  <a:gd name="T5" fmla="*/ 116 h 116"/>
                  <a:gd name="T6" fmla="*/ 6 w 41"/>
                  <a:gd name="T7" fmla="*/ 116 h 116"/>
                  <a:gd name="T8" fmla="*/ 41 w 41"/>
                  <a:gd name="T9" fmla="*/ 113 h 116"/>
                  <a:gd name="T10" fmla="*/ 41 w 41"/>
                  <a:gd name="T11" fmla="*/ 113 h 116"/>
                  <a:gd name="T12" fmla="*/ 7 w 41"/>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1" h="116">
                    <a:moveTo>
                      <a:pt x="7" y="0"/>
                    </a:moveTo>
                    <a:cubicBezTo>
                      <a:pt x="0" y="0"/>
                      <a:pt x="0" y="0"/>
                      <a:pt x="0" y="0"/>
                    </a:cubicBezTo>
                    <a:cubicBezTo>
                      <a:pt x="0" y="116"/>
                      <a:pt x="0" y="116"/>
                      <a:pt x="0" y="116"/>
                    </a:cubicBezTo>
                    <a:cubicBezTo>
                      <a:pt x="2" y="116"/>
                      <a:pt x="4" y="116"/>
                      <a:pt x="6" y="116"/>
                    </a:cubicBezTo>
                    <a:cubicBezTo>
                      <a:pt x="16" y="116"/>
                      <a:pt x="28" y="115"/>
                      <a:pt x="41" y="113"/>
                    </a:cubicBezTo>
                    <a:cubicBezTo>
                      <a:pt x="41" y="113"/>
                      <a:pt x="41" y="113"/>
                      <a:pt x="41" y="113"/>
                    </a:cubicBezTo>
                    <a:cubicBezTo>
                      <a:pt x="7" y="0"/>
                      <a:pt x="7" y="0"/>
                      <a:pt x="7" y="0"/>
                    </a:cubicBezTo>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0" name="Group 31"/>
            <p:cNvGrpSpPr/>
            <p:nvPr/>
          </p:nvGrpSpPr>
          <p:grpSpPr>
            <a:xfrm>
              <a:off x="13941" y="7361"/>
              <a:ext cx="489" cy="1776"/>
              <a:chOff x="5502862" y="5355294"/>
              <a:chExt cx="412706" cy="1502706"/>
            </a:xfrm>
          </p:grpSpPr>
          <p:sp>
            <p:nvSpPr>
              <p:cNvPr id="298"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9"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0"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1"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2"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3"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4"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5"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6"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7"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08"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1" name="Group 43"/>
            <p:cNvGrpSpPr/>
            <p:nvPr/>
          </p:nvGrpSpPr>
          <p:grpSpPr>
            <a:xfrm>
              <a:off x="15666" y="7367"/>
              <a:ext cx="482" cy="1776"/>
              <a:chOff x="6959786" y="5355294"/>
              <a:chExt cx="407320" cy="1502706"/>
            </a:xfrm>
          </p:grpSpPr>
          <p:sp>
            <p:nvSpPr>
              <p:cNvPr id="287"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8"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9"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0"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1"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2"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3"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4"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5"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6"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7"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2" name="Group 55"/>
            <p:cNvGrpSpPr/>
            <p:nvPr/>
          </p:nvGrpSpPr>
          <p:grpSpPr>
            <a:xfrm>
              <a:off x="14512" y="6073"/>
              <a:ext cx="477" cy="3058"/>
              <a:chOff x="6007804" y="4266641"/>
              <a:chExt cx="403952" cy="2588666"/>
            </a:xfrm>
          </p:grpSpPr>
          <p:sp>
            <p:nvSpPr>
              <p:cNvPr id="276"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7"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8"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9"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0"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1"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2"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3"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4"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5"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6"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3" name="Group 67"/>
            <p:cNvGrpSpPr/>
            <p:nvPr/>
          </p:nvGrpSpPr>
          <p:grpSpPr>
            <a:xfrm>
              <a:off x="15102" y="5420"/>
              <a:ext cx="485" cy="3713"/>
              <a:chOff x="6480429" y="3713225"/>
              <a:chExt cx="409339" cy="3142082"/>
            </a:xfrm>
          </p:grpSpPr>
          <p:sp>
            <p:nvSpPr>
              <p:cNvPr id="265"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6"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7"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8"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9"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0"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1"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2"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3"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4"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5"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4" name="Group 79"/>
            <p:cNvGrpSpPr/>
            <p:nvPr/>
          </p:nvGrpSpPr>
          <p:grpSpPr>
            <a:xfrm>
              <a:off x="13184" y="4346"/>
              <a:ext cx="1431" cy="1418"/>
              <a:chOff x="4883468" y="2805677"/>
              <a:chExt cx="1211858" cy="1200415"/>
            </a:xfrm>
          </p:grpSpPr>
          <p:sp>
            <p:nvSpPr>
              <p:cNvPr id="261" name="Freeform: Shape 80"/>
              <p:cNvSpPr/>
              <p:nvPr/>
            </p:nvSpPr>
            <p:spPr bwMode="auto">
              <a:xfrm>
                <a:off x="4964931" y="2888488"/>
                <a:ext cx="1130395" cy="1117604"/>
              </a:xfrm>
              <a:custGeom>
                <a:avLst/>
                <a:gdLst>
                  <a:gd name="T0" fmla="*/ 363 w 710"/>
                  <a:gd name="T1" fmla="*/ 0 h 702"/>
                  <a:gd name="T2" fmla="*/ 270 w 710"/>
                  <a:gd name="T3" fmla="*/ 13 h 702"/>
                  <a:gd name="T4" fmla="*/ 51 w 710"/>
                  <a:gd name="T5" fmla="*/ 418 h 702"/>
                  <a:gd name="T6" fmla="*/ 363 w 710"/>
                  <a:gd name="T7" fmla="*/ 651 h 702"/>
                  <a:gd name="T8" fmla="*/ 456 w 710"/>
                  <a:gd name="T9" fmla="*/ 637 h 702"/>
                  <a:gd name="T10" fmla="*/ 470 w 710"/>
                  <a:gd name="T11" fmla="*/ 633 h 702"/>
                  <a:gd name="T12" fmla="*/ 628 w 710"/>
                  <a:gd name="T13" fmla="*/ 702 h 702"/>
                  <a:gd name="T14" fmla="*/ 597 w 710"/>
                  <a:gd name="T15" fmla="*/ 551 h 702"/>
                  <a:gd name="T16" fmla="*/ 675 w 710"/>
                  <a:gd name="T17" fmla="*/ 232 h 702"/>
                  <a:gd name="T18" fmla="*/ 363 w 710"/>
                  <a:gd name="T19" fmla="*/ 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0" h="702">
                    <a:moveTo>
                      <a:pt x="363" y="0"/>
                    </a:moveTo>
                    <a:cubicBezTo>
                      <a:pt x="332" y="0"/>
                      <a:pt x="301" y="4"/>
                      <a:pt x="270" y="13"/>
                    </a:cubicBezTo>
                    <a:cubicBezTo>
                      <a:pt x="98" y="65"/>
                      <a:pt x="0" y="246"/>
                      <a:pt x="51" y="418"/>
                    </a:cubicBezTo>
                    <a:cubicBezTo>
                      <a:pt x="93" y="560"/>
                      <a:pt x="223" y="651"/>
                      <a:pt x="363" y="651"/>
                    </a:cubicBezTo>
                    <a:cubicBezTo>
                      <a:pt x="394" y="651"/>
                      <a:pt x="425" y="647"/>
                      <a:pt x="456" y="637"/>
                    </a:cubicBezTo>
                    <a:cubicBezTo>
                      <a:pt x="461" y="636"/>
                      <a:pt x="465" y="634"/>
                      <a:pt x="470" y="633"/>
                    </a:cubicBezTo>
                    <a:cubicBezTo>
                      <a:pt x="628" y="702"/>
                      <a:pt x="628" y="702"/>
                      <a:pt x="628" y="702"/>
                    </a:cubicBezTo>
                    <a:cubicBezTo>
                      <a:pt x="597" y="551"/>
                      <a:pt x="597" y="551"/>
                      <a:pt x="597" y="551"/>
                    </a:cubicBezTo>
                    <a:cubicBezTo>
                      <a:pt x="676" y="469"/>
                      <a:pt x="710" y="349"/>
                      <a:pt x="675" y="232"/>
                    </a:cubicBezTo>
                    <a:cubicBezTo>
                      <a:pt x="633" y="91"/>
                      <a:pt x="503" y="0"/>
                      <a:pt x="363"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2" name="Freeform: Shape 81"/>
              <p:cNvSpPr/>
              <p:nvPr/>
            </p:nvSpPr>
            <p:spPr bwMode="auto">
              <a:xfrm>
                <a:off x="4883468" y="2805677"/>
                <a:ext cx="1130395" cy="1178197"/>
              </a:xfrm>
              <a:custGeom>
                <a:avLst/>
                <a:gdLst>
                  <a:gd name="T0" fmla="*/ 675 w 710"/>
                  <a:gd name="T1" fmla="*/ 271 h 740"/>
                  <a:gd name="T2" fmla="*/ 270 w 710"/>
                  <a:gd name="T3" fmla="*/ 52 h 740"/>
                  <a:gd name="T4" fmla="*/ 52 w 710"/>
                  <a:gd name="T5" fmla="*/ 457 h 740"/>
                  <a:gd name="T6" fmla="*/ 456 w 710"/>
                  <a:gd name="T7" fmla="*/ 676 h 740"/>
                  <a:gd name="T8" fmla="*/ 471 w 710"/>
                  <a:gd name="T9" fmla="*/ 671 h 740"/>
                  <a:gd name="T10" fmla="*/ 628 w 710"/>
                  <a:gd name="T11" fmla="*/ 740 h 740"/>
                  <a:gd name="T12" fmla="*/ 598 w 710"/>
                  <a:gd name="T13" fmla="*/ 589 h 740"/>
                  <a:gd name="T14" fmla="*/ 675 w 710"/>
                  <a:gd name="T15" fmla="*/ 271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40">
                    <a:moveTo>
                      <a:pt x="675" y="271"/>
                    </a:moveTo>
                    <a:cubicBezTo>
                      <a:pt x="624" y="98"/>
                      <a:pt x="443" y="0"/>
                      <a:pt x="270" y="52"/>
                    </a:cubicBezTo>
                    <a:cubicBezTo>
                      <a:pt x="98" y="103"/>
                      <a:pt x="0" y="285"/>
                      <a:pt x="52" y="457"/>
                    </a:cubicBezTo>
                    <a:cubicBezTo>
                      <a:pt x="103" y="629"/>
                      <a:pt x="284" y="727"/>
                      <a:pt x="456" y="676"/>
                    </a:cubicBezTo>
                    <a:cubicBezTo>
                      <a:pt x="461" y="674"/>
                      <a:pt x="466" y="673"/>
                      <a:pt x="471" y="671"/>
                    </a:cubicBezTo>
                    <a:cubicBezTo>
                      <a:pt x="628" y="740"/>
                      <a:pt x="628" y="740"/>
                      <a:pt x="628" y="740"/>
                    </a:cubicBezTo>
                    <a:cubicBezTo>
                      <a:pt x="598" y="589"/>
                      <a:pt x="598" y="589"/>
                      <a:pt x="598" y="589"/>
                    </a:cubicBezTo>
                    <a:cubicBezTo>
                      <a:pt x="676" y="508"/>
                      <a:pt x="710" y="387"/>
                      <a:pt x="675" y="271"/>
                    </a:cubicBezTo>
                    <a:close/>
                  </a:path>
                </a:pathLst>
              </a:custGeom>
              <a:solidFill>
                <a:schemeClr val="accent3"/>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3" name="Freeform: Shape 82"/>
              <p:cNvSpPr/>
              <p:nvPr/>
            </p:nvSpPr>
            <p:spPr bwMode="auto">
              <a:xfrm>
                <a:off x="5276649" y="3155770"/>
                <a:ext cx="407993" cy="299599"/>
              </a:xfrm>
              <a:custGeom>
                <a:avLst/>
                <a:gdLst>
                  <a:gd name="T0" fmla="*/ 256 w 256"/>
                  <a:gd name="T1" fmla="*/ 7 h 188"/>
                  <a:gd name="T2" fmla="*/ 249 w 256"/>
                  <a:gd name="T3" fmla="*/ 0 h 188"/>
                  <a:gd name="T4" fmla="*/ 7 w 256"/>
                  <a:gd name="T5" fmla="*/ 0 h 188"/>
                  <a:gd name="T6" fmla="*/ 0 w 256"/>
                  <a:gd name="T7" fmla="*/ 7 h 188"/>
                  <a:gd name="T8" fmla="*/ 0 w 256"/>
                  <a:gd name="T9" fmla="*/ 181 h 188"/>
                  <a:gd name="T10" fmla="*/ 7 w 256"/>
                  <a:gd name="T11" fmla="*/ 188 h 188"/>
                  <a:gd name="T12" fmla="*/ 249 w 256"/>
                  <a:gd name="T13" fmla="*/ 188 h 188"/>
                  <a:gd name="T14" fmla="*/ 256 w 256"/>
                  <a:gd name="T15" fmla="*/ 181 h 188"/>
                  <a:gd name="T16" fmla="*/ 256 w 256"/>
                  <a:gd name="T17" fmla="*/ 7 h 188"/>
                  <a:gd name="T18" fmla="*/ 219 w 256"/>
                  <a:gd name="T19" fmla="*/ 155 h 188"/>
                  <a:gd name="T20" fmla="*/ 214 w 256"/>
                  <a:gd name="T21" fmla="*/ 160 h 188"/>
                  <a:gd name="T22" fmla="*/ 37 w 256"/>
                  <a:gd name="T23" fmla="*/ 160 h 188"/>
                  <a:gd name="T24" fmla="*/ 32 w 256"/>
                  <a:gd name="T25" fmla="*/ 155 h 188"/>
                  <a:gd name="T26" fmla="*/ 32 w 256"/>
                  <a:gd name="T27" fmla="*/ 29 h 188"/>
                  <a:gd name="T28" fmla="*/ 37 w 256"/>
                  <a:gd name="T29" fmla="*/ 24 h 188"/>
                  <a:gd name="T30" fmla="*/ 214 w 256"/>
                  <a:gd name="T31" fmla="*/ 24 h 188"/>
                  <a:gd name="T32" fmla="*/ 219 w 256"/>
                  <a:gd name="T33" fmla="*/ 29 h 188"/>
                  <a:gd name="T34" fmla="*/ 219 w 256"/>
                  <a:gd name="T35" fmla="*/ 15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88">
                    <a:moveTo>
                      <a:pt x="256" y="7"/>
                    </a:moveTo>
                    <a:cubicBezTo>
                      <a:pt x="256" y="3"/>
                      <a:pt x="253" y="0"/>
                      <a:pt x="249" y="0"/>
                    </a:cubicBezTo>
                    <a:cubicBezTo>
                      <a:pt x="7" y="0"/>
                      <a:pt x="7" y="0"/>
                      <a:pt x="7" y="0"/>
                    </a:cubicBezTo>
                    <a:cubicBezTo>
                      <a:pt x="3" y="0"/>
                      <a:pt x="0" y="3"/>
                      <a:pt x="0" y="7"/>
                    </a:cubicBezTo>
                    <a:cubicBezTo>
                      <a:pt x="0" y="181"/>
                      <a:pt x="0" y="181"/>
                      <a:pt x="0" y="181"/>
                    </a:cubicBezTo>
                    <a:cubicBezTo>
                      <a:pt x="0" y="185"/>
                      <a:pt x="3" y="188"/>
                      <a:pt x="7" y="188"/>
                    </a:cubicBezTo>
                    <a:cubicBezTo>
                      <a:pt x="249" y="188"/>
                      <a:pt x="249" y="188"/>
                      <a:pt x="249" y="188"/>
                    </a:cubicBezTo>
                    <a:cubicBezTo>
                      <a:pt x="253" y="188"/>
                      <a:pt x="256" y="185"/>
                      <a:pt x="256" y="181"/>
                    </a:cubicBezTo>
                    <a:lnTo>
                      <a:pt x="256" y="7"/>
                    </a:lnTo>
                    <a:close/>
                    <a:moveTo>
                      <a:pt x="219" y="155"/>
                    </a:moveTo>
                    <a:cubicBezTo>
                      <a:pt x="219" y="158"/>
                      <a:pt x="217" y="160"/>
                      <a:pt x="214" y="160"/>
                    </a:cubicBezTo>
                    <a:cubicBezTo>
                      <a:pt x="37" y="160"/>
                      <a:pt x="37" y="160"/>
                      <a:pt x="37" y="160"/>
                    </a:cubicBezTo>
                    <a:cubicBezTo>
                      <a:pt x="34" y="160"/>
                      <a:pt x="32" y="158"/>
                      <a:pt x="32" y="155"/>
                    </a:cubicBezTo>
                    <a:cubicBezTo>
                      <a:pt x="32" y="29"/>
                      <a:pt x="32" y="29"/>
                      <a:pt x="32" y="29"/>
                    </a:cubicBezTo>
                    <a:cubicBezTo>
                      <a:pt x="32" y="26"/>
                      <a:pt x="34" y="24"/>
                      <a:pt x="37" y="24"/>
                    </a:cubicBezTo>
                    <a:cubicBezTo>
                      <a:pt x="214" y="24"/>
                      <a:pt x="214" y="24"/>
                      <a:pt x="214" y="24"/>
                    </a:cubicBezTo>
                    <a:cubicBezTo>
                      <a:pt x="217" y="24"/>
                      <a:pt x="219" y="26"/>
                      <a:pt x="219" y="29"/>
                    </a:cubicBezTo>
                    <a:lnTo>
                      <a:pt x="219" y="155"/>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4" name="Freeform: Shape 83"/>
              <p:cNvSpPr/>
              <p:nvPr/>
            </p:nvSpPr>
            <p:spPr bwMode="auto">
              <a:xfrm>
                <a:off x="5191145" y="3474220"/>
                <a:ext cx="578999" cy="127245"/>
              </a:xfrm>
              <a:custGeom>
                <a:avLst/>
                <a:gdLst>
                  <a:gd name="T0" fmla="*/ 317 w 364"/>
                  <a:gd name="T1" fmla="*/ 7 h 80"/>
                  <a:gd name="T2" fmla="*/ 310 w 364"/>
                  <a:gd name="T3" fmla="*/ 0 h 80"/>
                  <a:gd name="T4" fmla="*/ 54 w 364"/>
                  <a:gd name="T5" fmla="*/ 0 h 80"/>
                  <a:gd name="T6" fmla="*/ 47 w 364"/>
                  <a:gd name="T7" fmla="*/ 7 h 80"/>
                  <a:gd name="T8" fmla="*/ 0 w 364"/>
                  <a:gd name="T9" fmla="*/ 74 h 80"/>
                  <a:gd name="T10" fmla="*/ 7 w 364"/>
                  <a:gd name="T11" fmla="*/ 80 h 80"/>
                  <a:gd name="T12" fmla="*/ 357 w 364"/>
                  <a:gd name="T13" fmla="*/ 80 h 80"/>
                  <a:gd name="T14" fmla="*/ 364 w 364"/>
                  <a:gd name="T15" fmla="*/ 74 h 80"/>
                  <a:gd name="T16" fmla="*/ 317 w 364"/>
                  <a:gd name="T17" fmla="*/ 7 h 80"/>
                  <a:gd name="T18" fmla="*/ 162 w 364"/>
                  <a:gd name="T19" fmla="*/ 75 h 80"/>
                  <a:gd name="T20" fmla="*/ 162 w 364"/>
                  <a:gd name="T21" fmla="*/ 60 h 80"/>
                  <a:gd name="T22" fmla="*/ 203 w 364"/>
                  <a:gd name="T23" fmla="*/ 60 h 80"/>
                  <a:gd name="T24" fmla="*/ 205 w 364"/>
                  <a:gd name="T25" fmla="*/ 74 h 80"/>
                  <a:gd name="T26" fmla="*/ 162 w 364"/>
                  <a:gd name="T27" fmla="*/ 75 h 80"/>
                  <a:gd name="T28" fmla="*/ 322 w 364"/>
                  <a:gd name="T29" fmla="*/ 56 h 80"/>
                  <a:gd name="T30" fmla="*/ 46 w 364"/>
                  <a:gd name="T31" fmla="*/ 56 h 80"/>
                  <a:gd name="T32" fmla="*/ 41 w 364"/>
                  <a:gd name="T33" fmla="*/ 52 h 80"/>
                  <a:gd name="T34" fmla="*/ 60 w 364"/>
                  <a:gd name="T35" fmla="*/ 12 h 80"/>
                  <a:gd name="T36" fmla="*/ 65 w 364"/>
                  <a:gd name="T37" fmla="*/ 8 h 80"/>
                  <a:gd name="T38" fmla="*/ 299 w 364"/>
                  <a:gd name="T39" fmla="*/ 8 h 80"/>
                  <a:gd name="T40" fmla="*/ 304 w 364"/>
                  <a:gd name="T41" fmla="*/ 11 h 80"/>
                  <a:gd name="T42" fmla="*/ 328 w 364"/>
                  <a:gd name="T43" fmla="*/ 52 h 80"/>
                  <a:gd name="T44" fmla="*/ 322 w 364"/>
                  <a:gd name="T45" fmla="*/ 5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4" h="80">
                    <a:moveTo>
                      <a:pt x="317" y="7"/>
                    </a:moveTo>
                    <a:cubicBezTo>
                      <a:pt x="317" y="3"/>
                      <a:pt x="314" y="0"/>
                      <a:pt x="310" y="0"/>
                    </a:cubicBezTo>
                    <a:cubicBezTo>
                      <a:pt x="54" y="0"/>
                      <a:pt x="54" y="0"/>
                      <a:pt x="54" y="0"/>
                    </a:cubicBezTo>
                    <a:cubicBezTo>
                      <a:pt x="50" y="0"/>
                      <a:pt x="47" y="3"/>
                      <a:pt x="47" y="7"/>
                    </a:cubicBezTo>
                    <a:cubicBezTo>
                      <a:pt x="0" y="74"/>
                      <a:pt x="0" y="74"/>
                      <a:pt x="0" y="74"/>
                    </a:cubicBezTo>
                    <a:cubicBezTo>
                      <a:pt x="0" y="78"/>
                      <a:pt x="3" y="80"/>
                      <a:pt x="7" y="80"/>
                    </a:cubicBezTo>
                    <a:cubicBezTo>
                      <a:pt x="357" y="80"/>
                      <a:pt x="357" y="80"/>
                      <a:pt x="357" y="80"/>
                    </a:cubicBezTo>
                    <a:cubicBezTo>
                      <a:pt x="361" y="80"/>
                      <a:pt x="364" y="78"/>
                      <a:pt x="364" y="74"/>
                    </a:cubicBezTo>
                    <a:lnTo>
                      <a:pt x="317" y="7"/>
                    </a:lnTo>
                    <a:close/>
                    <a:moveTo>
                      <a:pt x="162" y="75"/>
                    </a:moveTo>
                    <a:cubicBezTo>
                      <a:pt x="162" y="60"/>
                      <a:pt x="162" y="60"/>
                      <a:pt x="162" y="60"/>
                    </a:cubicBezTo>
                    <a:cubicBezTo>
                      <a:pt x="203" y="60"/>
                      <a:pt x="203" y="60"/>
                      <a:pt x="203" y="60"/>
                    </a:cubicBezTo>
                    <a:cubicBezTo>
                      <a:pt x="205" y="74"/>
                      <a:pt x="205" y="74"/>
                      <a:pt x="205" y="74"/>
                    </a:cubicBezTo>
                    <a:lnTo>
                      <a:pt x="162" y="75"/>
                    </a:lnTo>
                    <a:close/>
                    <a:moveTo>
                      <a:pt x="322" y="56"/>
                    </a:moveTo>
                    <a:cubicBezTo>
                      <a:pt x="46" y="56"/>
                      <a:pt x="46" y="56"/>
                      <a:pt x="46" y="56"/>
                    </a:cubicBezTo>
                    <a:cubicBezTo>
                      <a:pt x="43" y="56"/>
                      <a:pt x="41" y="54"/>
                      <a:pt x="41" y="52"/>
                    </a:cubicBezTo>
                    <a:cubicBezTo>
                      <a:pt x="60" y="12"/>
                      <a:pt x="60" y="12"/>
                      <a:pt x="60" y="12"/>
                    </a:cubicBezTo>
                    <a:cubicBezTo>
                      <a:pt x="60" y="10"/>
                      <a:pt x="62" y="8"/>
                      <a:pt x="65" y="8"/>
                    </a:cubicBezTo>
                    <a:cubicBezTo>
                      <a:pt x="299" y="8"/>
                      <a:pt x="299" y="8"/>
                      <a:pt x="299" y="8"/>
                    </a:cubicBezTo>
                    <a:cubicBezTo>
                      <a:pt x="301" y="8"/>
                      <a:pt x="304" y="9"/>
                      <a:pt x="304" y="11"/>
                    </a:cubicBezTo>
                    <a:cubicBezTo>
                      <a:pt x="328" y="52"/>
                      <a:pt x="328" y="52"/>
                      <a:pt x="328" y="52"/>
                    </a:cubicBezTo>
                    <a:cubicBezTo>
                      <a:pt x="328" y="54"/>
                      <a:pt x="325" y="56"/>
                      <a:pt x="322" y="56"/>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5" name="Group 84"/>
            <p:cNvGrpSpPr/>
            <p:nvPr/>
          </p:nvGrpSpPr>
          <p:grpSpPr>
            <a:xfrm>
              <a:off x="13440" y="5878"/>
              <a:ext cx="872" cy="1030"/>
              <a:chOff x="5100256" y="4103040"/>
              <a:chExt cx="738560" cy="871865"/>
            </a:xfrm>
          </p:grpSpPr>
          <p:sp>
            <p:nvSpPr>
              <p:cNvPr id="253" name="Freeform: Shape 85"/>
              <p:cNvSpPr/>
              <p:nvPr/>
            </p:nvSpPr>
            <p:spPr bwMode="auto">
              <a:xfrm>
                <a:off x="5125839" y="4141415"/>
                <a:ext cx="712977" cy="833490"/>
              </a:xfrm>
              <a:custGeom>
                <a:avLst/>
                <a:gdLst>
                  <a:gd name="T0" fmla="*/ 224 w 448"/>
                  <a:gd name="T1" fmla="*/ 0 h 524"/>
                  <a:gd name="T2" fmla="*/ 0 w 448"/>
                  <a:gd name="T3" fmla="*/ 224 h 524"/>
                  <a:gd name="T4" fmla="*/ 224 w 448"/>
                  <a:gd name="T5" fmla="*/ 448 h 524"/>
                  <a:gd name="T6" fmla="*/ 234 w 448"/>
                  <a:gd name="T7" fmla="*/ 448 h 524"/>
                  <a:gd name="T8" fmla="*/ 324 w 448"/>
                  <a:gd name="T9" fmla="*/ 524 h 524"/>
                  <a:gd name="T10" fmla="*/ 334 w 448"/>
                  <a:gd name="T11" fmla="*/ 419 h 524"/>
                  <a:gd name="T12" fmla="*/ 448 w 448"/>
                  <a:gd name="T13" fmla="*/ 224 h 524"/>
                  <a:gd name="T14" fmla="*/ 224 w 448"/>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224" y="0"/>
                    </a:move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ubicBezTo>
                      <a:pt x="448" y="100"/>
                      <a:pt x="348" y="0"/>
                      <a:pt x="224"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4" name="Freeform: Shape 86"/>
              <p:cNvSpPr/>
              <p:nvPr/>
            </p:nvSpPr>
            <p:spPr bwMode="auto">
              <a:xfrm>
                <a:off x="5100256" y="4103040"/>
                <a:ext cx="712977" cy="834163"/>
              </a:xfrm>
              <a:custGeom>
                <a:avLst/>
                <a:gdLst>
                  <a:gd name="T0" fmla="*/ 448 w 448"/>
                  <a:gd name="T1" fmla="*/ 224 h 524"/>
                  <a:gd name="T2" fmla="*/ 224 w 448"/>
                  <a:gd name="T3" fmla="*/ 0 h 524"/>
                  <a:gd name="T4" fmla="*/ 0 w 448"/>
                  <a:gd name="T5" fmla="*/ 224 h 524"/>
                  <a:gd name="T6" fmla="*/ 224 w 448"/>
                  <a:gd name="T7" fmla="*/ 448 h 524"/>
                  <a:gd name="T8" fmla="*/ 234 w 448"/>
                  <a:gd name="T9" fmla="*/ 448 h 524"/>
                  <a:gd name="T10" fmla="*/ 324 w 448"/>
                  <a:gd name="T11" fmla="*/ 524 h 524"/>
                  <a:gd name="T12" fmla="*/ 334 w 448"/>
                  <a:gd name="T13" fmla="*/ 419 h 524"/>
                  <a:gd name="T14" fmla="*/ 448 w 448"/>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448" y="224"/>
                    </a:moveTo>
                    <a:cubicBezTo>
                      <a:pt x="448" y="100"/>
                      <a:pt x="348" y="0"/>
                      <a:pt x="224" y="0"/>
                    </a:cubicBez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lose/>
                  </a:path>
                </a:pathLst>
              </a:custGeom>
              <a:solidFill>
                <a:schemeClr val="accent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5" name="Freeform: Shape 87"/>
              <p:cNvSpPr/>
              <p:nvPr/>
            </p:nvSpPr>
            <p:spPr bwMode="auto">
              <a:xfrm>
                <a:off x="5361479" y="4274720"/>
                <a:ext cx="205343" cy="388468"/>
              </a:xfrm>
              <a:custGeom>
                <a:avLst/>
                <a:gdLst>
                  <a:gd name="T0" fmla="*/ 8 w 129"/>
                  <a:gd name="T1" fmla="*/ 244 h 244"/>
                  <a:gd name="T2" fmla="*/ 8 w 129"/>
                  <a:gd name="T3" fmla="*/ 244 h 244"/>
                  <a:gd name="T4" fmla="*/ 0 w 129"/>
                  <a:gd name="T5" fmla="*/ 236 h 244"/>
                  <a:gd name="T6" fmla="*/ 67 w 129"/>
                  <a:gd name="T7" fmla="*/ 163 h 244"/>
                  <a:gd name="T8" fmla="*/ 112 w 129"/>
                  <a:gd name="T9" fmla="*/ 119 h 244"/>
                  <a:gd name="T10" fmla="*/ 64 w 129"/>
                  <a:gd name="T11" fmla="*/ 75 h 244"/>
                  <a:gd name="T12" fmla="*/ 3 w 129"/>
                  <a:gd name="T13" fmla="*/ 7 h 244"/>
                  <a:gd name="T14" fmla="*/ 12 w 129"/>
                  <a:gd name="T15" fmla="*/ 0 h 244"/>
                  <a:gd name="T16" fmla="*/ 19 w 129"/>
                  <a:gd name="T17" fmla="*/ 9 h 244"/>
                  <a:gd name="T18" fmla="*/ 71 w 129"/>
                  <a:gd name="T19" fmla="*/ 61 h 244"/>
                  <a:gd name="T20" fmla="*/ 127 w 129"/>
                  <a:gd name="T21" fmla="*/ 119 h 244"/>
                  <a:gd name="T22" fmla="*/ 72 w 129"/>
                  <a:gd name="T23" fmla="*/ 178 h 244"/>
                  <a:gd name="T24" fmla="*/ 16 w 129"/>
                  <a:gd name="T25" fmla="*/ 237 h 244"/>
                  <a:gd name="T26" fmla="*/ 8 w 129"/>
                  <a:gd name="T2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244">
                    <a:moveTo>
                      <a:pt x="8" y="244"/>
                    </a:moveTo>
                    <a:cubicBezTo>
                      <a:pt x="8" y="244"/>
                      <a:pt x="8" y="244"/>
                      <a:pt x="8" y="244"/>
                    </a:cubicBezTo>
                    <a:cubicBezTo>
                      <a:pt x="3" y="244"/>
                      <a:pt x="0" y="240"/>
                      <a:pt x="0" y="236"/>
                    </a:cubicBezTo>
                    <a:cubicBezTo>
                      <a:pt x="4" y="186"/>
                      <a:pt x="39" y="174"/>
                      <a:pt x="67" y="163"/>
                    </a:cubicBezTo>
                    <a:cubicBezTo>
                      <a:pt x="95" y="153"/>
                      <a:pt x="112" y="146"/>
                      <a:pt x="112" y="119"/>
                    </a:cubicBezTo>
                    <a:cubicBezTo>
                      <a:pt x="113" y="98"/>
                      <a:pt x="94" y="88"/>
                      <a:pt x="64" y="75"/>
                    </a:cubicBezTo>
                    <a:cubicBezTo>
                      <a:pt x="34" y="63"/>
                      <a:pt x="0" y="48"/>
                      <a:pt x="3" y="7"/>
                    </a:cubicBezTo>
                    <a:cubicBezTo>
                      <a:pt x="4" y="3"/>
                      <a:pt x="8" y="0"/>
                      <a:pt x="12" y="0"/>
                    </a:cubicBezTo>
                    <a:cubicBezTo>
                      <a:pt x="16" y="0"/>
                      <a:pt x="20" y="4"/>
                      <a:pt x="19" y="9"/>
                    </a:cubicBezTo>
                    <a:cubicBezTo>
                      <a:pt x="17" y="36"/>
                      <a:pt x="37" y="46"/>
                      <a:pt x="71" y="61"/>
                    </a:cubicBezTo>
                    <a:cubicBezTo>
                      <a:pt x="98" y="73"/>
                      <a:pt x="129" y="86"/>
                      <a:pt x="127" y="119"/>
                    </a:cubicBezTo>
                    <a:cubicBezTo>
                      <a:pt x="127" y="158"/>
                      <a:pt x="98" y="169"/>
                      <a:pt x="72" y="178"/>
                    </a:cubicBezTo>
                    <a:cubicBezTo>
                      <a:pt x="45" y="188"/>
                      <a:pt x="19" y="198"/>
                      <a:pt x="16" y="237"/>
                    </a:cubicBezTo>
                    <a:cubicBezTo>
                      <a:pt x="16" y="241"/>
                      <a:pt x="12" y="244"/>
                      <a:pt x="8"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6" name="Freeform: Shape 88"/>
              <p:cNvSpPr/>
              <p:nvPr/>
            </p:nvSpPr>
            <p:spPr bwMode="auto">
              <a:xfrm>
                <a:off x="5359459" y="4274720"/>
                <a:ext cx="205343" cy="388468"/>
              </a:xfrm>
              <a:custGeom>
                <a:avLst/>
                <a:gdLst>
                  <a:gd name="T0" fmla="*/ 121 w 129"/>
                  <a:gd name="T1" fmla="*/ 244 h 244"/>
                  <a:gd name="T2" fmla="*/ 113 w 129"/>
                  <a:gd name="T3" fmla="*/ 237 h 244"/>
                  <a:gd name="T4" fmla="*/ 57 w 129"/>
                  <a:gd name="T5" fmla="*/ 178 h 244"/>
                  <a:gd name="T6" fmla="*/ 1 w 129"/>
                  <a:gd name="T7" fmla="*/ 119 h 244"/>
                  <a:gd name="T8" fmla="*/ 58 w 129"/>
                  <a:gd name="T9" fmla="*/ 61 h 244"/>
                  <a:gd name="T10" fmla="*/ 110 w 129"/>
                  <a:gd name="T11" fmla="*/ 9 h 244"/>
                  <a:gd name="T12" fmla="*/ 117 w 129"/>
                  <a:gd name="T13" fmla="*/ 0 h 244"/>
                  <a:gd name="T14" fmla="*/ 126 w 129"/>
                  <a:gd name="T15" fmla="*/ 7 h 244"/>
                  <a:gd name="T16" fmla="*/ 64 w 129"/>
                  <a:gd name="T17" fmla="*/ 75 h 244"/>
                  <a:gd name="T18" fmla="*/ 17 w 129"/>
                  <a:gd name="T19" fmla="*/ 119 h 244"/>
                  <a:gd name="T20" fmla="*/ 62 w 129"/>
                  <a:gd name="T21" fmla="*/ 163 h 244"/>
                  <a:gd name="T22" fmla="*/ 129 w 129"/>
                  <a:gd name="T23" fmla="*/ 236 h 244"/>
                  <a:gd name="T24" fmla="*/ 121 w 129"/>
                  <a:gd name="T25"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244">
                    <a:moveTo>
                      <a:pt x="121" y="244"/>
                    </a:moveTo>
                    <a:cubicBezTo>
                      <a:pt x="116" y="244"/>
                      <a:pt x="113" y="241"/>
                      <a:pt x="113" y="237"/>
                    </a:cubicBezTo>
                    <a:cubicBezTo>
                      <a:pt x="110" y="198"/>
                      <a:pt x="84" y="188"/>
                      <a:pt x="57" y="178"/>
                    </a:cubicBezTo>
                    <a:cubicBezTo>
                      <a:pt x="31" y="169"/>
                      <a:pt x="1" y="158"/>
                      <a:pt x="1" y="119"/>
                    </a:cubicBezTo>
                    <a:cubicBezTo>
                      <a:pt x="0" y="86"/>
                      <a:pt x="31" y="73"/>
                      <a:pt x="58" y="61"/>
                    </a:cubicBezTo>
                    <a:cubicBezTo>
                      <a:pt x="92" y="46"/>
                      <a:pt x="112" y="36"/>
                      <a:pt x="110" y="9"/>
                    </a:cubicBezTo>
                    <a:cubicBezTo>
                      <a:pt x="109" y="4"/>
                      <a:pt x="113" y="0"/>
                      <a:pt x="117" y="0"/>
                    </a:cubicBezTo>
                    <a:cubicBezTo>
                      <a:pt x="121" y="0"/>
                      <a:pt x="125" y="3"/>
                      <a:pt x="126" y="7"/>
                    </a:cubicBezTo>
                    <a:cubicBezTo>
                      <a:pt x="129" y="48"/>
                      <a:pt x="95" y="63"/>
                      <a:pt x="64" y="75"/>
                    </a:cubicBezTo>
                    <a:cubicBezTo>
                      <a:pt x="34" y="88"/>
                      <a:pt x="16" y="98"/>
                      <a:pt x="17" y="119"/>
                    </a:cubicBezTo>
                    <a:cubicBezTo>
                      <a:pt x="17" y="146"/>
                      <a:pt x="34" y="153"/>
                      <a:pt x="62" y="163"/>
                    </a:cubicBezTo>
                    <a:cubicBezTo>
                      <a:pt x="90" y="174"/>
                      <a:pt x="125" y="186"/>
                      <a:pt x="129" y="236"/>
                    </a:cubicBezTo>
                    <a:cubicBezTo>
                      <a:pt x="129" y="240"/>
                      <a:pt x="126" y="244"/>
                      <a:pt x="121"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7" name="Freeform: Shape 89"/>
              <p:cNvSpPr/>
              <p:nvPr/>
            </p:nvSpPr>
            <p:spPr bwMode="auto">
              <a:xfrm>
                <a:off x="5407260" y="4301650"/>
                <a:ext cx="116473" cy="19524"/>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8" name="Freeform: Shape 90"/>
              <p:cNvSpPr/>
              <p:nvPr/>
            </p:nvSpPr>
            <p:spPr bwMode="auto">
              <a:xfrm>
                <a:off x="5407260" y="4614041"/>
                <a:ext cx="116473" cy="12792"/>
              </a:xfrm>
              <a:custGeom>
                <a:avLst/>
                <a:gdLst>
                  <a:gd name="T0" fmla="*/ 68 w 73"/>
                  <a:gd name="T1" fmla="*/ 8 h 8"/>
                  <a:gd name="T2" fmla="*/ 5 w 73"/>
                  <a:gd name="T3" fmla="*/ 8 h 8"/>
                  <a:gd name="T4" fmla="*/ 0 w 73"/>
                  <a:gd name="T5" fmla="*/ 4 h 8"/>
                  <a:gd name="T6" fmla="*/ 5 w 73"/>
                  <a:gd name="T7" fmla="*/ 0 h 8"/>
                  <a:gd name="T8" fmla="*/ 68 w 73"/>
                  <a:gd name="T9" fmla="*/ 0 h 8"/>
                  <a:gd name="T10" fmla="*/ 73 w 73"/>
                  <a:gd name="T11" fmla="*/ 4 h 8"/>
                  <a:gd name="T12" fmla="*/ 68 w 7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3" h="8">
                    <a:moveTo>
                      <a:pt x="68" y="8"/>
                    </a:moveTo>
                    <a:cubicBezTo>
                      <a:pt x="5" y="8"/>
                      <a:pt x="5" y="8"/>
                      <a:pt x="5" y="8"/>
                    </a:cubicBezTo>
                    <a:cubicBezTo>
                      <a:pt x="2" y="8"/>
                      <a:pt x="0" y="7"/>
                      <a:pt x="0" y="4"/>
                    </a:cubicBezTo>
                    <a:cubicBezTo>
                      <a:pt x="0" y="1"/>
                      <a:pt x="2" y="0"/>
                      <a:pt x="5" y="0"/>
                    </a:cubicBezTo>
                    <a:cubicBezTo>
                      <a:pt x="68" y="0"/>
                      <a:pt x="68" y="0"/>
                      <a:pt x="68" y="0"/>
                    </a:cubicBezTo>
                    <a:cubicBezTo>
                      <a:pt x="71" y="0"/>
                      <a:pt x="73" y="1"/>
                      <a:pt x="73" y="4"/>
                    </a:cubicBezTo>
                    <a:cubicBezTo>
                      <a:pt x="73" y="7"/>
                      <a:pt x="71" y="8"/>
                      <a:pt x="68" y="8"/>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9" name="Freeform: Shape 91"/>
              <p:cNvSpPr/>
              <p:nvPr/>
            </p:nvSpPr>
            <p:spPr bwMode="auto">
              <a:xfrm>
                <a:off x="5407260" y="4429569"/>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0" name="Freeform: Shape 92"/>
              <p:cNvSpPr/>
              <p:nvPr/>
            </p:nvSpPr>
            <p:spPr bwMode="auto">
              <a:xfrm>
                <a:off x="5407260" y="4474003"/>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6" name="Group 93"/>
            <p:cNvGrpSpPr/>
            <p:nvPr/>
          </p:nvGrpSpPr>
          <p:grpSpPr>
            <a:xfrm>
              <a:off x="15582" y="3900"/>
              <a:ext cx="1613" cy="1752"/>
              <a:chOff x="6908619" y="2428654"/>
              <a:chExt cx="1364688" cy="1483182"/>
            </a:xfrm>
          </p:grpSpPr>
          <p:sp>
            <p:nvSpPr>
              <p:cNvPr id="248" name="Freeform: Shape 94"/>
              <p:cNvSpPr/>
              <p:nvPr/>
            </p:nvSpPr>
            <p:spPr bwMode="auto">
              <a:xfrm>
                <a:off x="6908619" y="2555900"/>
                <a:ext cx="1320253" cy="1355936"/>
              </a:xfrm>
              <a:custGeom>
                <a:avLst/>
                <a:gdLst>
                  <a:gd name="T0" fmla="*/ 407 w 829"/>
                  <a:gd name="T1" fmla="*/ 0 h 852"/>
                  <a:gd name="T2" fmla="*/ 31 w 829"/>
                  <a:gd name="T3" fmla="*/ 301 h 852"/>
                  <a:gd name="T4" fmla="*/ 149 w 829"/>
                  <a:gd name="T5" fmla="*/ 671 h 852"/>
                  <a:gd name="T6" fmla="*/ 125 w 829"/>
                  <a:gd name="T7" fmla="*/ 852 h 852"/>
                  <a:gd name="T8" fmla="*/ 306 w 829"/>
                  <a:gd name="T9" fmla="*/ 757 h 852"/>
                  <a:gd name="T10" fmla="*/ 323 w 829"/>
                  <a:gd name="T11" fmla="*/ 761 h 852"/>
                  <a:gd name="T12" fmla="*/ 408 w 829"/>
                  <a:gd name="T13" fmla="*/ 771 h 852"/>
                  <a:gd name="T14" fmla="*/ 783 w 829"/>
                  <a:gd name="T15" fmla="*/ 470 h 852"/>
                  <a:gd name="T16" fmla="*/ 491 w 829"/>
                  <a:gd name="T17" fmla="*/ 10 h 852"/>
                  <a:gd name="T18" fmla="*/ 407 w 829"/>
                  <a:gd name="T19" fmla="*/ 0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852">
                    <a:moveTo>
                      <a:pt x="407" y="0"/>
                    </a:moveTo>
                    <a:cubicBezTo>
                      <a:pt x="231" y="0"/>
                      <a:pt x="72" y="122"/>
                      <a:pt x="31" y="301"/>
                    </a:cubicBezTo>
                    <a:cubicBezTo>
                      <a:pt x="0" y="442"/>
                      <a:pt x="49" y="581"/>
                      <a:pt x="149" y="671"/>
                    </a:cubicBezTo>
                    <a:cubicBezTo>
                      <a:pt x="125" y="852"/>
                      <a:pt x="125" y="852"/>
                      <a:pt x="125" y="852"/>
                    </a:cubicBezTo>
                    <a:cubicBezTo>
                      <a:pt x="306" y="757"/>
                      <a:pt x="306" y="757"/>
                      <a:pt x="306" y="757"/>
                    </a:cubicBezTo>
                    <a:cubicBezTo>
                      <a:pt x="312" y="759"/>
                      <a:pt x="317" y="760"/>
                      <a:pt x="323" y="761"/>
                    </a:cubicBezTo>
                    <a:cubicBezTo>
                      <a:pt x="351" y="768"/>
                      <a:pt x="380" y="771"/>
                      <a:pt x="408" y="771"/>
                    </a:cubicBezTo>
                    <a:cubicBezTo>
                      <a:pt x="584" y="771"/>
                      <a:pt x="743" y="649"/>
                      <a:pt x="783" y="470"/>
                    </a:cubicBezTo>
                    <a:cubicBezTo>
                      <a:pt x="829" y="262"/>
                      <a:pt x="699" y="56"/>
                      <a:pt x="491" y="10"/>
                    </a:cubicBezTo>
                    <a:cubicBezTo>
                      <a:pt x="463" y="4"/>
                      <a:pt x="435" y="0"/>
                      <a:pt x="4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9" name="Freeform: Shape 95"/>
              <p:cNvSpPr/>
              <p:nvPr/>
            </p:nvSpPr>
            <p:spPr bwMode="auto">
              <a:xfrm>
                <a:off x="6951707" y="2428654"/>
                <a:ext cx="1321600" cy="1413163"/>
              </a:xfrm>
              <a:custGeom>
                <a:avLst/>
                <a:gdLst>
                  <a:gd name="T0" fmla="*/ 492 w 830"/>
                  <a:gd name="T1" fmla="*/ 46 h 888"/>
                  <a:gd name="T2" fmla="*/ 32 w 830"/>
                  <a:gd name="T3" fmla="*/ 338 h 888"/>
                  <a:gd name="T4" fmla="*/ 149 w 830"/>
                  <a:gd name="T5" fmla="*/ 708 h 888"/>
                  <a:gd name="T6" fmla="*/ 126 w 830"/>
                  <a:gd name="T7" fmla="*/ 888 h 888"/>
                  <a:gd name="T8" fmla="*/ 306 w 830"/>
                  <a:gd name="T9" fmla="*/ 793 h 888"/>
                  <a:gd name="T10" fmla="*/ 323 w 830"/>
                  <a:gd name="T11" fmla="*/ 798 h 888"/>
                  <a:gd name="T12" fmla="*/ 783 w 830"/>
                  <a:gd name="T13" fmla="*/ 506 h 888"/>
                  <a:gd name="T14" fmla="*/ 492 w 830"/>
                  <a:gd name="T15" fmla="*/ 46 h 8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888">
                    <a:moveTo>
                      <a:pt x="492" y="46"/>
                    </a:moveTo>
                    <a:cubicBezTo>
                      <a:pt x="284" y="0"/>
                      <a:pt x="78" y="130"/>
                      <a:pt x="32" y="338"/>
                    </a:cubicBezTo>
                    <a:cubicBezTo>
                      <a:pt x="0" y="478"/>
                      <a:pt x="50" y="618"/>
                      <a:pt x="149" y="708"/>
                    </a:cubicBezTo>
                    <a:cubicBezTo>
                      <a:pt x="126" y="888"/>
                      <a:pt x="126" y="888"/>
                      <a:pt x="126" y="888"/>
                    </a:cubicBezTo>
                    <a:cubicBezTo>
                      <a:pt x="306" y="793"/>
                      <a:pt x="306" y="793"/>
                      <a:pt x="306" y="793"/>
                    </a:cubicBezTo>
                    <a:cubicBezTo>
                      <a:pt x="312" y="795"/>
                      <a:pt x="317" y="796"/>
                      <a:pt x="323" y="798"/>
                    </a:cubicBezTo>
                    <a:cubicBezTo>
                      <a:pt x="531" y="844"/>
                      <a:pt x="737" y="714"/>
                      <a:pt x="783" y="506"/>
                    </a:cubicBezTo>
                    <a:cubicBezTo>
                      <a:pt x="830" y="299"/>
                      <a:pt x="699" y="93"/>
                      <a:pt x="492" y="46"/>
                    </a:cubicBezTo>
                    <a:close/>
                  </a:path>
                </a:pathLst>
              </a:custGeom>
              <a:solidFill>
                <a:schemeClr val="accent4"/>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0" name="Freeform: Shape 96"/>
              <p:cNvSpPr/>
              <p:nvPr/>
            </p:nvSpPr>
            <p:spPr bwMode="auto">
              <a:xfrm>
                <a:off x="7359700" y="2754510"/>
                <a:ext cx="493496" cy="681334"/>
              </a:xfrm>
              <a:custGeom>
                <a:avLst/>
                <a:gdLst>
                  <a:gd name="T0" fmla="*/ 200 w 310"/>
                  <a:gd name="T1" fmla="*/ 39 h 428"/>
                  <a:gd name="T2" fmla="*/ 205 w 310"/>
                  <a:gd name="T3" fmla="*/ 40 h 428"/>
                  <a:gd name="T4" fmla="*/ 215 w 310"/>
                  <a:gd name="T5" fmla="*/ 23 h 428"/>
                  <a:gd name="T6" fmla="*/ 206 w 310"/>
                  <a:gd name="T7" fmla="*/ 5 h 428"/>
                  <a:gd name="T8" fmla="*/ 196 w 310"/>
                  <a:gd name="T9" fmla="*/ 9 h 428"/>
                  <a:gd name="T10" fmla="*/ 123 w 310"/>
                  <a:gd name="T11" fmla="*/ 0 h 428"/>
                  <a:gd name="T12" fmla="*/ 97 w 310"/>
                  <a:gd name="T13" fmla="*/ 11 h 428"/>
                  <a:gd name="T14" fmla="*/ 104 w 310"/>
                  <a:gd name="T15" fmla="*/ 17 h 428"/>
                  <a:gd name="T16" fmla="*/ 99 w 310"/>
                  <a:gd name="T17" fmla="*/ 35 h 428"/>
                  <a:gd name="T18" fmla="*/ 120 w 310"/>
                  <a:gd name="T19" fmla="*/ 38 h 428"/>
                  <a:gd name="T20" fmla="*/ 120 w 310"/>
                  <a:gd name="T21" fmla="*/ 182 h 428"/>
                  <a:gd name="T22" fmla="*/ 13 w 310"/>
                  <a:gd name="T23" fmla="*/ 347 h 428"/>
                  <a:gd name="T24" fmla="*/ 3 w 310"/>
                  <a:gd name="T25" fmla="*/ 399 h 428"/>
                  <a:gd name="T26" fmla="*/ 89 w 310"/>
                  <a:gd name="T27" fmla="*/ 426 h 428"/>
                  <a:gd name="T28" fmla="*/ 286 w 310"/>
                  <a:gd name="T29" fmla="*/ 414 h 428"/>
                  <a:gd name="T30" fmla="*/ 310 w 310"/>
                  <a:gd name="T31" fmla="*/ 388 h 428"/>
                  <a:gd name="T32" fmla="*/ 199 w 310"/>
                  <a:gd name="T33" fmla="*/ 178 h 428"/>
                  <a:gd name="T34" fmla="*/ 192 w 310"/>
                  <a:gd name="T35" fmla="*/ 182 h 428"/>
                  <a:gd name="T36" fmla="*/ 284 w 310"/>
                  <a:gd name="T37" fmla="*/ 354 h 428"/>
                  <a:gd name="T38" fmla="*/ 293 w 310"/>
                  <a:gd name="T39" fmla="*/ 391 h 428"/>
                  <a:gd name="T40" fmla="*/ 219 w 310"/>
                  <a:gd name="T41" fmla="*/ 410 h 428"/>
                  <a:gd name="T42" fmla="*/ 29 w 310"/>
                  <a:gd name="T43" fmla="*/ 399 h 428"/>
                  <a:gd name="T44" fmla="*/ 16 w 310"/>
                  <a:gd name="T45" fmla="*/ 388 h 428"/>
                  <a:gd name="T46" fmla="*/ 81 w 310"/>
                  <a:gd name="T47" fmla="*/ 260 h 428"/>
                  <a:gd name="T48" fmla="*/ 128 w 310"/>
                  <a:gd name="T49" fmla="*/ 38 h 428"/>
                  <a:gd name="T50" fmla="*/ 121 w 310"/>
                  <a:gd name="T51" fmla="*/ 30 h 428"/>
                  <a:gd name="T52" fmla="*/ 121 w 310"/>
                  <a:gd name="T53" fmla="*/ 30 h 428"/>
                  <a:gd name="T54" fmla="*/ 112 w 310"/>
                  <a:gd name="T55" fmla="*/ 25 h 428"/>
                  <a:gd name="T56" fmla="*/ 112 w 310"/>
                  <a:gd name="T57" fmla="*/ 17 h 428"/>
                  <a:gd name="T58" fmla="*/ 112 w 310"/>
                  <a:gd name="T59" fmla="*/ 18 h 428"/>
                  <a:gd name="T60" fmla="*/ 112 w 310"/>
                  <a:gd name="T61" fmla="*/ 18 h 428"/>
                  <a:gd name="T62" fmla="*/ 112 w 310"/>
                  <a:gd name="T63" fmla="*/ 18 h 428"/>
                  <a:gd name="T64" fmla="*/ 111 w 310"/>
                  <a:gd name="T65" fmla="*/ 18 h 428"/>
                  <a:gd name="T66" fmla="*/ 111 w 310"/>
                  <a:gd name="T67" fmla="*/ 18 h 428"/>
                  <a:gd name="T68" fmla="*/ 117 w 310"/>
                  <a:gd name="T69" fmla="*/ 16 h 428"/>
                  <a:gd name="T70" fmla="*/ 122 w 310"/>
                  <a:gd name="T71" fmla="*/ 16 h 428"/>
                  <a:gd name="T72" fmla="*/ 196 w 310"/>
                  <a:gd name="T73" fmla="*/ 14 h 428"/>
                  <a:gd name="T74" fmla="*/ 196 w 310"/>
                  <a:gd name="T75" fmla="*/ 14 h 428"/>
                  <a:gd name="T76" fmla="*/ 195 w 310"/>
                  <a:gd name="T77" fmla="*/ 17 h 428"/>
                  <a:gd name="T78" fmla="*/ 195 w 310"/>
                  <a:gd name="T79" fmla="*/ 17 h 428"/>
                  <a:gd name="T80" fmla="*/ 199 w 310"/>
                  <a:gd name="T81" fmla="*/ 23 h 428"/>
                  <a:gd name="T82" fmla="*/ 200 w 310"/>
                  <a:gd name="T83" fmla="*/ 25 h 428"/>
                  <a:gd name="T84" fmla="*/ 200 w 310"/>
                  <a:gd name="T85" fmla="*/ 25 h 428"/>
                  <a:gd name="T86" fmla="*/ 207 w 310"/>
                  <a:gd name="T87" fmla="*/ 23 h 428"/>
                  <a:gd name="T88" fmla="*/ 200 w 310"/>
                  <a:gd name="T89" fmla="*/ 22 h 428"/>
                  <a:gd name="T90" fmla="*/ 200 w 310"/>
                  <a:gd name="T91" fmla="*/ 22 h 428"/>
                  <a:gd name="T92" fmla="*/ 200 w 310"/>
                  <a:gd name="T93" fmla="*/ 22 h 428"/>
                  <a:gd name="T94" fmla="*/ 200 w 310"/>
                  <a:gd name="T95" fmla="*/ 22 h 428"/>
                  <a:gd name="T96" fmla="*/ 200 w 310"/>
                  <a:gd name="T97" fmla="*/ 22 h 428"/>
                  <a:gd name="T98" fmla="*/ 192 w 310"/>
                  <a:gd name="T99" fmla="*/ 29 h 428"/>
                  <a:gd name="T100" fmla="*/ 188 w 310"/>
                  <a:gd name="T101" fmla="*/ 32 h 428"/>
                  <a:gd name="T102" fmla="*/ 188 w 310"/>
                  <a:gd name="T103" fmla="*/ 32 h 428"/>
                  <a:gd name="T104" fmla="*/ 188 w 310"/>
                  <a:gd name="T105" fmla="*/ 32 h 428"/>
                  <a:gd name="T106" fmla="*/ 185 w 310"/>
                  <a:gd name="T107" fmla="*/ 187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428">
                    <a:moveTo>
                      <a:pt x="192" y="182"/>
                    </a:moveTo>
                    <a:cubicBezTo>
                      <a:pt x="200" y="182"/>
                      <a:pt x="200" y="182"/>
                      <a:pt x="200" y="182"/>
                    </a:cubicBezTo>
                    <a:cubicBezTo>
                      <a:pt x="200" y="39"/>
                      <a:pt x="200" y="39"/>
                      <a:pt x="200" y="39"/>
                    </a:cubicBezTo>
                    <a:cubicBezTo>
                      <a:pt x="192" y="39"/>
                      <a:pt x="192" y="39"/>
                      <a:pt x="192" y="39"/>
                    </a:cubicBezTo>
                    <a:cubicBezTo>
                      <a:pt x="196" y="46"/>
                      <a:pt x="196" y="46"/>
                      <a:pt x="196" y="46"/>
                    </a:cubicBezTo>
                    <a:cubicBezTo>
                      <a:pt x="196" y="45"/>
                      <a:pt x="200" y="43"/>
                      <a:pt x="205" y="40"/>
                    </a:cubicBezTo>
                    <a:cubicBezTo>
                      <a:pt x="207" y="38"/>
                      <a:pt x="209" y="36"/>
                      <a:pt x="211" y="34"/>
                    </a:cubicBezTo>
                    <a:cubicBezTo>
                      <a:pt x="212" y="32"/>
                      <a:pt x="213" y="31"/>
                      <a:pt x="214" y="29"/>
                    </a:cubicBezTo>
                    <a:cubicBezTo>
                      <a:pt x="215" y="28"/>
                      <a:pt x="215" y="25"/>
                      <a:pt x="215" y="23"/>
                    </a:cubicBezTo>
                    <a:cubicBezTo>
                      <a:pt x="215" y="22"/>
                      <a:pt x="215" y="22"/>
                      <a:pt x="215" y="21"/>
                    </a:cubicBezTo>
                    <a:cubicBezTo>
                      <a:pt x="215" y="21"/>
                      <a:pt x="214" y="17"/>
                      <a:pt x="211" y="12"/>
                    </a:cubicBezTo>
                    <a:cubicBezTo>
                      <a:pt x="210" y="10"/>
                      <a:pt x="209" y="7"/>
                      <a:pt x="206" y="5"/>
                    </a:cubicBezTo>
                    <a:cubicBezTo>
                      <a:pt x="205" y="4"/>
                      <a:pt x="204" y="3"/>
                      <a:pt x="202" y="2"/>
                    </a:cubicBezTo>
                    <a:cubicBezTo>
                      <a:pt x="200" y="1"/>
                      <a:pt x="198" y="1"/>
                      <a:pt x="196" y="1"/>
                    </a:cubicBezTo>
                    <a:cubicBezTo>
                      <a:pt x="196" y="9"/>
                      <a:pt x="196" y="9"/>
                      <a:pt x="196" y="9"/>
                    </a:cubicBezTo>
                    <a:cubicBezTo>
                      <a:pt x="196" y="1"/>
                      <a:pt x="196" y="1"/>
                      <a:pt x="196" y="1"/>
                    </a:cubicBezTo>
                    <a:cubicBezTo>
                      <a:pt x="123" y="0"/>
                      <a:pt x="123" y="0"/>
                      <a:pt x="123" y="0"/>
                    </a:cubicBezTo>
                    <a:cubicBezTo>
                      <a:pt x="123" y="0"/>
                      <a:pt x="123" y="0"/>
                      <a:pt x="123" y="0"/>
                    </a:cubicBezTo>
                    <a:cubicBezTo>
                      <a:pt x="118" y="0"/>
                      <a:pt x="113" y="0"/>
                      <a:pt x="108" y="2"/>
                    </a:cubicBezTo>
                    <a:cubicBezTo>
                      <a:pt x="105" y="3"/>
                      <a:pt x="103" y="4"/>
                      <a:pt x="100" y="7"/>
                    </a:cubicBezTo>
                    <a:cubicBezTo>
                      <a:pt x="99" y="8"/>
                      <a:pt x="98" y="9"/>
                      <a:pt x="97" y="11"/>
                    </a:cubicBezTo>
                    <a:cubicBezTo>
                      <a:pt x="96" y="13"/>
                      <a:pt x="96" y="15"/>
                      <a:pt x="96" y="17"/>
                    </a:cubicBezTo>
                    <a:cubicBezTo>
                      <a:pt x="96" y="17"/>
                      <a:pt x="96" y="17"/>
                      <a:pt x="96" y="17"/>
                    </a:cubicBezTo>
                    <a:cubicBezTo>
                      <a:pt x="104" y="17"/>
                      <a:pt x="104" y="17"/>
                      <a:pt x="104" y="17"/>
                    </a:cubicBezTo>
                    <a:cubicBezTo>
                      <a:pt x="96" y="15"/>
                      <a:pt x="96" y="15"/>
                      <a:pt x="96" y="15"/>
                    </a:cubicBezTo>
                    <a:cubicBezTo>
                      <a:pt x="96" y="17"/>
                      <a:pt x="95" y="20"/>
                      <a:pt x="95" y="22"/>
                    </a:cubicBezTo>
                    <a:cubicBezTo>
                      <a:pt x="95" y="27"/>
                      <a:pt x="97" y="31"/>
                      <a:pt x="99" y="35"/>
                    </a:cubicBezTo>
                    <a:cubicBezTo>
                      <a:pt x="103" y="40"/>
                      <a:pt x="108" y="43"/>
                      <a:pt x="112" y="44"/>
                    </a:cubicBezTo>
                    <a:cubicBezTo>
                      <a:pt x="116" y="46"/>
                      <a:pt x="118" y="46"/>
                      <a:pt x="119" y="46"/>
                    </a:cubicBezTo>
                    <a:cubicBezTo>
                      <a:pt x="120" y="38"/>
                      <a:pt x="120" y="38"/>
                      <a:pt x="120" y="38"/>
                    </a:cubicBezTo>
                    <a:cubicBezTo>
                      <a:pt x="112" y="38"/>
                      <a:pt x="112" y="38"/>
                      <a:pt x="112" y="38"/>
                    </a:cubicBezTo>
                    <a:cubicBezTo>
                      <a:pt x="112" y="182"/>
                      <a:pt x="112" y="182"/>
                      <a:pt x="112" y="182"/>
                    </a:cubicBezTo>
                    <a:cubicBezTo>
                      <a:pt x="120" y="182"/>
                      <a:pt x="120" y="182"/>
                      <a:pt x="120" y="182"/>
                    </a:cubicBezTo>
                    <a:cubicBezTo>
                      <a:pt x="113" y="178"/>
                      <a:pt x="113" y="178"/>
                      <a:pt x="113" y="178"/>
                    </a:cubicBezTo>
                    <a:cubicBezTo>
                      <a:pt x="93" y="210"/>
                      <a:pt x="65" y="253"/>
                      <a:pt x="42" y="292"/>
                    </a:cubicBezTo>
                    <a:cubicBezTo>
                      <a:pt x="30" y="312"/>
                      <a:pt x="20" y="331"/>
                      <a:pt x="13" y="347"/>
                    </a:cubicBezTo>
                    <a:cubicBezTo>
                      <a:pt x="9" y="355"/>
                      <a:pt x="6" y="363"/>
                      <a:pt x="4" y="370"/>
                    </a:cubicBezTo>
                    <a:cubicBezTo>
                      <a:pt x="2" y="376"/>
                      <a:pt x="0" y="382"/>
                      <a:pt x="0" y="388"/>
                    </a:cubicBezTo>
                    <a:cubicBezTo>
                      <a:pt x="0" y="392"/>
                      <a:pt x="1" y="396"/>
                      <a:pt x="3" y="399"/>
                    </a:cubicBezTo>
                    <a:cubicBezTo>
                      <a:pt x="5" y="403"/>
                      <a:pt x="8" y="406"/>
                      <a:pt x="11" y="408"/>
                    </a:cubicBezTo>
                    <a:cubicBezTo>
                      <a:pt x="18" y="412"/>
                      <a:pt x="26" y="415"/>
                      <a:pt x="36" y="417"/>
                    </a:cubicBezTo>
                    <a:cubicBezTo>
                      <a:pt x="50" y="421"/>
                      <a:pt x="69" y="424"/>
                      <a:pt x="89" y="426"/>
                    </a:cubicBezTo>
                    <a:cubicBezTo>
                      <a:pt x="110" y="427"/>
                      <a:pt x="132" y="428"/>
                      <a:pt x="155" y="428"/>
                    </a:cubicBezTo>
                    <a:cubicBezTo>
                      <a:pt x="189" y="428"/>
                      <a:pt x="224" y="426"/>
                      <a:pt x="251" y="422"/>
                    </a:cubicBezTo>
                    <a:cubicBezTo>
                      <a:pt x="265" y="420"/>
                      <a:pt x="277" y="417"/>
                      <a:pt x="286" y="414"/>
                    </a:cubicBezTo>
                    <a:cubicBezTo>
                      <a:pt x="291" y="412"/>
                      <a:pt x="295" y="410"/>
                      <a:pt x="299" y="408"/>
                    </a:cubicBezTo>
                    <a:cubicBezTo>
                      <a:pt x="302" y="406"/>
                      <a:pt x="305" y="403"/>
                      <a:pt x="307" y="399"/>
                    </a:cubicBezTo>
                    <a:cubicBezTo>
                      <a:pt x="309" y="396"/>
                      <a:pt x="310" y="392"/>
                      <a:pt x="310" y="388"/>
                    </a:cubicBezTo>
                    <a:cubicBezTo>
                      <a:pt x="310" y="383"/>
                      <a:pt x="309" y="377"/>
                      <a:pt x="307" y="370"/>
                    </a:cubicBezTo>
                    <a:cubicBezTo>
                      <a:pt x="303" y="358"/>
                      <a:pt x="297" y="344"/>
                      <a:pt x="289" y="329"/>
                    </a:cubicBezTo>
                    <a:cubicBezTo>
                      <a:pt x="266" y="282"/>
                      <a:pt x="228" y="222"/>
                      <a:pt x="199" y="178"/>
                    </a:cubicBezTo>
                    <a:cubicBezTo>
                      <a:pt x="192" y="182"/>
                      <a:pt x="192" y="182"/>
                      <a:pt x="192" y="182"/>
                    </a:cubicBezTo>
                    <a:cubicBezTo>
                      <a:pt x="200" y="182"/>
                      <a:pt x="200" y="182"/>
                      <a:pt x="200" y="182"/>
                    </a:cubicBezTo>
                    <a:cubicBezTo>
                      <a:pt x="192" y="182"/>
                      <a:pt x="192" y="182"/>
                      <a:pt x="192" y="182"/>
                    </a:cubicBezTo>
                    <a:cubicBezTo>
                      <a:pt x="185" y="187"/>
                      <a:pt x="185" y="187"/>
                      <a:pt x="185" y="187"/>
                    </a:cubicBezTo>
                    <a:cubicBezTo>
                      <a:pt x="207" y="220"/>
                      <a:pt x="235" y="263"/>
                      <a:pt x="257" y="301"/>
                    </a:cubicBezTo>
                    <a:cubicBezTo>
                      <a:pt x="267" y="321"/>
                      <a:pt x="277" y="339"/>
                      <a:pt x="284" y="354"/>
                    </a:cubicBezTo>
                    <a:cubicBezTo>
                      <a:pt x="287" y="362"/>
                      <a:pt x="290" y="369"/>
                      <a:pt x="291" y="375"/>
                    </a:cubicBezTo>
                    <a:cubicBezTo>
                      <a:pt x="293" y="381"/>
                      <a:pt x="294" y="385"/>
                      <a:pt x="294" y="388"/>
                    </a:cubicBezTo>
                    <a:cubicBezTo>
                      <a:pt x="294" y="390"/>
                      <a:pt x="293" y="391"/>
                      <a:pt x="293" y="391"/>
                    </a:cubicBezTo>
                    <a:cubicBezTo>
                      <a:pt x="293" y="392"/>
                      <a:pt x="292" y="393"/>
                      <a:pt x="290" y="394"/>
                    </a:cubicBezTo>
                    <a:cubicBezTo>
                      <a:pt x="286" y="397"/>
                      <a:pt x="279" y="400"/>
                      <a:pt x="270" y="402"/>
                    </a:cubicBezTo>
                    <a:cubicBezTo>
                      <a:pt x="257" y="405"/>
                      <a:pt x="239" y="408"/>
                      <a:pt x="219" y="410"/>
                    </a:cubicBezTo>
                    <a:cubicBezTo>
                      <a:pt x="199" y="411"/>
                      <a:pt x="177" y="412"/>
                      <a:pt x="155" y="412"/>
                    </a:cubicBezTo>
                    <a:cubicBezTo>
                      <a:pt x="121" y="412"/>
                      <a:pt x="88" y="410"/>
                      <a:pt x="62" y="406"/>
                    </a:cubicBezTo>
                    <a:cubicBezTo>
                      <a:pt x="48" y="404"/>
                      <a:pt x="37" y="402"/>
                      <a:pt x="29" y="399"/>
                    </a:cubicBezTo>
                    <a:cubicBezTo>
                      <a:pt x="25" y="397"/>
                      <a:pt x="22" y="396"/>
                      <a:pt x="20" y="394"/>
                    </a:cubicBezTo>
                    <a:cubicBezTo>
                      <a:pt x="18" y="393"/>
                      <a:pt x="17" y="392"/>
                      <a:pt x="17" y="391"/>
                    </a:cubicBezTo>
                    <a:cubicBezTo>
                      <a:pt x="17" y="391"/>
                      <a:pt x="16" y="390"/>
                      <a:pt x="16" y="388"/>
                    </a:cubicBezTo>
                    <a:cubicBezTo>
                      <a:pt x="16" y="385"/>
                      <a:pt x="17" y="380"/>
                      <a:pt x="19" y="374"/>
                    </a:cubicBezTo>
                    <a:cubicBezTo>
                      <a:pt x="22" y="364"/>
                      <a:pt x="28" y="350"/>
                      <a:pt x="36" y="335"/>
                    </a:cubicBezTo>
                    <a:cubicBezTo>
                      <a:pt x="48" y="312"/>
                      <a:pt x="64" y="286"/>
                      <a:pt x="81" y="260"/>
                    </a:cubicBezTo>
                    <a:cubicBezTo>
                      <a:pt x="97" y="233"/>
                      <a:pt x="113" y="208"/>
                      <a:pt x="127" y="186"/>
                    </a:cubicBezTo>
                    <a:cubicBezTo>
                      <a:pt x="128" y="185"/>
                      <a:pt x="128" y="184"/>
                      <a:pt x="128" y="182"/>
                    </a:cubicBezTo>
                    <a:cubicBezTo>
                      <a:pt x="128" y="38"/>
                      <a:pt x="128" y="38"/>
                      <a:pt x="128" y="38"/>
                    </a:cubicBezTo>
                    <a:cubicBezTo>
                      <a:pt x="128" y="34"/>
                      <a:pt x="125" y="31"/>
                      <a:pt x="121" y="30"/>
                    </a:cubicBezTo>
                    <a:cubicBezTo>
                      <a:pt x="121" y="35"/>
                      <a:pt x="121" y="35"/>
                      <a:pt x="121" y="35"/>
                    </a:cubicBezTo>
                    <a:cubicBezTo>
                      <a:pt x="121" y="30"/>
                      <a:pt x="121" y="30"/>
                      <a:pt x="121" y="30"/>
                    </a:cubicBezTo>
                    <a:cubicBezTo>
                      <a:pt x="121" y="30"/>
                      <a:pt x="121" y="30"/>
                      <a:pt x="121" y="30"/>
                    </a:cubicBezTo>
                    <a:cubicBezTo>
                      <a:pt x="121" y="35"/>
                      <a:pt x="121" y="35"/>
                      <a:pt x="121" y="35"/>
                    </a:cubicBezTo>
                    <a:cubicBezTo>
                      <a:pt x="121" y="30"/>
                      <a:pt x="121" y="30"/>
                      <a:pt x="121" y="30"/>
                    </a:cubicBezTo>
                    <a:cubicBezTo>
                      <a:pt x="121" y="30"/>
                      <a:pt x="121" y="30"/>
                      <a:pt x="121" y="30"/>
                    </a:cubicBezTo>
                    <a:cubicBezTo>
                      <a:pt x="120" y="30"/>
                      <a:pt x="117" y="29"/>
                      <a:pt x="115" y="28"/>
                    </a:cubicBezTo>
                    <a:cubicBezTo>
                      <a:pt x="114" y="27"/>
                      <a:pt x="113" y="26"/>
                      <a:pt x="112" y="25"/>
                    </a:cubicBezTo>
                    <a:cubicBezTo>
                      <a:pt x="112" y="24"/>
                      <a:pt x="111" y="23"/>
                      <a:pt x="111" y="22"/>
                    </a:cubicBezTo>
                    <a:cubicBezTo>
                      <a:pt x="111" y="21"/>
                      <a:pt x="112" y="20"/>
                      <a:pt x="112" y="19"/>
                    </a:cubicBezTo>
                    <a:cubicBezTo>
                      <a:pt x="112" y="18"/>
                      <a:pt x="112" y="18"/>
                      <a:pt x="112" y="17"/>
                    </a:cubicBezTo>
                    <a:cubicBezTo>
                      <a:pt x="112" y="17"/>
                      <a:pt x="112" y="17"/>
                      <a:pt x="112" y="17"/>
                    </a:cubicBezTo>
                    <a:cubicBezTo>
                      <a:pt x="110" y="17"/>
                      <a:pt x="110" y="17"/>
                      <a:pt x="110" y="17"/>
                    </a:cubicBezTo>
                    <a:cubicBezTo>
                      <a:pt x="112" y="18"/>
                      <a:pt x="112" y="18"/>
                      <a:pt x="112" y="18"/>
                    </a:cubicBezTo>
                    <a:cubicBezTo>
                      <a:pt x="112" y="17"/>
                      <a:pt x="112" y="17"/>
                      <a:pt x="112" y="17"/>
                    </a:cubicBezTo>
                    <a:cubicBezTo>
                      <a:pt x="110" y="17"/>
                      <a:pt x="110" y="17"/>
                      <a:pt x="110" y="17"/>
                    </a:cubicBezTo>
                    <a:cubicBezTo>
                      <a:pt x="112" y="18"/>
                      <a:pt x="112" y="18"/>
                      <a:pt x="112" y="18"/>
                    </a:cubicBezTo>
                    <a:cubicBezTo>
                      <a:pt x="110" y="17"/>
                      <a:pt x="110" y="17"/>
                      <a:pt x="110" y="17"/>
                    </a:cubicBezTo>
                    <a:cubicBezTo>
                      <a:pt x="112" y="18"/>
                      <a:pt x="112" y="18"/>
                      <a:pt x="112" y="18"/>
                    </a:cubicBezTo>
                    <a:cubicBezTo>
                      <a:pt x="112" y="18"/>
                      <a:pt x="112" y="18"/>
                      <a:pt x="112" y="18"/>
                    </a:cubicBezTo>
                    <a:cubicBezTo>
                      <a:pt x="110" y="17"/>
                      <a:pt x="110" y="17"/>
                      <a:pt x="110" y="17"/>
                    </a:cubicBezTo>
                    <a:cubicBezTo>
                      <a:pt x="112" y="18"/>
                      <a:pt x="112" y="18"/>
                      <a:pt x="112" y="18"/>
                    </a:cubicBezTo>
                    <a:cubicBezTo>
                      <a:pt x="111" y="18"/>
                      <a:pt x="111" y="18"/>
                      <a:pt x="111" y="18"/>
                    </a:cubicBezTo>
                    <a:cubicBezTo>
                      <a:pt x="112" y="18"/>
                      <a:pt x="112" y="18"/>
                      <a:pt x="112" y="18"/>
                    </a:cubicBezTo>
                    <a:cubicBezTo>
                      <a:pt x="112" y="18"/>
                      <a:pt x="112" y="18"/>
                      <a:pt x="112" y="18"/>
                    </a:cubicBezTo>
                    <a:cubicBezTo>
                      <a:pt x="111" y="18"/>
                      <a:pt x="111" y="18"/>
                      <a:pt x="111" y="18"/>
                    </a:cubicBezTo>
                    <a:cubicBezTo>
                      <a:pt x="112" y="18"/>
                      <a:pt x="112" y="18"/>
                      <a:pt x="112" y="18"/>
                    </a:cubicBezTo>
                    <a:cubicBezTo>
                      <a:pt x="112" y="18"/>
                      <a:pt x="112" y="18"/>
                      <a:pt x="113" y="17"/>
                    </a:cubicBezTo>
                    <a:cubicBezTo>
                      <a:pt x="114" y="17"/>
                      <a:pt x="115" y="16"/>
                      <a:pt x="117" y="16"/>
                    </a:cubicBezTo>
                    <a:cubicBezTo>
                      <a:pt x="119" y="16"/>
                      <a:pt x="121" y="16"/>
                      <a:pt x="123" y="16"/>
                    </a:cubicBezTo>
                    <a:cubicBezTo>
                      <a:pt x="123" y="8"/>
                      <a:pt x="123" y="8"/>
                      <a:pt x="123" y="8"/>
                    </a:cubicBezTo>
                    <a:cubicBezTo>
                      <a:pt x="122" y="16"/>
                      <a:pt x="122" y="16"/>
                      <a:pt x="122" y="16"/>
                    </a:cubicBezTo>
                    <a:cubicBezTo>
                      <a:pt x="196" y="17"/>
                      <a:pt x="196" y="17"/>
                      <a:pt x="196" y="17"/>
                    </a:cubicBezTo>
                    <a:cubicBezTo>
                      <a:pt x="196" y="17"/>
                      <a:pt x="196" y="17"/>
                      <a:pt x="196" y="17"/>
                    </a:cubicBezTo>
                    <a:cubicBezTo>
                      <a:pt x="196" y="14"/>
                      <a:pt x="196" y="14"/>
                      <a:pt x="196" y="14"/>
                    </a:cubicBezTo>
                    <a:cubicBezTo>
                      <a:pt x="195" y="17"/>
                      <a:pt x="195" y="17"/>
                      <a:pt x="195" y="17"/>
                    </a:cubicBezTo>
                    <a:cubicBezTo>
                      <a:pt x="195" y="17"/>
                      <a:pt x="196" y="17"/>
                      <a:pt x="196" y="17"/>
                    </a:cubicBezTo>
                    <a:cubicBezTo>
                      <a:pt x="196" y="14"/>
                      <a:pt x="196" y="14"/>
                      <a:pt x="196" y="14"/>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7"/>
                      <a:pt x="196" y="17"/>
                      <a:pt x="197" y="18"/>
                    </a:cubicBezTo>
                    <a:cubicBezTo>
                      <a:pt x="197" y="20"/>
                      <a:pt x="198" y="22"/>
                      <a:pt x="199" y="23"/>
                    </a:cubicBezTo>
                    <a:cubicBezTo>
                      <a:pt x="199" y="24"/>
                      <a:pt x="199" y="24"/>
                      <a:pt x="200"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7" y="23"/>
                      <a:pt x="207" y="23"/>
                      <a:pt x="207" y="23"/>
                    </a:cubicBezTo>
                    <a:cubicBezTo>
                      <a:pt x="199" y="23"/>
                      <a:pt x="199" y="23"/>
                      <a:pt x="199" y="23"/>
                    </a:cubicBezTo>
                    <a:cubicBezTo>
                      <a:pt x="202" y="23"/>
                      <a:pt x="202" y="23"/>
                      <a:pt x="202" y="23"/>
                    </a:cubicBezTo>
                    <a:cubicBezTo>
                      <a:pt x="200" y="22"/>
                      <a:pt x="200" y="22"/>
                      <a:pt x="200" y="22"/>
                    </a:cubicBezTo>
                    <a:cubicBezTo>
                      <a:pt x="199" y="23"/>
                      <a:pt x="199" y="23"/>
                      <a:pt x="199" y="23"/>
                    </a:cubicBezTo>
                    <a:cubicBezTo>
                      <a:pt x="202" y="23"/>
                      <a:pt x="202" y="23"/>
                      <a:pt x="202" y="23"/>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199" y="23"/>
                      <a:pt x="198" y="25"/>
                    </a:cubicBezTo>
                    <a:cubicBezTo>
                      <a:pt x="196" y="26"/>
                      <a:pt x="194" y="28"/>
                      <a:pt x="192" y="29"/>
                    </a:cubicBezTo>
                    <a:cubicBezTo>
                      <a:pt x="191" y="30"/>
                      <a:pt x="190" y="31"/>
                      <a:pt x="189" y="31"/>
                    </a:cubicBezTo>
                    <a:cubicBezTo>
                      <a:pt x="188" y="31"/>
                      <a:pt x="188" y="31"/>
                      <a:pt x="188" y="31"/>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6" y="33"/>
                      <a:pt x="184" y="36"/>
                      <a:pt x="184" y="39"/>
                    </a:cubicBezTo>
                    <a:cubicBezTo>
                      <a:pt x="184" y="182"/>
                      <a:pt x="184" y="182"/>
                      <a:pt x="184" y="182"/>
                    </a:cubicBezTo>
                    <a:cubicBezTo>
                      <a:pt x="184" y="184"/>
                      <a:pt x="184" y="185"/>
                      <a:pt x="185" y="187"/>
                    </a:cubicBezTo>
                    <a:lnTo>
                      <a:pt x="192" y="182"/>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1" name="Oval 97"/>
              <p:cNvSpPr/>
              <p:nvPr/>
            </p:nvSpPr>
            <p:spPr bwMode="auto">
              <a:xfrm>
                <a:off x="7588607" y="3060168"/>
                <a:ext cx="66652" cy="67326"/>
              </a:xfrm>
              <a:prstGeom prst="ellipse">
                <a:avLst/>
              </a:pr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2" name="Freeform: Shape 98"/>
              <p:cNvSpPr/>
              <p:nvPr/>
            </p:nvSpPr>
            <p:spPr bwMode="auto">
              <a:xfrm>
                <a:off x="7429718" y="3157116"/>
                <a:ext cx="350093" cy="229580"/>
              </a:xfrm>
              <a:custGeom>
                <a:avLst/>
                <a:gdLst>
                  <a:gd name="T0" fmla="*/ 161 w 220"/>
                  <a:gd name="T1" fmla="*/ 0 h 144"/>
                  <a:gd name="T2" fmla="*/ 65 w 220"/>
                  <a:gd name="T3" fmla="*/ 3 h 144"/>
                  <a:gd name="T4" fmla="*/ 0 w 220"/>
                  <a:gd name="T5" fmla="*/ 118 h 144"/>
                  <a:gd name="T6" fmla="*/ 220 w 220"/>
                  <a:gd name="T7" fmla="*/ 119 h 144"/>
                  <a:gd name="T8" fmla="*/ 161 w 220"/>
                  <a:gd name="T9" fmla="*/ 0 h 144"/>
                  <a:gd name="T10" fmla="*/ 87 w 220"/>
                  <a:gd name="T11" fmla="*/ 87 h 144"/>
                  <a:gd name="T12" fmla="*/ 62 w 220"/>
                  <a:gd name="T13" fmla="*/ 63 h 144"/>
                  <a:gd name="T14" fmla="*/ 87 w 220"/>
                  <a:gd name="T15" fmla="*/ 39 h 144"/>
                  <a:gd name="T16" fmla="*/ 111 w 220"/>
                  <a:gd name="T17" fmla="*/ 63 h 144"/>
                  <a:gd name="T18" fmla="*/ 87 w 220"/>
                  <a:gd name="T19" fmla="*/ 87 h 144"/>
                  <a:gd name="T20" fmla="*/ 147 w 220"/>
                  <a:gd name="T21" fmla="*/ 103 h 144"/>
                  <a:gd name="T22" fmla="*/ 132 w 220"/>
                  <a:gd name="T23" fmla="*/ 88 h 144"/>
                  <a:gd name="T24" fmla="*/ 147 w 220"/>
                  <a:gd name="T25" fmla="*/ 74 h 144"/>
                  <a:gd name="T26" fmla="*/ 161 w 220"/>
                  <a:gd name="T27" fmla="*/ 88 h 144"/>
                  <a:gd name="T28" fmla="*/ 147 w 220"/>
                  <a:gd name="T29"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0" h="144">
                    <a:moveTo>
                      <a:pt x="161" y="0"/>
                    </a:moveTo>
                    <a:cubicBezTo>
                      <a:pt x="65" y="3"/>
                      <a:pt x="65" y="3"/>
                      <a:pt x="65" y="3"/>
                    </a:cubicBezTo>
                    <a:cubicBezTo>
                      <a:pt x="0" y="118"/>
                      <a:pt x="0" y="118"/>
                      <a:pt x="0" y="118"/>
                    </a:cubicBezTo>
                    <a:cubicBezTo>
                      <a:pt x="39" y="134"/>
                      <a:pt x="147" y="144"/>
                      <a:pt x="220" y="119"/>
                    </a:cubicBezTo>
                    <a:lnTo>
                      <a:pt x="161" y="0"/>
                    </a:lnTo>
                    <a:close/>
                    <a:moveTo>
                      <a:pt x="87" y="87"/>
                    </a:moveTo>
                    <a:cubicBezTo>
                      <a:pt x="73" y="87"/>
                      <a:pt x="62" y="76"/>
                      <a:pt x="62" y="63"/>
                    </a:cubicBezTo>
                    <a:cubicBezTo>
                      <a:pt x="62" y="49"/>
                      <a:pt x="73" y="39"/>
                      <a:pt x="87" y="39"/>
                    </a:cubicBezTo>
                    <a:cubicBezTo>
                      <a:pt x="100" y="39"/>
                      <a:pt x="111" y="49"/>
                      <a:pt x="111" y="63"/>
                    </a:cubicBezTo>
                    <a:cubicBezTo>
                      <a:pt x="111" y="76"/>
                      <a:pt x="100" y="87"/>
                      <a:pt x="87" y="87"/>
                    </a:cubicBezTo>
                    <a:close/>
                    <a:moveTo>
                      <a:pt x="147" y="103"/>
                    </a:moveTo>
                    <a:cubicBezTo>
                      <a:pt x="139" y="103"/>
                      <a:pt x="132" y="96"/>
                      <a:pt x="132" y="88"/>
                    </a:cubicBezTo>
                    <a:cubicBezTo>
                      <a:pt x="132" y="81"/>
                      <a:pt x="139" y="74"/>
                      <a:pt x="147" y="74"/>
                    </a:cubicBezTo>
                    <a:cubicBezTo>
                      <a:pt x="155" y="74"/>
                      <a:pt x="161" y="81"/>
                      <a:pt x="161" y="88"/>
                    </a:cubicBezTo>
                    <a:cubicBezTo>
                      <a:pt x="161" y="96"/>
                      <a:pt x="155" y="103"/>
                      <a:pt x="147" y="10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7" name="Group 99"/>
            <p:cNvGrpSpPr/>
            <p:nvPr/>
          </p:nvGrpSpPr>
          <p:grpSpPr>
            <a:xfrm>
              <a:off x="15689" y="5919"/>
              <a:ext cx="1068" cy="1156"/>
              <a:chOff x="7004221" y="4138049"/>
              <a:chExt cx="904182" cy="978913"/>
            </a:xfrm>
          </p:grpSpPr>
          <p:sp>
            <p:nvSpPr>
              <p:cNvPr id="243" name="Freeform: Shape 100"/>
              <p:cNvSpPr/>
              <p:nvPr/>
            </p:nvSpPr>
            <p:spPr bwMode="auto">
              <a:xfrm>
                <a:off x="7088378" y="4158920"/>
                <a:ext cx="820025" cy="958042"/>
              </a:xfrm>
              <a:custGeom>
                <a:avLst/>
                <a:gdLst>
                  <a:gd name="T0" fmla="*/ 258 w 515"/>
                  <a:gd name="T1" fmla="*/ 0 h 602"/>
                  <a:gd name="T2" fmla="*/ 0 w 515"/>
                  <a:gd name="T3" fmla="*/ 257 h 602"/>
                  <a:gd name="T4" fmla="*/ 131 w 515"/>
                  <a:gd name="T5" fmla="*/ 481 h 602"/>
                  <a:gd name="T6" fmla="*/ 142 w 515"/>
                  <a:gd name="T7" fmla="*/ 602 h 602"/>
                  <a:gd name="T8" fmla="*/ 246 w 515"/>
                  <a:gd name="T9" fmla="*/ 514 h 602"/>
                  <a:gd name="T10" fmla="*/ 258 w 515"/>
                  <a:gd name="T11" fmla="*/ 514 h 602"/>
                  <a:gd name="T12" fmla="*/ 515 w 515"/>
                  <a:gd name="T13" fmla="*/ 257 h 602"/>
                  <a:gd name="T14" fmla="*/ 258 w 515"/>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602">
                    <a:moveTo>
                      <a:pt x="258" y="0"/>
                    </a:moveTo>
                    <a:cubicBezTo>
                      <a:pt x="116" y="0"/>
                      <a:pt x="0" y="115"/>
                      <a:pt x="0" y="257"/>
                    </a:cubicBezTo>
                    <a:cubicBezTo>
                      <a:pt x="0" y="353"/>
                      <a:pt x="53" y="437"/>
                      <a:pt x="131" y="481"/>
                    </a:cubicBezTo>
                    <a:cubicBezTo>
                      <a:pt x="142" y="602"/>
                      <a:pt x="142" y="602"/>
                      <a:pt x="142" y="602"/>
                    </a:cubicBezTo>
                    <a:cubicBezTo>
                      <a:pt x="246" y="514"/>
                      <a:pt x="246" y="514"/>
                      <a:pt x="246" y="514"/>
                    </a:cubicBezTo>
                    <a:cubicBezTo>
                      <a:pt x="250" y="514"/>
                      <a:pt x="254" y="514"/>
                      <a:pt x="258" y="514"/>
                    </a:cubicBezTo>
                    <a:cubicBezTo>
                      <a:pt x="400" y="514"/>
                      <a:pt x="515" y="399"/>
                      <a:pt x="515" y="257"/>
                    </a:cubicBezTo>
                    <a:cubicBezTo>
                      <a:pt x="515" y="115"/>
                      <a:pt x="400" y="0"/>
                      <a:pt x="258"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4" name="Freeform: Shape 101"/>
              <p:cNvSpPr/>
              <p:nvPr/>
            </p:nvSpPr>
            <p:spPr bwMode="auto">
              <a:xfrm>
                <a:off x="7004221" y="4138049"/>
                <a:ext cx="818678" cy="958042"/>
              </a:xfrm>
              <a:custGeom>
                <a:avLst/>
                <a:gdLst>
                  <a:gd name="T0" fmla="*/ 257 w 514"/>
                  <a:gd name="T1" fmla="*/ 0 h 602"/>
                  <a:gd name="T2" fmla="*/ 0 w 514"/>
                  <a:gd name="T3" fmla="*/ 257 h 602"/>
                  <a:gd name="T4" fmla="*/ 131 w 514"/>
                  <a:gd name="T5" fmla="*/ 481 h 602"/>
                  <a:gd name="T6" fmla="*/ 142 w 514"/>
                  <a:gd name="T7" fmla="*/ 602 h 602"/>
                  <a:gd name="T8" fmla="*/ 246 w 514"/>
                  <a:gd name="T9" fmla="*/ 514 h 602"/>
                  <a:gd name="T10" fmla="*/ 257 w 514"/>
                  <a:gd name="T11" fmla="*/ 514 h 602"/>
                  <a:gd name="T12" fmla="*/ 514 w 514"/>
                  <a:gd name="T13" fmla="*/ 257 h 602"/>
                  <a:gd name="T14" fmla="*/ 257 w 514"/>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 h="602">
                    <a:moveTo>
                      <a:pt x="257" y="0"/>
                    </a:moveTo>
                    <a:cubicBezTo>
                      <a:pt x="115" y="0"/>
                      <a:pt x="0" y="115"/>
                      <a:pt x="0" y="257"/>
                    </a:cubicBezTo>
                    <a:cubicBezTo>
                      <a:pt x="0" y="353"/>
                      <a:pt x="53" y="437"/>
                      <a:pt x="131" y="481"/>
                    </a:cubicBezTo>
                    <a:cubicBezTo>
                      <a:pt x="142" y="602"/>
                      <a:pt x="142" y="602"/>
                      <a:pt x="142" y="602"/>
                    </a:cubicBezTo>
                    <a:cubicBezTo>
                      <a:pt x="246" y="514"/>
                      <a:pt x="246" y="514"/>
                      <a:pt x="246" y="514"/>
                    </a:cubicBezTo>
                    <a:cubicBezTo>
                      <a:pt x="249" y="514"/>
                      <a:pt x="253" y="514"/>
                      <a:pt x="257" y="514"/>
                    </a:cubicBezTo>
                    <a:cubicBezTo>
                      <a:pt x="399" y="514"/>
                      <a:pt x="514" y="399"/>
                      <a:pt x="514" y="257"/>
                    </a:cubicBezTo>
                    <a:cubicBezTo>
                      <a:pt x="514" y="115"/>
                      <a:pt x="399" y="0"/>
                      <a:pt x="257" y="0"/>
                    </a:cubicBezTo>
                    <a:close/>
                  </a:path>
                </a:pathLst>
              </a:cu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5" name="Freeform: Shape 102"/>
              <p:cNvSpPr/>
              <p:nvPr/>
            </p:nvSpPr>
            <p:spPr bwMode="auto">
              <a:xfrm>
                <a:off x="7138199" y="4430915"/>
                <a:ext cx="154175" cy="216115"/>
              </a:xfrm>
              <a:custGeom>
                <a:avLst/>
                <a:gdLst>
                  <a:gd name="T0" fmla="*/ 3 w 97"/>
                  <a:gd name="T1" fmla="*/ 54 h 136"/>
                  <a:gd name="T2" fmla="*/ 51 w 97"/>
                  <a:gd name="T3" fmla="*/ 0 h 136"/>
                  <a:gd name="T4" fmla="*/ 97 w 97"/>
                  <a:gd name="T5" fmla="*/ 42 h 136"/>
                  <a:gd name="T6" fmla="*/ 73 w 97"/>
                  <a:gd name="T7" fmla="*/ 82 h 136"/>
                  <a:gd name="T8" fmla="*/ 34 w 97"/>
                  <a:gd name="T9" fmla="*/ 113 h 136"/>
                  <a:gd name="T10" fmla="*/ 97 w 97"/>
                  <a:gd name="T11" fmla="*/ 113 h 136"/>
                  <a:gd name="T12" fmla="*/ 97 w 97"/>
                  <a:gd name="T13" fmla="*/ 136 h 136"/>
                  <a:gd name="T14" fmla="*/ 0 w 97"/>
                  <a:gd name="T15" fmla="*/ 136 h 136"/>
                  <a:gd name="T16" fmla="*/ 42 w 97"/>
                  <a:gd name="T17" fmla="*/ 76 h 136"/>
                  <a:gd name="T18" fmla="*/ 70 w 97"/>
                  <a:gd name="T19" fmla="*/ 43 h 136"/>
                  <a:gd name="T20" fmla="*/ 51 w 97"/>
                  <a:gd name="T21" fmla="*/ 23 h 136"/>
                  <a:gd name="T22" fmla="*/ 28 w 97"/>
                  <a:gd name="T23" fmla="*/ 54 h 136"/>
                  <a:gd name="T24" fmla="*/ 3 w 97"/>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36">
                    <a:moveTo>
                      <a:pt x="3" y="54"/>
                    </a:moveTo>
                    <a:cubicBezTo>
                      <a:pt x="2" y="23"/>
                      <a:pt x="19" y="0"/>
                      <a:pt x="51" y="0"/>
                    </a:cubicBezTo>
                    <a:cubicBezTo>
                      <a:pt x="75" y="0"/>
                      <a:pt x="97" y="16"/>
                      <a:pt x="97" y="42"/>
                    </a:cubicBezTo>
                    <a:cubicBezTo>
                      <a:pt x="97" y="62"/>
                      <a:pt x="86" y="73"/>
                      <a:pt x="73" y="82"/>
                    </a:cubicBezTo>
                    <a:cubicBezTo>
                      <a:pt x="60" y="91"/>
                      <a:pt x="44" y="99"/>
                      <a:pt x="34" y="113"/>
                    </a:cubicBezTo>
                    <a:cubicBezTo>
                      <a:pt x="97" y="113"/>
                      <a:pt x="97" y="113"/>
                      <a:pt x="97" y="113"/>
                    </a:cubicBezTo>
                    <a:cubicBezTo>
                      <a:pt x="97" y="136"/>
                      <a:pt x="97" y="136"/>
                      <a:pt x="97" y="136"/>
                    </a:cubicBezTo>
                    <a:cubicBezTo>
                      <a:pt x="0" y="136"/>
                      <a:pt x="0" y="136"/>
                      <a:pt x="0" y="136"/>
                    </a:cubicBezTo>
                    <a:cubicBezTo>
                      <a:pt x="0" y="105"/>
                      <a:pt x="19" y="92"/>
                      <a:pt x="42" y="76"/>
                    </a:cubicBezTo>
                    <a:cubicBezTo>
                      <a:pt x="60" y="64"/>
                      <a:pt x="70" y="57"/>
                      <a:pt x="70" y="43"/>
                    </a:cubicBezTo>
                    <a:cubicBezTo>
                      <a:pt x="70" y="32"/>
                      <a:pt x="61" y="23"/>
                      <a:pt x="51" y="23"/>
                    </a:cubicBezTo>
                    <a:cubicBezTo>
                      <a:pt x="33" y="23"/>
                      <a:pt x="28" y="40"/>
                      <a:pt x="28" y="54"/>
                    </a:cubicBezTo>
                    <a:lnTo>
                      <a:pt x="3" y="54"/>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6" name="Freeform: Shape 103"/>
              <p:cNvSpPr/>
              <p:nvPr/>
            </p:nvSpPr>
            <p:spPr bwMode="auto">
              <a:xfrm>
                <a:off x="7335463" y="4476697"/>
                <a:ext cx="159561" cy="157542"/>
              </a:xfrm>
              <a:custGeom>
                <a:avLst/>
                <a:gdLst>
                  <a:gd name="T0" fmla="*/ 0 w 237"/>
                  <a:gd name="T1" fmla="*/ 102 h 234"/>
                  <a:gd name="T2" fmla="*/ 104 w 237"/>
                  <a:gd name="T3" fmla="*/ 102 h 234"/>
                  <a:gd name="T4" fmla="*/ 104 w 237"/>
                  <a:gd name="T5" fmla="*/ 0 h 234"/>
                  <a:gd name="T6" fmla="*/ 132 w 237"/>
                  <a:gd name="T7" fmla="*/ 0 h 234"/>
                  <a:gd name="T8" fmla="*/ 132 w 237"/>
                  <a:gd name="T9" fmla="*/ 102 h 234"/>
                  <a:gd name="T10" fmla="*/ 237 w 237"/>
                  <a:gd name="T11" fmla="*/ 102 h 234"/>
                  <a:gd name="T12" fmla="*/ 237 w 237"/>
                  <a:gd name="T13" fmla="*/ 130 h 234"/>
                  <a:gd name="T14" fmla="*/ 132 w 237"/>
                  <a:gd name="T15" fmla="*/ 130 h 234"/>
                  <a:gd name="T16" fmla="*/ 132 w 237"/>
                  <a:gd name="T17" fmla="*/ 234 h 234"/>
                  <a:gd name="T18" fmla="*/ 104 w 237"/>
                  <a:gd name="T19" fmla="*/ 234 h 234"/>
                  <a:gd name="T20" fmla="*/ 104 w 237"/>
                  <a:gd name="T21" fmla="*/ 130 h 234"/>
                  <a:gd name="T22" fmla="*/ 0 w 237"/>
                  <a:gd name="T23" fmla="*/ 130 h 234"/>
                  <a:gd name="T24" fmla="*/ 0 w 237"/>
                  <a:gd name="T25" fmla="*/ 102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34">
                    <a:moveTo>
                      <a:pt x="0" y="102"/>
                    </a:moveTo>
                    <a:lnTo>
                      <a:pt x="104" y="102"/>
                    </a:lnTo>
                    <a:lnTo>
                      <a:pt x="104" y="0"/>
                    </a:lnTo>
                    <a:lnTo>
                      <a:pt x="132" y="0"/>
                    </a:lnTo>
                    <a:lnTo>
                      <a:pt x="132" y="102"/>
                    </a:lnTo>
                    <a:lnTo>
                      <a:pt x="237" y="102"/>
                    </a:lnTo>
                    <a:lnTo>
                      <a:pt x="237" y="130"/>
                    </a:lnTo>
                    <a:lnTo>
                      <a:pt x="132" y="130"/>
                    </a:lnTo>
                    <a:lnTo>
                      <a:pt x="132" y="234"/>
                    </a:lnTo>
                    <a:lnTo>
                      <a:pt x="104" y="234"/>
                    </a:lnTo>
                    <a:lnTo>
                      <a:pt x="104" y="130"/>
                    </a:lnTo>
                    <a:lnTo>
                      <a:pt x="0" y="130"/>
                    </a:lnTo>
                    <a:lnTo>
                      <a:pt x="0" y="102"/>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7" name="Freeform: Shape 104"/>
              <p:cNvSpPr/>
              <p:nvPr/>
            </p:nvSpPr>
            <p:spPr bwMode="auto">
              <a:xfrm>
                <a:off x="7528014" y="4430915"/>
                <a:ext cx="156195" cy="216115"/>
              </a:xfrm>
              <a:custGeom>
                <a:avLst/>
                <a:gdLst>
                  <a:gd name="T0" fmla="*/ 3 w 98"/>
                  <a:gd name="T1" fmla="*/ 54 h 136"/>
                  <a:gd name="T2" fmla="*/ 51 w 98"/>
                  <a:gd name="T3" fmla="*/ 0 h 136"/>
                  <a:gd name="T4" fmla="*/ 97 w 98"/>
                  <a:gd name="T5" fmla="*/ 42 h 136"/>
                  <a:gd name="T6" fmla="*/ 73 w 98"/>
                  <a:gd name="T7" fmla="*/ 82 h 136"/>
                  <a:gd name="T8" fmla="*/ 35 w 98"/>
                  <a:gd name="T9" fmla="*/ 113 h 136"/>
                  <a:gd name="T10" fmla="*/ 98 w 98"/>
                  <a:gd name="T11" fmla="*/ 113 h 136"/>
                  <a:gd name="T12" fmla="*/ 98 w 98"/>
                  <a:gd name="T13" fmla="*/ 136 h 136"/>
                  <a:gd name="T14" fmla="*/ 0 w 98"/>
                  <a:gd name="T15" fmla="*/ 136 h 136"/>
                  <a:gd name="T16" fmla="*/ 42 w 98"/>
                  <a:gd name="T17" fmla="*/ 76 h 136"/>
                  <a:gd name="T18" fmla="*/ 70 w 98"/>
                  <a:gd name="T19" fmla="*/ 43 h 136"/>
                  <a:gd name="T20" fmla="*/ 51 w 98"/>
                  <a:gd name="T21" fmla="*/ 23 h 136"/>
                  <a:gd name="T22" fmla="*/ 29 w 98"/>
                  <a:gd name="T23" fmla="*/ 54 h 136"/>
                  <a:gd name="T24" fmla="*/ 3 w 98"/>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6">
                    <a:moveTo>
                      <a:pt x="3" y="54"/>
                    </a:moveTo>
                    <a:cubicBezTo>
                      <a:pt x="2" y="23"/>
                      <a:pt x="19" y="0"/>
                      <a:pt x="51" y="0"/>
                    </a:cubicBezTo>
                    <a:cubicBezTo>
                      <a:pt x="75" y="0"/>
                      <a:pt x="97" y="16"/>
                      <a:pt x="97" y="42"/>
                    </a:cubicBezTo>
                    <a:cubicBezTo>
                      <a:pt x="97" y="62"/>
                      <a:pt x="86" y="73"/>
                      <a:pt x="73" y="82"/>
                    </a:cubicBezTo>
                    <a:cubicBezTo>
                      <a:pt x="60" y="91"/>
                      <a:pt x="44" y="99"/>
                      <a:pt x="35" y="113"/>
                    </a:cubicBezTo>
                    <a:cubicBezTo>
                      <a:pt x="98" y="113"/>
                      <a:pt x="98" y="113"/>
                      <a:pt x="98" y="113"/>
                    </a:cubicBezTo>
                    <a:cubicBezTo>
                      <a:pt x="98" y="136"/>
                      <a:pt x="98" y="136"/>
                      <a:pt x="98" y="136"/>
                    </a:cubicBezTo>
                    <a:cubicBezTo>
                      <a:pt x="0" y="136"/>
                      <a:pt x="0" y="136"/>
                      <a:pt x="0" y="136"/>
                    </a:cubicBezTo>
                    <a:cubicBezTo>
                      <a:pt x="0" y="105"/>
                      <a:pt x="19" y="92"/>
                      <a:pt x="42" y="76"/>
                    </a:cubicBezTo>
                    <a:cubicBezTo>
                      <a:pt x="60" y="64"/>
                      <a:pt x="70" y="57"/>
                      <a:pt x="70" y="43"/>
                    </a:cubicBezTo>
                    <a:cubicBezTo>
                      <a:pt x="70" y="32"/>
                      <a:pt x="62" y="23"/>
                      <a:pt x="51" y="23"/>
                    </a:cubicBezTo>
                    <a:cubicBezTo>
                      <a:pt x="33" y="23"/>
                      <a:pt x="29" y="40"/>
                      <a:pt x="29" y="54"/>
                    </a:cubicBezTo>
                    <a:lnTo>
                      <a:pt x="3" y="54"/>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8" name="Group 105"/>
            <p:cNvGrpSpPr/>
            <p:nvPr/>
          </p:nvGrpSpPr>
          <p:grpSpPr>
            <a:xfrm>
              <a:off x="14341" y="3475"/>
              <a:ext cx="1276" cy="1382"/>
              <a:chOff x="5863054" y="2068463"/>
              <a:chExt cx="1080574" cy="1170118"/>
            </a:xfrm>
          </p:grpSpPr>
          <p:sp>
            <p:nvSpPr>
              <p:cNvPr id="236" name="Freeform: Shape 106"/>
              <p:cNvSpPr/>
              <p:nvPr/>
            </p:nvSpPr>
            <p:spPr bwMode="auto">
              <a:xfrm>
                <a:off x="5966062" y="2094047"/>
                <a:ext cx="977566" cy="1144534"/>
              </a:xfrm>
              <a:custGeom>
                <a:avLst/>
                <a:gdLst>
                  <a:gd name="T0" fmla="*/ 307 w 614"/>
                  <a:gd name="T1" fmla="*/ 0 h 719"/>
                  <a:gd name="T2" fmla="*/ 0 w 614"/>
                  <a:gd name="T3" fmla="*/ 307 h 719"/>
                  <a:gd name="T4" fmla="*/ 307 w 614"/>
                  <a:gd name="T5" fmla="*/ 615 h 719"/>
                  <a:gd name="T6" fmla="*/ 321 w 614"/>
                  <a:gd name="T7" fmla="*/ 614 h 719"/>
                  <a:gd name="T8" fmla="*/ 445 w 614"/>
                  <a:gd name="T9" fmla="*/ 719 h 719"/>
                  <a:gd name="T10" fmla="*/ 458 w 614"/>
                  <a:gd name="T11" fmla="*/ 575 h 719"/>
                  <a:gd name="T12" fmla="*/ 614 w 614"/>
                  <a:gd name="T13" fmla="*/ 307 h 719"/>
                  <a:gd name="T14" fmla="*/ 307 w 614"/>
                  <a:gd name="T15" fmla="*/ 0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307" y="0"/>
                    </a:moveTo>
                    <a:cubicBezTo>
                      <a:pt x="137" y="0"/>
                      <a:pt x="0" y="138"/>
                      <a:pt x="0" y="307"/>
                    </a:cubicBezTo>
                    <a:cubicBezTo>
                      <a:pt x="0" y="477"/>
                      <a:pt x="137" y="615"/>
                      <a:pt x="307" y="615"/>
                    </a:cubicBezTo>
                    <a:cubicBezTo>
                      <a:pt x="312" y="615"/>
                      <a:pt x="316" y="615"/>
                      <a:pt x="321" y="614"/>
                    </a:cubicBezTo>
                    <a:cubicBezTo>
                      <a:pt x="445" y="719"/>
                      <a:pt x="445" y="719"/>
                      <a:pt x="445" y="719"/>
                    </a:cubicBezTo>
                    <a:cubicBezTo>
                      <a:pt x="458" y="575"/>
                      <a:pt x="458" y="575"/>
                      <a:pt x="458" y="575"/>
                    </a:cubicBezTo>
                    <a:cubicBezTo>
                      <a:pt x="551" y="522"/>
                      <a:pt x="614" y="422"/>
                      <a:pt x="614" y="307"/>
                    </a:cubicBezTo>
                    <a:cubicBezTo>
                      <a:pt x="614" y="138"/>
                      <a:pt x="477" y="0"/>
                      <a:pt x="3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7" name="Freeform: Shape 107"/>
              <p:cNvSpPr/>
              <p:nvPr/>
            </p:nvSpPr>
            <p:spPr bwMode="auto">
              <a:xfrm>
                <a:off x="5863054" y="2068463"/>
                <a:ext cx="977566" cy="1144534"/>
              </a:xfrm>
              <a:custGeom>
                <a:avLst/>
                <a:gdLst>
                  <a:gd name="T0" fmla="*/ 614 w 614"/>
                  <a:gd name="T1" fmla="*/ 307 h 719"/>
                  <a:gd name="T2" fmla="*/ 307 w 614"/>
                  <a:gd name="T3" fmla="*/ 0 h 719"/>
                  <a:gd name="T4" fmla="*/ 0 w 614"/>
                  <a:gd name="T5" fmla="*/ 307 h 719"/>
                  <a:gd name="T6" fmla="*/ 307 w 614"/>
                  <a:gd name="T7" fmla="*/ 614 h 719"/>
                  <a:gd name="T8" fmla="*/ 321 w 614"/>
                  <a:gd name="T9" fmla="*/ 614 h 719"/>
                  <a:gd name="T10" fmla="*/ 445 w 614"/>
                  <a:gd name="T11" fmla="*/ 719 h 719"/>
                  <a:gd name="T12" fmla="*/ 458 w 614"/>
                  <a:gd name="T13" fmla="*/ 575 h 719"/>
                  <a:gd name="T14" fmla="*/ 614 w 614"/>
                  <a:gd name="T15" fmla="*/ 307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614" y="307"/>
                    </a:moveTo>
                    <a:cubicBezTo>
                      <a:pt x="614" y="138"/>
                      <a:pt x="477" y="0"/>
                      <a:pt x="307" y="0"/>
                    </a:cubicBezTo>
                    <a:cubicBezTo>
                      <a:pt x="137" y="0"/>
                      <a:pt x="0" y="138"/>
                      <a:pt x="0" y="307"/>
                    </a:cubicBezTo>
                    <a:cubicBezTo>
                      <a:pt x="0" y="477"/>
                      <a:pt x="137" y="614"/>
                      <a:pt x="307" y="614"/>
                    </a:cubicBezTo>
                    <a:cubicBezTo>
                      <a:pt x="312" y="614"/>
                      <a:pt x="316" y="614"/>
                      <a:pt x="321" y="614"/>
                    </a:cubicBezTo>
                    <a:cubicBezTo>
                      <a:pt x="445" y="719"/>
                      <a:pt x="445" y="719"/>
                      <a:pt x="445" y="719"/>
                    </a:cubicBezTo>
                    <a:cubicBezTo>
                      <a:pt x="458" y="575"/>
                      <a:pt x="458" y="575"/>
                      <a:pt x="458" y="575"/>
                    </a:cubicBezTo>
                    <a:cubicBezTo>
                      <a:pt x="551" y="522"/>
                      <a:pt x="614" y="422"/>
                      <a:pt x="614" y="307"/>
                    </a:cubicBezTo>
                    <a:close/>
                  </a:path>
                </a:pathLst>
              </a:custGeom>
              <a:solidFill>
                <a:schemeClr val="accent4"/>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8" name="Freeform: Shape 108"/>
              <p:cNvSpPr/>
              <p:nvPr/>
            </p:nvSpPr>
            <p:spPr bwMode="auto">
              <a:xfrm>
                <a:off x="6063684" y="2215232"/>
                <a:ext cx="486763" cy="555436"/>
              </a:xfrm>
              <a:custGeom>
                <a:avLst/>
                <a:gdLst>
                  <a:gd name="T0" fmla="*/ 0 w 723"/>
                  <a:gd name="T1" fmla="*/ 338 h 825"/>
                  <a:gd name="T2" fmla="*/ 305 w 723"/>
                  <a:gd name="T3" fmla="*/ 825 h 825"/>
                  <a:gd name="T4" fmla="*/ 723 w 723"/>
                  <a:gd name="T5" fmla="*/ 0 h 825"/>
                  <a:gd name="T6" fmla="*/ 0 w 723"/>
                  <a:gd name="T7" fmla="*/ 338 h 825"/>
                  <a:gd name="T8" fmla="*/ 198 w 723"/>
                  <a:gd name="T9" fmla="*/ 383 h 825"/>
                  <a:gd name="T10" fmla="*/ 482 w 723"/>
                  <a:gd name="T11" fmla="*/ 250 h 825"/>
                  <a:gd name="T12" fmla="*/ 319 w 723"/>
                  <a:gd name="T13" fmla="*/ 574 h 825"/>
                  <a:gd name="T14" fmla="*/ 198 w 723"/>
                  <a:gd name="T15" fmla="*/ 383 h 8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3" h="825">
                    <a:moveTo>
                      <a:pt x="0" y="338"/>
                    </a:moveTo>
                    <a:lnTo>
                      <a:pt x="305" y="825"/>
                    </a:lnTo>
                    <a:lnTo>
                      <a:pt x="723" y="0"/>
                    </a:lnTo>
                    <a:lnTo>
                      <a:pt x="0" y="338"/>
                    </a:lnTo>
                    <a:close/>
                    <a:moveTo>
                      <a:pt x="198" y="383"/>
                    </a:moveTo>
                    <a:lnTo>
                      <a:pt x="482" y="250"/>
                    </a:lnTo>
                    <a:lnTo>
                      <a:pt x="319" y="574"/>
                    </a:lnTo>
                    <a:lnTo>
                      <a:pt x="198" y="383"/>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9" name="Freeform: Shape 109"/>
              <p:cNvSpPr/>
              <p:nvPr/>
            </p:nvSpPr>
            <p:spPr bwMode="auto">
              <a:xfrm>
                <a:off x="6383480" y="2531662"/>
                <a:ext cx="200630" cy="207363"/>
              </a:xfrm>
              <a:custGeom>
                <a:avLst/>
                <a:gdLst>
                  <a:gd name="T0" fmla="*/ 0 w 298"/>
                  <a:gd name="T1" fmla="*/ 194 h 308"/>
                  <a:gd name="T2" fmla="*/ 184 w 298"/>
                  <a:gd name="T3" fmla="*/ 0 h 308"/>
                  <a:gd name="T4" fmla="*/ 298 w 298"/>
                  <a:gd name="T5" fmla="*/ 116 h 308"/>
                  <a:gd name="T6" fmla="*/ 113 w 298"/>
                  <a:gd name="T7" fmla="*/ 308 h 308"/>
                  <a:gd name="T8" fmla="*/ 0 w 298"/>
                  <a:gd name="T9" fmla="*/ 194 h 308"/>
                </a:gdLst>
                <a:ahLst/>
                <a:cxnLst>
                  <a:cxn ang="0">
                    <a:pos x="T0" y="T1"/>
                  </a:cxn>
                  <a:cxn ang="0">
                    <a:pos x="T2" y="T3"/>
                  </a:cxn>
                  <a:cxn ang="0">
                    <a:pos x="T4" y="T5"/>
                  </a:cxn>
                  <a:cxn ang="0">
                    <a:pos x="T6" y="T7"/>
                  </a:cxn>
                  <a:cxn ang="0">
                    <a:pos x="T8" y="T9"/>
                  </a:cxn>
                </a:cxnLst>
                <a:rect l="0" t="0" r="r" b="b"/>
                <a:pathLst>
                  <a:path w="298" h="308">
                    <a:moveTo>
                      <a:pt x="0" y="194"/>
                    </a:moveTo>
                    <a:lnTo>
                      <a:pt x="184" y="0"/>
                    </a:lnTo>
                    <a:lnTo>
                      <a:pt x="298" y="116"/>
                    </a:lnTo>
                    <a:lnTo>
                      <a:pt x="113" y="308"/>
                    </a:lnTo>
                    <a:lnTo>
                      <a:pt x="0" y="194"/>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0" name="Freeform: Shape 110"/>
              <p:cNvSpPr/>
              <p:nvPr/>
            </p:nvSpPr>
            <p:spPr bwMode="auto">
              <a:xfrm>
                <a:off x="6351837" y="2675066"/>
                <a:ext cx="94929" cy="87523"/>
              </a:xfrm>
              <a:custGeom>
                <a:avLst/>
                <a:gdLst>
                  <a:gd name="T0" fmla="*/ 16 w 60"/>
                  <a:gd name="T1" fmla="*/ 0 h 55"/>
                  <a:gd name="T2" fmla="*/ 60 w 60"/>
                  <a:gd name="T3" fmla="*/ 45 h 55"/>
                  <a:gd name="T4" fmla="*/ 0 w 60"/>
                  <a:gd name="T5" fmla="*/ 55 h 55"/>
                  <a:gd name="T6" fmla="*/ 16 w 60"/>
                  <a:gd name="T7" fmla="*/ 0 h 55"/>
                </a:gdLst>
                <a:ahLst/>
                <a:cxnLst>
                  <a:cxn ang="0">
                    <a:pos x="T0" y="T1"/>
                  </a:cxn>
                  <a:cxn ang="0">
                    <a:pos x="T2" y="T3"/>
                  </a:cxn>
                  <a:cxn ang="0">
                    <a:pos x="T4" y="T5"/>
                  </a:cxn>
                  <a:cxn ang="0">
                    <a:pos x="T6" y="T7"/>
                  </a:cxn>
                </a:cxnLst>
                <a:rect l="0" t="0" r="r" b="b"/>
                <a:pathLst>
                  <a:path w="60" h="55">
                    <a:moveTo>
                      <a:pt x="16" y="0"/>
                    </a:moveTo>
                    <a:cubicBezTo>
                      <a:pt x="17" y="1"/>
                      <a:pt x="60" y="45"/>
                      <a:pt x="60" y="45"/>
                    </a:cubicBezTo>
                    <a:cubicBezTo>
                      <a:pt x="0" y="55"/>
                      <a:pt x="0" y="55"/>
                      <a:pt x="0" y="55"/>
                    </a:cubicBezTo>
                    <a:lnTo>
                      <a:pt x="16" y="0"/>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1" name="Freeform: Shape 111"/>
              <p:cNvSpPr/>
              <p:nvPr/>
            </p:nvSpPr>
            <p:spPr bwMode="auto">
              <a:xfrm>
                <a:off x="6502646" y="2476455"/>
                <a:ext cx="135324" cy="133305"/>
              </a:xfrm>
              <a:custGeom>
                <a:avLst/>
                <a:gdLst>
                  <a:gd name="T0" fmla="*/ 156 w 201"/>
                  <a:gd name="T1" fmla="*/ 198 h 198"/>
                  <a:gd name="T2" fmla="*/ 0 w 201"/>
                  <a:gd name="T3" fmla="*/ 44 h 198"/>
                  <a:gd name="T4" fmla="*/ 45 w 201"/>
                  <a:gd name="T5" fmla="*/ 0 h 198"/>
                  <a:gd name="T6" fmla="*/ 201 w 201"/>
                  <a:gd name="T7" fmla="*/ 153 h 198"/>
                  <a:gd name="T8" fmla="*/ 156 w 201"/>
                  <a:gd name="T9" fmla="*/ 198 h 198"/>
                </a:gdLst>
                <a:ahLst/>
                <a:cxnLst>
                  <a:cxn ang="0">
                    <a:pos x="T0" y="T1"/>
                  </a:cxn>
                  <a:cxn ang="0">
                    <a:pos x="T2" y="T3"/>
                  </a:cxn>
                  <a:cxn ang="0">
                    <a:pos x="T4" y="T5"/>
                  </a:cxn>
                  <a:cxn ang="0">
                    <a:pos x="T6" y="T7"/>
                  </a:cxn>
                  <a:cxn ang="0">
                    <a:pos x="T8" y="T9"/>
                  </a:cxn>
                </a:cxnLst>
                <a:rect l="0" t="0" r="r" b="b"/>
                <a:pathLst>
                  <a:path w="201" h="198">
                    <a:moveTo>
                      <a:pt x="156" y="198"/>
                    </a:moveTo>
                    <a:lnTo>
                      <a:pt x="0" y="44"/>
                    </a:lnTo>
                    <a:lnTo>
                      <a:pt x="45" y="0"/>
                    </a:lnTo>
                    <a:lnTo>
                      <a:pt x="201" y="153"/>
                    </a:lnTo>
                    <a:lnTo>
                      <a:pt x="156" y="198"/>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42" name="Rectangle 112"/>
              <p:cNvSpPr/>
              <p:nvPr/>
            </p:nvSpPr>
            <p:spPr bwMode="auto">
              <a:xfrm>
                <a:off x="6200355" y="2799618"/>
                <a:ext cx="311717" cy="31643"/>
              </a:xfrm>
              <a:prstGeom prst="rect">
                <a:avLst/>
              </a:pr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99" name="Group 113"/>
            <p:cNvGrpSpPr/>
            <p:nvPr/>
          </p:nvGrpSpPr>
          <p:grpSpPr>
            <a:xfrm>
              <a:off x="12252" y="6074"/>
              <a:ext cx="1148" cy="1252"/>
              <a:chOff x="4098452" y="4268661"/>
              <a:chExt cx="972853" cy="1059703"/>
            </a:xfrm>
          </p:grpSpPr>
          <p:sp>
            <p:nvSpPr>
              <p:cNvPr id="229" name="Freeform: Shape 114"/>
              <p:cNvSpPr/>
              <p:nvPr/>
            </p:nvSpPr>
            <p:spPr bwMode="auto">
              <a:xfrm>
                <a:off x="4354962" y="4408698"/>
                <a:ext cx="334608" cy="624108"/>
              </a:xfrm>
              <a:custGeom>
                <a:avLst/>
                <a:gdLst>
                  <a:gd name="T0" fmla="*/ 210 w 210"/>
                  <a:gd name="T1" fmla="*/ 261 h 392"/>
                  <a:gd name="T2" fmla="*/ 204 w 210"/>
                  <a:gd name="T3" fmla="*/ 290 h 392"/>
                  <a:gd name="T4" fmla="*/ 187 w 210"/>
                  <a:gd name="T5" fmla="*/ 318 h 392"/>
                  <a:gd name="T6" fmla="*/ 159 w 210"/>
                  <a:gd name="T7" fmla="*/ 341 h 392"/>
                  <a:gd name="T8" fmla="*/ 123 w 210"/>
                  <a:gd name="T9" fmla="*/ 355 h 392"/>
                  <a:gd name="T10" fmla="*/ 123 w 210"/>
                  <a:gd name="T11" fmla="*/ 392 h 392"/>
                  <a:gd name="T12" fmla="*/ 96 w 210"/>
                  <a:gd name="T13" fmla="*/ 392 h 392"/>
                  <a:gd name="T14" fmla="*/ 96 w 210"/>
                  <a:gd name="T15" fmla="*/ 358 h 392"/>
                  <a:gd name="T16" fmla="*/ 94 w 210"/>
                  <a:gd name="T17" fmla="*/ 358 h 392"/>
                  <a:gd name="T18" fmla="*/ 91 w 210"/>
                  <a:gd name="T19" fmla="*/ 358 h 392"/>
                  <a:gd name="T20" fmla="*/ 64 w 210"/>
                  <a:gd name="T21" fmla="*/ 357 h 392"/>
                  <a:gd name="T22" fmla="*/ 41 w 210"/>
                  <a:gd name="T23" fmla="*/ 352 h 392"/>
                  <a:gd name="T24" fmla="*/ 20 w 210"/>
                  <a:gd name="T25" fmla="*/ 345 h 392"/>
                  <a:gd name="T26" fmla="*/ 0 w 210"/>
                  <a:gd name="T27" fmla="*/ 335 h 392"/>
                  <a:gd name="T28" fmla="*/ 15 w 210"/>
                  <a:gd name="T29" fmla="*/ 288 h 392"/>
                  <a:gd name="T30" fmla="*/ 31 w 210"/>
                  <a:gd name="T31" fmla="*/ 297 h 392"/>
                  <a:gd name="T32" fmla="*/ 51 w 210"/>
                  <a:gd name="T33" fmla="*/ 306 h 392"/>
                  <a:gd name="T34" fmla="*/ 74 w 210"/>
                  <a:gd name="T35" fmla="*/ 314 h 392"/>
                  <a:gd name="T36" fmla="*/ 96 w 210"/>
                  <a:gd name="T37" fmla="*/ 318 h 392"/>
                  <a:gd name="T38" fmla="*/ 96 w 210"/>
                  <a:gd name="T39" fmla="*/ 219 h 392"/>
                  <a:gd name="T40" fmla="*/ 66 w 210"/>
                  <a:gd name="T41" fmla="*/ 206 h 392"/>
                  <a:gd name="T42" fmla="*/ 39 w 210"/>
                  <a:gd name="T43" fmla="*/ 188 h 392"/>
                  <a:gd name="T44" fmla="*/ 19 w 210"/>
                  <a:gd name="T45" fmla="*/ 160 h 392"/>
                  <a:gd name="T46" fmla="*/ 11 w 210"/>
                  <a:gd name="T47" fmla="*/ 119 h 392"/>
                  <a:gd name="T48" fmla="*/ 17 w 210"/>
                  <a:gd name="T49" fmla="*/ 94 h 392"/>
                  <a:gd name="T50" fmla="*/ 33 w 210"/>
                  <a:gd name="T51" fmla="*/ 69 h 392"/>
                  <a:gd name="T52" fmla="*/ 60 w 210"/>
                  <a:gd name="T53" fmla="*/ 48 h 392"/>
                  <a:gd name="T54" fmla="*/ 96 w 210"/>
                  <a:gd name="T55" fmla="*/ 35 h 392"/>
                  <a:gd name="T56" fmla="*/ 96 w 210"/>
                  <a:gd name="T57" fmla="*/ 0 h 392"/>
                  <a:gd name="T58" fmla="*/ 123 w 210"/>
                  <a:gd name="T59" fmla="*/ 0 h 392"/>
                  <a:gd name="T60" fmla="*/ 123 w 210"/>
                  <a:gd name="T61" fmla="*/ 32 h 392"/>
                  <a:gd name="T62" fmla="*/ 123 w 210"/>
                  <a:gd name="T63" fmla="*/ 32 h 392"/>
                  <a:gd name="T64" fmla="*/ 161 w 210"/>
                  <a:gd name="T65" fmla="*/ 34 h 392"/>
                  <a:gd name="T66" fmla="*/ 196 w 210"/>
                  <a:gd name="T67" fmla="*/ 40 h 392"/>
                  <a:gd name="T68" fmla="*/ 187 w 210"/>
                  <a:gd name="T69" fmla="*/ 87 h 392"/>
                  <a:gd name="T70" fmla="*/ 155 w 210"/>
                  <a:gd name="T71" fmla="*/ 77 h 392"/>
                  <a:gd name="T72" fmla="*/ 123 w 210"/>
                  <a:gd name="T73" fmla="*/ 72 h 392"/>
                  <a:gd name="T74" fmla="*/ 123 w 210"/>
                  <a:gd name="T75" fmla="*/ 159 h 392"/>
                  <a:gd name="T76" fmla="*/ 153 w 210"/>
                  <a:gd name="T77" fmla="*/ 172 h 392"/>
                  <a:gd name="T78" fmla="*/ 181 w 210"/>
                  <a:gd name="T79" fmla="*/ 191 h 392"/>
                  <a:gd name="T80" fmla="*/ 202 w 210"/>
                  <a:gd name="T81" fmla="*/ 219 h 392"/>
                  <a:gd name="T82" fmla="*/ 210 w 210"/>
                  <a:gd name="T83" fmla="*/ 261 h 392"/>
                  <a:gd name="T84" fmla="*/ 65 w 210"/>
                  <a:gd name="T85" fmla="*/ 110 h 392"/>
                  <a:gd name="T86" fmla="*/ 74 w 210"/>
                  <a:gd name="T87" fmla="*/ 133 h 392"/>
                  <a:gd name="T88" fmla="*/ 96 w 210"/>
                  <a:gd name="T89" fmla="*/ 148 h 392"/>
                  <a:gd name="T90" fmla="*/ 96 w 210"/>
                  <a:gd name="T91" fmla="*/ 73 h 392"/>
                  <a:gd name="T92" fmla="*/ 77 w 210"/>
                  <a:gd name="T93" fmla="*/ 79 h 392"/>
                  <a:gd name="T94" fmla="*/ 68 w 210"/>
                  <a:gd name="T95" fmla="*/ 90 h 392"/>
                  <a:gd name="T96" fmla="*/ 65 w 210"/>
                  <a:gd name="T97" fmla="*/ 110 h 392"/>
                  <a:gd name="T98" fmla="*/ 155 w 210"/>
                  <a:gd name="T99" fmla="*/ 269 h 392"/>
                  <a:gd name="T100" fmla="*/ 146 w 210"/>
                  <a:gd name="T101" fmla="*/ 246 h 392"/>
                  <a:gd name="T102" fmla="*/ 123 w 210"/>
                  <a:gd name="T103" fmla="*/ 230 h 392"/>
                  <a:gd name="T104" fmla="*/ 123 w 210"/>
                  <a:gd name="T105" fmla="*/ 316 h 392"/>
                  <a:gd name="T106" fmla="*/ 132 w 210"/>
                  <a:gd name="T107" fmla="*/ 314 h 392"/>
                  <a:gd name="T108" fmla="*/ 140 w 210"/>
                  <a:gd name="T109" fmla="*/ 311 h 392"/>
                  <a:gd name="T110" fmla="*/ 151 w 210"/>
                  <a:gd name="T111" fmla="*/ 298 h 392"/>
                  <a:gd name="T112" fmla="*/ 155 w 210"/>
                  <a:gd name="T113" fmla="*/ 2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210" y="261"/>
                    </a:moveTo>
                    <a:cubicBezTo>
                      <a:pt x="210" y="271"/>
                      <a:pt x="208" y="281"/>
                      <a:pt x="204" y="290"/>
                    </a:cubicBezTo>
                    <a:cubicBezTo>
                      <a:pt x="200" y="300"/>
                      <a:pt x="194" y="310"/>
                      <a:pt x="187" y="318"/>
                    </a:cubicBezTo>
                    <a:cubicBezTo>
                      <a:pt x="179" y="327"/>
                      <a:pt x="170" y="334"/>
                      <a:pt x="159" y="341"/>
                    </a:cubicBezTo>
                    <a:cubicBezTo>
                      <a:pt x="148" y="347"/>
                      <a:pt x="136" y="352"/>
                      <a:pt x="123" y="355"/>
                    </a:cubicBezTo>
                    <a:cubicBezTo>
                      <a:pt x="123" y="392"/>
                      <a:pt x="123" y="392"/>
                      <a:pt x="123" y="392"/>
                    </a:cubicBezTo>
                    <a:cubicBezTo>
                      <a:pt x="96" y="392"/>
                      <a:pt x="96" y="392"/>
                      <a:pt x="96" y="392"/>
                    </a:cubicBezTo>
                    <a:cubicBezTo>
                      <a:pt x="96" y="358"/>
                      <a:pt x="96" y="358"/>
                      <a:pt x="96" y="358"/>
                    </a:cubicBezTo>
                    <a:cubicBezTo>
                      <a:pt x="95" y="358"/>
                      <a:pt x="94" y="358"/>
                      <a:pt x="94" y="358"/>
                    </a:cubicBezTo>
                    <a:cubicBezTo>
                      <a:pt x="93" y="358"/>
                      <a:pt x="92" y="358"/>
                      <a:pt x="91" y="358"/>
                    </a:cubicBezTo>
                    <a:cubicBezTo>
                      <a:pt x="82" y="358"/>
                      <a:pt x="73" y="358"/>
                      <a:pt x="64" y="357"/>
                    </a:cubicBezTo>
                    <a:cubicBezTo>
                      <a:pt x="56" y="356"/>
                      <a:pt x="48" y="354"/>
                      <a:pt x="41" y="352"/>
                    </a:cubicBezTo>
                    <a:cubicBezTo>
                      <a:pt x="34" y="350"/>
                      <a:pt x="27" y="348"/>
                      <a:pt x="20" y="345"/>
                    </a:cubicBezTo>
                    <a:cubicBezTo>
                      <a:pt x="13" y="342"/>
                      <a:pt x="7" y="339"/>
                      <a:pt x="0" y="335"/>
                    </a:cubicBezTo>
                    <a:cubicBezTo>
                      <a:pt x="15" y="288"/>
                      <a:pt x="15" y="288"/>
                      <a:pt x="15" y="288"/>
                    </a:cubicBezTo>
                    <a:cubicBezTo>
                      <a:pt x="19" y="291"/>
                      <a:pt x="25" y="294"/>
                      <a:pt x="31" y="297"/>
                    </a:cubicBezTo>
                    <a:cubicBezTo>
                      <a:pt x="37" y="301"/>
                      <a:pt x="44" y="304"/>
                      <a:pt x="51" y="306"/>
                    </a:cubicBezTo>
                    <a:cubicBezTo>
                      <a:pt x="59" y="309"/>
                      <a:pt x="66" y="312"/>
                      <a:pt x="74" y="314"/>
                    </a:cubicBezTo>
                    <a:cubicBezTo>
                      <a:pt x="82" y="316"/>
                      <a:pt x="89" y="317"/>
                      <a:pt x="96" y="318"/>
                    </a:cubicBezTo>
                    <a:cubicBezTo>
                      <a:pt x="96" y="219"/>
                      <a:pt x="96" y="219"/>
                      <a:pt x="96" y="219"/>
                    </a:cubicBezTo>
                    <a:cubicBezTo>
                      <a:pt x="86" y="215"/>
                      <a:pt x="76" y="211"/>
                      <a:pt x="66" y="206"/>
                    </a:cubicBezTo>
                    <a:cubicBezTo>
                      <a:pt x="56" y="201"/>
                      <a:pt x="47" y="195"/>
                      <a:pt x="39" y="188"/>
                    </a:cubicBezTo>
                    <a:cubicBezTo>
                      <a:pt x="30" y="180"/>
                      <a:pt x="24" y="171"/>
                      <a:pt x="19" y="160"/>
                    </a:cubicBezTo>
                    <a:cubicBezTo>
                      <a:pt x="13" y="149"/>
                      <a:pt x="11" y="136"/>
                      <a:pt x="11" y="119"/>
                    </a:cubicBezTo>
                    <a:cubicBezTo>
                      <a:pt x="11" y="111"/>
                      <a:pt x="13" y="103"/>
                      <a:pt x="17" y="94"/>
                    </a:cubicBezTo>
                    <a:cubicBezTo>
                      <a:pt x="21" y="85"/>
                      <a:pt x="26" y="77"/>
                      <a:pt x="33" y="69"/>
                    </a:cubicBezTo>
                    <a:cubicBezTo>
                      <a:pt x="41" y="61"/>
                      <a:pt x="50" y="54"/>
                      <a:pt x="60" y="48"/>
                    </a:cubicBezTo>
                    <a:cubicBezTo>
                      <a:pt x="71" y="42"/>
                      <a:pt x="83" y="37"/>
                      <a:pt x="96" y="35"/>
                    </a:cubicBezTo>
                    <a:cubicBezTo>
                      <a:pt x="96" y="0"/>
                      <a:pt x="96" y="0"/>
                      <a:pt x="96" y="0"/>
                    </a:cubicBezTo>
                    <a:cubicBezTo>
                      <a:pt x="123" y="0"/>
                      <a:pt x="123" y="0"/>
                      <a:pt x="123" y="0"/>
                    </a:cubicBezTo>
                    <a:cubicBezTo>
                      <a:pt x="123" y="32"/>
                      <a:pt x="123" y="32"/>
                      <a:pt x="123" y="32"/>
                    </a:cubicBezTo>
                    <a:cubicBezTo>
                      <a:pt x="123" y="32"/>
                      <a:pt x="123" y="32"/>
                      <a:pt x="123" y="32"/>
                    </a:cubicBezTo>
                    <a:cubicBezTo>
                      <a:pt x="137" y="32"/>
                      <a:pt x="149" y="33"/>
                      <a:pt x="161" y="34"/>
                    </a:cubicBezTo>
                    <a:cubicBezTo>
                      <a:pt x="172" y="36"/>
                      <a:pt x="184" y="38"/>
                      <a:pt x="196" y="40"/>
                    </a:cubicBezTo>
                    <a:cubicBezTo>
                      <a:pt x="187" y="87"/>
                      <a:pt x="187" y="87"/>
                      <a:pt x="187" y="87"/>
                    </a:cubicBezTo>
                    <a:cubicBezTo>
                      <a:pt x="176" y="83"/>
                      <a:pt x="166" y="80"/>
                      <a:pt x="155" y="77"/>
                    </a:cubicBezTo>
                    <a:cubicBezTo>
                      <a:pt x="143" y="74"/>
                      <a:pt x="133" y="73"/>
                      <a:pt x="123" y="72"/>
                    </a:cubicBezTo>
                    <a:cubicBezTo>
                      <a:pt x="123" y="159"/>
                      <a:pt x="123" y="159"/>
                      <a:pt x="123" y="159"/>
                    </a:cubicBezTo>
                    <a:cubicBezTo>
                      <a:pt x="132" y="163"/>
                      <a:pt x="143" y="168"/>
                      <a:pt x="153" y="172"/>
                    </a:cubicBezTo>
                    <a:cubicBezTo>
                      <a:pt x="163" y="177"/>
                      <a:pt x="173" y="183"/>
                      <a:pt x="181" y="191"/>
                    </a:cubicBezTo>
                    <a:cubicBezTo>
                      <a:pt x="190" y="198"/>
                      <a:pt x="197" y="208"/>
                      <a:pt x="202" y="219"/>
                    </a:cubicBezTo>
                    <a:cubicBezTo>
                      <a:pt x="207" y="230"/>
                      <a:pt x="210" y="244"/>
                      <a:pt x="210" y="261"/>
                    </a:cubicBezTo>
                    <a:moveTo>
                      <a:pt x="65" y="110"/>
                    </a:moveTo>
                    <a:cubicBezTo>
                      <a:pt x="65" y="119"/>
                      <a:pt x="68" y="127"/>
                      <a:pt x="74" y="133"/>
                    </a:cubicBezTo>
                    <a:cubicBezTo>
                      <a:pt x="80" y="139"/>
                      <a:pt x="87" y="144"/>
                      <a:pt x="96" y="148"/>
                    </a:cubicBezTo>
                    <a:cubicBezTo>
                      <a:pt x="96" y="73"/>
                      <a:pt x="96" y="73"/>
                      <a:pt x="96" y="73"/>
                    </a:cubicBezTo>
                    <a:cubicBezTo>
                      <a:pt x="88" y="74"/>
                      <a:pt x="82" y="76"/>
                      <a:pt x="77" y="79"/>
                    </a:cubicBezTo>
                    <a:cubicBezTo>
                      <a:pt x="73" y="81"/>
                      <a:pt x="70" y="85"/>
                      <a:pt x="68" y="90"/>
                    </a:cubicBezTo>
                    <a:cubicBezTo>
                      <a:pt x="66" y="95"/>
                      <a:pt x="65" y="102"/>
                      <a:pt x="65" y="110"/>
                    </a:cubicBezTo>
                    <a:moveTo>
                      <a:pt x="155" y="269"/>
                    </a:moveTo>
                    <a:cubicBezTo>
                      <a:pt x="155" y="260"/>
                      <a:pt x="152" y="252"/>
                      <a:pt x="146" y="246"/>
                    </a:cubicBezTo>
                    <a:cubicBezTo>
                      <a:pt x="140" y="240"/>
                      <a:pt x="132" y="235"/>
                      <a:pt x="123" y="230"/>
                    </a:cubicBezTo>
                    <a:cubicBezTo>
                      <a:pt x="123" y="316"/>
                      <a:pt x="123" y="316"/>
                      <a:pt x="123" y="316"/>
                    </a:cubicBezTo>
                    <a:cubicBezTo>
                      <a:pt x="126" y="316"/>
                      <a:pt x="129" y="315"/>
                      <a:pt x="132" y="314"/>
                    </a:cubicBezTo>
                    <a:cubicBezTo>
                      <a:pt x="134" y="313"/>
                      <a:pt x="137" y="312"/>
                      <a:pt x="140" y="311"/>
                    </a:cubicBezTo>
                    <a:cubicBezTo>
                      <a:pt x="144" y="309"/>
                      <a:pt x="148" y="305"/>
                      <a:pt x="151" y="298"/>
                    </a:cubicBezTo>
                    <a:cubicBezTo>
                      <a:pt x="154" y="290"/>
                      <a:pt x="155" y="281"/>
                      <a:pt x="155" y="269"/>
                    </a:cubicBezTo>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0" name="Freeform: Shape 115"/>
              <p:cNvSpPr/>
              <p:nvPr/>
            </p:nvSpPr>
            <p:spPr bwMode="auto">
              <a:xfrm>
                <a:off x="4183282" y="4288858"/>
                <a:ext cx="888023" cy="1039506"/>
              </a:xfrm>
              <a:custGeom>
                <a:avLst/>
                <a:gdLst>
                  <a:gd name="T0" fmla="*/ 231 w 558"/>
                  <a:gd name="T1" fmla="*/ 391 h 653"/>
                  <a:gd name="T2" fmla="*/ 248 w 558"/>
                  <a:gd name="T3" fmla="*/ 386 h 653"/>
                  <a:gd name="T4" fmla="*/ 263 w 558"/>
                  <a:gd name="T5" fmla="*/ 344 h 653"/>
                  <a:gd name="T6" fmla="*/ 231 w 558"/>
                  <a:gd name="T7" fmla="*/ 305 h 653"/>
                  <a:gd name="T8" fmla="*/ 185 w 558"/>
                  <a:gd name="T9" fmla="*/ 154 h 653"/>
                  <a:gd name="T10" fmla="*/ 173 w 558"/>
                  <a:gd name="T11" fmla="*/ 185 h 653"/>
                  <a:gd name="T12" fmla="*/ 204 w 558"/>
                  <a:gd name="T13" fmla="*/ 223 h 653"/>
                  <a:gd name="T14" fmla="*/ 204 w 558"/>
                  <a:gd name="T15" fmla="*/ 393 h 653"/>
                  <a:gd name="T16" fmla="*/ 174 w 558"/>
                  <a:gd name="T17" fmla="*/ 281 h 653"/>
                  <a:gd name="T18" fmla="*/ 127 w 558"/>
                  <a:gd name="T19" fmla="*/ 235 h 653"/>
                  <a:gd name="T20" fmla="*/ 125 w 558"/>
                  <a:gd name="T21" fmla="*/ 169 h 653"/>
                  <a:gd name="T22" fmla="*/ 168 w 558"/>
                  <a:gd name="T23" fmla="*/ 123 h 653"/>
                  <a:gd name="T24" fmla="*/ 204 w 558"/>
                  <a:gd name="T25" fmla="*/ 75 h 653"/>
                  <a:gd name="T26" fmla="*/ 231 w 558"/>
                  <a:gd name="T27" fmla="*/ 107 h 653"/>
                  <a:gd name="T28" fmla="*/ 269 w 558"/>
                  <a:gd name="T29" fmla="*/ 109 h 653"/>
                  <a:gd name="T30" fmla="*/ 295 w 558"/>
                  <a:gd name="T31" fmla="*/ 162 h 653"/>
                  <a:gd name="T32" fmla="*/ 231 w 558"/>
                  <a:gd name="T33" fmla="*/ 147 h 653"/>
                  <a:gd name="T34" fmla="*/ 261 w 558"/>
                  <a:gd name="T35" fmla="*/ 247 h 653"/>
                  <a:gd name="T36" fmla="*/ 310 w 558"/>
                  <a:gd name="T37" fmla="*/ 294 h 653"/>
                  <a:gd name="T38" fmla="*/ 312 w 558"/>
                  <a:gd name="T39" fmla="*/ 365 h 653"/>
                  <a:gd name="T40" fmla="*/ 267 w 558"/>
                  <a:gd name="T41" fmla="*/ 416 h 653"/>
                  <a:gd name="T42" fmla="*/ 231 w 558"/>
                  <a:gd name="T43" fmla="*/ 467 h 653"/>
                  <a:gd name="T44" fmla="*/ 204 w 558"/>
                  <a:gd name="T45" fmla="*/ 433 h 653"/>
                  <a:gd name="T46" fmla="*/ 199 w 558"/>
                  <a:gd name="T47" fmla="*/ 433 h 653"/>
                  <a:gd name="T48" fmla="*/ 149 w 558"/>
                  <a:gd name="T49" fmla="*/ 427 h 653"/>
                  <a:gd name="T50" fmla="*/ 108 w 558"/>
                  <a:gd name="T51" fmla="*/ 410 h 653"/>
                  <a:gd name="T52" fmla="*/ 139 w 558"/>
                  <a:gd name="T53" fmla="*/ 372 h 653"/>
                  <a:gd name="T54" fmla="*/ 182 w 558"/>
                  <a:gd name="T55" fmla="*/ 389 h 653"/>
                  <a:gd name="T56" fmla="*/ 279 w 558"/>
                  <a:gd name="T57" fmla="*/ 0 h 653"/>
                  <a:gd name="T58" fmla="*/ 279 w 558"/>
                  <a:gd name="T59" fmla="*/ 558 h 653"/>
                  <a:gd name="T60" fmla="*/ 405 w 558"/>
                  <a:gd name="T61" fmla="*/ 653 h 653"/>
                  <a:gd name="T62" fmla="*/ 558 w 558"/>
                  <a:gd name="T63" fmla="*/ 279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8" h="653">
                    <a:moveTo>
                      <a:pt x="231" y="305"/>
                    </a:moveTo>
                    <a:cubicBezTo>
                      <a:pt x="231" y="391"/>
                      <a:pt x="231" y="391"/>
                      <a:pt x="231" y="391"/>
                    </a:cubicBezTo>
                    <a:cubicBezTo>
                      <a:pt x="234" y="391"/>
                      <a:pt x="237" y="390"/>
                      <a:pt x="240" y="389"/>
                    </a:cubicBezTo>
                    <a:cubicBezTo>
                      <a:pt x="242" y="388"/>
                      <a:pt x="245" y="387"/>
                      <a:pt x="248" y="386"/>
                    </a:cubicBezTo>
                    <a:cubicBezTo>
                      <a:pt x="252" y="384"/>
                      <a:pt x="256" y="380"/>
                      <a:pt x="259" y="373"/>
                    </a:cubicBezTo>
                    <a:cubicBezTo>
                      <a:pt x="262" y="365"/>
                      <a:pt x="263" y="356"/>
                      <a:pt x="263" y="344"/>
                    </a:cubicBezTo>
                    <a:cubicBezTo>
                      <a:pt x="263" y="335"/>
                      <a:pt x="260" y="327"/>
                      <a:pt x="254" y="321"/>
                    </a:cubicBezTo>
                    <a:cubicBezTo>
                      <a:pt x="248" y="315"/>
                      <a:pt x="240" y="310"/>
                      <a:pt x="231" y="305"/>
                    </a:cubicBezTo>
                    <a:moveTo>
                      <a:pt x="204" y="148"/>
                    </a:moveTo>
                    <a:cubicBezTo>
                      <a:pt x="196" y="149"/>
                      <a:pt x="190" y="151"/>
                      <a:pt x="185" y="154"/>
                    </a:cubicBezTo>
                    <a:cubicBezTo>
                      <a:pt x="181" y="156"/>
                      <a:pt x="178" y="160"/>
                      <a:pt x="176" y="165"/>
                    </a:cubicBezTo>
                    <a:cubicBezTo>
                      <a:pt x="174" y="170"/>
                      <a:pt x="173" y="177"/>
                      <a:pt x="173" y="185"/>
                    </a:cubicBezTo>
                    <a:cubicBezTo>
                      <a:pt x="173" y="194"/>
                      <a:pt x="176" y="202"/>
                      <a:pt x="182" y="208"/>
                    </a:cubicBezTo>
                    <a:cubicBezTo>
                      <a:pt x="188" y="214"/>
                      <a:pt x="195" y="219"/>
                      <a:pt x="204" y="223"/>
                    </a:cubicBezTo>
                    <a:cubicBezTo>
                      <a:pt x="204" y="148"/>
                      <a:pt x="204" y="148"/>
                      <a:pt x="204" y="148"/>
                    </a:cubicBezTo>
                    <a:moveTo>
                      <a:pt x="204" y="393"/>
                    </a:moveTo>
                    <a:cubicBezTo>
                      <a:pt x="204" y="294"/>
                      <a:pt x="204" y="294"/>
                      <a:pt x="204" y="294"/>
                    </a:cubicBezTo>
                    <a:cubicBezTo>
                      <a:pt x="194" y="290"/>
                      <a:pt x="184" y="286"/>
                      <a:pt x="174" y="281"/>
                    </a:cubicBezTo>
                    <a:cubicBezTo>
                      <a:pt x="164" y="276"/>
                      <a:pt x="155" y="270"/>
                      <a:pt x="147" y="263"/>
                    </a:cubicBezTo>
                    <a:cubicBezTo>
                      <a:pt x="138" y="255"/>
                      <a:pt x="132" y="246"/>
                      <a:pt x="127" y="235"/>
                    </a:cubicBezTo>
                    <a:cubicBezTo>
                      <a:pt x="121" y="224"/>
                      <a:pt x="119" y="211"/>
                      <a:pt x="119" y="194"/>
                    </a:cubicBezTo>
                    <a:cubicBezTo>
                      <a:pt x="119" y="186"/>
                      <a:pt x="121" y="178"/>
                      <a:pt x="125" y="169"/>
                    </a:cubicBezTo>
                    <a:cubicBezTo>
                      <a:pt x="129" y="160"/>
                      <a:pt x="134" y="152"/>
                      <a:pt x="141" y="144"/>
                    </a:cubicBezTo>
                    <a:cubicBezTo>
                      <a:pt x="149" y="136"/>
                      <a:pt x="158" y="129"/>
                      <a:pt x="168" y="123"/>
                    </a:cubicBezTo>
                    <a:cubicBezTo>
                      <a:pt x="179" y="117"/>
                      <a:pt x="191" y="112"/>
                      <a:pt x="204" y="110"/>
                    </a:cubicBezTo>
                    <a:cubicBezTo>
                      <a:pt x="204" y="75"/>
                      <a:pt x="204" y="75"/>
                      <a:pt x="204" y="75"/>
                    </a:cubicBezTo>
                    <a:cubicBezTo>
                      <a:pt x="231" y="75"/>
                      <a:pt x="231" y="75"/>
                      <a:pt x="231" y="75"/>
                    </a:cubicBezTo>
                    <a:cubicBezTo>
                      <a:pt x="231" y="107"/>
                      <a:pt x="231" y="107"/>
                      <a:pt x="231" y="107"/>
                    </a:cubicBezTo>
                    <a:cubicBezTo>
                      <a:pt x="231" y="107"/>
                      <a:pt x="231" y="107"/>
                      <a:pt x="231" y="107"/>
                    </a:cubicBezTo>
                    <a:cubicBezTo>
                      <a:pt x="245" y="107"/>
                      <a:pt x="257" y="108"/>
                      <a:pt x="269" y="109"/>
                    </a:cubicBezTo>
                    <a:cubicBezTo>
                      <a:pt x="280" y="111"/>
                      <a:pt x="292" y="113"/>
                      <a:pt x="304" y="115"/>
                    </a:cubicBezTo>
                    <a:cubicBezTo>
                      <a:pt x="295" y="162"/>
                      <a:pt x="295" y="162"/>
                      <a:pt x="295" y="162"/>
                    </a:cubicBezTo>
                    <a:cubicBezTo>
                      <a:pt x="284" y="158"/>
                      <a:pt x="274" y="155"/>
                      <a:pt x="263" y="152"/>
                    </a:cubicBezTo>
                    <a:cubicBezTo>
                      <a:pt x="251" y="149"/>
                      <a:pt x="241" y="148"/>
                      <a:pt x="231" y="147"/>
                    </a:cubicBezTo>
                    <a:cubicBezTo>
                      <a:pt x="231" y="234"/>
                      <a:pt x="231" y="234"/>
                      <a:pt x="231" y="234"/>
                    </a:cubicBezTo>
                    <a:cubicBezTo>
                      <a:pt x="240" y="238"/>
                      <a:pt x="251" y="243"/>
                      <a:pt x="261" y="247"/>
                    </a:cubicBezTo>
                    <a:cubicBezTo>
                      <a:pt x="271" y="252"/>
                      <a:pt x="281" y="258"/>
                      <a:pt x="289" y="266"/>
                    </a:cubicBezTo>
                    <a:cubicBezTo>
                      <a:pt x="298" y="273"/>
                      <a:pt x="305" y="283"/>
                      <a:pt x="310" y="294"/>
                    </a:cubicBezTo>
                    <a:cubicBezTo>
                      <a:pt x="315" y="305"/>
                      <a:pt x="318" y="319"/>
                      <a:pt x="318" y="336"/>
                    </a:cubicBezTo>
                    <a:cubicBezTo>
                      <a:pt x="318" y="346"/>
                      <a:pt x="316" y="356"/>
                      <a:pt x="312" y="365"/>
                    </a:cubicBezTo>
                    <a:cubicBezTo>
                      <a:pt x="308" y="375"/>
                      <a:pt x="302" y="385"/>
                      <a:pt x="295" y="393"/>
                    </a:cubicBezTo>
                    <a:cubicBezTo>
                      <a:pt x="287" y="402"/>
                      <a:pt x="278" y="409"/>
                      <a:pt x="267" y="416"/>
                    </a:cubicBezTo>
                    <a:cubicBezTo>
                      <a:pt x="256" y="422"/>
                      <a:pt x="244" y="427"/>
                      <a:pt x="231" y="430"/>
                    </a:cubicBezTo>
                    <a:cubicBezTo>
                      <a:pt x="231" y="467"/>
                      <a:pt x="231" y="467"/>
                      <a:pt x="231" y="467"/>
                    </a:cubicBezTo>
                    <a:cubicBezTo>
                      <a:pt x="204" y="467"/>
                      <a:pt x="204" y="467"/>
                      <a:pt x="204" y="467"/>
                    </a:cubicBezTo>
                    <a:cubicBezTo>
                      <a:pt x="204" y="433"/>
                      <a:pt x="204" y="433"/>
                      <a:pt x="204" y="433"/>
                    </a:cubicBezTo>
                    <a:cubicBezTo>
                      <a:pt x="203" y="433"/>
                      <a:pt x="202" y="433"/>
                      <a:pt x="202" y="433"/>
                    </a:cubicBezTo>
                    <a:cubicBezTo>
                      <a:pt x="201" y="433"/>
                      <a:pt x="200" y="433"/>
                      <a:pt x="199" y="433"/>
                    </a:cubicBezTo>
                    <a:cubicBezTo>
                      <a:pt x="190" y="433"/>
                      <a:pt x="181" y="433"/>
                      <a:pt x="172" y="432"/>
                    </a:cubicBezTo>
                    <a:cubicBezTo>
                      <a:pt x="164" y="431"/>
                      <a:pt x="156" y="429"/>
                      <a:pt x="149" y="427"/>
                    </a:cubicBezTo>
                    <a:cubicBezTo>
                      <a:pt x="142" y="425"/>
                      <a:pt x="135" y="423"/>
                      <a:pt x="128" y="420"/>
                    </a:cubicBezTo>
                    <a:cubicBezTo>
                      <a:pt x="121" y="417"/>
                      <a:pt x="115" y="414"/>
                      <a:pt x="108" y="410"/>
                    </a:cubicBezTo>
                    <a:cubicBezTo>
                      <a:pt x="123" y="363"/>
                      <a:pt x="123" y="363"/>
                      <a:pt x="123" y="363"/>
                    </a:cubicBezTo>
                    <a:cubicBezTo>
                      <a:pt x="127" y="366"/>
                      <a:pt x="133" y="369"/>
                      <a:pt x="139" y="372"/>
                    </a:cubicBezTo>
                    <a:cubicBezTo>
                      <a:pt x="145" y="376"/>
                      <a:pt x="152" y="379"/>
                      <a:pt x="159" y="381"/>
                    </a:cubicBezTo>
                    <a:cubicBezTo>
                      <a:pt x="167" y="384"/>
                      <a:pt x="174" y="387"/>
                      <a:pt x="182" y="389"/>
                    </a:cubicBezTo>
                    <a:cubicBezTo>
                      <a:pt x="190" y="391"/>
                      <a:pt x="197" y="392"/>
                      <a:pt x="204" y="393"/>
                    </a:cubicBezTo>
                    <a:moveTo>
                      <a:pt x="279" y="0"/>
                    </a:moveTo>
                    <a:cubicBezTo>
                      <a:pt x="125" y="0"/>
                      <a:pt x="0" y="125"/>
                      <a:pt x="0" y="279"/>
                    </a:cubicBezTo>
                    <a:cubicBezTo>
                      <a:pt x="0" y="433"/>
                      <a:pt x="125" y="558"/>
                      <a:pt x="279" y="558"/>
                    </a:cubicBezTo>
                    <a:cubicBezTo>
                      <a:pt x="284" y="558"/>
                      <a:pt x="288" y="558"/>
                      <a:pt x="292" y="558"/>
                    </a:cubicBezTo>
                    <a:cubicBezTo>
                      <a:pt x="405" y="653"/>
                      <a:pt x="405" y="653"/>
                      <a:pt x="405" y="653"/>
                    </a:cubicBezTo>
                    <a:cubicBezTo>
                      <a:pt x="417" y="522"/>
                      <a:pt x="417" y="522"/>
                      <a:pt x="417" y="522"/>
                    </a:cubicBezTo>
                    <a:cubicBezTo>
                      <a:pt x="501" y="474"/>
                      <a:pt x="558" y="383"/>
                      <a:pt x="558" y="279"/>
                    </a:cubicBezTo>
                    <a:cubicBezTo>
                      <a:pt x="558" y="125"/>
                      <a:pt x="433" y="0"/>
                      <a:pt x="279"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1" name="Freeform: Shape 116"/>
              <p:cNvSpPr/>
              <p:nvPr/>
            </p:nvSpPr>
            <p:spPr bwMode="auto">
              <a:xfrm>
                <a:off x="4354962" y="4408698"/>
                <a:ext cx="334608" cy="624108"/>
              </a:xfrm>
              <a:custGeom>
                <a:avLst/>
                <a:gdLst>
                  <a:gd name="T0" fmla="*/ 123 w 210"/>
                  <a:gd name="T1" fmla="*/ 316 h 392"/>
                  <a:gd name="T2" fmla="*/ 123 w 210"/>
                  <a:gd name="T3" fmla="*/ 230 h 392"/>
                  <a:gd name="T4" fmla="*/ 146 w 210"/>
                  <a:gd name="T5" fmla="*/ 246 h 392"/>
                  <a:gd name="T6" fmla="*/ 155 w 210"/>
                  <a:gd name="T7" fmla="*/ 269 h 392"/>
                  <a:gd name="T8" fmla="*/ 151 w 210"/>
                  <a:gd name="T9" fmla="*/ 298 h 392"/>
                  <a:gd name="T10" fmla="*/ 140 w 210"/>
                  <a:gd name="T11" fmla="*/ 311 h 392"/>
                  <a:gd name="T12" fmla="*/ 132 w 210"/>
                  <a:gd name="T13" fmla="*/ 314 h 392"/>
                  <a:gd name="T14" fmla="*/ 123 w 210"/>
                  <a:gd name="T15" fmla="*/ 316 h 392"/>
                  <a:gd name="T16" fmla="*/ 96 w 210"/>
                  <a:gd name="T17" fmla="*/ 148 h 392"/>
                  <a:gd name="T18" fmla="*/ 74 w 210"/>
                  <a:gd name="T19" fmla="*/ 133 h 392"/>
                  <a:gd name="T20" fmla="*/ 65 w 210"/>
                  <a:gd name="T21" fmla="*/ 110 h 392"/>
                  <a:gd name="T22" fmla="*/ 68 w 210"/>
                  <a:gd name="T23" fmla="*/ 90 h 392"/>
                  <a:gd name="T24" fmla="*/ 77 w 210"/>
                  <a:gd name="T25" fmla="*/ 79 h 392"/>
                  <a:gd name="T26" fmla="*/ 96 w 210"/>
                  <a:gd name="T27" fmla="*/ 73 h 392"/>
                  <a:gd name="T28" fmla="*/ 96 w 210"/>
                  <a:gd name="T29" fmla="*/ 148 h 392"/>
                  <a:gd name="T30" fmla="*/ 123 w 210"/>
                  <a:gd name="T31" fmla="*/ 0 h 392"/>
                  <a:gd name="T32" fmla="*/ 96 w 210"/>
                  <a:gd name="T33" fmla="*/ 0 h 392"/>
                  <a:gd name="T34" fmla="*/ 96 w 210"/>
                  <a:gd name="T35" fmla="*/ 35 h 392"/>
                  <a:gd name="T36" fmla="*/ 60 w 210"/>
                  <a:gd name="T37" fmla="*/ 48 h 392"/>
                  <a:gd name="T38" fmla="*/ 33 w 210"/>
                  <a:gd name="T39" fmla="*/ 69 h 392"/>
                  <a:gd name="T40" fmla="*/ 17 w 210"/>
                  <a:gd name="T41" fmla="*/ 94 h 392"/>
                  <a:gd name="T42" fmla="*/ 11 w 210"/>
                  <a:gd name="T43" fmla="*/ 119 h 392"/>
                  <a:gd name="T44" fmla="*/ 19 w 210"/>
                  <a:gd name="T45" fmla="*/ 160 h 392"/>
                  <a:gd name="T46" fmla="*/ 39 w 210"/>
                  <a:gd name="T47" fmla="*/ 188 h 392"/>
                  <a:gd name="T48" fmla="*/ 66 w 210"/>
                  <a:gd name="T49" fmla="*/ 206 h 392"/>
                  <a:gd name="T50" fmla="*/ 96 w 210"/>
                  <a:gd name="T51" fmla="*/ 219 h 392"/>
                  <a:gd name="T52" fmla="*/ 96 w 210"/>
                  <a:gd name="T53" fmla="*/ 318 h 392"/>
                  <a:gd name="T54" fmla="*/ 74 w 210"/>
                  <a:gd name="T55" fmla="*/ 314 h 392"/>
                  <a:gd name="T56" fmla="*/ 51 w 210"/>
                  <a:gd name="T57" fmla="*/ 306 h 392"/>
                  <a:gd name="T58" fmla="*/ 31 w 210"/>
                  <a:gd name="T59" fmla="*/ 297 h 392"/>
                  <a:gd name="T60" fmla="*/ 15 w 210"/>
                  <a:gd name="T61" fmla="*/ 288 h 392"/>
                  <a:gd name="T62" fmla="*/ 0 w 210"/>
                  <a:gd name="T63" fmla="*/ 335 h 392"/>
                  <a:gd name="T64" fmla="*/ 20 w 210"/>
                  <a:gd name="T65" fmla="*/ 345 h 392"/>
                  <a:gd name="T66" fmla="*/ 41 w 210"/>
                  <a:gd name="T67" fmla="*/ 352 h 392"/>
                  <a:gd name="T68" fmla="*/ 64 w 210"/>
                  <a:gd name="T69" fmla="*/ 357 h 392"/>
                  <a:gd name="T70" fmla="*/ 91 w 210"/>
                  <a:gd name="T71" fmla="*/ 358 h 392"/>
                  <a:gd name="T72" fmla="*/ 94 w 210"/>
                  <a:gd name="T73" fmla="*/ 358 h 392"/>
                  <a:gd name="T74" fmla="*/ 96 w 210"/>
                  <a:gd name="T75" fmla="*/ 358 h 392"/>
                  <a:gd name="T76" fmla="*/ 96 w 210"/>
                  <a:gd name="T77" fmla="*/ 392 h 392"/>
                  <a:gd name="T78" fmla="*/ 123 w 210"/>
                  <a:gd name="T79" fmla="*/ 392 h 392"/>
                  <a:gd name="T80" fmla="*/ 123 w 210"/>
                  <a:gd name="T81" fmla="*/ 355 h 392"/>
                  <a:gd name="T82" fmla="*/ 159 w 210"/>
                  <a:gd name="T83" fmla="*/ 341 h 392"/>
                  <a:gd name="T84" fmla="*/ 187 w 210"/>
                  <a:gd name="T85" fmla="*/ 318 h 392"/>
                  <a:gd name="T86" fmla="*/ 204 w 210"/>
                  <a:gd name="T87" fmla="*/ 290 h 392"/>
                  <a:gd name="T88" fmla="*/ 210 w 210"/>
                  <a:gd name="T89" fmla="*/ 261 h 392"/>
                  <a:gd name="T90" fmla="*/ 202 w 210"/>
                  <a:gd name="T91" fmla="*/ 219 h 392"/>
                  <a:gd name="T92" fmla="*/ 181 w 210"/>
                  <a:gd name="T93" fmla="*/ 191 h 392"/>
                  <a:gd name="T94" fmla="*/ 153 w 210"/>
                  <a:gd name="T95" fmla="*/ 172 h 392"/>
                  <a:gd name="T96" fmla="*/ 123 w 210"/>
                  <a:gd name="T97" fmla="*/ 159 h 392"/>
                  <a:gd name="T98" fmla="*/ 123 w 210"/>
                  <a:gd name="T99" fmla="*/ 72 h 392"/>
                  <a:gd name="T100" fmla="*/ 155 w 210"/>
                  <a:gd name="T101" fmla="*/ 77 h 392"/>
                  <a:gd name="T102" fmla="*/ 187 w 210"/>
                  <a:gd name="T103" fmla="*/ 87 h 392"/>
                  <a:gd name="T104" fmla="*/ 196 w 210"/>
                  <a:gd name="T105" fmla="*/ 40 h 392"/>
                  <a:gd name="T106" fmla="*/ 161 w 210"/>
                  <a:gd name="T107" fmla="*/ 34 h 392"/>
                  <a:gd name="T108" fmla="*/ 123 w 210"/>
                  <a:gd name="T109" fmla="*/ 32 h 392"/>
                  <a:gd name="T110" fmla="*/ 123 w 210"/>
                  <a:gd name="T111" fmla="*/ 32 h 392"/>
                  <a:gd name="T112" fmla="*/ 123 w 210"/>
                  <a:gd name="T11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123" y="316"/>
                    </a:moveTo>
                    <a:cubicBezTo>
                      <a:pt x="123" y="230"/>
                      <a:pt x="123" y="230"/>
                      <a:pt x="123" y="230"/>
                    </a:cubicBezTo>
                    <a:cubicBezTo>
                      <a:pt x="132" y="235"/>
                      <a:pt x="140" y="240"/>
                      <a:pt x="146" y="246"/>
                    </a:cubicBezTo>
                    <a:cubicBezTo>
                      <a:pt x="152" y="252"/>
                      <a:pt x="155" y="260"/>
                      <a:pt x="155" y="269"/>
                    </a:cubicBezTo>
                    <a:cubicBezTo>
                      <a:pt x="155" y="281"/>
                      <a:pt x="154" y="290"/>
                      <a:pt x="151" y="298"/>
                    </a:cubicBezTo>
                    <a:cubicBezTo>
                      <a:pt x="148" y="305"/>
                      <a:pt x="144" y="309"/>
                      <a:pt x="140" y="311"/>
                    </a:cubicBezTo>
                    <a:cubicBezTo>
                      <a:pt x="137" y="312"/>
                      <a:pt x="134" y="313"/>
                      <a:pt x="132" y="314"/>
                    </a:cubicBezTo>
                    <a:cubicBezTo>
                      <a:pt x="129" y="315"/>
                      <a:pt x="126" y="316"/>
                      <a:pt x="123" y="316"/>
                    </a:cubicBezTo>
                    <a:moveTo>
                      <a:pt x="96" y="148"/>
                    </a:moveTo>
                    <a:cubicBezTo>
                      <a:pt x="87" y="144"/>
                      <a:pt x="80" y="139"/>
                      <a:pt x="74" y="133"/>
                    </a:cubicBezTo>
                    <a:cubicBezTo>
                      <a:pt x="68" y="127"/>
                      <a:pt x="65" y="119"/>
                      <a:pt x="65" y="110"/>
                    </a:cubicBezTo>
                    <a:cubicBezTo>
                      <a:pt x="65" y="102"/>
                      <a:pt x="66" y="95"/>
                      <a:pt x="68" y="90"/>
                    </a:cubicBezTo>
                    <a:cubicBezTo>
                      <a:pt x="70" y="85"/>
                      <a:pt x="73" y="81"/>
                      <a:pt x="77" y="79"/>
                    </a:cubicBezTo>
                    <a:cubicBezTo>
                      <a:pt x="82" y="76"/>
                      <a:pt x="88" y="74"/>
                      <a:pt x="96" y="73"/>
                    </a:cubicBezTo>
                    <a:cubicBezTo>
                      <a:pt x="96" y="148"/>
                      <a:pt x="96" y="148"/>
                      <a:pt x="96" y="148"/>
                    </a:cubicBezTo>
                    <a:moveTo>
                      <a:pt x="123" y="0"/>
                    </a:moveTo>
                    <a:cubicBezTo>
                      <a:pt x="96" y="0"/>
                      <a:pt x="96" y="0"/>
                      <a:pt x="96" y="0"/>
                    </a:cubicBezTo>
                    <a:cubicBezTo>
                      <a:pt x="96" y="35"/>
                      <a:pt x="96" y="35"/>
                      <a:pt x="96" y="35"/>
                    </a:cubicBezTo>
                    <a:cubicBezTo>
                      <a:pt x="83" y="37"/>
                      <a:pt x="71" y="42"/>
                      <a:pt x="60" y="48"/>
                    </a:cubicBezTo>
                    <a:cubicBezTo>
                      <a:pt x="50" y="54"/>
                      <a:pt x="41" y="61"/>
                      <a:pt x="33" y="69"/>
                    </a:cubicBezTo>
                    <a:cubicBezTo>
                      <a:pt x="26" y="77"/>
                      <a:pt x="21" y="85"/>
                      <a:pt x="17" y="94"/>
                    </a:cubicBezTo>
                    <a:cubicBezTo>
                      <a:pt x="13" y="103"/>
                      <a:pt x="11" y="111"/>
                      <a:pt x="11" y="119"/>
                    </a:cubicBezTo>
                    <a:cubicBezTo>
                      <a:pt x="11" y="136"/>
                      <a:pt x="13" y="149"/>
                      <a:pt x="19" y="160"/>
                    </a:cubicBezTo>
                    <a:cubicBezTo>
                      <a:pt x="24" y="171"/>
                      <a:pt x="30" y="180"/>
                      <a:pt x="39" y="188"/>
                    </a:cubicBezTo>
                    <a:cubicBezTo>
                      <a:pt x="47" y="195"/>
                      <a:pt x="56" y="201"/>
                      <a:pt x="66" y="206"/>
                    </a:cubicBezTo>
                    <a:cubicBezTo>
                      <a:pt x="76" y="211"/>
                      <a:pt x="86" y="215"/>
                      <a:pt x="96" y="219"/>
                    </a:cubicBezTo>
                    <a:cubicBezTo>
                      <a:pt x="96" y="318"/>
                      <a:pt x="96" y="318"/>
                      <a:pt x="96" y="318"/>
                    </a:cubicBezTo>
                    <a:cubicBezTo>
                      <a:pt x="89" y="317"/>
                      <a:pt x="82" y="316"/>
                      <a:pt x="74" y="314"/>
                    </a:cubicBezTo>
                    <a:cubicBezTo>
                      <a:pt x="66" y="312"/>
                      <a:pt x="59" y="309"/>
                      <a:pt x="51" y="306"/>
                    </a:cubicBezTo>
                    <a:cubicBezTo>
                      <a:pt x="44" y="304"/>
                      <a:pt x="37" y="301"/>
                      <a:pt x="31" y="297"/>
                    </a:cubicBezTo>
                    <a:cubicBezTo>
                      <a:pt x="25" y="294"/>
                      <a:pt x="19" y="291"/>
                      <a:pt x="15" y="288"/>
                    </a:cubicBezTo>
                    <a:cubicBezTo>
                      <a:pt x="0" y="335"/>
                      <a:pt x="0" y="335"/>
                      <a:pt x="0" y="335"/>
                    </a:cubicBezTo>
                    <a:cubicBezTo>
                      <a:pt x="7" y="339"/>
                      <a:pt x="13" y="342"/>
                      <a:pt x="20" y="345"/>
                    </a:cubicBezTo>
                    <a:cubicBezTo>
                      <a:pt x="27" y="348"/>
                      <a:pt x="34" y="350"/>
                      <a:pt x="41" y="352"/>
                    </a:cubicBezTo>
                    <a:cubicBezTo>
                      <a:pt x="48" y="354"/>
                      <a:pt x="56" y="356"/>
                      <a:pt x="64" y="357"/>
                    </a:cubicBezTo>
                    <a:cubicBezTo>
                      <a:pt x="73" y="358"/>
                      <a:pt x="82" y="358"/>
                      <a:pt x="91" y="358"/>
                    </a:cubicBezTo>
                    <a:cubicBezTo>
                      <a:pt x="92" y="358"/>
                      <a:pt x="93" y="358"/>
                      <a:pt x="94" y="358"/>
                    </a:cubicBezTo>
                    <a:cubicBezTo>
                      <a:pt x="94" y="358"/>
                      <a:pt x="95" y="358"/>
                      <a:pt x="96" y="358"/>
                    </a:cubicBezTo>
                    <a:cubicBezTo>
                      <a:pt x="96" y="392"/>
                      <a:pt x="96" y="392"/>
                      <a:pt x="96" y="392"/>
                    </a:cubicBezTo>
                    <a:cubicBezTo>
                      <a:pt x="123" y="392"/>
                      <a:pt x="123" y="392"/>
                      <a:pt x="123" y="392"/>
                    </a:cubicBezTo>
                    <a:cubicBezTo>
                      <a:pt x="123" y="355"/>
                      <a:pt x="123" y="355"/>
                      <a:pt x="123" y="355"/>
                    </a:cubicBezTo>
                    <a:cubicBezTo>
                      <a:pt x="136" y="352"/>
                      <a:pt x="148" y="347"/>
                      <a:pt x="159" y="341"/>
                    </a:cubicBezTo>
                    <a:cubicBezTo>
                      <a:pt x="170" y="334"/>
                      <a:pt x="179" y="327"/>
                      <a:pt x="187" y="318"/>
                    </a:cubicBezTo>
                    <a:cubicBezTo>
                      <a:pt x="194" y="310"/>
                      <a:pt x="200" y="300"/>
                      <a:pt x="204" y="290"/>
                    </a:cubicBezTo>
                    <a:cubicBezTo>
                      <a:pt x="208" y="281"/>
                      <a:pt x="210" y="271"/>
                      <a:pt x="210" y="261"/>
                    </a:cubicBezTo>
                    <a:cubicBezTo>
                      <a:pt x="210" y="244"/>
                      <a:pt x="207" y="230"/>
                      <a:pt x="202" y="219"/>
                    </a:cubicBezTo>
                    <a:cubicBezTo>
                      <a:pt x="197" y="208"/>
                      <a:pt x="190" y="198"/>
                      <a:pt x="181" y="191"/>
                    </a:cubicBezTo>
                    <a:cubicBezTo>
                      <a:pt x="173" y="183"/>
                      <a:pt x="163" y="177"/>
                      <a:pt x="153" y="172"/>
                    </a:cubicBezTo>
                    <a:cubicBezTo>
                      <a:pt x="143" y="168"/>
                      <a:pt x="132" y="163"/>
                      <a:pt x="123" y="159"/>
                    </a:cubicBezTo>
                    <a:cubicBezTo>
                      <a:pt x="123" y="72"/>
                      <a:pt x="123" y="72"/>
                      <a:pt x="123" y="72"/>
                    </a:cubicBezTo>
                    <a:cubicBezTo>
                      <a:pt x="133" y="73"/>
                      <a:pt x="143" y="74"/>
                      <a:pt x="155" y="77"/>
                    </a:cubicBezTo>
                    <a:cubicBezTo>
                      <a:pt x="166" y="80"/>
                      <a:pt x="176" y="83"/>
                      <a:pt x="187" y="87"/>
                    </a:cubicBezTo>
                    <a:cubicBezTo>
                      <a:pt x="196" y="40"/>
                      <a:pt x="196" y="40"/>
                      <a:pt x="196" y="40"/>
                    </a:cubicBezTo>
                    <a:cubicBezTo>
                      <a:pt x="184" y="38"/>
                      <a:pt x="172" y="36"/>
                      <a:pt x="161" y="34"/>
                    </a:cubicBezTo>
                    <a:cubicBezTo>
                      <a:pt x="149" y="33"/>
                      <a:pt x="137" y="32"/>
                      <a:pt x="123" y="32"/>
                    </a:cubicBezTo>
                    <a:cubicBezTo>
                      <a:pt x="123" y="32"/>
                      <a:pt x="123" y="32"/>
                      <a:pt x="123" y="32"/>
                    </a:cubicBezTo>
                    <a:cubicBezTo>
                      <a:pt x="123" y="0"/>
                      <a:pt x="123" y="0"/>
                      <a:pt x="123" y="0"/>
                    </a:cubicBezTo>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2" name="Freeform: Shape 117"/>
              <p:cNvSpPr/>
              <p:nvPr/>
            </p:nvSpPr>
            <p:spPr bwMode="auto">
              <a:xfrm>
                <a:off x="4098452" y="4268661"/>
                <a:ext cx="888697" cy="1039506"/>
              </a:xfrm>
              <a:custGeom>
                <a:avLst/>
                <a:gdLst>
                  <a:gd name="T0" fmla="*/ 558 w 558"/>
                  <a:gd name="T1" fmla="*/ 279 h 653"/>
                  <a:gd name="T2" fmla="*/ 279 w 558"/>
                  <a:gd name="T3" fmla="*/ 0 h 653"/>
                  <a:gd name="T4" fmla="*/ 0 w 558"/>
                  <a:gd name="T5" fmla="*/ 279 h 653"/>
                  <a:gd name="T6" fmla="*/ 279 w 558"/>
                  <a:gd name="T7" fmla="*/ 558 h 653"/>
                  <a:gd name="T8" fmla="*/ 292 w 558"/>
                  <a:gd name="T9" fmla="*/ 558 h 653"/>
                  <a:gd name="T10" fmla="*/ 404 w 558"/>
                  <a:gd name="T11" fmla="*/ 653 h 653"/>
                  <a:gd name="T12" fmla="*/ 416 w 558"/>
                  <a:gd name="T13" fmla="*/ 522 h 653"/>
                  <a:gd name="T14" fmla="*/ 558 w 558"/>
                  <a:gd name="T15" fmla="*/ 279 h 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653">
                    <a:moveTo>
                      <a:pt x="558" y="279"/>
                    </a:moveTo>
                    <a:cubicBezTo>
                      <a:pt x="558" y="125"/>
                      <a:pt x="433" y="0"/>
                      <a:pt x="279" y="0"/>
                    </a:cubicBezTo>
                    <a:cubicBezTo>
                      <a:pt x="125" y="0"/>
                      <a:pt x="0" y="125"/>
                      <a:pt x="0" y="279"/>
                    </a:cubicBezTo>
                    <a:cubicBezTo>
                      <a:pt x="0" y="433"/>
                      <a:pt x="125" y="558"/>
                      <a:pt x="279" y="558"/>
                    </a:cubicBezTo>
                    <a:cubicBezTo>
                      <a:pt x="283" y="558"/>
                      <a:pt x="287" y="558"/>
                      <a:pt x="292" y="558"/>
                    </a:cubicBezTo>
                    <a:cubicBezTo>
                      <a:pt x="404" y="653"/>
                      <a:pt x="404" y="653"/>
                      <a:pt x="404" y="653"/>
                    </a:cubicBezTo>
                    <a:cubicBezTo>
                      <a:pt x="416" y="522"/>
                      <a:pt x="416" y="522"/>
                      <a:pt x="416" y="522"/>
                    </a:cubicBezTo>
                    <a:cubicBezTo>
                      <a:pt x="501" y="474"/>
                      <a:pt x="558" y="383"/>
                      <a:pt x="558" y="279"/>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3" name="Freeform: Shape 118"/>
              <p:cNvSpPr/>
              <p:nvPr/>
            </p:nvSpPr>
            <p:spPr bwMode="auto">
              <a:xfrm>
                <a:off x="4291003" y="4558160"/>
                <a:ext cx="206016" cy="245065"/>
              </a:xfrm>
              <a:custGeom>
                <a:avLst/>
                <a:gdLst>
                  <a:gd name="T0" fmla="*/ 37 w 129"/>
                  <a:gd name="T1" fmla="*/ 106 h 154"/>
                  <a:gd name="T2" fmla="*/ 21 w 129"/>
                  <a:gd name="T3" fmla="*/ 154 h 154"/>
                  <a:gd name="T4" fmla="*/ 0 w 129"/>
                  <a:gd name="T5" fmla="*/ 154 h 154"/>
                  <a:gd name="T6" fmla="*/ 53 w 129"/>
                  <a:gd name="T7" fmla="*/ 0 h 154"/>
                  <a:gd name="T8" fmla="*/ 77 w 129"/>
                  <a:gd name="T9" fmla="*/ 0 h 154"/>
                  <a:gd name="T10" fmla="*/ 129 w 129"/>
                  <a:gd name="T11" fmla="*/ 154 h 154"/>
                  <a:gd name="T12" fmla="*/ 108 w 129"/>
                  <a:gd name="T13" fmla="*/ 154 h 154"/>
                  <a:gd name="T14" fmla="*/ 92 w 129"/>
                  <a:gd name="T15" fmla="*/ 106 h 154"/>
                  <a:gd name="T16" fmla="*/ 37 w 129"/>
                  <a:gd name="T17" fmla="*/ 106 h 154"/>
                  <a:gd name="T18" fmla="*/ 88 w 129"/>
                  <a:gd name="T19" fmla="*/ 90 h 154"/>
                  <a:gd name="T20" fmla="*/ 72 w 129"/>
                  <a:gd name="T21" fmla="*/ 46 h 154"/>
                  <a:gd name="T22" fmla="*/ 64 w 129"/>
                  <a:gd name="T23" fmla="*/ 18 h 154"/>
                  <a:gd name="T24" fmla="*/ 64 w 129"/>
                  <a:gd name="T25" fmla="*/ 18 h 154"/>
                  <a:gd name="T26" fmla="*/ 56 w 129"/>
                  <a:gd name="T27" fmla="*/ 45 h 154"/>
                  <a:gd name="T28" fmla="*/ 41 w 129"/>
                  <a:gd name="T29" fmla="*/ 90 h 154"/>
                  <a:gd name="T30" fmla="*/ 88 w 129"/>
                  <a:gd name="T31" fmla="*/ 9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54">
                    <a:moveTo>
                      <a:pt x="37" y="106"/>
                    </a:moveTo>
                    <a:cubicBezTo>
                      <a:pt x="21" y="154"/>
                      <a:pt x="21" y="154"/>
                      <a:pt x="21" y="154"/>
                    </a:cubicBezTo>
                    <a:cubicBezTo>
                      <a:pt x="0" y="154"/>
                      <a:pt x="0" y="154"/>
                      <a:pt x="0" y="154"/>
                    </a:cubicBezTo>
                    <a:cubicBezTo>
                      <a:pt x="53" y="0"/>
                      <a:pt x="53" y="0"/>
                      <a:pt x="53" y="0"/>
                    </a:cubicBezTo>
                    <a:cubicBezTo>
                      <a:pt x="77" y="0"/>
                      <a:pt x="77" y="0"/>
                      <a:pt x="77" y="0"/>
                    </a:cubicBezTo>
                    <a:cubicBezTo>
                      <a:pt x="129" y="154"/>
                      <a:pt x="129" y="154"/>
                      <a:pt x="129" y="154"/>
                    </a:cubicBezTo>
                    <a:cubicBezTo>
                      <a:pt x="108" y="154"/>
                      <a:pt x="108" y="154"/>
                      <a:pt x="108" y="154"/>
                    </a:cubicBezTo>
                    <a:cubicBezTo>
                      <a:pt x="92" y="106"/>
                      <a:pt x="92" y="106"/>
                      <a:pt x="92" y="106"/>
                    </a:cubicBezTo>
                    <a:lnTo>
                      <a:pt x="37" y="106"/>
                    </a:lnTo>
                    <a:close/>
                    <a:moveTo>
                      <a:pt x="88" y="90"/>
                    </a:moveTo>
                    <a:cubicBezTo>
                      <a:pt x="72" y="46"/>
                      <a:pt x="72" y="46"/>
                      <a:pt x="72" y="46"/>
                    </a:cubicBezTo>
                    <a:cubicBezTo>
                      <a:pt x="69" y="36"/>
                      <a:pt x="67" y="26"/>
                      <a:pt x="64" y="18"/>
                    </a:cubicBezTo>
                    <a:cubicBezTo>
                      <a:pt x="64" y="18"/>
                      <a:pt x="64" y="18"/>
                      <a:pt x="64" y="18"/>
                    </a:cubicBezTo>
                    <a:cubicBezTo>
                      <a:pt x="62" y="26"/>
                      <a:pt x="59" y="36"/>
                      <a:pt x="56" y="45"/>
                    </a:cubicBezTo>
                    <a:cubicBezTo>
                      <a:pt x="41" y="90"/>
                      <a:pt x="41" y="90"/>
                      <a:pt x="41" y="90"/>
                    </a:cubicBezTo>
                    <a:lnTo>
                      <a:pt x="88" y="90"/>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4" name="Freeform: Shape 119"/>
              <p:cNvSpPr/>
              <p:nvPr/>
            </p:nvSpPr>
            <p:spPr bwMode="auto">
              <a:xfrm>
                <a:off x="4528662" y="4427549"/>
                <a:ext cx="156195" cy="248431"/>
              </a:xfrm>
              <a:custGeom>
                <a:avLst/>
                <a:gdLst>
                  <a:gd name="T0" fmla="*/ 0 w 98"/>
                  <a:gd name="T1" fmla="*/ 3 h 156"/>
                  <a:gd name="T2" fmla="*/ 37 w 98"/>
                  <a:gd name="T3" fmla="*/ 0 h 156"/>
                  <a:gd name="T4" fmla="*/ 79 w 98"/>
                  <a:gd name="T5" fmla="*/ 11 h 156"/>
                  <a:gd name="T6" fmla="*/ 92 w 98"/>
                  <a:gd name="T7" fmla="*/ 38 h 156"/>
                  <a:gd name="T8" fmla="*/ 66 w 98"/>
                  <a:gd name="T9" fmla="*/ 72 h 156"/>
                  <a:gd name="T10" fmla="*/ 66 w 98"/>
                  <a:gd name="T11" fmla="*/ 73 h 156"/>
                  <a:gd name="T12" fmla="*/ 98 w 98"/>
                  <a:gd name="T13" fmla="*/ 111 h 156"/>
                  <a:gd name="T14" fmla="*/ 84 w 98"/>
                  <a:gd name="T15" fmla="*/ 142 h 156"/>
                  <a:gd name="T16" fmla="*/ 31 w 98"/>
                  <a:gd name="T17" fmla="*/ 156 h 156"/>
                  <a:gd name="T18" fmla="*/ 0 w 98"/>
                  <a:gd name="T19" fmla="*/ 155 h 156"/>
                  <a:gd name="T20" fmla="*/ 0 w 98"/>
                  <a:gd name="T21" fmla="*/ 3 h 156"/>
                  <a:gd name="T22" fmla="*/ 20 w 98"/>
                  <a:gd name="T23" fmla="*/ 66 h 156"/>
                  <a:gd name="T24" fmla="*/ 38 w 98"/>
                  <a:gd name="T25" fmla="*/ 66 h 156"/>
                  <a:gd name="T26" fmla="*/ 72 w 98"/>
                  <a:gd name="T27" fmla="*/ 40 h 156"/>
                  <a:gd name="T28" fmla="*/ 38 w 98"/>
                  <a:gd name="T29" fmla="*/ 15 h 156"/>
                  <a:gd name="T30" fmla="*/ 20 w 98"/>
                  <a:gd name="T31" fmla="*/ 16 h 156"/>
                  <a:gd name="T32" fmla="*/ 20 w 98"/>
                  <a:gd name="T33" fmla="*/ 66 h 156"/>
                  <a:gd name="T34" fmla="*/ 20 w 98"/>
                  <a:gd name="T35" fmla="*/ 140 h 156"/>
                  <a:gd name="T36" fmla="*/ 37 w 98"/>
                  <a:gd name="T37" fmla="*/ 141 h 156"/>
                  <a:gd name="T38" fmla="*/ 77 w 98"/>
                  <a:gd name="T39" fmla="*/ 111 h 156"/>
                  <a:gd name="T40" fmla="*/ 37 w 98"/>
                  <a:gd name="T41" fmla="*/ 81 h 156"/>
                  <a:gd name="T42" fmla="*/ 20 w 98"/>
                  <a:gd name="T43" fmla="*/ 81 h 156"/>
                  <a:gd name="T44" fmla="*/ 20 w 98"/>
                  <a:gd name="T45" fmla="*/ 14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56">
                    <a:moveTo>
                      <a:pt x="0" y="3"/>
                    </a:moveTo>
                    <a:cubicBezTo>
                      <a:pt x="9" y="1"/>
                      <a:pt x="23" y="0"/>
                      <a:pt x="37" y="0"/>
                    </a:cubicBezTo>
                    <a:cubicBezTo>
                      <a:pt x="57" y="0"/>
                      <a:pt x="69" y="3"/>
                      <a:pt x="79" y="11"/>
                    </a:cubicBezTo>
                    <a:cubicBezTo>
                      <a:pt x="87" y="17"/>
                      <a:pt x="92" y="26"/>
                      <a:pt x="92" y="38"/>
                    </a:cubicBezTo>
                    <a:cubicBezTo>
                      <a:pt x="92" y="53"/>
                      <a:pt x="82" y="66"/>
                      <a:pt x="66" y="72"/>
                    </a:cubicBezTo>
                    <a:cubicBezTo>
                      <a:pt x="66" y="73"/>
                      <a:pt x="66" y="73"/>
                      <a:pt x="66" y="73"/>
                    </a:cubicBezTo>
                    <a:cubicBezTo>
                      <a:pt x="80" y="76"/>
                      <a:pt x="98" y="88"/>
                      <a:pt x="98" y="111"/>
                    </a:cubicBezTo>
                    <a:cubicBezTo>
                      <a:pt x="98" y="124"/>
                      <a:pt x="92" y="134"/>
                      <a:pt x="84" y="142"/>
                    </a:cubicBezTo>
                    <a:cubicBezTo>
                      <a:pt x="74" y="152"/>
                      <a:pt x="56" y="156"/>
                      <a:pt x="31" y="156"/>
                    </a:cubicBezTo>
                    <a:cubicBezTo>
                      <a:pt x="18" y="156"/>
                      <a:pt x="7" y="156"/>
                      <a:pt x="0" y="155"/>
                    </a:cubicBezTo>
                    <a:lnTo>
                      <a:pt x="0" y="3"/>
                    </a:lnTo>
                    <a:close/>
                    <a:moveTo>
                      <a:pt x="20" y="66"/>
                    </a:moveTo>
                    <a:cubicBezTo>
                      <a:pt x="38" y="66"/>
                      <a:pt x="38" y="66"/>
                      <a:pt x="38" y="66"/>
                    </a:cubicBezTo>
                    <a:cubicBezTo>
                      <a:pt x="59" y="66"/>
                      <a:pt x="72" y="55"/>
                      <a:pt x="72" y="40"/>
                    </a:cubicBezTo>
                    <a:cubicBezTo>
                      <a:pt x="72" y="22"/>
                      <a:pt x="58" y="15"/>
                      <a:pt x="38" y="15"/>
                    </a:cubicBezTo>
                    <a:cubicBezTo>
                      <a:pt x="29" y="15"/>
                      <a:pt x="23" y="16"/>
                      <a:pt x="20" y="16"/>
                    </a:cubicBezTo>
                    <a:lnTo>
                      <a:pt x="20" y="66"/>
                    </a:lnTo>
                    <a:close/>
                    <a:moveTo>
                      <a:pt x="20" y="140"/>
                    </a:moveTo>
                    <a:cubicBezTo>
                      <a:pt x="24" y="141"/>
                      <a:pt x="30" y="141"/>
                      <a:pt x="37" y="141"/>
                    </a:cubicBezTo>
                    <a:cubicBezTo>
                      <a:pt x="58" y="141"/>
                      <a:pt x="77" y="133"/>
                      <a:pt x="77" y="111"/>
                    </a:cubicBezTo>
                    <a:cubicBezTo>
                      <a:pt x="77" y="90"/>
                      <a:pt x="58" y="81"/>
                      <a:pt x="37" y="81"/>
                    </a:cubicBezTo>
                    <a:cubicBezTo>
                      <a:pt x="20" y="81"/>
                      <a:pt x="20" y="81"/>
                      <a:pt x="20" y="81"/>
                    </a:cubicBezTo>
                    <a:lnTo>
                      <a:pt x="20" y="140"/>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5" name="Freeform: Shape 120"/>
              <p:cNvSpPr/>
              <p:nvPr/>
            </p:nvSpPr>
            <p:spPr bwMode="auto">
              <a:xfrm>
                <a:off x="4552226" y="4741286"/>
                <a:ext cx="157542" cy="213422"/>
              </a:xfrm>
              <a:custGeom>
                <a:avLst/>
                <a:gdLst>
                  <a:gd name="T0" fmla="*/ 99 w 99"/>
                  <a:gd name="T1" fmla="*/ 128 h 134"/>
                  <a:gd name="T2" fmla="*/ 64 w 99"/>
                  <a:gd name="T3" fmla="*/ 134 h 134"/>
                  <a:gd name="T4" fmla="*/ 0 w 99"/>
                  <a:gd name="T5" fmla="*/ 68 h 134"/>
                  <a:gd name="T6" fmla="*/ 68 w 99"/>
                  <a:gd name="T7" fmla="*/ 0 h 134"/>
                  <a:gd name="T8" fmla="*/ 99 w 99"/>
                  <a:gd name="T9" fmla="*/ 5 h 134"/>
                  <a:gd name="T10" fmla="*/ 95 w 99"/>
                  <a:gd name="T11" fmla="*/ 19 h 134"/>
                  <a:gd name="T12" fmla="*/ 69 w 99"/>
                  <a:gd name="T13" fmla="*/ 14 h 134"/>
                  <a:gd name="T14" fmla="*/ 18 w 99"/>
                  <a:gd name="T15" fmla="*/ 67 h 134"/>
                  <a:gd name="T16" fmla="*/ 68 w 99"/>
                  <a:gd name="T17" fmla="*/ 119 h 134"/>
                  <a:gd name="T18" fmla="*/ 95 w 99"/>
                  <a:gd name="T19" fmla="*/ 114 h 134"/>
                  <a:gd name="T20" fmla="*/ 99 w 99"/>
                  <a:gd name="T21"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99" y="128"/>
                    </a:moveTo>
                    <a:cubicBezTo>
                      <a:pt x="93" y="131"/>
                      <a:pt x="80" y="134"/>
                      <a:pt x="64" y="134"/>
                    </a:cubicBezTo>
                    <a:cubicBezTo>
                      <a:pt x="28" y="134"/>
                      <a:pt x="0" y="111"/>
                      <a:pt x="0" y="68"/>
                    </a:cubicBezTo>
                    <a:cubicBezTo>
                      <a:pt x="0" y="27"/>
                      <a:pt x="28" y="0"/>
                      <a:pt x="68" y="0"/>
                    </a:cubicBezTo>
                    <a:cubicBezTo>
                      <a:pt x="84" y="0"/>
                      <a:pt x="95" y="3"/>
                      <a:pt x="99" y="5"/>
                    </a:cubicBezTo>
                    <a:cubicBezTo>
                      <a:pt x="95" y="19"/>
                      <a:pt x="95" y="19"/>
                      <a:pt x="95" y="19"/>
                    </a:cubicBezTo>
                    <a:cubicBezTo>
                      <a:pt x="89" y="16"/>
                      <a:pt x="80" y="14"/>
                      <a:pt x="69" y="14"/>
                    </a:cubicBezTo>
                    <a:cubicBezTo>
                      <a:pt x="38" y="14"/>
                      <a:pt x="18" y="33"/>
                      <a:pt x="18" y="67"/>
                    </a:cubicBezTo>
                    <a:cubicBezTo>
                      <a:pt x="18" y="99"/>
                      <a:pt x="36" y="119"/>
                      <a:pt x="68" y="119"/>
                    </a:cubicBezTo>
                    <a:cubicBezTo>
                      <a:pt x="78" y="119"/>
                      <a:pt x="89" y="117"/>
                      <a:pt x="95" y="114"/>
                    </a:cubicBezTo>
                    <a:lnTo>
                      <a:pt x="99" y="128"/>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200" name="Group 121"/>
            <p:cNvGrpSpPr/>
            <p:nvPr/>
          </p:nvGrpSpPr>
          <p:grpSpPr>
            <a:xfrm>
              <a:off x="12044" y="4425"/>
              <a:ext cx="1011" cy="1136"/>
              <a:chOff x="3918693" y="2872329"/>
              <a:chExt cx="856381" cy="961409"/>
            </a:xfrm>
          </p:grpSpPr>
          <p:sp>
            <p:nvSpPr>
              <p:cNvPr id="215" name="Freeform: Shape 122"/>
              <p:cNvSpPr/>
              <p:nvPr/>
            </p:nvSpPr>
            <p:spPr bwMode="auto">
              <a:xfrm>
                <a:off x="3988712" y="2912052"/>
                <a:ext cx="786362" cy="921686"/>
              </a:xfrm>
              <a:custGeom>
                <a:avLst/>
                <a:gdLst>
                  <a:gd name="T0" fmla="*/ 247 w 494"/>
                  <a:gd name="T1" fmla="*/ 0 h 579"/>
                  <a:gd name="T2" fmla="*/ 0 w 494"/>
                  <a:gd name="T3" fmla="*/ 247 h 579"/>
                  <a:gd name="T4" fmla="*/ 247 w 494"/>
                  <a:gd name="T5" fmla="*/ 494 h 579"/>
                  <a:gd name="T6" fmla="*/ 258 w 494"/>
                  <a:gd name="T7" fmla="*/ 494 h 579"/>
                  <a:gd name="T8" fmla="*/ 358 w 494"/>
                  <a:gd name="T9" fmla="*/ 579 h 579"/>
                  <a:gd name="T10" fmla="*/ 368 w 494"/>
                  <a:gd name="T11" fmla="*/ 462 h 579"/>
                  <a:gd name="T12" fmla="*/ 494 w 494"/>
                  <a:gd name="T13" fmla="*/ 247 h 579"/>
                  <a:gd name="T14" fmla="*/ 247 w 494"/>
                  <a:gd name="T15" fmla="*/ 0 h 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79">
                    <a:moveTo>
                      <a:pt x="247" y="0"/>
                    </a:moveTo>
                    <a:cubicBezTo>
                      <a:pt x="110" y="0"/>
                      <a:pt x="0" y="111"/>
                      <a:pt x="0" y="247"/>
                    </a:cubicBezTo>
                    <a:cubicBezTo>
                      <a:pt x="0" y="384"/>
                      <a:pt x="110" y="494"/>
                      <a:pt x="247" y="494"/>
                    </a:cubicBezTo>
                    <a:cubicBezTo>
                      <a:pt x="251" y="494"/>
                      <a:pt x="254" y="494"/>
                      <a:pt x="258" y="494"/>
                    </a:cubicBezTo>
                    <a:cubicBezTo>
                      <a:pt x="358" y="579"/>
                      <a:pt x="358" y="579"/>
                      <a:pt x="358" y="579"/>
                    </a:cubicBezTo>
                    <a:cubicBezTo>
                      <a:pt x="368" y="462"/>
                      <a:pt x="368" y="462"/>
                      <a:pt x="368" y="462"/>
                    </a:cubicBezTo>
                    <a:cubicBezTo>
                      <a:pt x="443" y="420"/>
                      <a:pt x="494" y="340"/>
                      <a:pt x="494" y="247"/>
                    </a:cubicBezTo>
                    <a:cubicBezTo>
                      <a:pt x="494" y="111"/>
                      <a:pt x="383" y="0"/>
                      <a:pt x="24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6" name="Freeform: Shape 123"/>
              <p:cNvSpPr/>
              <p:nvPr/>
            </p:nvSpPr>
            <p:spPr bwMode="auto">
              <a:xfrm>
                <a:off x="3918693" y="2872329"/>
                <a:ext cx="788382" cy="920340"/>
              </a:xfrm>
              <a:custGeom>
                <a:avLst/>
                <a:gdLst>
                  <a:gd name="T0" fmla="*/ 495 w 495"/>
                  <a:gd name="T1" fmla="*/ 247 h 578"/>
                  <a:gd name="T2" fmla="*/ 248 w 495"/>
                  <a:gd name="T3" fmla="*/ 0 h 578"/>
                  <a:gd name="T4" fmla="*/ 0 w 495"/>
                  <a:gd name="T5" fmla="*/ 247 h 578"/>
                  <a:gd name="T6" fmla="*/ 248 w 495"/>
                  <a:gd name="T7" fmla="*/ 494 h 578"/>
                  <a:gd name="T8" fmla="*/ 259 w 495"/>
                  <a:gd name="T9" fmla="*/ 494 h 578"/>
                  <a:gd name="T10" fmla="*/ 359 w 495"/>
                  <a:gd name="T11" fmla="*/ 578 h 578"/>
                  <a:gd name="T12" fmla="*/ 369 w 495"/>
                  <a:gd name="T13" fmla="*/ 462 h 578"/>
                  <a:gd name="T14" fmla="*/ 495 w 495"/>
                  <a:gd name="T15" fmla="*/ 247 h 5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78">
                    <a:moveTo>
                      <a:pt x="495" y="247"/>
                    </a:moveTo>
                    <a:cubicBezTo>
                      <a:pt x="495" y="110"/>
                      <a:pt x="384" y="0"/>
                      <a:pt x="248" y="0"/>
                    </a:cubicBezTo>
                    <a:cubicBezTo>
                      <a:pt x="111" y="0"/>
                      <a:pt x="0" y="110"/>
                      <a:pt x="0" y="247"/>
                    </a:cubicBezTo>
                    <a:cubicBezTo>
                      <a:pt x="0" y="383"/>
                      <a:pt x="111" y="494"/>
                      <a:pt x="248" y="494"/>
                    </a:cubicBezTo>
                    <a:cubicBezTo>
                      <a:pt x="251" y="494"/>
                      <a:pt x="255" y="494"/>
                      <a:pt x="259" y="494"/>
                    </a:cubicBezTo>
                    <a:cubicBezTo>
                      <a:pt x="359" y="578"/>
                      <a:pt x="359" y="578"/>
                      <a:pt x="359" y="578"/>
                    </a:cubicBezTo>
                    <a:cubicBezTo>
                      <a:pt x="369" y="462"/>
                      <a:pt x="369" y="462"/>
                      <a:pt x="369" y="462"/>
                    </a:cubicBezTo>
                    <a:cubicBezTo>
                      <a:pt x="444" y="419"/>
                      <a:pt x="495" y="339"/>
                      <a:pt x="495" y="247"/>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7" name="Freeform: Shape 124"/>
              <p:cNvSpPr/>
              <p:nvPr/>
            </p:nvSpPr>
            <p:spPr bwMode="auto">
              <a:xfrm>
                <a:off x="4149620" y="3238580"/>
                <a:ext cx="235639" cy="235639"/>
              </a:xfrm>
              <a:custGeom>
                <a:avLst/>
                <a:gdLst>
                  <a:gd name="T0" fmla="*/ 148 w 148"/>
                  <a:gd name="T1" fmla="*/ 145 h 148"/>
                  <a:gd name="T2" fmla="*/ 145 w 148"/>
                  <a:gd name="T3" fmla="*/ 148 h 148"/>
                  <a:gd name="T4" fmla="*/ 3 w 148"/>
                  <a:gd name="T5" fmla="*/ 148 h 148"/>
                  <a:gd name="T6" fmla="*/ 0 w 148"/>
                  <a:gd name="T7" fmla="*/ 145 h 148"/>
                  <a:gd name="T8" fmla="*/ 0 w 148"/>
                  <a:gd name="T9" fmla="*/ 3 h 148"/>
                  <a:gd name="T10" fmla="*/ 3 w 148"/>
                  <a:gd name="T11" fmla="*/ 0 h 148"/>
                  <a:gd name="T12" fmla="*/ 145 w 148"/>
                  <a:gd name="T13" fmla="*/ 0 h 148"/>
                  <a:gd name="T14" fmla="*/ 148 w 148"/>
                  <a:gd name="T15" fmla="*/ 3 h 148"/>
                  <a:gd name="T16" fmla="*/ 148 w 148"/>
                  <a:gd name="T17" fmla="*/ 145 h 148"/>
                  <a:gd name="T18" fmla="*/ 4 w 148"/>
                  <a:gd name="T19" fmla="*/ 140 h 148"/>
                  <a:gd name="T20" fmla="*/ 144 w 148"/>
                  <a:gd name="T21" fmla="*/ 140 h 148"/>
                  <a:gd name="T22" fmla="*/ 144 w 148"/>
                  <a:gd name="T23" fmla="*/ 8 h 148"/>
                  <a:gd name="T24" fmla="*/ 4 w 148"/>
                  <a:gd name="T25" fmla="*/ 8 h 148"/>
                  <a:gd name="T26" fmla="*/ 4 w 148"/>
                  <a:gd name="T2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148" y="145"/>
                    </a:moveTo>
                    <a:cubicBezTo>
                      <a:pt x="148" y="147"/>
                      <a:pt x="147" y="148"/>
                      <a:pt x="145" y="148"/>
                    </a:cubicBezTo>
                    <a:cubicBezTo>
                      <a:pt x="3" y="148"/>
                      <a:pt x="3" y="148"/>
                      <a:pt x="3" y="148"/>
                    </a:cubicBezTo>
                    <a:cubicBezTo>
                      <a:pt x="1" y="148"/>
                      <a:pt x="0" y="147"/>
                      <a:pt x="0" y="145"/>
                    </a:cubicBezTo>
                    <a:cubicBezTo>
                      <a:pt x="0" y="3"/>
                      <a:pt x="0" y="3"/>
                      <a:pt x="0" y="3"/>
                    </a:cubicBezTo>
                    <a:cubicBezTo>
                      <a:pt x="0" y="1"/>
                      <a:pt x="1" y="0"/>
                      <a:pt x="3" y="0"/>
                    </a:cubicBezTo>
                    <a:cubicBezTo>
                      <a:pt x="145" y="0"/>
                      <a:pt x="145" y="0"/>
                      <a:pt x="145" y="0"/>
                    </a:cubicBezTo>
                    <a:cubicBezTo>
                      <a:pt x="147" y="0"/>
                      <a:pt x="148" y="1"/>
                      <a:pt x="148" y="3"/>
                    </a:cubicBezTo>
                    <a:lnTo>
                      <a:pt x="148" y="145"/>
                    </a:lnTo>
                    <a:close/>
                    <a:moveTo>
                      <a:pt x="4" y="140"/>
                    </a:moveTo>
                    <a:cubicBezTo>
                      <a:pt x="144" y="140"/>
                      <a:pt x="144" y="140"/>
                      <a:pt x="144" y="140"/>
                    </a:cubicBezTo>
                    <a:cubicBezTo>
                      <a:pt x="144" y="8"/>
                      <a:pt x="144" y="8"/>
                      <a:pt x="144" y="8"/>
                    </a:cubicBezTo>
                    <a:cubicBezTo>
                      <a:pt x="4" y="8"/>
                      <a:pt x="4" y="8"/>
                      <a:pt x="4" y="8"/>
                    </a:cubicBezTo>
                    <a:lnTo>
                      <a:pt x="4" y="140"/>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8" name="Freeform: Shape 125"/>
              <p:cNvSpPr/>
              <p:nvPr/>
            </p:nvSpPr>
            <p:spPr bwMode="auto">
              <a:xfrm>
                <a:off x="4152986" y="3154423"/>
                <a:ext cx="316430" cy="93582"/>
              </a:xfrm>
              <a:custGeom>
                <a:avLst/>
                <a:gdLst>
                  <a:gd name="T0" fmla="*/ 144 w 199"/>
                  <a:gd name="T1" fmla="*/ 59 h 59"/>
                  <a:gd name="T2" fmla="*/ 142 w 199"/>
                  <a:gd name="T3" fmla="*/ 59 h 59"/>
                  <a:gd name="T4" fmla="*/ 142 w 199"/>
                  <a:gd name="T5" fmla="*/ 55 h 59"/>
                  <a:gd name="T6" fmla="*/ 190 w 199"/>
                  <a:gd name="T7" fmla="*/ 5 h 59"/>
                  <a:gd name="T8" fmla="*/ 55 w 199"/>
                  <a:gd name="T9" fmla="*/ 5 h 59"/>
                  <a:gd name="T10" fmla="*/ 5 w 199"/>
                  <a:gd name="T11" fmla="*/ 58 h 59"/>
                  <a:gd name="T12" fmla="*/ 1 w 199"/>
                  <a:gd name="T13" fmla="*/ 58 h 59"/>
                  <a:gd name="T14" fmla="*/ 1 w 199"/>
                  <a:gd name="T15" fmla="*/ 54 h 59"/>
                  <a:gd name="T16" fmla="*/ 52 w 199"/>
                  <a:gd name="T17" fmla="*/ 1 h 59"/>
                  <a:gd name="T18" fmla="*/ 54 w 199"/>
                  <a:gd name="T19" fmla="*/ 1 h 59"/>
                  <a:gd name="T20" fmla="*/ 196 w 199"/>
                  <a:gd name="T21" fmla="*/ 1 h 59"/>
                  <a:gd name="T22" fmla="*/ 199 w 199"/>
                  <a:gd name="T23" fmla="*/ 2 h 59"/>
                  <a:gd name="T24" fmla="*/ 198 w 199"/>
                  <a:gd name="T25" fmla="*/ 4 h 59"/>
                  <a:gd name="T26" fmla="*/ 146 w 199"/>
                  <a:gd name="T27" fmla="*/ 59 h 59"/>
                  <a:gd name="T28" fmla="*/ 144 w 199"/>
                  <a:gd name="T2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59">
                    <a:moveTo>
                      <a:pt x="144" y="59"/>
                    </a:moveTo>
                    <a:cubicBezTo>
                      <a:pt x="144" y="59"/>
                      <a:pt x="143" y="59"/>
                      <a:pt x="142" y="59"/>
                    </a:cubicBezTo>
                    <a:cubicBezTo>
                      <a:pt x="141" y="58"/>
                      <a:pt x="141" y="56"/>
                      <a:pt x="142" y="55"/>
                    </a:cubicBezTo>
                    <a:cubicBezTo>
                      <a:pt x="190" y="5"/>
                      <a:pt x="190" y="5"/>
                      <a:pt x="190" y="5"/>
                    </a:cubicBezTo>
                    <a:cubicBezTo>
                      <a:pt x="55" y="5"/>
                      <a:pt x="55" y="5"/>
                      <a:pt x="55" y="5"/>
                    </a:cubicBezTo>
                    <a:cubicBezTo>
                      <a:pt x="5" y="58"/>
                      <a:pt x="5" y="58"/>
                      <a:pt x="5" y="58"/>
                    </a:cubicBezTo>
                    <a:cubicBezTo>
                      <a:pt x="4" y="59"/>
                      <a:pt x="2" y="59"/>
                      <a:pt x="1" y="58"/>
                    </a:cubicBezTo>
                    <a:cubicBezTo>
                      <a:pt x="0" y="57"/>
                      <a:pt x="0" y="55"/>
                      <a:pt x="1" y="54"/>
                    </a:cubicBezTo>
                    <a:cubicBezTo>
                      <a:pt x="52" y="1"/>
                      <a:pt x="52" y="1"/>
                      <a:pt x="52" y="1"/>
                    </a:cubicBezTo>
                    <a:cubicBezTo>
                      <a:pt x="52" y="0"/>
                      <a:pt x="53" y="1"/>
                      <a:pt x="54" y="1"/>
                    </a:cubicBezTo>
                    <a:cubicBezTo>
                      <a:pt x="196" y="1"/>
                      <a:pt x="196" y="1"/>
                      <a:pt x="196" y="1"/>
                    </a:cubicBezTo>
                    <a:cubicBezTo>
                      <a:pt x="197" y="1"/>
                      <a:pt x="198" y="1"/>
                      <a:pt x="199" y="2"/>
                    </a:cubicBezTo>
                    <a:cubicBezTo>
                      <a:pt x="199" y="3"/>
                      <a:pt x="199" y="3"/>
                      <a:pt x="198" y="4"/>
                    </a:cubicBezTo>
                    <a:cubicBezTo>
                      <a:pt x="146" y="59"/>
                      <a:pt x="146" y="59"/>
                      <a:pt x="146" y="59"/>
                    </a:cubicBezTo>
                    <a:cubicBezTo>
                      <a:pt x="146" y="59"/>
                      <a:pt x="145" y="59"/>
                      <a:pt x="144" y="59"/>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9" name="Freeform: Shape 126"/>
              <p:cNvSpPr/>
              <p:nvPr/>
            </p:nvSpPr>
            <p:spPr bwMode="auto">
              <a:xfrm>
                <a:off x="4379199" y="3155770"/>
                <a:ext cx="93582" cy="318450"/>
              </a:xfrm>
              <a:custGeom>
                <a:avLst/>
                <a:gdLst>
                  <a:gd name="T0" fmla="*/ 3 w 59"/>
                  <a:gd name="T1" fmla="*/ 200 h 200"/>
                  <a:gd name="T2" fmla="*/ 1 w 59"/>
                  <a:gd name="T3" fmla="*/ 199 h 200"/>
                  <a:gd name="T4" fmla="*/ 1 w 59"/>
                  <a:gd name="T5" fmla="*/ 195 h 200"/>
                  <a:gd name="T6" fmla="*/ 53 w 59"/>
                  <a:gd name="T7" fmla="*/ 138 h 200"/>
                  <a:gd name="T8" fmla="*/ 52 w 59"/>
                  <a:gd name="T9" fmla="*/ 2 h 200"/>
                  <a:gd name="T10" fmla="*/ 54 w 59"/>
                  <a:gd name="T11" fmla="*/ 0 h 200"/>
                  <a:gd name="T12" fmla="*/ 57 w 59"/>
                  <a:gd name="T13" fmla="*/ 2 h 200"/>
                  <a:gd name="T14" fmla="*/ 59 w 59"/>
                  <a:gd name="T15" fmla="*/ 139 h 200"/>
                  <a:gd name="T16" fmla="*/ 58 w 59"/>
                  <a:gd name="T17" fmla="*/ 141 h 200"/>
                  <a:gd name="T18" fmla="*/ 5 w 59"/>
                  <a:gd name="T19" fmla="*/ 199 h 200"/>
                  <a:gd name="T20" fmla="*/ 3 w 59"/>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00">
                    <a:moveTo>
                      <a:pt x="3" y="200"/>
                    </a:moveTo>
                    <a:cubicBezTo>
                      <a:pt x="2" y="200"/>
                      <a:pt x="2" y="199"/>
                      <a:pt x="1" y="199"/>
                    </a:cubicBezTo>
                    <a:cubicBezTo>
                      <a:pt x="0" y="198"/>
                      <a:pt x="0" y="196"/>
                      <a:pt x="1" y="195"/>
                    </a:cubicBezTo>
                    <a:cubicBezTo>
                      <a:pt x="53" y="138"/>
                      <a:pt x="53" y="138"/>
                      <a:pt x="53" y="138"/>
                    </a:cubicBezTo>
                    <a:cubicBezTo>
                      <a:pt x="52" y="2"/>
                      <a:pt x="52" y="2"/>
                      <a:pt x="52" y="2"/>
                    </a:cubicBezTo>
                    <a:cubicBezTo>
                      <a:pt x="52" y="1"/>
                      <a:pt x="53" y="0"/>
                      <a:pt x="54" y="0"/>
                    </a:cubicBezTo>
                    <a:cubicBezTo>
                      <a:pt x="56" y="0"/>
                      <a:pt x="57" y="1"/>
                      <a:pt x="57" y="2"/>
                    </a:cubicBezTo>
                    <a:cubicBezTo>
                      <a:pt x="59" y="139"/>
                      <a:pt x="59" y="139"/>
                      <a:pt x="59" y="139"/>
                    </a:cubicBezTo>
                    <a:cubicBezTo>
                      <a:pt x="59" y="140"/>
                      <a:pt x="59" y="140"/>
                      <a:pt x="58" y="141"/>
                    </a:cubicBezTo>
                    <a:cubicBezTo>
                      <a:pt x="5" y="199"/>
                      <a:pt x="5" y="199"/>
                      <a:pt x="5" y="199"/>
                    </a:cubicBezTo>
                    <a:cubicBezTo>
                      <a:pt x="4" y="199"/>
                      <a:pt x="4" y="200"/>
                      <a:pt x="3" y="200"/>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0" name="Freeform: Shape 127"/>
              <p:cNvSpPr/>
              <p:nvPr/>
            </p:nvSpPr>
            <p:spPr bwMode="auto">
              <a:xfrm>
                <a:off x="4235796" y="3154423"/>
                <a:ext cx="9426" cy="20198"/>
              </a:xfrm>
              <a:custGeom>
                <a:avLst/>
                <a:gdLst>
                  <a:gd name="T0" fmla="*/ 3 w 6"/>
                  <a:gd name="T1" fmla="*/ 13 h 13"/>
                  <a:gd name="T2" fmla="*/ 0 w 6"/>
                  <a:gd name="T3" fmla="*/ 9 h 13"/>
                  <a:gd name="T4" fmla="*/ 0 w 6"/>
                  <a:gd name="T5" fmla="*/ 4 h 13"/>
                  <a:gd name="T6" fmla="*/ 3 w 6"/>
                  <a:gd name="T7" fmla="*/ 1 h 13"/>
                  <a:gd name="T8" fmla="*/ 6 w 6"/>
                  <a:gd name="T9" fmla="*/ 3 h 13"/>
                  <a:gd name="T10" fmla="*/ 6 w 6"/>
                  <a:gd name="T11" fmla="*/ 9 h 13"/>
                  <a:gd name="T12" fmla="*/ 3 w 6"/>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 h="13">
                    <a:moveTo>
                      <a:pt x="3" y="13"/>
                    </a:moveTo>
                    <a:cubicBezTo>
                      <a:pt x="1" y="13"/>
                      <a:pt x="0" y="11"/>
                      <a:pt x="0" y="9"/>
                    </a:cubicBezTo>
                    <a:cubicBezTo>
                      <a:pt x="0" y="4"/>
                      <a:pt x="0" y="4"/>
                      <a:pt x="0" y="4"/>
                    </a:cubicBezTo>
                    <a:cubicBezTo>
                      <a:pt x="0" y="2"/>
                      <a:pt x="1" y="1"/>
                      <a:pt x="3" y="1"/>
                    </a:cubicBezTo>
                    <a:cubicBezTo>
                      <a:pt x="4" y="0"/>
                      <a:pt x="6" y="2"/>
                      <a:pt x="6" y="3"/>
                    </a:cubicBezTo>
                    <a:cubicBezTo>
                      <a:pt x="6" y="9"/>
                      <a:pt x="6" y="9"/>
                      <a:pt x="6" y="9"/>
                    </a:cubicBezTo>
                    <a:cubicBezTo>
                      <a:pt x="6" y="11"/>
                      <a:pt x="4" y="13"/>
                      <a:pt x="3" y="1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1" name="Freeform: Shape 128"/>
              <p:cNvSpPr/>
              <p:nvPr/>
            </p:nvSpPr>
            <p:spPr bwMode="auto">
              <a:xfrm>
                <a:off x="4171837" y="3180007"/>
                <a:ext cx="74731" cy="273342"/>
              </a:xfrm>
              <a:custGeom>
                <a:avLst/>
                <a:gdLst>
                  <a:gd name="T0" fmla="*/ 1 w 47"/>
                  <a:gd name="T1" fmla="*/ 171 h 172"/>
                  <a:gd name="T2" fmla="*/ 8 w 47"/>
                  <a:gd name="T3" fmla="*/ 159 h 172"/>
                  <a:gd name="T4" fmla="*/ 12 w 47"/>
                  <a:gd name="T5" fmla="*/ 163 h 172"/>
                  <a:gd name="T6" fmla="*/ 3 w 47"/>
                  <a:gd name="T7" fmla="*/ 172 h 172"/>
                  <a:gd name="T8" fmla="*/ 15 w 47"/>
                  <a:gd name="T9" fmla="*/ 155 h 172"/>
                  <a:gd name="T10" fmla="*/ 22 w 47"/>
                  <a:gd name="T11" fmla="*/ 144 h 172"/>
                  <a:gd name="T12" fmla="*/ 26 w 47"/>
                  <a:gd name="T13" fmla="*/ 147 h 172"/>
                  <a:gd name="T14" fmla="*/ 17 w 47"/>
                  <a:gd name="T15" fmla="*/ 156 h 172"/>
                  <a:gd name="T16" fmla="*/ 30 w 47"/>
                  <a:gd name="T17" fmla="*/ 139 h 172"/>
                  <a:gd name="T18" fmla="*/ 37 w 47"/>
                  <a:gd name="T19" fmla="*/ 128 h 172"/>
                  <a:gd name="T20" fmla="*/ 41 w 47"/>
                  <a:gd name="T21" fmla="*/ 131 h 172"/>
                  <a:gd name="T22" fmla="*/ 32 w 47"/>
                  <a:gd name="T23" fmla="*/ 140 h 172"/>
                  <a:gd name="T24" fmla="*/ 42 w 47"/>
                  <a:gd name="T25" fmla="*/ 122 h 172"/>
                  <a:gd name="T26" fmla="*/ 45 w 47"/>
                  <a:gd name="T27" fmla="*/ 108 h 172"/>
                  <a:gd name="T28" fmla="*/ 47 w 47"/>
                  <a:gd name="T29" fmla="*/ 122 h 172"/>
                  <a:gd name="T30" fmla="*/ 44 w 47"/>
                  <a:gd name="T31" fmla="*/ 105 h 172"/>
                  <a:gd name="T32" fmla="*/ 42 w 47"/>
                  <a:gd name="T33" fmla="*/ 90 h 172"/>
                  <a:gd name="T34" fmla="*/ 47 w 47"/>
                  <a:gd name="T35" fmla="*/ 89 h 172"/>
                  <a:gd name="T36" fmla="*/ 44 w 47"/>
                  <a:gd name="T37" fmla="*/ 105 h 172"/>
                  <a:gd name="T38" fmla="*/ 41 w 47"/>
                  <a:gd name="T39" fmla="*/ 80 h 172"/>
                  <a:gd name="T40" fmla="*/ 44 w 47"/>
                  <a:gd name="T41" fmla="*/ 65 h 172"/>
                  <a:gd name="T42" fmla="*/ 47 w 47"/>
                  <a:gd name="T43" fmla="*/ 80 h 172"/>
                  <a:gd name="T44" fmla="*/ 44 w 47"/>
                  <a:gd name="T45" fmla="*/ 61 h 172"/>
                  <a:gd name="T46" fmla="*/ 41 w 47"/>
                  <a:gd name="T47" fmla="*/ 47 h 172"/>
                  <a:gd name="T48" fmla="*/ 46 w 47"/>
                  <a:gd name="T49" fmla="*/ 46 h 172"/>
                  <a:gd name="T50" fmla="*/ 44 w 47"/>
                  <a:gd name="T51" fmla="*/ 61 h 172"/>
                  <a:gd name="T52" fmla="*/ 41 w 47"/>
                  <a:gd name="T53" fmla="*/ 35 h 172"/>
                  <a:gd name="T54" fmla="*/ 43 w 47"/>
                  <a:gd name="T55" fmla="*/ 22 h 172"/>
                  <a:gd name="T56" fmla="*/ 46 w 47"/>
                  <a:gd name="T57" fmla="*/ 35 h 172"/>
                  <a:gd name="T58" fmla="*/ 43 w 47"/>
                  <a:gd name="T59" fmla="*/ 37 h 172"/>
                  <a:gd name="T60" fmla="*/ 40 w 47"/>
                  <a:gd name="T61" fmla="*/ 12 h 172"/>
                  <a:gd name="T62" fmla="*/ 43 w 47"/>
                  <a:gd name="T63" fmla="*/ 0 h 172"/>
                  <a:gd name="T64" fmla="*/ 46 w 47"/>
                  <a:gd name="T65"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172">
                    <a:moveTo>
                      <a:pt x="3" y="172"/>
                    </a:moveTo>
                    <a:cubicBezTo>
                      <a:pt x="2" y="172"/>
                      <a:pt x="1" y="172"/>
                      <a:pt x="1" y="171"/>
                    </a:cubicBezTo>
                    <a:cubicBezTo>
                      <a:pt x="0" y="170"/>
                      <a:pt x="0" y="168"/>
                      <a:pt x="1" y="167"/>
                    </a:cubicBezTo>
                    <a:cubicBezTo>
                      <a:pt x="8" y="159"/>
                      <a:pt x="8" y="159"/>
                      <a:pt x="8" y="159"/>
                    </a:cubicBezTo>
                    <a:cubicBezTo>
                      <a:pt x="9" y="158"/>
                      <a:pt x="11" y="158"/>
                      <a:pt x="12" y="159"/>
                    </a:cubicBezTo>
                    <a:cubicBezTo>
                      <a:pt x="13" y="160"/>
                      <a:pt x="13" y="162"/>
                      <a:pt x="12" y="163"/>
                    </a:cubicBezTo>
                    <a:cubicBezTo>
                      <a:pt x="5" y="171"/>
                      <a:pt x="5" y="171"/>
                      <a:pt x="5" y="171"/>
                    </a:cubicBezTo>
                    <a:cubicBezTo>
                      <a:pt x="4" y="171"/>
                      <a:pt x="3" y="172"/>
                      <a:pt x="3" y="172"/>
                    </a:cubicBezTo>
                    <a:close/>
                    <a:moveTo>
                      <a:pt x="17" y="156"/>
                    </a:moveTo>
                    <a:cubicBezTo>
                      <a:pt x="16" y="156"/>
                      <a:pt x="16" y="156"/>
                      <a:pt x="15" y="155"/>
                    </a:cubicBezTo>
                    <a:cubicBezTo>
                      <a:pt x="14" y="154"/>
                      <a:pt x="14" y="153"/>
                      <a:pt x="15" y="151"/>
                    </a:cubicBezTo>
                    <a:cubicBezTo>
                      <a:pt x="22" y="144"/>
                      <a:pt x="22" y="144"/>
                      <a:pt x="22" y="144"/>
                    </a:cubicBezTo>
                    <a:cubicBezTo>
                      <a:pt x="23" y="142"/>
                      <a:pt x="25" y="142"/>
                      <a:pt x="26" y="143"/>
                    </a:cubicBezTo>
                    <a:cubicBezTo>
                      <a:pt x="27" y="144"/>
                      <a:pt x="27" y="146"/>
                      <a:pt x="26" y="147"/>
                    </a:cubicBezTo>
                    <a:cubicBezTo>
                      <a:pt x="19" y="155"/>
                      <a:pt x="19" y="155"/>
                      <a:pt x="19" y="155"/>
                    </a:cubicBezTo>
                    <a:cubicBezTo>
                      <a:pt x="19" y="156"/>
                      <a:pt x="18" y="156"/>
                      <a:pt x="17" y="156"/>
                    </a:cubicBezTo>
                    <a:close/>
                    <a:moveTo>
                      <a:pt x="32" y="140"/>
                    </a:moveTo>
                    <a:cubicBezTo>
                      <a:pt x="31" y="140"/>
                      <a:pt x="30" y="140"/>
                      <a:pt x="30" y="139"/>
                    </a:cubicBezTo>
                    <a:cubicBezTo>
                      <a:pt x="29" y="138"/>
                      <a:pt x="29" y="137"/>
                      <a:pt x="30" y="136"/>
                    </a:cubicBezTo>
                    <a:cubicBezTo>
                      <a:pt x="37" y="128"/>
                      <a:pt x="37" y="128"/>
                      <a:pt x="37" y="128"/>
                    </a:cubicBezTo>
                    <a:cubicBezTo>
                      <a:pt x="38" y="127"/>
                      <a:pt x="40" y="127"/>
                      <a:pt x="41" y="128"/>
                    </a:cubicBezTo>
                    <a:cubicBezTo>
                      <a:pt x="42" y="129"/>
                      <a:pt x="42" y="130"/>
                      <a:pt x="41" y="131"/>
                    </a:cubicBezTo>
                    <a:cubicBezTo>
                      <a:pt x="34" y="139"/>
                      <a:pt x="34" y="139"/>
                      <a:pt x="34" y="139"/>
                    </a:cubicBezTo>
                    <a:cubicBezTo>
                      <a:pt x="33" y="140"/>
                      <a:pt x="32" y="140"/>
                      <a:pt x="32" y="140"/>
                    </a:cubicBezTo>
                    <a:close/>
                    <a:moveTo>
                      <a:pt x="45" y="125"/>
                    </a:moveTo>
                    <a:cubicBezTo>
                      <a:pt x="43" y="125"/>
                      <a:pt x="42" y="123"/>
                      <a:pt x="42" y="122"/>
                    </a:cubicBezTo>
                    <a:cubicBezTo>
                      <a:pt x="42" y="111"/>
                      <a:pt x="42" y="111"/>
                      <a:pt x="42" y="111"/>
                    </a:cubicBezTo>
                    <a:cubicBezTo>
                      <a:pt x="42" y="109"/>
                      <a:pt x="43" y="108"/>
                      <a:pt x="45" y="108"/>
                    </a:cubicBezTo>
                    <a:cubicBezTo>
                      <a:pt x="46" y="108"/>
                      <a:pt x="47" y="109"/>
                      <a:pt x="47" y="110"/>
                    </a:cubicBezTo>
                    <a:cubicBezTo>
                      <a:pt x="47" y="122"/>
                      <a:pt x="47" y="122"/>
                      <a:pt x="47" y="122"/>
                    </a:cubicBezTo>
                    <a:cubicBezTo>
                      <a:pt x="47" y="123"/>
                      <a:pt x="46" y="125"/>
                      <a:pt x="45" y="125"/>
                    </a:cubicBezTo>
                    <a:close/>
                    <a:moveTo>
                      <a:pt x="44" y="105"/>
                    </a:moveTo>
                    <a:cubicBezTo>
                      <a:pt x="43" y="105"/>
                      <a:pt x="42" y="103"/>
                      <a:pt x="42" y="101"/>
                    </a:cubicBezTo>
                    <a:cubicBezTo>
                      <a:pt x="42" y="90"/>
                      <a:pt x="42" y="90"/>
                      <a:pt x="42" y="90"/>
                    </a:cubicBezTo>
                    <a:cubicBezTo>
                      <a:pt x="42" y="88"/>
                      <a:pt x="43" y="87"/>
                      <a:pt x="44" y="87"/>
                    </a:cubicBezTo>
                    <a:cubicBezTo>
                      <a:pt x="46" y="86"/>
                      <a:pt x="47" y="88"/>
                      <a:pt x="47" y="89"/>
                    </a:cubicBezTo>
                    <a:cubicBezTo>
                      <a:pt x="47" y="101"/>
                      <a:pt x="47" y="101"/>
                      <a:pt x="47" y="101"/>
                    </a:cubicBezTo>
                    <a:cubicBezTo>
                      <a:pt x="47" y="103"/>
                      <a:pt x="46" y="105"/>
                      <a:pt x="44" y="105"/>
                    </a:cubicBezTo>
                    <a:close/>
                    <a:moveTo>
                      <a:pt x="44" y="85"/>
                    </a:moveTo>
                    <a:cubicBezTo>
                      <a:pt x="43" y="85"/>
                      <a:pt x="41" y="82"/>
                      <a:pt x="41" y="80"/>
                    </a:cubicBezTo>
                    <a:cubicBezTo>
                      <a:pt x="41" y="69"/>
                      <a:pt x="41" y="69"/>
                      <a:pt x="41" y="69"/>
                    </a:cubicBezTo>
                    <a:cubicBezTo>
                      <a:pt x="41" y="67"/>
                      <a:pt x="42" y="65"/>
                      <a:pt x="44" y="65"/>
                    </a:cubicBezTo>
                    <a:cubicBezTo>
                      <a:pt x="45" y="65"/>
                      <a:pt x="47" y="66"/>
                      <a:pt x="47" y="68"/>
                    </a:cubicBezTo>
                    <a:cubicBezTo>
                      <a:pt x="47" y="80"/>
                      <a:pt x="47" y="80"/>
                      <a:pt x="47" y="80"/>
                    </a:cubicBezTo>
                    <a:cubicBezTo>
                      <a:pt x="47" y="82"/>
                      <a:pt x="46" y="85"/>
                      <a:pt x="44" y="85"/>
                    </a:cubicBezTo>
                    <a:close/>
                    <a:moveTo>
                      <a:pt x="44" y="61"/>
                    </a:moveTo>
                    <a:cubicBezTo>
                      <a:pt x="42" y="61"/>
                      <a:pt x="41" y="59"/>
                      <a:pt x="41" y="58"/>
                    </a:cubicBezTo>
                    <a:cubicBezTo>
                      <a:pt x="41" y="47"/>
                      <a:pt x="41" y="47"/>
                      <a:pt x="41" y="47"/>
                    </a:cubicBezTo>
                    <a:cubicBezTo>
                      <a:pt x="41" y="45"/>
                      <a:pt x="42" y="44"/>
                      <a:pt x="44" y="44"/>
                    </a:cubicBezTo>
                    <a:cubicBezTo>
                      <a:pt x="45" y="43"/>
                      <a:pt x="46" y="45"/>
                      <a:pt x="46" y="46"/>
                    </a:cubicBezTo>
                    <a:cubicBezTo>
                      <a:pt x="47" y="58"/>
                      <a:pt x="47" y="58"/>
                      <a:pt x="47" y="58"/>
                    </a:cubicBezTo>
                    <a:cubicBezTo>
                      <a:pt x="47" y="59"/>
                      <a:pt x="45" y="61"/>
                      <a:pt x="44" y="61"/>
                    </a:cubicBezTo>
                    <a:close/>
                    <a:moveTo>
                      <a:pt x="43" y="37"/>
                    </a:moveTo>
                    <a:cubicBezTo>
                      <a:pt x="42" y="37"/>
                      <a:pt x="41" y="36"/>
                      <a:pt x="41" y="35"/>
                    </a:cubicBezTo>
                    <a:cubicBezTo>
                      <a:pt x="41" y="24"/>
                      <a:pt x="41" y="24"/>
                      <a:pt x="41" y="24"/>
                    </a:cubicBezTo>
                    <a:cubicBezTo>
                      <a:pt x="41" y="23"/>
                      <a:pt x="42" y="22"/>
                      <a:pt x="43" y="22"/>
                    </a:cubicBezTo>
                    <a:cubicBezTo>
                      <a:pt x="45" y="22"/>
                      <a:pt x="46" y="23"/>
                      <a:pt x="46" y="25"/>
                    </a:cubicBezTo>
                    <a:cubicBezTo>
                      <a:pt x="46" y="35"/>
                      <a:pt x="46" y="35"/>
                      <a:pt x="46" y="35"/>
                    </a:cubicBezTo>
                    <a:cubicBezTo>
                      <a:pt x="46" y="36"/>
                      <a:pt x="45" y="37"/>
                      <a:pt x="44" y="37"/>
                    </a:cubicBezTo>
                    <a:lnTo>
                      <a:pt x="43" y="37"/>
                    </a:lnTo>
                    <a:close/>
                    <a:moveTo>
                      <a:pt x="43" y="13"/>
                    </a:moveTo>
                    <a:cubicBezTo>
                      <a:pt x="42" y="13"/>
                      <a:pt x="40" y="14"/>
                      <a:pt x="40" y="12"/>
                    </a:cubicBezTo>
                    <a:cubicBezTo>
                      <a:pt x="40" y="2"/>
                      <a:pt x="40" y="2"/>
                      <a:pt x="40" y="2"/>
                    </a:cubicBezTo>
                    <a:cubicBezTo>
                      <a:pt x="40" y="1"/>
                      <a:pt x="41" y="0"/>
                      <a:pt x="43" y="0"/>
                    </a:cubicBezTo>
                    <a:cubicBezTo>
                      <a:pt x="44" y="0"/>
                      <a:pt x="46" y="1"/>
                      <a:pt x="46" y="3"/>
                    </a:cubicBezTo>
                    <a:cubicBezTo>
                      <a:pt x="46" y="12"/>
                      <a:pt x="46" y="12"/>
                      <a:pt x="46" y="12"/>
                    </a:cubicBezTo>
                    <a:cubicBezTo>
                      <a:pt x="46" y="13"/>
                      <a:pt x="45" y="13"/>
                      <a:pt x="43" y="1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2" name="Freeform: Shape 129"/>
              <p:cNvSpPr/>
              <p:nvPr/>
            </p:nvSpPr>
            <p:spPr bwMode="auto">
              <a:xfrm>
                <a:off x="4154332" y="3456715"/>
                <a:ext cx="14138" cy="16158"/>
              </a:xfrm>
              <a:custGeom>
                <a:avLst/>
                <a:gdLst>
                  <a:gd name="T0" fmla="*/ 3 w 9"/>
                  <a:gd name="T1" fmla="*/ 10 h 10"/>
                  <a:gd name="T2" fmla="*/ 1 w 9"/>
                  <a:gd name="T3" fmla="*/ 9 h 10"/>
                  <a:gd name="T4" fmla="*/ 1 w 9"/>
                  <a:gd name="T5" fmla="*/ 5 h 10"/>
                  <a:gd name="T6" fmla="*/ 4 w 9"/>
                  <a:gd name="T7" fmla="*/ 1 h 10"/>
                  <a:gd name="T8" fmla="*/ 8 w 9"/>
                  <a:gd name="T9" fmla="*/ 1 h 10"/>
                  <a:gd name="T10" fmla="*/ 8 w 9"/>
                  <a:gd name="T11" fmla="*/ 5 h 10"/>
                  <a:gd name="T12" fmla="*/ 5 w 9"/>
                  <a:gd name="T13" fmla="*/ 9 h 10"/>
                  <a:gd name="T14" fmla="*/ 3 w 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10"/>
                    </a:moveTo>
                    <a:cubicBezTo>
                      <a:pt x="2" y="10"/>
                      <a:pt x="1" y="9"/>
                      <a:pt x="1" y="9"/>
                    </a:cubicBezTo>
                    <a:cubicBezTo>
                      <a:pt x="0" y="8"/>
                      <a:pt x="0" y="6"/>
                      <a:pt x="1" y="5"/>
                    </a:cubicBezTo>
                    <a:cubicBezTo>
                      <a:pt x="4" y="1"/>
                      <a:pt x="4" y="1"/>
                      <a:pt x="4" y="1"/>
                    </a:cubicBezTo>
                    <a:cubicBezTo>
                      <a:pt x="5" y="0"/>
                      <a:pt x="7" y="0"/>
                      <a:pt x="8" y="1"/>
                    </a:cubicBezTo>
                    <a:cubicBezTo>
                      <a:pt x="9" y="2"/>
                      <a:pt x="9" y="4"/>
                      <a:pt x="8" y="5"/>
                    </a:cubicBezTo>
                    <a:cubicBezTo>
                      <a:pt x="5" y="9"/>
                      <a:pt x="5" y="9"/>
                      <a:pt x="5" y="9"/>
                    </a:cubicBezTo>
                    <a:cubicBezTo>
                      <a:pt x="4" y="9"/>
                      <a:pt x="3" y="10"/>
                      <a:pt x="3" y="10"/>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3" name="Freeform: Shape 130"/>
              <p:cNvSpPr/>
              <p:nvPr/>
            </p:nvSpPr>
            <p:spPr bwMode="auto">
              <a:xfrm>
                <a:off x="4238489" y="3372558"/>
                <a:ext cx="17505" cy="6059"/>
              </a:xfrm>
              <a:custGeom>
                <a:avLst/>
                <a:gdLst>
                  <a:gd name="T0" fmla="*/ 8 w 11"/>
                  <a:gd name="T1" fmla="*/ 4 h 4"/>
                  <a:gd name="T2" fmla="*/ 8 w 11"/>
                  <a:gd name="T3" fmla="*/ 4 h 4"/>
                  <a:gd name="T4" fmla="*/ 3 w 11"/>
                  <a:gd name="T5" fmla="*/ 4 h 4"/>
                  <a:gd name="T6" fmla="*/ 0 w 11"/>
                  <a:gd name="T7" fmla="*/ 2 h 4"/>
                  <a:gd name="T8" fmla="*/ 3 w 11"/>
                  <a:gd name="T9" fmla="*/ 0 h 4"/>
                  <a:gd name="T10" fmla="*/ 3 w 11"/>
                  <a:gd name="T11" fmla="*/ 0 h 4"/>
                  <a:gd name="T12" fmla="*/ 8 w 11"/>
                  <a:gd name="T13" fmla="*/ 0 h 4"/>
                  <a:gd name="T14" fmla="*/ 11 w 11"/>
                  <a:gd name="T15" fmla="*/ 2 h 4"/>
                  <a:gd name="T16" fmla="*/ 8 w 11"/>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
                    <a:moveTo>
                      <a:pt x="8" y="4"/>
                    </a:moveTo>
                    <a:cubicBezTo>
                      <a:pt x="8" y="4"/>
                      <a:pt x="8" y="4"/>
                      <a:pt x="8" y="4"/>
                    </a:cubicBezTo>
                    <a:cubicBezTo>
                      <a:pt x="3" y="4"/>
                      <a:pt x="3" y="4"/>
                      <a:pt x="3" y="4"/>
                    </a:cubicBezTo>
                    <a:cubicBezTo>
                      <a:pt x="1" y="4"/>
                      <a:pt x="0" y="4"/>
                      <a:pt x="0" y="2"/>
                    </a:cubicBezTo>
                    <a:cubicBezTo>
                      <a:pt x="0" y="1"/>
                      <a:pt x="1" y="0"/>
                      <a:pt x="3" y="0"/>
                    </a:cubicBezTo>
                    <a:cubicBezTo>
                      <a:pt x="3" y="0"/>
                      <a:pt x="3" y="0"/>
                      <a:pt x="3" y="0"/>
                    </a:cubicBezTo>
                    <a:cubicBezTo>
                      <a:pt x="8" y="0"/>
                      <a:pt x="8" y="0"/>
                      <a:pt x="8" y="0"/>
                    </a:cubicBezTo>
                    <a:cubicBezTo>
                      <a:pt x="10" y="0"/>
                      <a:pt x="11" y="0"/>
                      <a:pt x="11" y="2"/>
                    </a:cubicBezTo>
                    <a:cubicBezTo>
                      <a:pt x="11" y="3"/>
                      <a:pt x="10" y="4"/>
                      <a:pt x="8" y="4"/>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4" name="Freeform: Shape 131"/>
              <p:cNvSpPr/>
              <p:nvPr/>
            </p:nvSpPr>
            <p:spPr bwMode="auto">
              <a:xfrm>
                <a:off x="4266093" y="3365826"/>
                <a:ext cx="175046" cy="14138"/>
              </a:xfrm>
              <a:custGeom>
                <a:avLst/>
                <a:gdLst>
                  <a:gd name="T0" fmla="*/ 108 w 110"/>
                  <a:gd name="T1" fmla="*/ 8 h 9"/>
                  <a:gd name="T2" fmla="*/ 107 w 110"/>
                  <a:gd name="T3" fmla="*/ 8 h 9"/>
                  <a:gd name="T4" fmla="*/ 96 w 110"/>
                  <a:gd name="T5" fmla="*/ 9 h 9"/>
                  <a:gd name="T6" fmla="*/ 93 w 110"/>
                  <a:gd name="T7" fmla="*/ 6 h 9"/>
                  <a:gd name="T8" fmla="*/ 96 w 110"/>
                  <a:gd name="T9" fmla="*/ 4 h 9"/>
                  <a:gd name="T10" fmla="*/ 108 w 110"/>
                  <a:gd name="T11" fmla="*/ 4 h 9"/>
                  <a:gd name="T12" fmla="*/ 110 w 110"/>
                  <a:gd name="T13" fmla="*/ 6 h 9"/>
                  <a:gd name="T14" fmla="*/ 108 w 110"/>
                  <a:gd name="T15" fmla="*/ 8 h 9"/>
                  <a:gd name="T16" fmla="*/ 84 w 110"/>
                  <a:gd name="T17" fmla="*/ 8 h 9"/>
                  <a:gd name="T18" fmla="*/ 84 w 110"/>
                  <a:gd name="T19" fmla="*/ 8 h 9"/>
                  <a:gd name="T20" fmla="*/ 73 w 110"/>
                  <a:gd name="T21" fmla="*/ 9 h 9"/>
                  <a:gd name="T22" fmla="*/ 70 w 110"/>
                  <a:gd name="T23" fmla="*/ 4 h 9"/>
                  <a:gd name="T24" fmla="*/ 73 w 110"/>
                  <a:gd name="T25" fmla="*/ 0 h 9"/>
                  <a:gd name="T26" fmla="*/ 73 w 110"/>
                  <a:gd name="T27" fmla="*/ 0 h 9"/>
                  <a:gd name="T28" fmla="*/ 84 w 110"/>
                  <a:gd name="T29" fmla="*/ 2 h 9"/>
                  <a:gd name="T30" fmla="*/ 87 w 110"/>
                  <a:gd name="T31" fmla="*/ 5 h 9"/>
                  <a:gd name="T32" fmla="*/ 84 w 110"/>
                  <a:gd name="T33" fmla="*/ 8 h 9"/>
                  <a:gd name="T34" fmla="*/ 61 w 110"/>
                  <a:gd name="T35" fmla="*/ 8 h 9"/>
                  <a:gd name="T36" fmla="*/ 61 w 110"/>
                  <a:gd name="T37" fmla="*/ 8 h 9"/>
                  <a:gd name="T38" fmla="*/ 49 w 110"/>
                  <a:gd name="T39" fmla="*/ 9 h 9"/>
                  <a:gd name="T40" fmla="*/ 47 w 110"/>
                  <a:gd name="T41" fmla="*/ 4 h 9"/>
                  <a:gd name="T42" fmla="*/ 49 w 110"/>
                  <a:gd name="T43" fmla="*/ 0 h 9"/>
                  <a:gd name="T44" fmla="*/ 49 w 110"/>
                  <a:gd name="T45" fmla="*/ 0 h 9"/>
                  <a:gd name="T46" fmla="*/ 61 w 110"/>
                  <a:gd name="T47" fmla="*/ 2 h 9"/>
                  <a:gd name="T48" fmla="*/ 64 w 110"/>
                  <a:gd name="T49" fmla="*/ 5 h 9"/>
                  <a:gd name="T50" fmla="*/ 61 w 110"/>
                  <a:gd name="T51" fmla="*/ 8 h 9"/>
                  <a:gd name="T52" fmla="*/ 38 w 110"/>
                  <a:gd name="T53" fmla="*/ 8 h 9"/>
                  <a:gd name="T54" fmla="*/ 38 w 110"/>
                  <a:gd name="T55" fmla="*/ 8 h 9"/>
                  <a:gd name="T56" fmla="*/ 26 w 110"/>
                  <a:gd name="T57" fmla="*/ 8 h 9"/>
                  <a:gd name="T58" fmla="*/ 23 w 110"/>
                  <a:gd name="T59" fmla="*/ 4 h 9"/>
                  <a:gd name="T60" fmla="*/ 26 w 110"/>
                  <a:gd name="T61" fmla="*/ 0 h 9"/>
                  <a:gd name="T62" fmla="*/ 26 w 110"/>
                  <a:gd name="T63" fmla="*/ 0 h 9"/>
                  <a:gd name="T64" fmla="*/ 38 w 110"/>
                  <a:gd name="T65" fmla="*/ 2 h 9"/>
                  <a:gd name="T66" fmla="*/ 40 w 110"/>
                  <a:gd name="T67" fmla="*/ 5 h 9"/>
                  <a:gd name="T68" fmla="*/ 38 w 110"/>
                  <a:gd name="T69" fmla="*/ 8 h 9"/>
                  <a:gd name="T70" fmla="*/ 14 w 110"/>
                  <a:gd name="T71" fmla="*/ 8 h 9"/>
                  <a:gd name="T72" fmla="*/ 14 w 110"/>
                  <a:gd name="T73" fmla="*/ 8 h 9"/>
                  <a:gd name="T74" fmla="*/ 3 w 110"/>
                  <a:gd name="T75" fmla="*/ 8 h 9"/>
                  <a:gd name="T76" fmla="*/ 0 w 110"/>
                  <a:gd name="T77" fmla="*/ 4 h 9"/>
                  <a:gd name="T78" fmla="*/ 3 w 110"/>
                  <a:gd name="T79" fmla="*/ 0 h 9"/>
                  <a:gd name="T80" fmla="*/ 3 w 110"/>
                  <a:gd name="T81" fmla="*/ 0 h 9"/>
                  <a:gd name="T82" fmla="*/ 15 w 110"/>
                  <a:gd name="T83" fmla="*/ 2 h 9"/>
                  <a:gd name="T84" fmla="*/ 17 w 110"/>
                  <a:gd name="T85" fmla="*/ 5 h 9"/>
                  <a:gd name="T86" fmla="*/ 14 w 110"/>
                  <a:gd name="T87"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 h="9">
                    <a:moveTo>
                      <a:pt x="108" y="8"/>
                    </a:moveTo>
                    <a:cubicBezTo>
                      <a:pt x="107" y="8"/>
                      <a:pt x="107" y="8"/>
                      <a:pt x="107" y="8"/>
                    </a:cubicBezTo>
                    <a:cubicBezTo>
                      <a:pt x="96" y="9"/>
                      <a:pt x="96" y="9"/>
                      <a:pt x="96" y="9"/>
                    </a:cubicBezTo>
                    <a:cubicBezTo>
                      <a:pt x="94" y="9"/>
                      <a:pt x="93" y="8"/>
                      <a:pt x="93" y="6"/>
                    </a:cubicBezTo>
                    <a:cubicBezTo>
                      <a:pt x="93" y="5"/>
                      <a:pt x="94" y="4"/>
                      <a:pt x="96" y="4"/>
                    </a:cubicBezTo>
                    <a:cubicBezTo>
                      <a:pt x="108" y="4"/>
                      <a:pt x="108" y="4"/>
                      <a:pt x="108" y="4"/>
                    </a:cubicBezTo>
                    <a:cubicBezTo>
                      <a:pt x="109" y="4"/>
                      <a:pt x="110" y="4"/>
                      <a:pt x="110" y="6"/>
                    </a:cubicBezTo>
                    <a:cubicBezTo>
                      <a:pt x="110" y="8"/>
                      <a:pt x="109" y="8"/>
                      <a:pt x="108" y="8"/>
                    </a:cubicBezTo>
                    <a:close/>
                    <a:moveTo>
                      <a:pt x="84" y="8"/>
                    </a:moveTo>
                    <a:cubicBezTo>
                      <a:pt x="84" y="8"/>
                      <a:pt x="84" y="8"/>
                      <a:pt x="84" y="8"/>
                    </a:cubicBezTo>
                    <a:cubicBezTo>
                      <a:pt x="73" y="9"/>
                      <a:pt x="73" y="9"/>
                      <a:pt x="73" y="9"/>
                    </a:cubicBezTo>
                    <a:cubicBezTo>
                      <a:pt x="71" y="9"/>
                      <a:pt x="70" y="6"/>
                      <a:pt x="70" y="4"/>
                    </a:cubicBezTo>
                    <a:cubicBezTo>
                      <a:pt x="70" y="3"/>
                      <a:pt x="71" y="0"/>
                      <a:pt x="73" y="0"/>
                    </a:cubicBezTo>
                    <a:cubicBezTo>
                      <a:pt x="73" y="0"/>
                      <a:pt x="73" y="0"/>
                      <a:pt x="73" y="0"/>
                    </a:cubicBezTo>
                    <a:cubicBezTo>
                      <a:pt x="84" y="2"/>
                      <a:pt x="84" y="2"/>
                      <a:pt x="84" y="2"/>
                    </a:cubicBezTo>
                    <a:cubicBezTo>
                      <a:pt x="86" y="2"/>
                      <a:pt x="87" y="3"/>
                      <a:pt x="87" y="5"/>
                    </a:cubicBezTo>
                    <a:cubicBezTo>
                      <a:pt x="87" y="6"/>
                      <a:pt x="86" y="8"/>
                      <a:pt x="84" y="8"/>
                    </a:cubicBezTo>
                    <a:close/>
                    <a:moveTo>
                      <a:pt x="61" y="8"/>
                    </a:moveTo>
                    <a:cubicBezTo>
                      <a:pt x="61" y="8"/>
                      <a:pt x="61" y="8"/>
                      <a:pt x="61" y="8"/>
                    </a:cubicBezTo>
                    <a:cubicBezTo>
                      <a:pt x="49" y="9"/>
                      <a:pt x="49" y="9"/>
                      <a:pt x="49" y="9"/>
                    </a:cubicBezTo>
                    <a:cubicBezTo>
                      <a:pt x="48" y="9"/>
                      <a:pt x="47" y="6"/>
                      <a:pt x="47" y="4"/>
                    </a:cubicBezTo>
                    <a:cubicBezTo>
                      <a:pt x="47" y="3"/>
                      <a:pt x="48" y="0"/>
                      <a:pt x="49" y="0"/>
                    </a:cubicBezTo>
                    <a:cubicBezTo>
                      <a:pt x="49" y="0"/>
                      <a:pt x="49" y="0"/>
                      <a:pt x="49" y="0"/>
                    </a:cubicBezTo>
                    <a:cubicBezTo>
                      <a:pt x="61" y="2"/>
                      <a:pt x="61" y="2"/>
                      <a:pt x="61" y="2"/>
                    </a:cubicBezTo>
                    <a:cubicBezTo>
                      <a:pt x="63" y="2"/>
                      <a:pt x="64" y="3"/>
                      <a:pt x="64" y="5"/>
                    </a:cubicBezTo>
                    <a:cubicBezTo>
                      <a:pt x="64" y="6"/>
                      <a:pt x="63" y="8"/>
                      <a:pt x="61" y="8"/>
                    </a:cubicBezTo>
                    <a:close/>
                    <a:moveTo>
                      <a:pt x="38" y="8"/>
                    </a:moveTo>
                    <a:cubicBezTo>
                      <a:pt x="38" y="8"/>
                      <a:pt x="38" y="8"/>
                      <a:pt x="38" y="8"/>
                    </a:cubicBezTo>
                    <a:cubicBezTo>
                      <a:pt x="26" y="8"/>
                      <a:pt x="26" y="8"/>
                      <a:pt x="26" y="8"/>
                    </a:cubicBezTo>
                    <a:cubicBezTo>
                      <a:pt x="25" y="8"/>
                      <a:pt x="23" y="6"/>
                      <a:pt x="23" y="4"/>
                    </a:cubicBezTo>
                    <a:cubicBezTo>
                      <a:pt x="23" y="3"/>
                      <a:pt x="25" y="0"/>
                      <a:pt x="26" y="0"/>
                    </a:cubicBezTo>
                    <a:cubicBezTo>
                      <a:pt x="26" y="0"/>
                      <a:pt x="26" y="0"/>
                      <a:pt x="26" y="0"/>
                    </a:cubicBezTo>
                    <a:cubicBezTo>
                      <a:pt x="38" y="2"/>
                      <a:pt x="38" y="2"/>
                      <a:pt x="38" y="2"/>
                    </a:cubicBezTo>
                    <a:cubicBezTo>
                      <a:pt x="39" y="2"/>
                      <a:pt x="40" y="3"/>
                      <a:pt x="40" y="5"/>
                    </a:cubicBezTo>
                    <a:cubicBezTo>
                      <a:pt x="40" y="6"/>
                      <a:pt x="39" y="8"/>
                      <a:pt x="38" y="8"/>
                    </a:cubicBezTo>
                    <a:close/>
                    <a:moveTo>
                      <a:pt x="14" y="8"/>
                    </a:moveTo>
                    <a:cubicBezTo>
                      <a:pt x="14" y="8"/>
                      <a:pt x="14" y="8"/>
                      <a:pt x="14" y="8"/>
                    </a:cubicBezTo>
                    <a:cubicBezTo>
                      <a:pt x="3" y="8"/>
                      <a:pt x="3" y="8"/>
                      <a:pt x="3" y="8"/>
                    </a:cubicBezTo>
                    <a:cubicBezTo>
                      <a:pt x="1" y="8"/>
                      <a:pt x="0" y="6"/>
                      <a:pt x="0" y="4"/>
                    </a:cubicBezTo>
                    <a:cubicBezTo>
                      <a:pt x="0" y="3"/>
                      <a:pt x="1" y="0"/>
                      <a:pt x="3" y="0"/>
                    </a:cubicBezTo>
                    <a:cubicBezTo>
                      <a:pt x="3" y="0"/>
                      <a:pt x="3" y="0"/>
                      <a:pt x="3" y="0"/>
                    </a:cubicBezTo>
                    <a:cubicBezTo>
                      <a:pt x="15" y="2"/>
                      <a:pt x="15" y="2"/>
                      <a:pt x="15" y="2"/>
                    </a:cubicBezTo>
                    <a:cubicBezTo>
                      <a:pt x="16" y="2"/>
                      <a:pt x="17" y="3"/>
                      <a:pt x="17" y="5"/>
                    </a:cubicBezTo>
                    <a:cubicBezTo>
                      <a:pt x="17" y="6"/>
                      <a:pt x="16" y="8"/>
                      <a:pt x="14" y="8"/>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5" name="Freeform: Shape 132"/>
              <p:cNvSpPr/>
              <p:nvPr/>
            </p:nvSpPr>
            <p:spPr bwMode="auto">
              <a:xfrm>
                <a:off x="4450565" y="3372558"/>
                <a:ext cx="17505" cy="7406"/>
              </a:xfrm>
              <a:custGeom>
                <a:avLst/>
                <a:gdLst>
                  <a:gd name="T0" fmla="*/ 9 w 11"/>
                  <a:gd name="T1" fmla="*/ 4 h 5"/>
                  <a:gd name="T2" fmla="*/ 9 w 11"/>
                  <a:gd name="T3" fmla="*/ 4 h 5"/>
                  <a:gd name="T4" fmla="*/ 3 w 11"/>
                  <a:gd name="T5" fmla="*/ 5 h 5"/>
                  <a:gd name="T6" fmla="*/ 0 w 11"/>
                  <a:gd name="T7" fmla="*/ 2 h 5"/>
                  <a:gd name="T8" fmla="*/ 3 w 11"/>
                  <a:gd name="T9" fmla="*/ 0 h 5"/>
                  <a:gd name="T10" fmla="*/ 3 w 11"/>
                  <a:gd name="T11" fmla="*/ 0 h 5"/>
                  <a:gd name="T12" fmla="*/ 9 w 11"/>
                  <a:gd name="T13" fmla="*/ 0 h 5"/>
                  <a:gd name="T14" fmla="*/ 11 w 11"/>
                  <a:gd name="T15" fmla="*/ 2 h 5"/>
                  <a:gd name="T16" fmla="*/ 9 w 11"/>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
                    <a:moveTo>
                      <a:pt x="9" y="4"/>
                    </a:moveTo>
                    <a:cubicBezTo>
                      <a:pt x="9" y="4"/>
                      <a:pt x="9" y="4"/>
                      <a:pt x="9" y="4"/>
                    </a:cubicBezTo>
                    <a:cubicBezTo>
                      <a:pt x="3" y="5"/>
                      <a:pt x="3" y="5"/>
                      <a:pt x="3" y="5"/>
                    </a:cubicBezTo>
                    <a:cubicBezTo>
                      <a:pt x="2" y="5"/>
                      <a:pt x="0" y="4"/>
                      <a:pt x="0" y="2"/>
                    </a:cubicBezTo>
                    <a:cubicBezTo>
                      <a:pt x="0" y="1"/>
                      <a:pt x="2" y="0"/>
                      <a:pt x="3" y="0"/>
                    </a:cubicBezTo>
                    <a:cubicBezTo>
                      <a:pt x="3" y="0"/>
                      <a:pt x="3" y="0"/>
                      <a:pt x="3" y="0"/>
                    </a:cubicBezTo>
                    <a:cubicBezTo>
                      <a:pt x="9" y="0"/>
                      <a:pt x="9" y="0"/>
                      <a:pt x="9" y="0"/>
                    </a:cubicBezTo>
                    <a:cubicBezTo>
                      <a:pt x="10" y="0"/>
                      <a:pt x="11" y="0"/>
                      <a:pt x="11" y="2"/>
                    </a:cubicBezTo>
                    <a:cubicBezTo>
                      <a:pt x="11" y="3"/>
                      <a:pt x="10" y="4"/>
                      <a:pt x="9" y="4"/>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6" name="Freeform: Shape 133"/>
              <p:cNvSpPr/>
              <p:nvPr/>
            </p:nvSpPr>
            <p:spPr bwMode="auto">
              <a:xfrm>
                <a:off x="4085660" y="3155770"/>
                <a:ext cx="65306" cy="53860"/>
              </a:xfrm>
              <a:custGeom>
                <a:avLst/>
                <a:gdLst>
                  <a:gd name="T0" fmla="*/ 2 w 41"/>
                  <a:gd name="T1" fmla="*/ 11 h 34"/>
                  <a:gd name="T2" fmla="*/ 21 w 41"/>
                  <a:gd name="T3" fmla="*/ 0 h 34"/>
                  <a:gd name="T4" fmla="*/ 39 w 41"/>
                  <a:gd name="T5" fmla="*/ 11 h 34"/>
                  <a:gd name="T6" fmla="*/ 39 w 41"/>
                  <a:gd name="T7" fmla="*/ 27 h 34"/>
                  <a:gd name="T8" fmla="*/ 41 w 41"/>
                  <a:gd name="T9" fmla="*/ 33 h 34"/>
                  <a:gd name="T10" fmla="*/ 30 w 41"/>
                  <a:gd name="T11" fmla="*/ 33 h 34"/>
                  <a:gd name="T12" fmla="*/ 29 w 41"/>
                  <a:gd name="T13" fmla="*/ 30 h 34"/>
                  <a:gd name="T14" fmla="*/ 14 w 41"/>
                  <a:gd name="T15" fmla="*/ 34 h 34"/>
                  <a:gd name="T16" fmla="*/ 0 w 41"/>
                  <a:gd name="T17" fmla="*/ 24 h 34"/>
                  <a:gd name="T18" fmla="*/ 13 w 41"/>
                  <a:gd name="T19" fmla="*/ 14 h 34"/>
                  <a:gd name="T20" fmla="*/ 24 w 41"/>
                  <a:gd name="T21" fmla="*/ 13 h 34"/>
                  <a:gd name="T22" fmla="*/ 29 w 41"/>
                  <a:gd name="T23" fmla="*/ 10 h 34"/>
                  <a:gd name="T24" fmla="*/ 20 w 41"/>
                  <a:gd name="T25" fmla="*/ 6 h 34"/>
                  <a:gd name="T26" fmla="*/ 12 w 41"/>
                  <a:gd name="T27" fmla="*/ 11 h 34"/>
                  <a:gd name="T28" fmla="*/ 2 w 41"/>
                  <a:gd name="T29" fmla="*/ 11 h 34"/>
                  <a:gd name="T30" fmla="*/ 29 w 41"/>
                  <a:gd name="T31" fmla="*/ 17 h 34"/>
                  <a:gd name="T32" fmla="*/ 23 w 41"/>
                  <a:gd name="T33" fmla="*/ 19 h 34"/>
                  <a:gd name="T34" fmla="*/ 17 w 41"/>
                  <a:gd name="T35" fmla="*/ 19 h 34"/>
                  <a:gd name="T36" fmla="*/ 11 w 41"/>
                  <a:gd name="T37" fmla="*/ 24 h 34"/>
                  <a:gd name="T38" fmla="*/ 18 w 41"/>
                  <a:gd name="T39" fmla="*/ 28 h 34"/>
                  <a:gd name="T40" fmla="*/ 29 w 41"/>
                  <a:gd name="T41" fmla="*/ 20 h 34"/>
                  <a:gd name="T42" fmla="*/ 29 w 41"/>
                  <a:gd name="T43"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2" y="11"/>
                    </a:moveTo>
                    <a:cubicBezTo>
                      <a:pt x="3" y="1"/>
                      <a:pt x="12" y="0"/>
                      <a:pt x="21" y="0"/>
                    </a:cubicBezTo>
                    <a:cubicBezTo>
                      <a:pt x="36" y="0"/>
                      <a:pt x="39" y="5"/>
                      <a:pt x="39" y="11"/>
                    </a:cubicBezTo>
                    <a:cubicBezTo>
                      <a:pt x="39" y="27"/>
                      <a:pt x="39" y="27"/>
                      <a:pt x="39" y="27"/>
                    </a:cubicBezTo>
                    <a:cubicBezTo>
                      <a:pt x="39" y="29"/>
                      <a:pt x="40" y="31"/>
                      <a:pt x="41" y="33"/>
                    </a:cubicBezTo>
                    <a:cubicBezTo>
                      <a:pt x="30" y="33"/>
                      <a:pt x="30" y="33"/>
                      <a:pt x="30" y="33"/>
                    </a:cubicBezTo>
                    <a:cubicBezTo>
                      <a:pt x="30" y="32"/>
                      <a:pt x="29" y="31"/>
                      <a:pt x="29" y="30"/>
                    </a:cubicBezTo>
                    <a:cubicBezTo>
                      <a:pt x="26" y="33"/>
                      <a:pt x="19" y="34"/>
                      <a:pt x="14" y="34"/>
                    </a:cubicBezTo>
                    <a:cubicBezTo>
                      <a:pt x="6" y="34"/>
                      <a:pt x="0" y="31"/>
                      <a:pt x="0" y="24"/>
                    </a:cubicBezTo>
                    <a:cubicBezTo>
                      <a:pt x="0" y="16"/>
                      <a:pt x="7" y="14"/>
                      <a:pt x="13" y="14"/>
                    </a:cubicBezTo>
                    <a:cubicBezTo>
                      <a:pt x="24" y="13"/>
                      <a:pt x="24" y="13"/>
                      <a:pt x="24" y="13"/>
                    </a:cubicBezTo>
                    <a:cubicBezTo>
                      <a:pt x="28" y="13"/>
                      <a:pt x="29" y="12"/>
                      <a:pt x="29" y="10"/>
                    </a:cubicBezTo>
                    <a:cubicBezTo>
                      <a:pt x="29" y="7"/>
                      <a:pt x="27" y="6"/>
                      <a:pt x="20" y="6"/>
                    </a:cubicBezTo>
                    <a:cubicBezTo>
                      <a:pt x="16" y="6"/>
                      <a:pt x="14" y="6"/>
                      <a:pt x="12" y="11"/>
                    </a:cubicBezTo>
                    <a:lnTo>
                      <a:pt x="2" y="11"/>
                    </a:lnTo>
                    <a:close/>
                    <a:moveTo>
                      <a:pt x="29" y="17"/>
                    </a:moveTo>
                    <a:cubicBezTo>
                      <a:pt x="27" y="18"/>
                      <a:pt x="25" y="19"/>
                      <a:pt x="23" y="19"/>
                    </a:cubicBezTo>
                    <a:cubicBezTo>
                      <a:pt x="17" y="19"/>
                      <a:pt x="17" y="19"/>
                      <a:pt x="17" y="19"/>
                    </a:cubicBezTo>
                    <a:cubicBezTo>
                      <a:pt x="13" y="20"/>
                      <a:pt x="11" y="21"/>
                      <a:pt x="11" y="24"/>
                    </a:cubicBezTo>
                    <a:cubicBezTo>
                      <a:pt x="11" y="26"/>
                      <a:pt x="14" y="28"/>
                      <a:pt x="18" y="28"/>
                    </a:cubicBezTo>
                    <a:cubicBezTo>
                      <a:pt x="23" y="28"/>
                      <a:pt x="29" y="25"/>
                      <a:pt x="29" y="20"/>
                    </a:cubicBezTo>
                    <a:lnTo>
                      <a:pt x="29" y="17"/>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7" name="Freeform: Shape 134"/>
              <p:cNvSpPr/>
              <p:nvPr/>
            </p:nvSpPr>
            <p:spPr bwMode="auto">
              <a:xfrm>
                <a:off x="4219638" y="3041317"/>
                <a:ext cx="66652" cy="71365"/>
              </a:xfrm>
              <a:custGeom>
                <a:avLst/>
                <a:gdLst>
                  <a:gd name="T0" fmla="*/ 0 w 42"/>
                  <a:gd name="T1" fmla="*/ 0 h 45"/>
                  <a:gd name="T2" fmla="*/ 11 w 42"/>
                  <a:gd name="T3" fmla="*/ 0 h 45"/>
                  <a:gd name="T4" fmla="*/ 11 w 42"/>
                  <a:gd name="T5" fmla="*/ 15 h 45"/>
                  <a:gd name="T6" fmla="*/ 11 w 42"/>
                  <a:gd name="T7" fmla="*/ 15 h 45"/>
                  <a:gd name="T8" fmla="*/ 24 w 42"/>
                  <a:gd name="T9" fmla="*/ 11 h 45"/>
                  <a:gd name="T10" fmla="*/ 42 w 42"/>
                  <a:gd name="T11" fmla="*/ 28 h 45"/>
                  <a:gd name="T12" fmla="*/ 23 w 42"/>
                  <a:gd name="T13" fmla="*/ 45 h 45"/>
                  <a:gd name="T14" fmla="*/ 11 w 42"/>
                  <a:gd name="T15" fmla="*/ 40 h 45"/>
                  <a:gd name="T16" fmla="*/ 11 w 42"/>
                  <a:gd name="T17" fmla="*/ 40 h 45"/>
                  <a:gd name="T18" fmla="*/ 11 w 42"/>
                  <a:gd name="T19" fmla="*/ 44 h 45"/>
                  <a:gd name="T20" fmla="*/ 0 w 42"/>
                  <a:gd name="T21" fmla="*/ 44 h 45"/>
                  <a:gd name="T22" fmla="*/ 0 w 42"/>
                  <a:gd name="T23" fmla="*/ 0 h 45"/>
                  <a:gd name="T24" fmla="*/ 21 w 42"/>
                  <a:gd name="T25" fmla="*/ 37 h 45"/>
                  <a:gd name="T26" fmla="*/ 31 w 42"/>
                  <a:gd name="T27" fmla="*/ 28 h 45"/>
                  <a:gd name="T28" fmla="*/ 21 w 42"/>
                  <a:gd name="T29" fmla="*/ 18 h 45"/>
                  <a:gd name="T30" fmla="*/ 11 w 42"/>
                  <a:gd name="T31" fmla="*/ 28 h 45"/>
                  <a:gd name="T32" fmla="*/ 21 w 42"/>
                  <a:gd name="T33"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45">
                    <a:moveTo>
                      <a:pt x="0" y="0"/>
                    </a:moveTo>
                    <a:cubicBezTo>
                      <a:pt x="11" y="0"/>
                      <a:pt x="11" y="0"/>
                      <a:pt x="11" y="0"/>
                    </a:cubicBezTo>
                    <a:cubicBezTo>
                      <a:pt x="11" y="15"/>
                      <a:pt x="11" y="15"/>
                      <a:pt x="11" y="15"/>
                    </a:cubicBezTo>
                    <a:cubicBezTo>
                      <a:pt x="11" y="15"/>
                      <a:pt x="11" y="15"/>
                      <a:pt x="11" y="15"/>
                    </a:cubicBezTo>
                    <a:cubicBezTo>
                      <a:pt x="13" y="13"/>
                      <a:pt x="18" y="11"/>
                      <a:pt x="24" y="11"/>
                    </a:cubicBezTo>
                    <a:cubicBezTo>
                      <a:pt x="34" y="11"/>
                      <a:pt x="42" y="17"/>
                      <a:pt x="42" y="28"/>
                    </a:cubicBezTo>
                    <a:cubicBezTo>
                      <a:pt x="42" y="39"/>
                      <a:pt x="33" y="45"/>
                      <a:pt x="23" y="45"/>
                    </a:cubicBezTo>
                    <a:cubicBezTo>
                      <a:pt x="18" y="45"/>
                      <a:pt x="15" y="44"/>
                      <a:pt x="11" y="40"/>
                    </a:cubicBezTo>
                    <a:cubicBezTo>
                      <a:pt x="11" y="40"/>
                      <a:pt x="11" y="40"/>
                      <a:pt x="11" y="40"/>
                    </a:cubicBezTo>
                    <a:cubicBezTo>
                      <a:pt x="11" y="44"/>
                      <a:pt x="11" y="44"/>
                      <a:pt x="11" y="44"/>
                    </a:cubicBezTo>
                    <a:cubicBezTo>
                      <a:pt x="0" y="44"/>
                      <a:pt x="0" y="44"/>
                      <a:pt x="0" y="44"/>
                    </a:cubicBezTo>
                    <a:lnTo>
                      <a:pt x="0" y="0"/>
                    </a:lnTo>
                    <a:close/>
                    <a:moveTo>
                      <a:pt x="21" y="37"/>
                    </a:moveTo>
                    <a:cubicBezTo>
                      <a:pt x="26" y="37"/>
                      <a:pt x="31" y="34"/>
                      <a:pt x="31" y="28"/>
                    </a:cubicBezTo>
                    <a:cubicBezTo>
                      <a:pt x="31" y="22"/>
                      <a:pt x="26" y="18"/>
                      <a:pt x="21" y="18"/>
                    </a:cubicBezTo>
                    <a:cubicBezTo>
                      <a:pt x="15" y="18"/>
                      <a:pt x="11" y="22"/>
                      <a:pt x="11" y="28"/>
                    </a:cubicBezTo>
                    <a:cubicBezTo>
                      <a:pt x="11" y="34"/>
                      <a:pt x="15" y="37"/>
                      <a:pt x="21" y="37"/>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8" name="Freeform: Shape 135"/>
              <p:cNvSpPr/>
              <p:nvPr/>
            </p:nvSpPr>
            <p:spPr bwMode="auto">
              <a:xfrm>
                <a:off x="4469416" y="3076326"/>
                <a:ext cx="65306" cy="55880"/>
              </a:xfrm>
              <a:custGeom>
                <a:avLst/>
                <a:gdLst>
                  <a:gd name="T0" fmla="*/ 30 w 41"/>
                  <a:gd name="T1" fmla="*/ 13 h 35"/>
                  <a:gd name="T2" fmla="*/ 21 w 41"/>
                  <a:gd name="T3" fmla="*/ 8 h 35"/>
                  <a:gd name="T4" fmla="*/ 11 w 41"/>
                  <a:gd name="T5" fmla="*/ 17 h 35"/>
                  <a:gd name="T6" fmla="*/ 21 w 41"/>
                  <a:gd name="T7" fmla="*/ 27 h 35"/>
                  <a:gd name="T8" fmla="*/ 30 w 41"/>
                  <a:gd name="T9" fmla="*/ 21 h 35"/>
                  <a:gd name="T10" fmla="*/ 41 w 41"/>
                  <a:gd name="T11" fmla="*/ 21 h 35"/>
                  <a:gd name="T12" fmla="*/ 20 w 41"/>
                  <a:gd name="T13" fmla="*/ 35 h 35"/>
                  <a:gd name="T14" fmla="*/ 0 w 41"/>
                  <a:gd name="T15" fmla="*/ 17 h 35"/>
                  <a:gd name="T16" fmla="*/ 21 w 41"/>
                  <a:gd name="T17" fmla="*/ 0 h 35"/>
                  <a:gd name="T18" fmla="*/ 41 w 41"/>
                  <a:gd name="T19" fmla="*/ 13 h 35"/>
                  <a:gd name="T20" fmla="*/ 30 w 41"/>
                  <a:gd name="T21" fmla="*/ 1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5">
                    <a:moveTo>
                      <a:pt x="30" y="13"/>
                    </a:moveTo>
                    <a:cubicBezTo>
                      <a:pt x="29" y="9"/>
                      <a:pt x="25" y="8"/>
                      <a:pt x="21" y="8"/>
                    </a:cubicBezTo>
                    <a:cubicBezTo>
                      <a:pt x="14" y="8"/>
                      <a:pt x="11" y="11"/>
                      <a:pt x="11" y="17"/>
                    </a:cubicBezTo>
                    <a:cubicBezTo>
                      <a:pt x="11" y="24"/>
                      <a:pt x="14" y="27"/>
                      <a:pt x="21" y="27"/>
                    </a:cubicBezTo>
                    <a:cubicBezTo>
                      <a:pt x="26" y="27"/>
                      <a:pt x="29" y="25"/>
                      <a:pt x="30" y="21"/>
                    </a:cubicBezTo>
                    <a:cubicBezTo>
                      <a:pt x="41" y="21"/>
                      <a:pt x="41" y="21"/>
                      <a:pt x="41" y="21"/>
                    </a:cubicBezTo>
                    <a:cubicBezTo>
                      <a:pt x="39" y="32"/>
                      <a:pt x="31" y="35"/>
                      <a:pt x="20" y="35"/>
                    </a:cubicBezTo>
                    <a:cubicBezTo>
                      <a:pt x="8" y="35"/>
                      <a:pt x="0" y="30"/>
                      <a:pt x="0" y="17"/>
                    </a:cubicBezTo>
                    <a:cubicBezTo>
                      <a:pt x="0" y="5"/>
                      <a:pt x="8" y="0"/>
                      <a:pt x="21" y="0"/>
                    </a:cubicBezTo>
                    <a:cubicBezTo>
                      <a:pt x="29" y="0"/>
                      <a:pt x="39" y="2"/>
                      <a:pt x="41" y="13"/>
                    </a:cubicBezTo>
                    <a:lnTo>
                      <a:pt x="30" y="13"/>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201" name="Group 136"/>
            <p:cNvGrpSpPr/>
            <p:nvPr/>
          </p:nvGrpSpPr>
          <p:grpSpPr>
            <a:xfrm>
              <a:off x="12774" y="3348"/>
              <a:ext cx="874" cy="1030"/>
              <a:chOff x="4536741" y="1960742"/>
              <a:chExt cx="739908" cy="871865"/>
            </a:xfrm>
          </p:grpSpPr>
          <p:sp>
            <p:nvSpPr>
              <p:cNvPr id="202" name="Freeform: Shape 137"/>
              <p:cNvSpPr/>
              <p:nvPr/>
            </p:nvSpPr>
            <p:spPr bwMode="auto">
              <a:xfrm>
                <a:off x="4562325" y="1998444"/>
                <a:ext cx="714324" cy="834163"/>
              </a:xfrm>
              <a:custGeom>
                <a:avLst/>
                <a:gdLst>
                  <a:gd name="T0" fmla="*/ 225 w 449"/>
                  <a:gd name="T1" fmla="*/ 0 h 524"/>
                  <a:gd name="T2" fmla="*/ 0 w 449"/>
                  <a:gd name="T3" fmla="*/ 224 h 524"/>
                  <a:gd name="T4" fmla="*/ 225 w 449"/>
                  <a:gd name="T5" fmla="*/ 448 h 524"/>
                  <a:gd name="T6" fmla="*/ 235 w 449"/>
                  <a:gd name="T7" fmla="*/ 448 h 524"/>
                  <a:gd name="T8" fmla="*/ 325 w 449"/>
                  <a:gd name="T9" fmla="*/ 524 h 524"/>
                  <a:gd name="T10" fmla="*/ 335 w 449"/>
                  <a:gd name="T11" fmla="*/ 419 h 524"/>
                  <a:gd name="T12" fmla="*/ 449 w 449"/>
                  <a:gd name="T13" fmla="*/ 224 h 524"/>
                  <a:gd name="T14" fmla="*/ 225 w 449"/>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225" y="0"/>
                    </a:move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ubicBezTo>
                      <a:pt x="449" y="100"/>
                      <a:pt x="348" y="0"/>
                      <a:pt x="225"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3" name="Freeform: Shape 138"/>
              <p:cNvSpPr/>
              <p:nvPr/>
            </p:nvSpPr>
            <p:spPr bwMode="auto">
              <a:xfrm>
                <a:off x="4536741" y="1960742"/>
                <a:ext cx="714324" cy="833490"/>
              </a:xfrm>
              <a:custGeom>
                <a:avLst/>
                <a:gdLst>
                  <a:gd name="T0" fmla="*/ 449 w 449"/>
                  <a:gd name="T1" fmla="*/ 224 h 524"/>
                  <a:gd name="T2" fmla="*/ 225 w 449"/>
                  <a:gd name="T3" fmla="*/ 0 h 524"/>
                  <a:gd name="T4" fmla="*/ 0 w 449"/>
                  <a:gd name="T5" fmla="*/ 224 h 524"/>
                  <a:gd name="T6" fmla="*/ 225 w 449"/>
                  <a:gd name="T7" fmla="*/ 448 h 524"/>
                  <a:gd name="T8" fmla="*/ 235 w 449"/>
                  <a:gd name="T9" fmla="*/ 448 h 524"/>
                  <a:gd name="T10" fmla="*/ 325 w 449"/>
                  <a:gd name="T11" fmla="*/ 524 h 524"/>
                  <a:gd name="T12" fmla="*/ 335 w 449"/>
                  <a:gd name="T13" fmla="*/ 419 h 524"/>
                  <a:gd name="T14" fmla="*/ 449 w 449"/>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449" y="224"/>
                    </a:moveTo>
                    <a:cubicBezTo>
                      <a:pt x="449" y="100"/>
                      <a:pt x="348" y="0"/>
                      <a:pt x="225" y="0"/>
                    </a:cubicBez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lose/>
                  </a:path>
                </a:pathLst>
              </a:custGeom>
              <a:solidFill>
                <a:schemeClr val="accent3"/>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4" name="Freeform: Shape 139"/>
              <p:cNvSpPr/>
              <p:nvPr/>
            </p:nvSpPr>
            <p:spPr bwMode="auto">
              <a:xfrm>
                <a:off x="4649848" y="2145214"/>
                <a:ext cx="508981" cy="379043"/>
              </a:xfrm>
              <a:custGeom>
                <a:avLst/>
                <a:gdLst>
                  <a:gd name="T0" fmla="*/ 318 w 320"/>
                  <a:gd name="T1" fmla="*/ 85 h 238"/>
                  <a:gd name="T2" fmla="*/ 50 w 320"/>
                  <a:gd name="T3" fmla="*/ 237 h 238"/>
                  <a:gd name="T4" fmla="*/ 44 w 320"/>
                  <a:gd name="T5" fmla="*/ 235 h 238"/>
                  <a:gd name="T6" fmla="*/ 1 w 320"/>
                  <a:gd name="T7" fmla="*/ 158 h 238"/>
                  <a:gd name="T8" fmla="*/ 2 w 320"/>
                  <a:gd name="T9" fmla="*/ 153 h 238"/>
                  <a:gd name="T10" fmla="*/ 270 w 320"/>
                  <a:gd name="T11" fmla="*/ 1 h 238"/>
                  <a:gd name="T12" fmla="*/ 276 w 320"/>
                  <a:gd name="T13" fmla="*/ 3 h 238"/>
                  <a:gd name="T14" fmla="*/ 319 w 320"/>
                  <a:gd name="T15" fmla="*/ 80 h 238"/>
                  <a:gd name="T16" fmla="*/ 318 w 320"/>
                  <a:gd name="T17" fmla="*/ 85 h 238"/>
                  <a:gd name="T18" fmla="*/ 49 w 320"/>
                  <a:gd name="T19" fmla="*/ 228 h 238"/>
                  <a:gd name="T20" fmla="*/ 310 w 320"/>
                  <a:gd name="T21" fmla="*/ 80 h 238"/>
                  <a:gd name="T22" fmla="*/ 271 w 320"/>
                  <a:gd name="T23" fmla="*/ 10 h 238"/>
                  <a:gd name="T24" fmla="*/ 10 w 320"/>
                  <a:gd name="T25" fmla="*/ 158 h 238"/>
                  <a:gd name="T26" fmla="*/ 49 w 320"/>
                  <a:gd name="T27"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0" h="238">
                    <a:moveTo>
                      <a:pt x="318" y="85"/>
                    </a:moveTo>
                    <a:cubicBezTo>
                      <a:pt x="50" y="237"/>
                      <a:pt x="50" y="237"/>
                      <a:pt x="50" y="237"/>
                    </a:cubicBezTo>
                    <a:cubicBezTo>
                      <a:pt x="48" y="238"/>
                      <a:pt x="45" y="237"/>
                      <a:pt x="44" y="235"/>
                    </a:cubicBezTo>
                    <a:cubicBezTo>
                      <a:pt x="1" y="158"/>
                      <a:pt x="1" y="158"/>
                      <a:pt x="1" y="158"/>
                    </a:cubicBezTo>
                    <a:cubicBezTo>
                      <a:pt x="0" y="157"/>
                      <a:pt x="0" y="154"/>
                      <a:pt x="2" y="153"/>
                    </a:cubicBezTo>
                    <a:cubicBezTo>
                      <a:pt x="270" y="1"/>
                      <a:pt x="270" y="1"/>
                      <a:pt x="270" y="1"/>
                    </a:cubicBezTo>
                    <a:cubicBezTo>
                      <a:pt x="272" y="0"/>
                      <a:pt x="275" y="1"/>
                      <a:pt x="276" y="3"/>
                    </a:cubicBezTo>
                    <a:cubicBezTo>
                      <a:pt x="319" y="80"/>
                      <a:pt x="319" y="80"/>
                      <a:pt x="319" y="80"/>
                    </a:cubicBezTo>
                    <a:cubicBezTo>
                      <a:pt x="320" y="81"/>
                      <a:pt x="320" y="84"/>
                      <a:pt x="318" y="85"/>
                    </a:cubicBezTo>
                    <a:close/>
                    <a:moveTo>
                      <a:pt x="49" y="228"/>
                    </a:moveTo>
                    <a:cubicBezTo>
                      <a:pt x="310" y="80"/>
                      <a:pt x="310" y="80"/>
                      <a:pt x="310" y="80"/>
                    </a:cubicBezTo>
                    <a:cubicBezTo>
                      <a:pt x="271" y="10"/>
                      <a:pt x="271" y="10"/>
                      <a:pt x="271" y="10"/>
                    </a:cubicBezTo>
                    <a:cubicBezTo>
                      <a:pt x="10" y="158"/>
                      <a:pt x="10" y="158"/>
                      <a:pt x="10" y="158"/>
                    </a:cubicBezTo>
                    <a:lnTo>
                      <a:pt x="49" y="228"/>
                    </a:ln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5" name="Freeform: Shape 140"/>
              <p:cNvSpPr/>
              <p:nvPr/>
            </p:nvSpPr>
            <p:spPr bwMode="auto">
              <a:xfrm>
                <a:off x="4698996" y="2358636"/>
                <a:ext cx="45781" cy="70019"/>
              </a:xfrm>
              <a:custGeom>
                <a:avLst/>
                <a:gdLst>
                  <a:gd name="T0" fmla="*/ 26 w 29"/>
                  <a:gd name="T1" fmla="*/ 43 h 44"/>
                  <a:gd name="T2" fmla="*/ 21 w 29"/>
                  <a:gd name="T3" fmla="*/ 42 h 44"/>
                  <a:gd name="T4" fmla="*/ 1 w 29"/>
                  <a:gd name="T5" fmla="*/ 7 h 44"/>
                  <a:gd name="T6" fmla="*/ 3 w 29"/>
                  <a:gd name="T7" fmla="*/ 1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2"/>
                    </a:cubicBezTo>
                    <a:cubicBezTo>
                      <a:pt x="1" y="7"/>
                      <a:pt x="1" y="7"/>
                      <a:pt x="1" y="7"/>
                    </a:cubicBezTo>
                    <a:cubicBezTo>
                      <a:pt x="0" y="5"/>
                      <a:pt x="1" y="2"/>
                      <a:pt x="3" y="1"/>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6" name="Freeform: Shape 141"/>
              <p:cNvSpPr/>
              <p:nvPr/>
            </p:nvSpPr>
            <p:spPr bwMode="auto">
              <a:xfrm>
                <a:off x="4765648" y="2321607"/>
                <a:ext cx="46455" cy="70019"/>
              </a:xfrm>
              <a:custGeom>
                <a:avLst/>
                <a:gdLst>
                  <a:gd name="T0" fmla="*/ 26 w 29"/>
                  <a:gd name="T1" fmla="*/ 42 h 44"/>
                  <a:gd name="T2" fmla="*/ 21 w 29"/>
                  <a:gd name="T3" fmla="*/ 41 h 44"/>
                  <a:gd name="T4" fmla="*/ 1 w 29"/>
                  <a:gd name="T5" fmla="*/ 6 h 44"/>
                  <a:gd name="T6" fmla="*/ 2 w 29"/>
                  <a:gd name="T7" fmla="*/ 1 h 44"/>
                  <a:gd name="T8" fmla="*/ 8 w 29"/>
                  <a:gd name="T9" fmla="*/ 2 h 44"/>
                  <a:gd name="T10" fmla="*/ 28 w 29"/>
                  <a:gd name="T11" fmla="*/ 37 h 44"/>
                  <a:gd name="T12" fmla="*/ 26 w 29"/>
                  <a:gd name="T13" fmla="*/ 42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2"/>
                    </a:moveTo>
                    <a:cubicBezTo>
                      <a:pt x="24" y="44"/>
                      <a:pt x="22" y="43"/>
                      <a:pt x="21" y="41"/>
                    </a:cubicBezTo>
                    <a:cubicBezTo>
                      <a:pt x="1" y="6"/>
                      <a:pt x="1" y="6"/>
                      <a:pt x="1" y="6"/>
                    </a:cubicBezTo>
                    <a:cubicBezTo>
                      <a:pt x="0" y="4"/>
                      <a:pt x="1" y="2"/>
                      <a:pt x="2" y="1"/>
                    </a:cubicBezTo>
                    <a:cubicBezTo>
                      <a:pt x="4" y="0"/>
                      <a:pt x="7" y="0"/>
                      <a:pt x="8" y="2"/>
                    </a:cubicBezTo>
                    <a:cubicBezTo>
                      <a:pt x="28" y="37"/>
                      <a:pt x="28" y="37"/>
                      <a:pt x="28" y="37"/>
                    </a:cubicBezTo>
                    <a:cubicBezTo>
                      <a:pt x="29" y="39"/>
                      <a:pt x="28" y="41"/>
                      <a:pt x="26" y="42"/>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7" name="Freeform: Shape 142"/>
              <p:cNvSpPr/>
              <p:nvPr/>
            </p:nvSpPr>
            <p:spPr bwMode="auto">
              <a:xfrm>
                <a:off x="4840379" y="2285251"/>
                <a:ext cx="46455" cy="70019"/>
              </a:xfrm>
              <a:custGeom>
                <a:avLst/>
                <a:gdLst>
                  <a:gd name="T0" fmla="*/ 26 w 29"/>
                  <a:gd name="T1" fmla="*/ 43 h 44"/>
                  <a:gd name="T2" fmla="*/ 21 w 29"/>
                  <a:gd name="T3" fmla="*/ 42 h 44"/>
                  <a:gd name="T4" fmla="*/ 1 w 29"/>
                  <a:gd name="T5" fmla="*/ 7 h 44"/>
                  <a:gd name="T6" fmla="*/ 3 w 29"/>
                  <a:gd name="T7" fmla="*/ 2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4"/>
                      <a:pt x="21" y="42"/>
                    </a:cubicBezTo>
                    <a:cubicBezTo>
                      <a:pt x="1" y="7"/>
                      <a:pt x="1" y="7"/>
                      <a:pt x="1" y="7"/>
                    </a:cubicBezTo>
                    <a:cubicBezTo>
                      <a:pt x="0" y="5"/>
                      <a:pt x="1" y="3"/>
                      <a:pt x="3" y="2"/>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8" name="Freeform: Shape 143"/>
              <p:cNvSpPr/>
              <p:nvPr/>
            </p:nvSpPr>
            <p:spPr bwMode="auto">
              <a:xfrm>
                <a:off x="4732658" y="2339111"/>
                <a:ext cx="55207" cy="87523"/>
              </a:xfrm>
              <a:custGeom>
                <a:avLst/>
                <a:gdLst>
                  <a:gd name="T0" fmla="*/ 32 w 35"/>
                  <a:gd name="T1" fmla="*/ 54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4"/>
                    </a:moveTo>
                    <a:cubicBezTo>
                      <a:pt x="30" y="55"/>
                      <a:pt x="28" y="54"/>
                      <a:pt x="27" y="52"/>
                    </a:cubicBezTo>
                    <a:cubicBezTo>
                      <a:pt x="1" y="7"/>
                      <a:pt x="1" y="7"/>
                      <a:pt x="1" y="7"/>
                    </a:cubicBezTo>
                    <a:cubicBezTo>
                      <a:pt x="0" y="5"/>
                      <a:pt x="1" y="3"/>
                      <a:pt x="3" y="1"/>
                    </a:cubicBezTo>
                    <a:cubicBezTo>
                      <a:pt x="4" y="0"/>
                      <a:pt x="7" y="1"/>
                      <a:pt x="8" y="3"/>
                    </a:cubicBezTo>
                    <a:cubicBezTo>
                      <a:pt x="34" y="48"/>
                      <a:pt x="34" y="48"/>
                      <a:pt x="34" y="48"/>
                    </a:cubicBezTo>
                    <a:cubicBezTo>
                      <a:pt x="35" y="50"/>
                      <a:pt x="34" y="53"/>
                      <a:pt x="32" y="54"/>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9" name="Freeform: Shape 144"/>
              <p:cNvSpPr/>
              <p:nvPr/>
            </p:nvSpPr>
            <p:spPr bwMode="auto">
              <a:xfrm>
                <a:off x="4802677" y="2307468"/>
                <a:ext cx="53860" cy="87523"/>
              </a:xfrm>
              <a:custGeom>
                <a:avLst/>
                <a:gdLst>
                  <a:gd name="T0" fmla="*/ 32 w 34"/>
                  <a:gd name="T1" fmla="*/ 54 h 55"/>
                  <a:gd name="T2" fmla="*/ 26 w 34"/>
                  <a:gd name="T3" fmla="*/ 52 h 55"/>
                  <a:gd name="T4" fmla="*/ 1 w 34"/>
                  <a:gd name="T5" fmla="*/ 7 h 55"/>
                  <a:gd name="T6" fmla="*/ 2 w 34"/>
                  <a:gd name="T7" fmla="*/ 1 h 55"/>
                  <a:gd name="T8" fmla="*/ 8 w 34"/>
                  <a:gd name="T9" fmla="*/ 3 h 55"/>
                  <a:gd name="T10" fmla="*/ 33 w 34"/>
                  <a:gd name="T11" fmla="*/ 48 h 55"/>
                  <a:gd name="T12" fmla="*/ 32 w 34"/>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4" h="55">
                    <a:moveTo>
                      <a:pt x="32" y="54"/>
                    </a:moveTo>
                    <a:cubicBezTo>
                      <a:pt x="30" y="55"/>
                      <a:pt x="27" y="54"/>
                      <a:pt x="26" y="52"/>
                    </a:cubicBezTo>
                    <a:cubicBezTo>
                      <a:pt x="1" y="7"/>
                      <a:pt x="1" y="7"/>
                      <a:pt x="1" y="7"/>
                    </a:cubicBezTo>
                    <a:cubicBezTo>
                      <a:pt x="0" y="5"/>
                      <a:pt x="0" y="2"/>
                      <a:pt x="2" y="1"/>
                    </a:cubicBezTo>
                    <a:cubicBezTo>
                      <a:pt x="4" y="0"/>
                      <a:pt x="7" y="1"/>
                      <a:pt x="8" y="3"/>
                    </a:cubicBezTo>
                    <a:cubicBezTo>
                      <a:pt x="33" y="48"/>
                      <a:pt x="33" y="48"/>
                      <a:pt x="33" y="48"/>
                    </a:cubicBezTo>
                    <a:cubicBezTo>
                      <a:pt x="34" y="50"/>
                      <a:pt x="34" y="52"/>
                      <a:pt x="32" y="54"/>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0" name="Freeform: Shape 145"/>
              <p:cNvSpPr/>
              <p:nvPr/>
            </p:nvSpPr>
            <p:spPr bwMode="auto">
              <a:xfrm>
                <a:off x="4918477" y="2242163"/>
                <a:ext cx="46455" cy="70019"/>
              </a:xfrm>
              <a:custGeom>
                <a:avLst/>
                <a:gdLst>
                  <a:gd name="T0" fmla="*/ 26 w 29"/>
                  <a:gd name="T1" fmla="*/ 43 h 44"/>
                  <a:gd name="T2" fmla="*/ 21 w 29"/>
                  <a:gd name="T3" fmla="*/ 41 h 44"/>
                  <a:gd name="T4" fmla="*/ 1 w 29"/>
                  <a:gd name="T5" fmla="*/ 6 h 44"/>
                  <a:gd name="T6" fmla="*/ 2 w 29"/>
                  <a:gd name="T7" fmla="*/ 1 h 44"/>
                  <a:gd name="T8" fmla="*/ 8 w 29"/>
                  <a:gd name="T9" fmla="*/ 3 h 44"/>
                  <a:gd name="T10" fmla="*/ 28 w 29"/>
                  <a:gd name="T11" fmla="*/ 37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1"/>
                    </a:cubicBezTo>
                    <a:cubicBezTo>
                      <a:pt x="1" y="6"/>
                      <a:pt x="1" y="6"/>
                      <a:pt x="1" y="6"/>
                    </a:cubicBezTo>
                    <a:cubicBezTo>
                      <a:pt x="0" y="5"/>
                      <a:pt x="1" y="2"/>
                      <a:pt x="2" y="1"/>
                    </a:cubicBezTo>
                    <a:cubicBezTo>
                      <a:pt x="4" y="0"/>
                      <a:pt x="7" y="1"/>
                      <a:pt x="8" y="3"/>
                    </a:cubicBezTo>
                    <a:cubicBezTo>
                      <a:pt x="28" y="37"/>
                      <a:pt x="28" y="37"/>
                      <a:pt x="28" y="37"/>
                    </a:cubicBezTo>
                    <a:cubicBezTo>
                      <a:pt x="29" y="39"/>
                      <a:pt x="28" y="42"/>
                      <a:pt x="26" y="4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1" name="Freeform: Shape 146"/>
              <p:cNvSpPr/>
              <p:nvPr/>
            </p:nvSpPr>
            <p:spPr bwMode="auto">
              <a:xfrm>
                <a:off x="4878755" y="2264380"/>
                <a:ext cx="55880" cy="86177"/>
              </a:xfrm>
              <a:custGeom>
                <a:avLst/>
                <a:gdLst>
                  <a:gd name="T0" fmla="*/ 33 w 35"/>
                  <a:gd name="T1" fmla="*/ 53 h 54"/>
                  <a:gd name="T2" fmla="*/ 27 w 35"/>
                  <a:gd name="T3" fmla="*/ 51 h 54"/>
                  <a:gd name="T4" fmla="*/ 2 w 35"/>
                  <a:gd name="T5" fmla="*/ 6 h 54"/>
                  <a:gd name="T6" fmla="*/ 3 w 35"/>
                  <a:gd name="T7" fmla="*/ 1 h 54"/>
                  <a:gd name="T8" fmla="*/ 9 w 35"/>
                  <a:gd name="T9" fmla="*/ 2 h 54"/>
                  <a:gd name="T10" fmla="*/ 34 w 35"/>
                  <a:gd name="T11" fmla="*/ 48 h 54"/>
                  <a:gd name="T12" fmla="*/ 33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3" y="53"/>
                    </a:moveTo>
                    <a:cubicBezTo>
                      <a:pt x="31" y="54"/>
                      <a:pt x="28" y="53"/>
                      <a:pt x="27" y="51"/>
                    </a:cubicBezTo>
                    <a:cubicBezTo>
                      <a:pt x="2" y="6"/>
                      <a:pt x="2" y="6"/>
                      <a:pt x="2" y="6"/>
                    </a:cubicBezTo>
                    <a:cubicBezTo>
                      <a:pt x="0" y="4"/>
                      <a:pt x="1" y="2"/>
                      <a:pt x="3" y="1"/>
                    </a:cubicBezTo>
                    <a:cubicBezTo>
                      <a:pt x="5" y="0"/>
                      <a:pt x="7" y="0"/>
                      <a:pt x="9" y="2"/>
                    </a:cubicBezTo>
                    <a:cubicBezTo>
                      <a:pt x="34" y="48"/>
                      <a:pt x="34" y="48"/>
                      <a:pt x="34" y="48"/>
                    </a:cubicBezTo>
                    <a:cubicBezTo>
                      <a:pt x="35" y="49"/>
                      <a:pt x="35" y="52"/>
                      <a:pt x="33" y="5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2" name="Freeform: Shape 147"/>
              <p:cNvSpPr/>
              <p:nvPr/>
            </p:nvSpPr>
            <p:spPr bwMode="auto">
              <a:xfrm>
                <a:off x="4996574" y="2197728"/>
                <a:ext cx="44435" cy="70019"/>
              </a:xfrm>
              <a:custGeom>
                <a:avLst/>
                <a:gdLst>
                  <a:gd name="T0" fmla="*/ 26 w 28"/>
                  <a:gd name="T1" fmla="*/ 43 h 44"/>
                  <a:gd name="T2" fmla="*/ 20 w 28"/>
                  <a:gd name="T3" fmla="*/ 42 h 44"/>
                  <a:gd name="T4" fmla="*/ 1 w 28"/>
                  <a:gd name="T5" fmla="*/ 7 h 44"/>
                  <a:gd name="T6" fmla="*/ 2 w 28"/>
                  <a:gd name="T7" fmla="*/ 1 h 44"/>
                  <a:gd name="T8" fmla="*/ 8 w 28"/>
                  <a:gd name="T9" fmla="*/ 3 h 44"/>
                  <a:gd name="T10" fmla="*/ 27 w 28"/>
                  <a:gd name="T11" fmla="*/ 38 h 44"/>
                  <a:gd name="T12" fmla="*/ 26 w 28"/>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8" h="44">
                    <a:moveTo>
                      <a:pt x="26" y="43"/>
                    </a:moveTo>
                    <a:cubicBezTo>
                      <a:pt x="24" y="44"/>
                      <a:pt x="21" y="44"/>
                      <a:pt x="20" y="42"/>
                    </a:cubicBezTo>
                    <a:cubicBezTo>
                      <a:pt x="1" y="7"/>
                      <a:pt x="1" y="7"/>
                      <a:pt x="1" y="7"/>
                    </a:cubicBezTo>
                    <a:cubicBezTo>
                      <a:pt x="0" y="5"/>
                      <a:pt x="0" y="3"/>
                      <a:pt x="2" y="1"/>
                    </a:cubicBezTo>
                    <a:cubicBezTo>
                      <a:pt x="4" y="0"/>
                      <a:pt x="7" y="1"/>
                      <a:pt x="8" y="3"/>
                    </a:cubicBezTo>
                    <a:cubicBezTo>
                      <a:pt x="27" y="38"/>
                      <a:pt x="27" y="38"/>
                      <a:pt x="27" y="38"/>
                    </a:cubicBezTo>
                    <a:cubicBezTo>
                      <a:pt x="28" y="40"/>
                      <a:pt x="28" y="42"/>
                      <a:pt x="26" y="4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3" name="Freeform: Shape 148"/>
              <p:cNvSpPr/>
              <p:nvPr/>
            </p:nvSpPr>
            <p:spPr bwMode="auto">
              <a:xfrm>
                <a:off x="4956852" y="2219945"/>
                <a:ext cx="55880" cy="87523"/>
              </a:xfrm>
              <a:custGeom>
                <a:avLst/>
                <a:gdLst>
                  <a:gd name="T0" fmla="*/ 32 w 35"/>
                  <a:gd name="T1" fmla="*/ 53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3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3"/>
                    </a:moveTo>
                    <a:cubicBezTo>
                      <a:pt x="30" y="55"/>
                      <a:pt x="28" y="54"/>
                      <a:pt x="27" y="52"/>
                    </a:cubicBezTo>
                    <a:cubicBezTo>
                      <a:pt x="1" y="7"/>
                      <a:pt x="1" y="7"/>
                      <a:pt x="1" y="7"/>
                    </a:cubicBezTo>
                    <a:cubicBezTo>
                      <a:pt x="0" y="5"/>
                      <a:pt x="1" y="2"/>
                      <a:pt x="3" y="1"/>
                    </a:cubicBezTo>
                    <a:cubicBezTo>
                      <a:pt x="5" y="0"/>
                      <a:pt x="7" y="1"/>
                      <a:pt x="8" y="3"/>
                    </a:cubicBezTo>
                    <a:cubicBezTo>
                      <a:pt x="34" y="48"/>
                      <a:pt x="34" y="48"/>
                      <a:pt x="34" y="48"/>
                    </a:cubicBezTo>
                    <a:cubicBezTo>
                      <a:pt x="35" y="50"/>
                      <a:pt x="34" y="52"/>
                      <a:pt x="32" y="5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4" name="Freeform: Shape 149"/>
              <p:cNvSpPr/>
              <p:nvPr/>
            </p:nvSpPr>
            <p:spPr bwMode="auto">
              <a:xfrm>
                <a:off x="5034950" y="2176857"/>
                <a:ext cx="55880" cy="86177"/>
              </a:xfrm>
              <a:custGeom>
                <a:avLst/>
                <a:gdLst>
                  <a:gd name="T0" fmla="*/ 32 w 35"/>
                  <a:gd name="T1" fmla="*/ 53 h 54"/>
                  <a:gd name="T2" fmla="*/ 27 w 35"/>
                  <a:gd name="T3" fmla="*/ 51 h 54"/>
                  <a:gd name="T4" fmla="*/ 1 w 35"/>
                  <a:gd name="T5" fmla="*/ 6 h 54"/>
                  <a:gd name="T6" fmla="*/ 3 w 35"/>
                  <a:gd name="T7" fmla="*/ 1 h 54"/>
                  <a:gd name="T8" fmla="*/ 8 w 35"/>
                  <a:gd name="T9" fmla="*/ 2 h 54"/>
                  <a:gd name="T10" fmla="*/ 34 w 35"/>
                  <a:gd name="T11" fmla="*/ 47 h 54"/>
                  <a:gd name="T12" fmla="*/ 32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2" y="53"/>
                    </a:moveTo>
                    <a:cubicBezTo>
                      <a:pt x="30" y="54"/>
                      <a:pt x="28" y="53"/>
                      <a:pt x="27" y="51"/>
                    </a:cubicBezTo>
                    <a:cubicBezTo>
                      <a:pt x="1" y="6"/>
                      <a:pt x="1" y="6"/>
                      <a:pt x="1" y="6"/>
                    </a:cubicBezTo>
                    <a:cubicBezTo>
                      <a:pt x="0" y="4"/>
                      <a:pt x="1" y="2"/>
                      <a:pt x="3" y="1"/>
                    </a:cubicBezTo>
                    <a:cubicBezTo>
                      <a:pt x="4" y="0"/>
                      <a:pt x="7" y="0"/>
                      <a:pt x="8" y="2"/>
                    </a:cubicBezTo>
                    <a:cubicBezTo>
                      <a:pt x="34" y="47"/>
                      <a:pt x="34" y="47"/>
                      <a:pt x="34" y="47"/>
                    </a:cubicBezTo>
                    <a:cubicBezTo>
                      <a:pt x="35" y="49"/>
                      <a:pt x="34" y="52"/>
                      <a:pt x="32" y="53"/>
                    </a:cubicBezTo>
                    <a:close/>
                  </a:path>
                </a:pathLst>
              </a:custGeom>
              <a:solidFill>
                <a:schemeClr val="bg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pic>
        <p:nvPicPr>
          <p:cNvPr id="320" name="图片 319"/>
          <p:cNvPicPr>
            <a:picLocks noChangeAspect="1"/>
          </p:cNvPicPr>
          <p:nvPr/>
        </p:nvPicPr>
        <p:blipFill>
          <a:blip r:embed="rId1"/>
          <a:stretch>
            <a:fillRect/>
          </a:stretch>
        </p:blipFill>
        <p:spPr>
          <a:xfrm>
            <a:off x="1592992" y="4375782"/>
            <a:ext cx="4418097" cy="207199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87700"/>
            <a:ext cx="11833200" cy="646331"/>
          </a:xfrm>
        </p:spPr>
        <p:txBody>
          <a:bodyPr/>
          <a:lstStyle/>
          <a:p>
            <a:r>
              <a:rPr lang="en-US" altLang="zh-CN" sz="4000" dirty="0"/>
              <a:t>2.6 </a:t>
            </a:r>
            <a:r>
              <a:rPr lang="zh-CN" altLang="en-US" sz="4000" dirty="0"/>
              <a:t>二叉树的建立</a:t>
            </a:r>
            <a:endParaRPr lang="zh-CN" altLang="en-US" sz="4000" dirty="0"/>
          </a:p>
        </p:txBody>
      </p:sp>
      <p:sp>
        <p:nvSpPr>
          <p:cNvPr id="3" name="文本占位符 2"/>
          <p:cNvSpPr>
            <a:spLocks noGrp="1"/>
          </p:cNvSpPr>
          <p:nvPr>
            <p:ph type="body" idx="1"/>
          </p:nvPr>
        </p:nvSpPr>
        <p:spPr>
          <a:xfrm>
            <a:off x="178800" y="785219"/>
            <a:ext cx="8615396" cy="867930"/>
          </a:xfrm>
        </p:spPr>
        <p:txBody>
          <a:bodyPr/>
          <a:lstStyle/>
          <a:p>
            <a:r>
              <a:rPr lang="zh-CN" altLang="en-US" sz="2800"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2800"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1</a:t>
            </a:r>
            <a:r>
              <a:rPr lang="zh-CN" altLang="en-US" sz="2800"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）由中序和先序遍历序列建立二叉树</a:t>
            </a:r>
            <a:endParaRPr lang="en-US" altLang="zh-CN" sz="2800"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4" name="内容占位符 3"/>
          <p:cNvSpPr>
            <a:spLocks noGrp="1"/>
          </p:cNvSpPr>
          <p:nvPr>
            <p:ph sz="half" idx="2"/>
          </p:nvPr>
        </p:nvSpPr>
        <p:spPr>
          <a:xfrm>
            <a:off x="178800" y="1653148"/>
            <a:ext cx="5602172" cy="5204851"/>
          </a:xfrm>
        </p:spPr>
        <p:txBody>
          <a:bodyPr>
            <a:normAutofit fontScale="55000" lnSpcReduction="20000"/>
          </a:bodyPr>
          <a:lstStyle/>
          <a:p>
            <a:pPr indent="0" algn="just">
              <a:lnSpc>
                <a:spcPct val="120000"/>
              </a:lnSpc>
              <a:buNone/>
            </a:pP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其</a:t>
            </a:r>
            <a:r>
              <a:rPr lang="zh-CN" altLang="en-US" sz="33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主要步骤</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为如下：</a:t>
            </a:r>
            <a:endPar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 </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取先序遍历序列的第一个结点作为根结点，序列的结点个数为</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n</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 </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在中序遍历序列中寻找根结点，其位置为</a:t>
            </a:r>
            <a:r>
              <a:rPr lang="en-US" altLang="zh-CN" sz="3300" kern="100" dirty="0" err="1">
                <a:solidFill>
                  <a:srgbClr val="656565"/>
                </a:solidFill>
                <a:latin typeface="汉仪颜楷简" panose="00020600040101010101" charset="-122"/>
                <a:ea typeface="汉仪颜楷简" panose="00020600040101010101" charset="-122"/>
                <a:cs typeface="Times New Roman" panose="02020603050405020304" pitchFamily="18" charset="0"/>
              </a:rPr>
              <a:t>i</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，可确定在中序遍历序列中根结点之前的</a:t>
            </a:r>
            <a:r>
              <a:rPr lang="en-US" altLang="zh-CN" sz="3300" kern="100" dirty="0" err="1">
                <a:solidFill>
                  <a:srgbClr val="656565"/>
                </a:solidFill>
                <a:latin typeface="汉仪颜楷简" panose="00020600040101010101" charset="-122"/>
                <a:ea typeface="汉仪颜楷简" panose="00020600040101010101" charset="-122"/>
                <a:cs typeface="Times New Roman" panose="02020603050405020304" pitchFamily="18" charset="0"/>
              </a:rPr>
              <a:t>i</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个结点构成的序列为根结点的左子树中序遍历序列，根结点之后的</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n-i-1</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个结点构成的序列为根结点的右子树中序遍历序列。</a:t>
            </a:r>
            <a:endPar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 </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在先序遍历序列中根结点之后的</a:t>
            </a:r>
            <a:r>
              <a:rPr lang="en-US" altLang="zh-CN" sz="3300" kern="100" dirty="0" err="1">
                <a:solidFill>
                  <a:srgbClr val="656565"/>
                </a:solidFill>
                <a:latin typeface="汉仪颜楷简" panose="00020600040101010101" charset="-122"/>
                <a:ea typeface="汉仪颜楷简" panose="00020600040101010101" charset="-122"/>
                <a:cs typeface="Times New Roman" panose="02020603050405020304" pitchFamily="18" charset="0"/>
              </a:rPr>
              <a:t>i</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个结点构成的序列为根结点的左子树先序遍历序列，先序遍历序列之后的</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n-i-1</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个结点构成的序列为根结点的右子树先序遍历序列。</a:t>
            </a:r>
            <a:endPar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(4) </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对左、右子树重复步骤</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(1)</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(2)</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(3)</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，确定左、右子树的根结点和子树的左右、子树。</a:t>
            </a:r>
            <a:endPar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(5) </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算法递归进行即可建立一棵二叉树。</a:t>
            </a:r>
            <a:endPar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6" name="内容占位符 5"/>
          <p:cNvSpPr>
            <a:spLocks noGrp="1"/>
          </p:cNvSpPr>
          <p:nvPr>
            <p:ph sz="quarter" idx="4"/>
          </p:nvPr>
        </p:nvSpPr>
        <p:spPr>
          <a:xfrm>
            <a:off x="6670824" y="1616327"/>
            <a:ext cx="5342376" cy="4536514"/>
          </a:xfrm>
        </p:spPr>
        <p:txBody>
          <a:bodyPr>
            <a:normAutofit fontScale="55000" lnSpcReduction="20000"/>
          </a:bodyPr>
          <a:lstStyle/>
          <a:p>
            <a:pPr indent="0" algn="just">
              <a:lnSpc>
                <a:spcPct val="120000"/>
              </a:lnSpc>
              <a:buNone/>
            </a:pP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假设二叉树的先序遍历序列为</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ABECFG</a:t>
            </a: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endPar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中序遍历序列为</a:t>
            </a:r>
            <a:r>
              <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BEAFCG,</a:t>
            </a:r>
            <a:endParaRPr lang="en-US"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lnSpc>
                <a:spcPct val="120000"/>
              </a:lnSpc>
              <a:buNone/>
            </a:pPr>
            <a:r>
              <a:rPr lang="zh-CN" altLang="en-US" sz="33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由中序和先序遍历序列建立二叉树的过程：</a:t>
            </a:r>
            <a:endParaRPr lang="zh-CN" altLang="zh-CN" sz="33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7695689" y="2892532"/>
            <a:ext cx="2899336" cy="3828942"/>
          </a:xfrm>
          <a:prstGeom prst="rect">
            <a:avLst/>
          </a:prstGeom>
        </p:spPr>
      </p:pic>
      <p:grpSp>
        <p:nvGrpSpPr>
          <p:cNvPr id="9" name="组合 8"/>
          <p:cNvGrpSpPr/>
          <p:nvPr/>
        </p:nvGrpSpPr>
        <p:grpSpPr>
          <a:xfrm rot="16200000">
            <a:off x="4138190" y="3780471"/>
            <a:ext cx="4232691" cy="697563"/>
            <a:chOff x="1354" y="4247"/>
            <a:chExt cx="9566" cy="2035"/>
          </a:xfrm>
        </p:grpSpPr>
        <p:grpSp>
          <p:nvGrpSpPr>
            <p:cNvPr id="10" name="Group 3"/>
            <p:cNvGrpSpPr/>
            <p:nvPr/>
          </p:nvGrpSpPr>
          <p:grpSpPr bwMode="auto">
            <a:xfrm rot="6300000">
              <a:off x="1639" y="4243"/>
              <a:ext cx="848" cy="1418"/>
              <a:chOff x="2761515" y="2286000"/>
              <a:chExt cx="1645174" cy="2760228"/>
            </a:xfrm>
            <a:solidFill>
              <a:schemeClr val="accent1"/>
            </a:solidFill>
          </p:grpSpPr>
          <p:sp>
            <p:nvSpPr>
              <p:cNvPr id="60" name="Oval 4"/>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61" name="Oval 5"/>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62" name="Oval 6"/>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63" name="Oval 7"/>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64" name="Oval 8"/>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65" name="Freeform: Shape 9"/>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1" name="Group 10"/>
            <p:cNvGrpSpPr/>
            <p:nvPr/>
          </p:nvGrpSpPr>
          <p:grpSpPr bwMode="auto">
            <a:xfrm rot="15300000" flipV="1">
              <a:off x="2341" y="4859"/>
              <a:ext cx="848" cy="1418"/>
              <a:chOff x="2761515" y="2286000"/>
              <a:chExt cx="1645174" cy="2760228"/>
            </a:xfrm>
            <a:solidFill>
              <a:schemeClr val="accent1">
                <a:lumMod val="75000"/>
              </a:schemeClr>
            </a:solidFill>
          </p:grpSpPr>
          <p:sp>
            <p:nvSpPr>
              <p:cNvPr id="54" name="Oval 11"/>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5" name="Oval 12"/>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6" name="Oval 13"/>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7" name="Oval 14"/>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8" name="Oval 15"/>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9" name="Freeform: Shape 16"/>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2" name="Group 17"/>
            <p:cNvGrpSpPr/>
            <p:nvPr/>
          </p:nvGrpSpPr>
          <p:grpSpPr bwMode="auto">
            <a:xfrm rot="6300000">
              <a:off x="3869" y="4206"/>
              <a:ext cx="922" cy="1554"/>
              <a:chOff x="2761515" y="2286000"/>
              <a:chExt cx="1645174" cy="2760228"/>
            </a:xfrm>
            <a:solidFill>
              <a:schemeClr val="accent2"/>
            </a:solidFill>
          </p:grpSpPr>
          <p:sp>
            <p:nvSpPr>
              <p:cNvPr id="48" name="Oval 18"/>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9" name="Oval 19"/>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0" name="Oval 20"/>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1" name="Oval 21"/>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2" name="Oval 22"/>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3" name="Freeform: Shape 23"/>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grpSp>
        <p:grpSp>
          <p:nvGrpSpPr>
            <p:cNvPr id="13" name="Group 24"/>
            <p:cNvGrpSpPr/>
            <p:nvPr/>
          </p:nvGrpSpPr>
          <p:grpSpPr bwMode="auto">
            <a:xfrm rot="15300000" flipV="1">
              <a:off x="4604" y="4772"/>
              <a:ext cx="922" cy="1554"/>
              <a:chOff x="2761515" y="2286000"/>
              <a:chExt cx="1645174" cy="2760228"/>
            </a:xfrm>
            <a:solidFill>
              <a:schemeClr val="accent2">
                <a:lumMod val="75000"/>
              </a:schemeClr>
            </a:solidFill>
          </p:grpSpPr>
          <p:sp>
            <p:nvSpPr>
              <p:cNvPr id="42" name="Oval 25"/>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3" name="Oval 26"/>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4" name="Oval 27"/>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5" name="Oval 28"/>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6" name="Oval 29"/>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7" name="Freeform: Shape 30"/>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4" name="Group 31"/>
            <p:cNvGrpSpPr/>
            <p:nvPr/>
          </p:nvGrpSpPr>
          <p:grpSpPr bwMode="auto">
            <a:xfrm rot="6300000">
              <a:off x="5945" y="3985"/>
              <a:ext cx="1032" cy="1734"/>
              <a:chOff x="2761515" y="2286000"/>
              <a:chExt cx="1645174" cy="2760228"/>
            </a:xfrm>
            <a:solidFill>
              <a:schemeClr val="accent3"/>
            </a:solidFill>
          </p:grpSpPr>
          <p:sp>
            <p:nvSpPr>
              <p:cNvPr id="36" name="Oval 32"/>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7" name="Oval 33"/>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8" name="Oval 34"/>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9" name="Oval 35"/>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0" name="Oval 36"/>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1" name="Freeform: Shape 37"/>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5" name="Group 38"/>
            <p:cNvGrpSpPr/>
            <p:nvPr/>
          </p:nvGrpSpPr>
          <p:grpSpPr bwMode="auto">
            <a:xfrm rot="15300000" flipV="1">
              <a:off x="6802" y="4744"/>
              <a:ext cx="1032" cy="1734"/>
              <a:chOff x="2761515" y="2286000"/>
              <a:chExt cx="1645174" cy="2760228"/>
            </a:xfrm>
            <a:solidFill>
              <a:schemeClr val="accent3">
                <a:lumMod val="75000"/>
              </a:schemeClr>
            </a:solidFill>
          </p:grpSpPr>
          <p:sp>
            <p:nvSpPr>
              <p:cNvPr id="30" name="Oval 39"/>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1" name="Oval 40"/>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2" name="Oval 41"/>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3" name="Oval 42"/>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4" name="Oval 43"/>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5" name="Freeform: Shape 44"/>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6" name="Group 45"/>
            <p:cNvGrpSpPr/>
            <p:nvPr/>
          </p:nvGrpSpPr>
          <p:grpSpPr bwMode="auto">
            <a:xfrm rot="6300000">
              <a:off x="8385" y="3850"/>
              <a:ext cx="1168" cy="1962"/>
              <a:chOff x="2761515" y="2286000"/>
              <a:chExt cx="1645174" cy="2760228"/>
            </a:xfrm>
            <a:solidFill>
              <a:schemeClr val="accent4"/>
            </a:solidFill>
          </p:grpSpPr>
          <p:sp>
            <p:nvSpPr>
              <p:cNvPr id="24" name="Oval 46"/>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5" name="Oval 47"/>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6" name="Oval 48"/>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 name="Oval 49"/>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8" name="Oval 50"/>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9" name="Freeform: Shape 51"/>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nvGrpSpPr>
            <p:cNvPr id="17" name="Group 52"/>
            <p:cNvGrpSpPr/>
            <p:nvPr/>
          </p:nvGrpSpPr>
          <p:grpSpPr bwMode="auto">
            <a:xfrm rot="15300000" flipV="1">
              <a:off x="9355" y="4717"/>
              <a:ext cx="1168" cy="1962"/>
              <a:chOff x="2761515" y="2286000"/>
              <a:chExt cx="1645174" cy="2760228"/>
            </a:xfrm>
            <a:solidFill>
              <a:schemeClr val="accent4">
                <a:lumMod val="75000"/>
              </a:schemeClr>
            </a:solidFill>
          </p:grpSpPr>
          <p:sp>
            <p:nvSpPr>
              <p:cNvPr id="18" name="Oval 53"/>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9" name="Oval 54"/>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0" name="Oval 55"/>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1" name="Oval 56"/>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 name="Oval 57"/>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3" name="Freeform: Shape 58"/>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0222067" cy="702000"/>
          </a:xfrm>
        </p:spPr>
        <p:txBody>
          <a:bodyPr/>
          <a:lstStyle/>
          <a:p>
            <a:r>
              <a:rPr lang="en-US" altLang="zh-CN" sz="4000" dirty="0"/>
              <a:t>2.6 </a:t>
            </a:r>
            <a:r>
              <a:rPr lang="zh-CN" altLang="en-US" sz="4000" dirty="0"/>
              <a:t>二叉树的建立</a:t>
            </a:r>
            <a:endParaRPr lang="zh-CN" altLang="en-US" sz="4000" dirty="0"/>
          </a:p>
        </p:txBody>
      </p:sp>
      <p:sp>
        <p:nvSpPr>
          <p:cNvPr id="4" name="文本占位符 3"/>
          <p:cNvSpPr>
            <a:spLocks noGrp="1"/>
          </p:cNvSpPr>
          <p:nvPr>
            <p:ph type="body" sz="half" idx="2"/>
          </p:nvPr>
        </p:nvSpPr>
        <p:spPr>
          <a:xfrm>
            <a:off x="180000" y="1193800"/>
            <a:ext cx="7509552" cy="5029199"/>
          </a:xfrm>
        </p:spPr>
        <p:txBody>
          <a:bodyPr/>
          <a:lstStyle/>
          <a:p>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1</a:t>
            </a:r>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）由中序和先序遍历序列建立二叉树</a:t>
            </a:r>
            <a:endParaRPr lang="en-US" altLang="zh-CN"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r>
              <a:rPr lang="zh-CN" altLang="en-US"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endPar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r>
              <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a:t>
            </a:r>
            <a:r>
              <a:rPr lang="zh-CN" altLang="en-US" sz="2000" kern="100" dirty="0">
                <a:solidFill>
                  <a:srgbClr val="656565"/>
                </a:solidFill>
                <a:latin typeface="汉仪颜楷简" panose="00020600040101010101" charset="-122"/>
                <a:ea typeface="汉仪颜楷简" panose="00020600040101010101" charset="-122"/>
                <a:cs typeface="Times New Roman" panose="02020603050405020304" pitchFamily="18" charset="0"/>
              </a:rPr>
              <a:t>算法如下：</a:t>
            </a:r>
            <a:endParaRPr lang="en-US" altLang="zh-CN" sz="20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内容占位符 5"/>
          <p:cNvPicPr>
            <a:picLocks noGrp="1" noChangeAspect="1"/>
          </p:cNvPicPr>
          <p:nvPr>
            <p:ph idx="1"/>
          </p:nvPr>
        </p:nvPicPr>
        <p:blipFill rotWithShape="1">
          <a:blip r:embed="rId1"/>
          <a:srcRect l="5751" r="15195" b="7873"/>
          <a:stretch>
            <a:fillRect/>
          </a:stretch>
        </p:blipFill>
        <p:spPr>
          <a:xfrm>
            <a:off x="2549975" y="2294241"/>
            <a:ext cx="6857913" cy="42037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09455" y="-20955"/>
            <a:ext cx="5640330" cy="6900545"/>
          </a:xfrm>
          <a:prstGeom prst="rect">
            <a:avLst/>
          </a:prstGeom>
        </p:spPr>
      </p:pic>
      <p:sp>
        <p:nvSpPr>
          <p:cNvPr id="8" name="标题 1"/>
          <p:cNvSpPr>
            <a:spLocks noGrp="1"/>
          </p:cNvSpPr>
          <p:nvPr/>
        </p:nvSpPr>
        <p:spPr>
          <a:xfrm>
            <a:off x="180000" y="357871"/>
            <a:ext cx="9843135" cy="6463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0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sym typeface="+mn-ea"/>
              </a:rPr>
              <a:t>2.6 </a:t>
            </a:r>
            <a:r>
              <a:rPr kumimoji="0" lang="zh-CN" altLang="en-US" sz="40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sym typeface="+mn-ea"/>
              </a:rPr>
              <a:t>二叉树的建立</a:t>
            </a:r>
            <a:endParaRPr kumimoji="0" lang="zh-CN" altLang="en-US" sz="4000" b="1" i="0" u="none" strike="noStrike" kern="1200" cap="none" spc="0" normalizeH="0" baseline="0" noProof="0" dirty="0">
              <a:ln>
                <a:noFill/>
              </a:ln>
              <a:solidFill>
                <a:srgbClr val="F88562"/>
              </a:solidFill>
              <a:effectLst/>
              <a:uLnTx/>
              <a:uFillTx/>
              <a:latin typeface="Arial" panose="020B0604020202020204"/>
              <a:ea typeface="黑体" panose="02010609060101010101" pitchFamily="49" charset="-122"/>
              <a:cs typeface="+mj-cs"/>
            </a:endParaRPr>
          </a:p>
        </p:txBody>
      </p:sp>
      <p:sp>
        <p:nvSpPr>
          <p:cNvPr id="5" name="内容占位符 4"/>
          <p:cNvSpPr>
            <a:spLocks noGrp="1"/>
          </p:cNvSpPr>
          <p:nvPr>
            <p:ph idx="1"/>
          </p:nvPr>
        </p:nvSpPr>
        <p:spPr>
          <a:xfrm>
            <a:off x="180000" y="1244600"/>
            <a:ext cx="6110336" cy="4932363"/>
          </a:xfrm>
        </p:spPr>
        <p:txBody>
          <a:bodyPr>
            <a:normAutofit/>
          </a:bodyPr>
          <a:lstStyle/>
          <a:p>
            <a:pPr indent="0" algn="just">
              <a:buNone/>
            </a:pP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a:t>
            </a:r>
            <a:r>
              <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2</a:t>
            </a:r>
            <a:r>
              <a:rPr lang="zh-CN" altLang="en-US"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）由标明空子树的先序遍历序列创建二叉树</a:t>
            </a:r>
            <a:endParaRPr lang="en-US" altLang="zh-CN"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endParaRPr>
          </a:p>
          <a:p>
            <a:pPr indent="0" algn="just">
              <a:buNone/>
            </a:pPr>
            <a:endPar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其</a:t>
            </a:r>
            <a:r>
              <a:rPr lang="zh-CN" altLang="en-US" sz="2400" kern="100" dirty="0">
                <a:solidFill>
                  <a:schemeClr val="accent2"/>
                </a:solidFill>
                <a:latin typeface="汉仪颜楷简" panose="00020600040101010101" charset="-122"/>
                <a:ea typeface="汉仪颜楷简" panose="00020600040101010101" charset="-122"/>
                <a:cs typeface="Times New Roman" panose="02020603050405020304" pitchFamily="18" charset="0"/>
              </a:rPr>
              <a:t>主要步骤</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如下： </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(1)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从先序遍历序列中依次读取字符。</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(2)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若字符为</a:t>
            </a: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，建立空子树。</a:t>
            </a:r>
            <a:endPar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(3)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建立左子树。</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    (4) </a:t>
            </a:r>
            <a:r>
              <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建立右子树。</a:t>
            </a:r>
            <a:endParaRPr lang="zh-CN" altLang="en-US" sz="24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a:p>
            <a:endParaRPr lang="zh-CN" altLang="en-US" dirty="0"/>
          </a:p>
        </p:txBody>
      </p:sp>
      <p:pic>
        <p:nvPicPr>
          <p:cNvPr id="7" name="图片 6"/>
          <p:cNvPicPr>
            <a:picLocks noChangeAspect="1"/>
          </p:cNvPicPr>
          <p:nvPr/>
        </p:nvPicPr>
        <p:blipFill rotWithShape="1">
          <a:blip r:embed="rId2"/>
          <a:srcRect l="2985" r="36757"/>
          <a:stretch>
            <a:fillRect/>
          </a:stretch>
        </p:blipFill>
        <p:spPr>
          <a:xfrm>
            <a:off x="6802335" y="1595471"/>
            <a:ext cx="5852388" cy="40144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87700"/>
            <a:ext cx="7973400" cy="646331"/>
          </a:xfrm>
        </p:spPr>
        <p:txBody>
          <a:bodyPr/>
          <a:lstStyle/>
          <a:p>
            <a:r>
              <a:rPr lang="en-US" altLang="zh-CN" sz="4000" dirty="0"/>
              <a:t>2.6 </a:t>
            </a:r>
            <a:r>
              <a:rPr lang="zh-CN" altLang="en-US" sz="4000" dirty="0"/>
              <a:t>二叉树的建立</a:t>
            </a:r>
            <a:r>
              <a:rPr lang="en-US" altLang="zh-CN" sz="4000" dirty="0"/>
              <a:t>——</a:t>
            </a:r>
            <a:r>
              <a:rPr lang="zh-CN" altLang="en-US" sz="4000" dirty="0"/>
              <a:t>例题</a:t>
            </a:r>
            <a:endParaRPr lang="zh-CN" altLang="en-US" sz="4000" dirty="0"/>
          </a:p>
        </p:txBody>
      </p:sp>
      <p:sp>
        <p:nvSpPr>
          <p:cNvPr id="3" name="内容占位符 2"/>
          <p:cNvSpPr>
            <a:spLocks noGrp="1"/>
          </p:cNvSpPr>
          <p:nvPr>
            <p:ph sz="half" idx="1"/>
          </p:nvPr>
        </p:nvSpPr>
        <p:spPr>
          <a:xfrm>
            <a:off x="179999" y="1241118"/>
            <a:ext cx="7785713" cy="1275016"/>
          </a:xfrm>
        </p:spPr>
        <p:txBody>
          <a:bodyPr>
            <a:normAutofit fontScale="47500" lnSpcReduction="20000"/>
          </a:bodyPr>
          <a:lstStyle/>
          <a:p>
            <a:pPr marL="0" indent="0">
              <a:lnSpc>
                <a:spcPct val="120000"/>
              </a:lnSpc>
              <a:buNone/>
            </a:pPr>
            <a:endParaRPr lang="en-US" altLang="zh-CN" sz="4300" b="1">
              <a:solidFill>
                <a:schemeClr val="accent2"/>
              </a:solidFill>
            </a:endParaRPr>
          </a:p>
          <a:p>
            <a:pPr marL="0" indent="0">
              <a:lnSpc>
                <a:spcPct val="120000"/>
              </a:lnSpc>
              <a:buNone/>
            </a:pPr>
            <a:r>
              <a:rPr lang="en-US" altLang="zh-CN" sz="4200" b="1">
                <a:solidFill>
                  <a:schemeClr val="accent2"/>
                </a:solidFill>
              </a:rPr>
              <a:t>【</a:t>
            </a:r>
            <a:r>
              <a:rPr lang="zh-CN" altLang="en-US" sz="4200" b="1">
                <a:solidFill>
                  <a:schemeClr val="accent2"/>
                </a:solidFill>
              </a:rPr>
              <a:t>例</a:t>
            </a:r>
            <a:r>
              <a:rPr lang="en-US" altLang="zh-CN" sz="4200" b="1">
                <a:solidFill>
                  <a:schemeClr val="accent2"/>
                </a:solidFill>
              </a:rPr>
              <a:t>5.3】</a:t>
            </a:r>
            <a:r>
              <a:rPr lang="zh-CN" altLang="en-US" sz="4200" b="1">
                <a:solidFill>
                  <a:schemeClr val="accent2"/>
                </a:solidFill>
              </a:rPr>
              <a:t>已知二叉树的中序和后序序列分别为</a:t>
            </a:r>
            <a:r>
              <a:rPr lang="en-US" altLang="zh-CN" sz="4200" b="1">
                <a:solidFill>
                  <a:schemeClr val="accent2"/>
                </a:solidFill>
              </a:rPr>
              <a:t>CBEDAFIGH</a:t>
            </a:r>
            <a:r>
              <a:rPr lang="zh-CN" altLang="en-US" sz="4200" b="1">
                <a:solidFill>
                  <a:schemeClr val="accent2"/>
                </a:solidFill>
              </a:rPr>
              <a:t>和</a:t>
            </a:r>
            <a:r>
              <a:rPr lang="en-US" altLang="zh-CN" sz="4200" b="1">
                <a:solidFill>
                  <a:schemeClr val="accent2"/>
                </a:solidFill>
              </a:rPr>
              <a:t>CEDBIFHGA</a:t>
            </a:r>
            <a:r>
              <a:rPr lang="zh-CN" altLang="en-US" sz="4200" b="1">
                <a:solidFill>
                  <a:schemeClr val="accent2"/>
                </a:solidFill>
              </a:rPr>
              <a:t>，试构造该二叉树。</a:t>
            </a:r>
            <a:endParaRPr lang="zh-CN" altLang="en-US" sz="4200" b="1">
              <a:solidFill>
                <a:schemeClr val="accent2"/>
              </a:solidFill>
            </a:endParaRPr>
          </a:p>
          <a:p>
            <a:pPr marL="0" indent="0">
              <a:lnSpc>
                <a:spcPct val="120000"/>
              </a:lnSpc>
              <a:buNone/>
            </a:pPr>
            <a:endParaRPr lang="zh-CN" altLang="zh-CN" sz="4200" b="1">
              <a:solidFill>
                <a:schemeClr val="accent2"/>
              </a:solidFill>
            </a:endParaRPr>
          </a:p>
          <a:p>
            <a:endParaRPr lang="zh-CN" altLang="en-US" dirty="0"/>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6DE7E8-BD74-40B2-922D-194240FC5D5C}"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pic>
        <p:nvPicPr>
          <p:cNvPr id="6" name="内容占位符 5"/>
          <p:cNvPicPr>
            <a:picLocks noGrp="1" noChangeAspect="1"/>
          </p:cNvPicPr>
          <p:nvPr>
            <p:ph sz="half" idx="2"/>
          </p:nvPr>
        </p:nvPicPr>
        <p:blipFill>
          <a:blip r:embed="rId1" cstate="print">
            <a:extLst>
              <a:ext uri="{28A0092B-C50C-407E-A947-70E740481C1C}">
                <a14:useLocalDpi xmlns:a14="http://schemas.microsoft.com/office/drawing/2010/main" val="0"/>
              </a:ext>
            </a:extLst>
          </a:blip>
          <a:stretch>
            <a:fillRect/>
          </a:stretch>
        </p:blipFill>
        <p:spPr>
          <a:xfrm>
            <a:off x="8463872" y="0"/>
            <a:ext cx="3725764" cy="6858000"/>
          </a:xfrm>
          <a:prstGeom prst="rect">
            <a:avLst/>
          </a:prstGeom>
        </p:spPr>
      </p:pic>
      <p:pic>
        <p:nvPicPr>
          <p:cNvPr id="7" name="图片 6"/>
          <p:cNvPicPr>
            <a:picLocks noChangeAspect="1"/>
          </p:cNvPicPr>
          <p:nvPr/>
        </p:nvPicPr>
        <p:blipFill>
          <a:blip r:embed="rId2"/>
          <a:stretch>
            <a:fillRect/>
          </a:stretch>
        </p:blipFill>
        <p:spPr>
          <a:xfrm>
            <a:off x="410575" y="3639503"/>
            <a:ext cx="7785713" cy="2893271"/>
          </a:xfrm>
          <a:prstGeom prst="rect">
            <a:avLst/>
          </a:prstGeom>
        </p:spPr>
      </p:pic>
      <p:sp>
        <p:nvSpPr>
          <p:cNvPr id="8" name="文本框 7"/>
          <p:cNvSpPr txBox="1"/>
          <p:nvPr/>
        </p:nvSpPr>
        <p:spPr>
          <a:xfrm>
            <a:off x="787060" y="2762881"/>
            <a:ext cx="6115432" cy="646331"/>
          </a:xfrm>
          <a:prstGeom prst="rect">
            <a:avLst/>
          </a:prstGeom>
          <a:noFill/>
        </p:spPr>
        <p:txBody>
          <a:bodyPr wrap="square">
            <a:spAutoFit/>
          </a:bodyPr>
          <a:lstStyle/>
          <a:p>
            <a:pPr indent="0" algn="just">
              <a:buNone/>
            </a:pP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解： 二叉树的构造过程如下图所示。图</a:t>
            </a:r>
            <a:r>
              <a:rPr lang="en-US" altLang="zh-CN"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(c)</a:t>
            </a:r>
            <a:r>
              <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rPr>
              <a:t>即为构造出的二叉树。</a:t>
            </a:r>
            <a:endParaRPr lang="zh-CN" altLang="en-US" sz="1800" kern="100" dirty="0">
              <a:solidFill>
                <a:srgbClr val="656565"/>
              </a:solidFill>
              <a:latin typeface="汉仪颜楷简" panose="00020600040101010101" charset="-122"/>
              <a:ea typeface="汉仪颜楷简" panose="00020600040101010101"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第三节</a:t>
            </a:r>
            <a:endParaRPr lang="zh-CN" altLang="en-US" dirty="0"/>
          </a:p>
        </p:txBody>
      </p:sp>
      <p:sp>
        <p:nvSpPr>
          <p:cNvPr id="3" name="文本占位符 2"/>
          <p:cNvSpPr>
            <a:spLocks noGrp="1"/>
          </p:cNvSpPr>
          <p:nvPr>
            <p:ph type="body" sz="quarter" idx="11"/>
          </p:nvPr>
        </p:nvSpPr>
        <p:spPr>
          <a:xfrm>
            <a:off x="4873175" y="2533966"/>
            <a:ext cx="6501407" cy="723900"/>
          </a:xfrm>
        </p:spPr>
        <p:txBody>
          <a:bodyPr/>
          <a:lstStyle/>
          <a:p>
            <a:r>
              <a:rPr lang="zh-CN" altLang="en-US" dirty="0"/>
              <a:t>哈夫曼树及哈夫曼编码</a:t>
            </a:r>
            <a:endParaRPr lang="zh-CN" altLang="en-US" dirty="0"/>
          </a:p>
        </p:txBody>
      </p:sp>
      <p:sp>
        <p:nvSpPr>
          <p:cNvPr id="5" name="文本框 4"/>
          <p:cNvSpPr txBox="1"/>
          <p:nvPr/>
        </p:nvSpPr>
        <p:spPr>
          <a:xfrm>
            <a:off x="346363" y="3600135"/>
            <a:ext cx="6501407" cy="1200329"/>
          </a:xfrm>
          <a:prstGeom prst="rect">
            <a:avLst/>
          </a:prstGeom>
          <a:noFill/>
        </p:spPr>
        <p:txBody>
          <a:bodyPr wrap="square">
            <a:spAutoFit/>
          </a:bodyPr>
          <a:lstStyle/>
          <a:p>
            <a:pPr indent="266700" algn="just"/>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目前常用的图像、音频、视频等多媒体信息由于数据量大，必须对它们采用数据压缩技术来存储和传输。数据压缩技术通过对数据进行重新编码来压缩存储，以便减少数据占用的存储空间，在使用时再进行解压缩，恢复数据的原有特性。</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 name="文本框 6"/>
          <p:cNvSpPr txBox="1"/>
          <p:nvPr/>
        </p:nvSpPr>
        <p:spPr>
          <a:xfrm>
            <a:off x="4873175" y="5142733"/>
            <a:ext cx="6906813" cy="1200329"/>
          </a:xfrm>
          <a:prstGeom prst="rect">
            <a:avLst/>
          </a:prstGeom>
          <a:noFill/>
        </p:spPr>
        <p:txBody>
          <a:bodyPr wrap="square">
            <a:spAutoFit/>
          </a:bodyPr>
          <a:lstStyle/>
          <a:p>
            <a:pPr indent="266700" algn="just"/>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其压缩方法主要有有损压缩和无损压缩两种。有损压缩是指压缩过程中可能会丢失数据信息，如将</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BMP</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位图压缩成</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JPEG</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格式的图像，会有精度损失； 无损压缩是指压缩存储数据的全部信息，确保解压后的数据不丢失。</a:t>
            </a:r>
            <a:r>
              <a:rPr lang="zh-CN" altLang="zh-CN" sz="18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哈夫曼编码</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是数据压缩技术中的</a:t>
            </a:r>
            <a:r>
              <a:rPr lang="zh-CN" altLang="zh-CN" sz="18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无损压缩技术</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6365905" cy="717596"/>
          </a:xfrm>
        </p:spPr>
        <p:txBody>
          <a:bodyPr>
            <a:normAutofit/>
          </a:bodyPr>
          <a:lstStyle/>
          <a:p>
            <a:r>
              <a:rPr lang="en-US" altLang="zh-CN" b="1" dirty="0"/>
              <a:t>3.1 </a:t>
            </a:r>
            <a:r>
              <a:rPr lang="zh-CN" altLang="en-US" b="1" dirty="0"/>
              <a:t>哈夫曼树的基本概念</a:t>
            </a:r>
            <a:endParaRPr lang="en-US" altLang="zh-CN" b="1" dirty="0"/>
          </a:p>
        </p:txBody>
      </p:sp>
      <p:sp>
        <p:nvSpPr>
          <p:cNvPr id="3" name="内容占位符 2"/>
          <p:cNvSpPr>
            <a:spLocks noGrp="1"/>
          </p:cNvSpPr>
          <p:nvPr>
            <p:ph idx="1"/>
          </p:nvPr>
        </p:nvSpPr>
        <p:spPr>
          <a:xfrm>
            <a:off x="131617" y="1237744"/>
            <a:ext cx="7481456" cy="5460929"/>
          </a:xfrm>
        </p:spPr>
        <p:txBody>
          <a:bodyPr>
            <a:normAutofit lnSpcReduction="10000"/>
          </a:bodyPr>
          <a:lstStyle/>
          <a:p>
            <a:pPr indent="266700" algn="just">
              <a:defRPr/>
            </a:pPr>
            <a:r>
              <a:rPr lang="en-US" altLang="zh-CN" sz="2400" b="1" kern="100" dirty="0">
                <a:solidFill>
                  <a:srgbClr val="FFC000"/>
                </a:solidFill>
                <a:latin typeface="+mj-ea"/>
                <a:ea typeface="+mj-ea"/>
                <a:cs typeface="Times New Roman" panose="02020603050405020304" pitchFamily="18" charset="0"/>
              </a:rPr>
              <a:t>1. </a:t>
            </a:r>
            <a:r>
              <a:rPr lang="zh-CN" altLang="zh-CN" sz="2400" b="1" kern="100" dirty="0">
                <a:solidFill>
                  <a:srgbClr val="FFC000"/>
                </a:solidFill>
                <a:latin typeface="+mj-ea"/>
                <a:ea typeface="+mj-ea"/>
                <a:cs typeface="Times New Roman" panose="02020603050405020304" pitchFamily="18" charset="0"/>
              </a:rPr>
              <a:t>结点间的路径</a:t>
            </a:r>
            <a:endParaRPr lang="zh-CN" altLang="zh-CN" sz="2400" b="1" kern="100" dirty="0">
              <a:solidFill>
                <a:srgbClr val="FFC000"/>
              </a:solidFill>
              <a:latin typeface="+mj-ea"/>
              <a:ea typeface="+mj-ea"/>
              <a:cs typeface="Times New Roman" panose="02020603050405020304" pitchFamily="18" charset="0"/>
            </a:endParaRPr>
          </a:p>
          <a:p>
            <a:pPr indent="0" algn="just">
              <a:buNone/>
            </a:pP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结点间的路径是指从一个结点到另一个结点所经过的结点序列。从根结点到</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X</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结点有且仅</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有一条路径。</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defRPr/>
            </a:pPr>
            <a:r>
              <a:rPr lang="en-US" altLang="zh-CN" sz="2400" b="1" kern="100" dirty="0">
                <a:solidFill>
                  <a:srgbClr val="FFC000"/>
                </a:solidFill>
                <a:latin typeface="+mj-ea"/>
                <a:ea typeface="+mj-ea"/>
                <a:cs typeface="Times New Roman" panose="02020603050405020304" pitchFamily="18" charset="0"/>
              </a:rPr>
              <a:t>2. </a:t>
            </a:r>
            <a:r>
              <a:rPr lang="zh-CN" altLang="zh-CN" sz="2400" b="1" kern="100" dirty="0">
                <a:solidFill>
                  <a:srgbClr val="FFC000"/>
                </a:solidFill>
                <a:latin typeface="+mj-ea"/>
                <a:ea typeface="+mj-ea"/>
                <a:cs typeface="Times New Roman" panose="02020603050405020304" pitchFamily="18" charset="0"/>
              </a:rPr>
              <a:t>结点的路径长度</a:t>
            </a:r>
            <a:endParaRPr lang="zh-CN" altLang="zh-CN" sz="2400" b="1" kern="100" dirty="0">
              <a:solidFill>
                <a:srgbClr val="FFC000"/>
              </a:solidFill>
              <a:latin typeface="+mj-ea"/>
              <a:ea typeface="+mj-ea"/>
              <a:cs typeface="Times New Roman" panose="02020603050405020304" pitchFamily="18" charset="0"/>
            </a:endParaRPr>
          </a:p>
          <a:p>
            <a:pPr indent="0" algn="just">
              <a:buNone/>
            </a:pP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结点的路径长度是指从根结点到结点的路径上的边数。</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defRPr/>
            </a:pPr>
            <a:r>
              <a:rPr lang="en-US" altLang="zh-CN" sz="2400" b="1" kern="100" dirty="0">
                <a:solidFill>
                  <a:srgbClr val="FFC000"/>
                </a:solidFill>
                <a:latin typeface="+mj-ea"/>
                <a:ea typeface="+mj-ea"/>
                <a:cs typeface="Times New Roman" panose="02020603050405020304" pitchFamily="18" charset="0"/>
              </a:rPr>
              <a:t>3. </a:t>
            </a:r>
            <a:r>
              <a:rPr lang="zh-CN" altLang="zh-CN" sz="2400" b="1" kern="100" dirty="0">
                <a:solidFill>
                  <a:srgbClr val="FFC000"/>
                </a:solidFill>
                <a:latin typeface="+mj-ea"/>
                <a:ea typeface="+mj-ea"/>
                <a:cs typeface="Times New Roman" panose="02020603050405020304" pitchFamily="18" charset="0"/>
              </a:rPr>
              <a:t>结点的权</a:t>
            </a:r>
            <a:endParaRPr lang="zh-CN" altLang="zh-CN" sz="2400" b="1" kern="100" dirty="0">
              <a:solidFill>
                <a:srgbClr val="FFC000"/>
              </a:solidFill>
              <a:latin typeface="+mj-ea"/>
              <a:ea typeface="+mj-ea"/>
              <a:cs typeface="Times New Roman" panose="02020603050405020304" pitchFamily="18" charset="0"/>
            </a:endParaRPr>
          </a:p>
          <a:p>
            <a:pPr indent="0" algn="just">
              <a:buNone/>
            </a:pP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结点的权是指人给结点赋予的一个具有某种实际意义的数值。</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defRPr/>
            </a:pPr>
            <a:r>
              <a:rPr lang="en-US" altLang="zh-CN" sz="2400" b="1" kern="100" dirty="0">
                <a:solidFill>
                  <a:srgbClr val="FFC000"/>
                </a:solidFill>
                <a:latin typeface="+mj-ea"/>
                <a:ea typeface="+mj-ea"/>
                <a:cs typeface="Times New Roman" panose="02020603050405020304" pitchFamily="18" charset="0"/>
              </a:rPr>
              <a:t>4. </a:t>
            </a:r>
            <a:r>
              <a:rPr lang="zh-CN" altLang="zh-CN" sz="2400" b="1" kern="100" dirty="0">
                <a:solidFill>
                  <a:srgbClr val="FFC000"/>
                </a:solidFill>
                <a:latin typeface="+mj-ea"/>
                <a:ea typeface="+mj-ea"/>
                <a:cs typeface="Times New Roman" panose="02020603050405020304" pitchFamily="18" charset="0"/>
              </a:rPr>
              <a:t>结点的带权路径长度</a:t>
            </a:r>
            <a:endParaRPr lang="zh-CN" altLang="zh-CN" sz="2400" b="1" kern="100" dirty="0">
              <a:solidFill>
                <a:srgbClr val="FFC000"/>
              </a:solidFill>
              <a:latin typeface="+mj-ea"/>
              <a:ea typeface="+mj-ea"/>
              <a:cs typeface="Times New Roman" panose="02020603050405020304" pitchFamily="18" charset="0"/>
            </a:endParaRPr>
          </a:p>
          <a:p>
            <a:pPr indent="0" algn="just">
              <a:buNone/>
            </a:pP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结点的带权路径长度是指结点的权值和结点的路径长度的乘积。</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00000"/>
              </a:lnSpc>
              <a:defRPr/>
            </a:pPr>
            <a:r>
              <a:rPr lang="en-US" altLang="zh-CN" sz="2400" b="1" kern="100" dirty="0">
                <a:solidFill>
                  <a:srgbClr val="FFC000"/>
                </a:solidFill>
                <a:latin typeface="+mj-ea"/>
                <a:ea typeface="+mj-ea"/>
                <a:cs typeface="Times New Roman" panose="02020603050405020304" pitchFamily="18" charset="0"/>
              </a:rPr>
              <a:t>5. </a:t>
            </a:r>
            <a:r>
              <a:rPr lang="zh-CN" altLang="zh-CN" sz="2400" b="1" kern="100" dirty="0">
                <a:solidFill>
                  <a:srgbClr val="FFC000"/>
                </a:solidFill>
                <a:latin typeface="+mj-ea"/>
                <a:ea typeface="+mj-ea"/>
                <a:cs typeface="Times New Roman" panose="02020603050405020304" pitchFamily="18" charset="0"/>
              </a:rPr>
              <a:t>树的带权路径长度</a:t>
            </a:r>
            <a:endParaRPr lang="zh-CN" altLang="zh-CN" sz="2400" b="1" kern="100" dirty="0">
              <a:solidFill>
                <a:srgbClr val="FFC000"/>
              </a:solidFill>
              <a:latin typeface="+mj-ea"/>
              <a:ea typeface="+mj-ea"/>
              <a:cs typeface="Times New Roman" panose="02020603050405020304" pitchFamily="18" charset="0"/>
            </a:endParaRPr>
          </a:p>
          <a:p>
            <a:pPr indent="0" algn="just">
              <a:buNone/>
            </a:pP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树的带权路径长度是指树的叶结点的带权路径长度之和。</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00000"/>
              </a:lnSpc>
              <a:defRPr/>
            </a:pPr>
            <a:r>
              <a:rPr lang="en-US" altLang="zh-CN" sz="2400" b="1" kern="100" dirty="0">
                <a:solidFill>
                  <a:srgbClr val="FFC000"/>
                </a:solidFill>
                <a:latin typeface="+mj-ea"/>
                <a:ea typeface="+mj-ea"/>
                <a:cs typeface="Times New Roman" panose="02020603050405020304" pitchFamily="18" charset="0"/>
              </a:rPr>
              <a:t>6. </a:t>
            </a:r>
            <a:r>
              <a:rPr lang="zh-CN" altLang="zh-CN" sz="2400" b="1" kern="100" dirty="0">
                <a:solidFill>
                  <a:srgbClr val="FFC000"/>
                </a:solidFill>
                <a:latin typeface="+mj-ea"/>
                <a:ea typeface="+mj-ea"/>
                <a:cs typeface="Times New Roman" panose="02020603050405020304" pitchFamily="18" charset="0"/>
              </a:rPr>
              <a:t>最优二叉树</a:t>
            </a:r>
            <a:endParaRPr lang="zh-CN" altLang="zh-CN" sz="2400" b="1" kern="100" dirty="0">
              <a:solidFill>
                <a:srgbClr val="FFC000"/>
              </a:solidFill>
              <a:latin typeface="+mj-ea"/>
              <a:ea typeface="+mj-ea"/>
              <a:cs typeface="Times New Roman" panose="02020603050405020304" pitchFamily="18" charset="0"/>
            </a:endParaRPr>
          </a:p>
          <a:p>
            <a:pPr indent="0" algn="just">
              <a:buNone/>
            </a:pP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最优二叉树是指给定</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n</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个带有权值的结点作为叶结点构造出的具有最小带权路径长度的二叉树。最优二叉树也叫哈夫曼树。</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 name="Isosceles Triangle 31"/>
          <p:cNvSpPr/>
          <p:nvPr/>
        </p:nvSpPr>
        <p:spPr>
          <a:xfrm rot="16200000">
            <a:off x="7225183" y="-1141914"/>
            <a:ext cx="3835430" cy="6093797"/>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4" name="图片 3"/>
          <p:cNvPicPr>
            <a:picLocks noChangeAspect="1"/>
          </p:cNvPicPr>
          <p:nvPr/>
        </p:nvPicPr>
        <p:blipFill>
          <a:blip r:embed="rId1"/>
          <a:stretch>
            <a:fillRect/>
          </a:stretch>
        </p:blipFill>
        <p:spPr>
          <a:xfrm>
            <a:off x="7613073" y="1612654"/>
            <a:ext cx="4286250" cy="38766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6365905" cy="717596"/>
          </a:xfrm>
        </p:spPr>
        <p:txBody>
          <a:bodyPr>
            <a:normAutofit/>
          </a:bodyPr>
          <a:lstStyle/>
          <a:p>
            <a:r>
              <a:rPr lang="en-US" altLang="zh-CN" b="1" dirty="0"/>
              <a:t>3.2 </a:t>
            </a:r>
            <a:r>
              <a:rPr lang="zh-CN" altLang="en-US" b="1" dirty="0"/>
              <a:t>哈夫曼树的构造</a:t>
            </a:r>
            <a:endParaRPr lang="en-US" altLang="zh-CN" b="1" dirty="0"/>
          </a:p>
        </p:txBody>
      </p:sp>
      <p:sp>
        <p:nvSpPr>
          <p:cNvPr id="3" name="内容占位符 2"/>
          <p:cNvSpPr>
            <a:spLocks noGrp="1"/>
          </p:cNvSpPr>
          <p:nvPr>
            <p:ph idx="1"/>
          </p:nvPr>
        </p:nvSpPr>
        <p:spPr>
          <a:xfrm>
            <a:off x="838199" y="1223889"/>
            <a:ext cx="6165274" cy="5242533"/>
          </a:xfrm>
        </p:spPr>
        <p:txBody>
          <a:bodyPr>
            <a:normAutofit/>
          </a:bodyPr>
          <a:lstStyle/>
          <a:p>
            <a:pPr indent="0" algn="just">
              <a:buNone/>
            </a:pP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给定</a:t>
            </a:r>
            <a:r>
              <a:rPr lang="en-US"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n</a:t>
            </a: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个叶结点，它们的权值分别是</a:t>
            </a:r>
            <a:r>
              <a:rPr lang="en-US"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{w1,w2,…,</a:t>
            </a:r>
            <a:r>
              <a:rPr lang="en-US" altLang="zh-CN" sz="2000" b="1"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rPr>
              <a:t>wn</a:t>
            </a:r>
            <a:r>
              <a:rPr lang="en-US"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，构造相应的哈夫曼树的主要步骤如下</a:t>
            </a:r>
            <a:r>
              <a:rPr lang="zh-CN" altLang="en-US"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endParaRPr lang="en-US"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zh-CN" altLang="zh-CN" sz="2000" b="1"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rPr>
              <a:t>(1)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构造由</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n</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棵二叉树组成的森林，每棵二叉树只有一个根结点，根结点的权值分别为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{w</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1</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,w</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2</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rPr>
              <a:t>w</a:t>
            </a:r>
            <a:r>
              <a:rPr lang="en-US" altLang="zh-CN" sz="2000" kern="100" baseline="-250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rPr>
              <a:t>n</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rPr>
              <a:t>(2)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在森林中选取根结点权值最小和次小的两棵二叉树分别作为左子树和右子树去构造一棵新的二叉树，新二叉树的根结点权值为两棵子树的根结点权值之和。</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rPr>
              <a:t>(3)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将两棵二叉树从森林中删除，并将新的二叉树添加到森林中。</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rPr>
              <a:t>(4)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重复步骤</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和</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(3)</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，直到森林中只有一棵二叉树，此二叉树即为哈夫曼树。</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假设给定的权值为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3</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4</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5}</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zh-CN" altLang="en-US" sz="2000"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右图</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展示了哈夫曼树的构造过程。</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7855634" y="25379"/>
            <a:ext cx="3498166" cy="68072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6365905" cy="717596"/>
          </a:xfrm>
        </p:spPr>
        <p:txBody>
          <a:bodyPr>
            <a:normAutofit/>
          </a:bodyPr>
          <a:lstStyle/>
          <a:p>
            <a:r>
              <a:rPr lang="en-US" altLang="zh-CN" b="1" dirty="0"/>
              <a:t>3.2 </a:t>
            </a:r>
            <a:r>
              <a:rPr lang="zh-CN" altLang="en-US" b="1" dirty="0"/>
              <a:t>哈夫曼树的构造</a:t>
            </a:r>
            <a:endParaRPr lang="en-US" altLang="zh-CN" b="1" dirty="0"/>
          </a:p>
        </p:txBody>
      </p:sp>
      <p:sp>
        <p:nvSpPr>
          <p:cNvPr id="3" name="内容占位符 2"/>
          <p:cNvSpPr>
            <a:spLocks noGrp="1"/>
          </p:cNvSpPr>
          <p:nvPr>
            <p:ph idx="1"/>
          </p:nvPr>
        </p:nvSpPr>
        <p:spPr>
          <a:xfrm>
            <a:off x="352252" y="2445328"/>
            <a:ext cx="8064386" cy="4078839"/>
          </a:xfrm>
        </p:spPr>
        <p:txBody>
          <a:bodyPr>
            <a:normAutofit lnSpcReduction="10000"/>
          </a:bodyPr>
          <a:lstStyle/>
          <a:p>
            <a:pPr indent="0" algn="just">
              <a:buNone/>
            </a:pPr>
            <a:r>
              <a:rPr lang="zh-CN" altLang="en-US"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rPr>
              <a:t>解： 构造的哈夫曼树如下图所示：</a:t>
            </a:r>
            <a:endParaRPr lang="zh-CN" altLang="en-US"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zh-CN" altLang="en-US"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rPr>
              <a:t> </a:t>
            </a:r>
            <a:endParaRPr lang="en-US"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en-US" altLang="zh-CN" sz="2000"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en-US"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en-US" altLang="zh-CN" sz="2000"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en-US"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en-US" altLang="zh-CN" sz="2000"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en-US"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zh-CN" altLang="en-US"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zh-CN" altLang="en-US"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rPr>
              <a:t>树的带权路径长度如下： </a:t>
            </a:r>
            <a:endParaRPr lang="zh-CN" altLang="en-US"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en-US"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rPr>
              <a:t>WPL=2×4+3×4+5×3+7×3+8×3+9×2+11×2=120</a:t>
            </a:r>
            <a:endParaRPr lang="en-US"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1475510" y="2856802"/>
            <a:ext cx="3446584" cy="2869096"/>
          </a:xfrm>
          <a:prstGeom prst="rect">
            <a:avLst/>
          </a:prstGeom>
        </p:spPr>
      </p:pic>
      <p:pic>
        <p:nvPicPr>
          <p:cNvPr id="6" name="内容占位符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63872" y="0"/>
            <a:ext cx="3725764" cy="6858000"/>
          </a:xfrm>
          <a:prstGeom prst="rect">
            <a:avLst/>
          </a:prstGeom>
        </p:spPr>
      </p:pic>
      <p:sp>
        <p:nvSpPr>
          <p:cNvPr id="7" name="文本框 6"/>
          <p:cNvSpPr txBox="1"/>
          <p:nvPr/>
        </p:nvSpPr>
        <p:spPr>
          <a:xfrm>
            <a:off x="352252" y="1520687"/>
            <a:ext cx="7170766" cy="707886"/>
          </a:xfrm>
          <a:prstGeom prst="rect">
            <a:avLst/>
          </a:prstGeom>
          <a:noFill/>
        </p:spPr>
        <p:txBody>
          <a:bodyPr wrap="square">
            <a:spAutoFit/>
          </a:bodyPr>
          <a:lstStyle/>
          <a:p>
            <a:pPr indent="0" algn="just">
              <a:buNone/>
            </a:pPr>
            <a:r>
              <a:rPr lang="zh-CN" altLang="zh-CN" sz="2000" b="1" dirty="0">
                <a:solidFill>
                  <a:schemeClr val="accent2"/>
                </a:solidFill>
              </a:rPr>
              <a:t>【例</a:t>
            </a:r>
            <a:r>
              <a:rPr lang="en-US" altLang="zh-CN" sz="2000" b="1" dirty="0">
                <a:solidFill>
                  <a:schemeClr val="accent2"/>
                </a:solidFill>
              </a:rPr>
              <a:t>5.4</a:t>
            </a:r>
            <a:r>
              <a:rPr lang="zh-CN" altLang="zh-CN" sz="2000" b="1" dirty="0">
                <a:solidFill>
                  <a:schemeClr val="accent2"/>
                </a:solidFill>
              </a:rPr>
              <a:t>】对于给定的一组权值</a:t>
            </a:r>
            <a:r>
              <a:rPr lang="en-US" altLang="zh-CN" sz="2000" b="1" dirty="0">
                <a:solidFill>
                  <a:schemeClr val="accent2"/>
                </a:solidFill>
              </a:rPr>
              <a:t>W</a:t>
            </a:r>
            <a:r>
              <a:rPr lang="zh-CN" altLang="zh-CN" sz="2000" b="1" dirty="0">
                <a:solidFill>
                  <a:schemeClr val="accent2"/>
                </a:solidFill>
              </a:rPr>
              <a:t>＝</a:t>
            </a:r>
            <a:r>
              <a:rPr lang="en-US" altLang="zh-CN" sz="2000" b="1" dirty="0">
                <a:solidFill>
                  <a:schemeClr val="accent2"/>
                </a:solidFill>
              </a:rPr>
              <a:t>(5</a:t>
            </a:r>
            <a:r>
              <a:rPr lang="zh-CN" altLang="zh-CN" sz="2000" b="1" dirty="0">
                <a:solidFill>
                  <a:schemeClr val="accent2"/>
                </a:solidFill>
              </a:rPr>
              <a:t>，</a:t>
            </a:r>
            <a:r>
              <a:rPr lang="en-US" altLang="zh-CN" sz="2000" b="1" dirty="0">
                <a:solidFill>
                  <a:schemeClr val="accent2"/>
                </a:solidFill>
              </a:rPr>
              <a:t>2</a:t>
            </a:r>
            <a:r>
              <a:rPr lang="zh-CN" altLang="zh-CN" sz="2000" b="1" dirty="0">
                <a:solidFill>
                  <a:schemeClr val="accent2"/>
                </a:solidFill>
              </a:rPr>
              <a:t>，</a:t>
            </a:r>
            <a:r>
              <a:rPr lang="en-US" altLang="zh-CN" sz="2000" b="1" dirty="0">
                <a:solidFill>
                  <a:schemeClr val="accent2"/>
                </a:solidFill>
              </a:rPr>
              <a:t>9</a:t>
            </a:r>
            <a:r>
              <a:rPr lang="zh-CN" altLang="zh-CN" sz="2000" b="1" dirty="0">
                <a:solidFill>
                  <a:schemeClr val="accent2"/>
                </a:solidFill>
              </a:rPr>
              <a:t>，</a:t>
            </a:r>
            <a:r>
              <a:rPr lang="en-US" altLang="zh-CN" sz="2000" b="1" dirty="0">
                <a:solidFill>
                  <a:schemeClr val="accent2"/>
                </a:solidFill>
              </a:rPr>
              <a:t>11</a:t>
            </a:r>
            <a:r>
              <a:rPr lang="zh-CN" altLang="zh-CN" sz="2000" b="1" dirty="0">
                <a:solidFill>
                  <a:schemeClr val="accent2"/>
                </a:solidFill>
              </a:rPr>
              <a:t>，</a:t>
            </a:r>
            <a:r>
              <a:rPr lang="en-US" altLang="zh-CN" sz="2000" b="1" dirty="0">
                <a:solidFill>
                  <a:schemeClr val="accent2"/>
                </a:solidFill>
              </a:rPr>
              <a:t>8</a:t>
            </a:r>
            <a:r>
              <a:rPr lang="zh-CN" altLang="zh-CN" sz="2000" b="1" dirty="0">
                <a:solidFill>
                  <a:schemeClr val="accent2"/>
                </a:solidFill>
              </a:rPr>
              <a:t>，</a:t>
            </a:r>
            <a:r>
              <a:rPr lang="en-US" altLang="zh-CN" sz="2000" b="1" dirty="0">
                <a:solidFill>
                  <a:schemeClr val="accent2"/>
                </a:solidFill>
              </a:rPr>
              <a:t>3</a:t>
            </a:r>
            <a:r>
              <a:rPr lang="zh-CN" altLang="zh-CN" sz="2000" b="1" dirty="0">
                <a:solidFill>
                  <a:schemeClr val="accent2"/>
                </a:solidFill>
              </a:rPr>
              <a:t>，</a:t>
            </a:r>
            <a:r>
              <a:rPr lang="en-US" altLang="zh-CN" sz="2000" b="1" dirty="0">
                <a:solidFill>
                  <a:schemeClr val="accent2"/>
                </a:solidFill>
              </a:rPr>
              <a:t>7)</a:t>
            </a:r>
            <a:r>
              <a:rPr lang="zh-CN" altLang="zh-CN" sz="2000" b="1" dirty="0">
                <a:solidFill>
                  <a:schemeClr val="accent2"/>
                </a:solidFill>
              </a:rPr>
              <a:t>，试构造相应的哈夫曼树，并计算它的带权路径长度。</a:t>
            </a:r>
            <a:endParaRPr lang="zh-CN" altLang="zh-CN" sz="2000" b="1"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6365905" cy="717596"/>
          </a:xfrm>
        </p:spPr>
        <p:txBody>
          <a:bodyPr>
            <a:normAutofit/>
          </a:bodyPr>
          <a:lstStyle/>
          <a:p>
            <a:r>
              <a:rPr lang="en-US" altLang="zh-CN" b="1" dirty="0"/>
              <a:t>3.3 </a:t>
            </a:r>
            <a:r>
              <a:rPr lang="zh-CN" altLang="en-US" b="1" dirty="0"/>
              <a:t>哈夫曼编码</a:t>
            </a:r>
            <a:endParaRPr lang="en-US" altLang="zh-CN" b="1" dirty="0"/>
          </a:p>
        </p:txBody>
      </p:sp>
      <p:sp>
        <p:nvSpPr>
          <p:cNvPr id="3" name="内容占位符 2"/>
          <p:cNvSpPr>
            <a:spLocks noGrp="1"/>
          </p:cNvSpPr>
          <p:nvPr>
            <p:ph idx="1"/>
          </p:nvPr>
        </p:nvSpPr>
        <p:spPr>
          <a:xfrm>
            <a:off x="89518" y="1221651"/>
            <a:ext cx="5854082" cy="5242533"/>
          </a:xfrm>
        </p:spPr>
        <p:txBody>
          <a:bodyPr>
            <a:normAutofit/>
          </a:bodyPr>
          <a:lstStyle/>
          <a:p>
            <a:pPr marL="514350" indent="-285750" algn="just">
              <a:buClr>
                <a:schemeClr val="accent2">
                  <a:lumMod val="40000"/>
                  <a:lumOff val="60000"/>
                </a:schemeClr>
              </a:buClr>
              <a:buFont typeface="Wingdings" panose="05000000000000000000" pitchFamily="2" charset="2"/>
              <a:buChar char="Ø"/>
            </a:pPr>
            <a:r>
              <a:rPr lang="zh-CN" altLang="zh-CN" sz="1800" kern="100" dirty="0">
                <a:solidFill>
                  <a:srgbClr val="656565"/>
                </a:solidFill>
                <a:effectLst/>
                <a:ea typeface="等线" panose="02010600030101010101" charset="-122"/>
                <a:cs typeface="Times New Roman" panose="02020603050405020304" pitchFamily="18" charset="0"/>
              </a:rPr>
              <a:t>在传送信息时需要将信息符号转化成二进制组成的符号串，一般每个字符由一个字节或两个字节表示，即</a:t>
            </a:r>
            <a:r>
              <a:rPr lang="en-US" altLang="zh-CN" sz="1800" kern="100" dirty="0">
                <a:solidFill>
                  <a:srgbClr val="656565"/>
                </a:solidFill>
                <a:effectLst/>
                <a:ea typeface="等线" panose="02010600030101010101" charset="-122"/>
                <a:cs typeface="Times New Roman" panose="02020603050405020304" pitchFamily="18" charset="0"/>
              </a:rPr>
              <a:t>8</a:t>
            </a:r>
            <a:r>
              <a:rPr lang="zh-CN" altLang="zh-CN" sz="1800" kern="100" dirty="0">
                <a:solidFill>
                  <a:srgbClr val="656565"/>
                </a:solidFill>
                <a:effectLst/>
                <a:ea typeface="等线" panose="02010600030101010101" charset="-122"/>
                <a:cs typeface="Times New Roman" panose="02020603050405020304" pitchFamily="18" charset="0"/>
              </a:rPr>
              <a:t>或</a:t>
            </a:r>
            <a:r>
              <a:rPr lang="en-US" altLang="zh-CN" sz="1800" kern="100" dirty="0">
                <a:solidFill>
                  <a:srgbClr val="656565"/>
                </a:solidFill>
                <a:effectLst/>
                <a:ea typeface="等线" panose="02010600030101010101" charset="-122"/>
                <a:cs typeface="Times New Roman" panose="02020603050405020304" pitchFamily="18" charset="0"/>
              </a:rPr>
              <a:t>16</a:t>
            </a:r>
            <a:r>
              <a:rPr lang="zh-CN" altLang="zh-CN" sz="1800" kern="100" dirty="0">
                <a:solidFill>
                  <a:srgbClr val="656565"/>
                </a:solidFill>
                <a:effectLst/>
                <a:ea typeface="等线" panose="02010600030101010101" charset="-122"/>
                <a:cs typeface="Times New Roman" panose="02020603050405020304" pitchFamily="18" charset="0"/>
              </a:rPr>
              <a:t>个位数。为了提高存储和传输效率，需要设计对字符集进行二进制编码的规则，使得利用这种规则对信息进行编码时编码位数最小，即需要传输的信息量最小。</a:t>
            </a:r>
            <a:endParaRPr lang="en-US" altLang="zh-CN" sz="1800" kern="100" dirty="0">
              <a:solidFill>
                <a:srgbClr val="656565"/>
              </a:solidFill>
              <a:effectLst/>
              <a:ea typeface="等线" panose="02010600030101010101" charset="-122"/>
              <a:cs typeface="Times New Roman" panose="02020603050405020304" pitchFamily="18" charset="0"/>
            </a:endParaRPr>
          </a:p>
          <a:p>
            <a:pPr indent="0" algn="just">
              <a:buClr>
                <a:schemeClr val="accent2">
                  <a:lumMod val="40000"/>
                  <a:lumOff val="60000"/>
                </a:schemeClr>
              </a:buClr>
              <a:buNone/>
            </a:pPr>
            <a:endParaRPr lang="zh-CN" altLang="zh-CN" sz="1800" dirty="0">
              <a:solidFill>
                <a:srgbClr val="656565"/>
              </a:solidFill>
              <a:effectLst/>
              <a:ea typeface="宋体" panose="02010600030101010101" pitchFamily="2" charset="-122"/>
              <a:cs typeface="宋体" panose="02010600030101010101" pitchFamily="2" charset="-122"/>
            </a:endParaRPr>
          </a:p>
          <a:p>
            <a:pPr marL="514350" indent="-285750" algn="just">
              <a:buClr>
                <a:schemeClr val="accent2">
                  <a:lumMod val="40000"/>
                  <a:lumOff val="60000"/>
                </a:schemeClr>
              </a:buClr>
              <a:buFont typeface="Wingdings" panose="05000000000000000000" pitchFamily="2" charset="2"/>
              <a:buChar char="Ø"/>
            </a:pPr>
            <a:r>
              <a:rPr lang="zh-CN" altLang="zh-CN" sz="1800" kern="100" dirty="0">
                <a:solidFill>
                  <a:srgbClr val="656565"/>
                </a:solidFill>
                <a:effectLst/>
                <a:ea typeface="等线" panose="02010600030101010101" charset="-122"/>
                <a:cs typeface="Times New Roman" panose="02020603050405020304" pitchFamily="18" charset="0"/>
              </a:rPr>
              <a:t>哈夫曼编码是一种变长的编码方案，数据的编码因其使用频率的不同而长短不一，使用频率高的数据其编码较短，使用频率低的数据其编码较长，从而使所有数据的编码总长度最短。各数据的使用频率通过在全部数据中统计重复数据的出现次数获得。</a:t>
            </a:r>
            <a:endParaRPr lang="en-US" altLang="zh-CN" sz="1800" kern="100" dirty="0">
              <a:solidFill>
                <a:srgbClr val="656565"/>
              </a:solidFill>
              <a:effectLst/>
              <a:ea typeface="等线" panose="02010600030101010101" charset="-122"/>
              <a:cs typeface="Times New Roman" panose="02020603050405020304" pitchFamily="18" charset="0"/>
            </a:endParaRPr>
          </a:p>
          <a:p>
            <a:pPr indent="0" algn="just">
              <a:buClr>
                <a:schemeClr val="accent2">
                  <a:lumMod val="40000"/>
                  <a:lumOff val="60000"/>
                </a:schemeClr>
              </a:buClr>
              <a:buNone/>
            </a:pPr>
            <a:endParaRPr lang="en-US" altLang="zh-CN" sz="1800" kern="100" dirty="0">
              <a:solidFill>
                <a:srgbClr val="656565"/>
              </a:solidFill>
              <a:effectLst/>
              <a:ea typeface="等线" panose="02010600030101010101" charset="-122"/>
              <a:cs typeface="Times New Roman" panose="02020603050405020304" pitchFamily="18" charset="0"/>
            </a:endParaRPr>
          </a:p>
          <a:p>
            <a:pPr marL="514350" indent="-285750" algn="just">
              <a:buClr>
                <a:schemeClr val="accent2">
                  <a:lumMod val="40000"/>
                  <a:lumOff val="60000"/>
                </a:schemeClr>
              </a:buClr>
              <a:buFont typeface="Wingdings" panose="05000000000000000000" pitchFamily="2" charset="2"/>
              <a:buChar char="Ø"/>
            </a:pPr>
            <a:r>
              <a:rPr lang="zh-CN" altLang="en-US" sz="1800" kern="100" dirty="0">
                <a:solidFill>
                  <a:srgbClr val="656565"/>
                </a:solidFill>
                <a:effectLst/>
                <a:ea typeface="等线" panose="02010600030101010101" charset="-122"/>
                <a:cs typeface="Times New Roman" panose="02020603050405020304" pitchFamily="18" charset="0"/>
              </a:rPr>
              <a:t>又因为在编码序列中若使用前缀相同的编码来表示不同的字符会造成二义性，额外的分隔符号会造成传输信息量的增加，为了省去不必要的分隔符号，要求每一个字符的编码都不是另一个字符的前缀，即每个字符的编码都是前缀编码。</a:t>
            </a:r>
            <a:endParaRPr lang="zh-CN" altLang="en-US" sz="1800" kern="100" dirty="0">
              <a:solidFill>
                <a:srgbClr val="656565"/>
              </a:solidFill>
              <a:effectLst/>
              <a:ea typeface="等线" panose="02010600030101010101" charset="-122"/>
              <a:cs typeface="Times New Roman" panose="02020603050405020304" pitchFamily="18" charset="0"/>
            </a:endParaRPr>
          </a:p>
          <a:p>
            <a:pPr indent="266700" algn="just"/>
            <a:endParaRPr lang="en-US" altLang="zh-CN" sz="1800" b="1" kern="100" dirty="0">
              <a:solidFill>
                <a:srgbClr val="656565"/>
              </a:solidFill>
              <a:effectLst/>
              <a:ea typeface="等线" panose="02010600030101010101" charset="-122"/>
              <a:cs typeface="Times New Roman" panose="02020603050405020304" pitchFamily="18" charset="0"/>
            </a:endParaRPr>
          </a:p>
        </p:txBody>
      </p:sp>
      <p:sp>
        <p:nvSpPr>
          <p:cNvPr id="5" name="Isosceles Triangle 31"/>
          <p:cNvSpPr/>
          <p:nvPr/>
        </p:nvSpPr>
        <p:spPr>
          <a:xfrm rot="16200000">
            <a:off x="7225183" y="-1141914"/>
            <a:ext cx="3835430" cy="6093797"/>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4" name="图片 3"/>
          <p:cNvPicPr>
            <a:picLocks noChangeAspect="1"/>
          </p:cNvPicPr>
          <p:nvPr/>
        </p:nvPicPr>
        <p:blipFill>
          <a:blip r:embed="rId1"/>
          <a:stretch>
            <a:fillRect/>
          </a:stretch>
        </p:blipFill>
        <p:spPr>
          <a:xfrm>
            <a:off x="6095999" y="1885575"/>
            <a:ext cx="6006482" cy="33807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6365905" cy="717596"/>
          </a:xfrm>
        </p:spPr>
        <p:txBody>
          <a:bodyPr>
            <a:normAutofit/>
          </a:bodyPr>
          <a:lstStyle/>
          <a:p>
            <a:r>
              <a:rPr lang="en-US" altLang="zh-CN" b="1" dirty="0"/>
              <a:t>3.3 </a:t>
            </a:r>
            <a:r>
              <a:rPr lang="zh-CN" altLang="en-US" b="1" dirty="0"/>
              <a:t>哈夫曼编码</a:t>
            </a:r>
            <a:endParaRPr lang="en-US" altLang="zh-CN" b="1" dirty="0"/>
          </a:p>
        </p:txBody>
      </p:sp>
      <p:sp>
        <p:nvSpPr>
          <p:cNvPr id="3" name="内容占位符 2"/>
          <p:cNvSpPr>
            <a:spLocks noGrp="1"/>
          </p:cNvSpPr>
          <p:nvPr>
            <p:ph idx="1"/>
          </p:nvPr>
        </p:nvSpPr>
        <p:spPr>
          <a:xfrm>
            <a:off x="599634" y="1514835"/>
            <a:ext cx="10992731" cy="4761275"/>
          </a:xfrm>
        </p:spPr>
        <p:txBody>
          <a:bodyPr>
            <a:normAutofit/>
          </a:bodyPr>
          <a:lstStyle/>
          <a:p>
            <a:pPr indent="0" algn="just">
              <a:buNone/>
            </a:pPr>
            <a:r>
              <a:rPr lang="zh-CN" altLang="zh-CN"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rPr>
              <a:t>利用哈夫曼树构造出的哈夫曼编码是一种最优前缀编码</a:t>
            </a:r>
            <a:endParaRPr lang="en-US" altLang="zh-CN"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zh-CN" altLang="zh-CN"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rPr>
              <a:t>构造的主要步骤如下</a:t>
            </a:r>
            <a:r>
              <a:rPr lang="zh-CN" altLang="en-US"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rPr>
              <a:t>：</a:t>
            </a:r>
            <a:endParaRPr lang="en-US" altLang="zh-CN"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en-US" altLang="zh-CN" b="1" dirty="0">
              <a:solidFill>
                <a:srgbClr val="FFC000"/>
              </a:solidFill>
              <a:latin typeface="Times New Roman" panose="02020603050405020304" pitchFamily="18" charset="0"/>
              <a:ea typeface="宋体" panose="02010600030101010101" pitchFamily="2" charset="-122"/>
              <a:cs typeface="Times New Roman" panose="02020603050405020304" pitchFamily="18" charset="0"/>
            </a:endParaRPr>
          </a:p>
          <a:p>
            <a:pPr marL="1143000" lvl="1" indent="-457200" algn="just">
              <a:buAutoNum type="arabicParenBoth"/>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对于具有</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n</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个字符的字符集，将字符的频度作为叶结点的权值，产生</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n</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个带权叶结点</a:t>
            </a:r>
            <a:r>
              <a:rPr lang="zh-CN" altLang="en-US"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endPar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marL="1143000" lvl="1" indent="-457200" algn="just">
              <a:buAutoNum type="arabicParenBoth"/>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根据上面章节中介绍的构造哈夫曼树的方法利用</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n</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个叶结点构造哈夫曼树。</a:t>
            </a:r>
            <a:endParaRPr lang="en-US" altLang="zh-CN" sz="2000" dirty="0">
              <a:solidFill>
                <a:srgbClr val="656565"/>
              </a:solidFill>
              <a:latin typeface="Times New Roman" panose="02020603050405020304" pitchFamily="18" charset="0"/>
              <a:ea typeface="宋体" panose="02010600030101010101" pitchFamily="2" charset="-122"/>
              <a:cs typeface="Times New Roman" panose="02020603050405020304" pitchFamily="18" charset="0"/>
            </a:endParaRPr>
          </a:p>
          <a:p>
            <a:pPr marL="1143000" lvl="1" indent="-457200" algn="just">
              <a:buAutoNum type="arabicParenBoth"/>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根据哈夫曼编码规则将哈夫曼树中的每一条左分支标记为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0</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、每一条右分支标记为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，则可得到每个叶结点的哈夫曼编码。</a:t>
            </a:r>
            <a:endParaRPr lang="en-US" altLang="zh-CN" sz="2000" kern="100" dirty="0">
              <a:solidFill>
                <a:srgbClr val="656565"/>
              </a:solidFill>
              <a:latin typeface="Times New Roman" panose="02020603050405020304" pitchFamily="18" charset="0"/>
              <a:ea typeface="等线" panose="02010600030101010101" charset="-122"/>
              <a:cs typeface="Times New Roman" panose="02020603050405020304" pitchFamily="18" charset="0"/>
            </a:endParaRPr>
          </a:p>
          <a:p>
            <a:pPr lvl="1" indent="0" algn="just">
              <a:buNone/>
            </a:pPr>
            <a:endPar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lvl="1" indent="0" algn="just">
              <a:buNone/>
            </a:pP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哈夫曼编码的译码过程是构造过程的逆过程，从哈夫曼树的根结点开始对编码的每一位进行判别，如果为</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0</a:t>
            </a: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进入左子树，如果为</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1</a:t>
            </a: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进入右子树，直到到达叶结点，即译出了一个字符。</a:t>
            </a:r>
            <a:endParaRPr lang="zh-CN" altLang="zh-CN" sz="24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endParaRPr lang="en-US" altLang="zh-CN" sz="1800" b="1" kern="100" dirty="0">
              <a:solidFill>
                <a:srgbClr val="656565"/>
              </a:solidFill>
              <a:effectLst/>
              <a:ea typeface="等线" panose="02010600030101010101"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10007991" cy="717596"/>
          </a:xfrm>
        </p:spPr>
        <p:txBody>
          <a:bodyPr>
            <a:normAutofit fontScale="90000"/>
          </a:bodyPr>
          <a:lstStyle/>
          <a:p>
            <a:r>
              <a:rPr lang="en-US" altLang="zh-CN" b="1" dirty="0"/>
              <a:t>3.4 </a:t>
            </a:r>
            <a:r>
              <a:rPr lang="zh-CN" altLang="en-US" b="1" dirty="0"/>
              <a:t>构造哈夫曼树和哈夫曼编码的类的描述</a:t>
            </a:r>
            <a:endParaRPr lang="en-US" altLang="zh-CN" b="1" dirty="0"/>
          </a:p>
        </p:txBody>
      </p:sp>
      <p:sp>
        <p:nvSpPr>
          <p:cNvPr id="3" name="内容占位符 2"/>
          <p:cNvSpPr>
            <a:spLocks noGrp="1"/>
          </p:cNvSpPr>
          <p:nvPr>
            <p:ph idx="1"/>
          </p:nvPr>
        </p:nvSpPr>
        <p:spPr>
          <a:xfrm>
            <a:off x="491836" y="1223889"/>
            <a:ext cx="11575473" cy="5242533"/>
          </a:xfrm>
        </p:spPr>
        <p:txBody>
          <a:bodyPr>
            <a:normAutofit/>
          </a:bodyPr>
          <a:lstStyle/>
          <a:p>
            <a:pPr indent="0" algn="just">
              <a:buNone/>
            </a:pPr>
            <a:r>
              <a:rPr lang="zh-CN" altLang="en-US"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构造哈夫曼树需要从子结点到父结点的操作，译码时需要从父结点到子结点的操作，所以为了提高算法的效率将哈夫曼树的结点设计为</a:t>
            </a:r>
            <a:r>
              <a:rPr lang="zh-CN" altLang="en-US" sz="24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三叉链式存储结构</a:t>
            </a:r>
            <a:r>
              <a:rPr lang="zh-CN" altLang="en-US"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。一个数据域存储结点的权值，一个标记域</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flag</a:t>
            </a:r>
            <a:r>
              <a:rPr lang="zh-CN" altLang="en-US"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标记结点是否已经加入到哈夫曼树中，</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3</a:t>
            </a:r>
            <a:r>
              <a:rPr lang="zh-CN" altLang="en-US"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个指针域分别存储着指向父结点、孩子结点的地址。</a:t>
            </a:r>
            <a:endPar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zh-CN" altLang="en-US" sz="24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结点类的描述如下：</a:t>
            </a:r>
            <a:endParaRPr lang="en-US" altLang="zh-CN" sz="24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en-US" altLang="zh-CN" sz="1400" b="1" kern="100" dirty="0">
              <a:solidFill>
                <a:srgbClr val="656565"/>
              </a:solidFill>
              <a:effectLst/>
              <a:ea typeface="等线" panose="02010600030101010101" charset="-122"/>
              <a:cs typeface="Times New Roman" panose="02020603050405020304" pitchFamily="18" charset="0"/>
            </a:endParaRPr>
          </a:p>
        </p:txBody>
      </p:sp>
      <p:pic>
        <p:nvPicPr>
          <p:cNvPr id="4" name="图片 3"/>
          <p:cNvPicPr>
            <a:picLocks noChangeAspect="1"/>
          </p:cNvPicPr>
          <p:nvPr/>
        </p:nvPicPr>
        <p:blipFill rotWithShape="1">
          <a:blip r:embed="rId1"/>
          <a:srcRect l="3518" r="43319"/>
          <a:stretch>
            <a:fillRect/>
          </a:stretch>
        </p:blipFill>
        <p:spPr>
          <a:xfrm>
            <a:off x="1738319" y="3130259"/>
            <a:ext cx="6345808" cy="35891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10007991" cy="717596"/>
          </a:xfrm>
        </p:spPr>
        <p:txBody>
          <a:bodyPr>
            <a:normAutofit fontScale="90000"/>
          </a:bodyPr>
          <a:lstStyle/>
          <a:p>
            <a:r>
              <a:rPr lang="en-US" altLang="zh-CN" b="1" dirty="0"/>
              <a:t>3.4 </a:t>
            </a:r>
            <a:r>
              <a:rPr lang="zh-CN" altLang="en-US" b="1" dirty="0"/>
              <a:t>构造哈夫曼树和哈夫曼编码的类的描述</a:t>
            </a:r>
            <a:endParaRPr lang="en-US" altLang="zh-CN" b="1" dirty="0"/>
          </a:p>
        </p:txBody>
      </p:sp>
      <p:sp>
        <p:nvSpPr>
          <p:cNvPr id="3" name="内容占位符 2"/>
          <p:cNvSpPr>
            <a:spLocks noGrp="1"/>
          </p:cNvSpPr>
          <p:nvPr>
            <p:ph idx="1"/>
          </p:nvPr>
        </p:nvSpPr>
        <p:spPr>
          <a:xfrm>
            <a:off x="838198" y="1223889"/>
            <a:ext cx="10992731" cy="5242533"/>
          </a:xfrm>
        </p:spPr>
        <p:txBody>
          <a:bodyPr>
            <a:normAutofit/>
          </a:bodyPr>
          <a:lstStyle/>
          <a:p>
            <a:pPr indent="0" algn="just">
              <a:buNone/>
            </a:pPr>
            <a:r>
              <a:rPr lang="zh-CN" altLang="en-US" sz="24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构造哈夫曼树算法，如下：</a:t>
            </a:r>
            <a:endParaRPr lang="en-US" altLang="zh-CN" sz="24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en-US" altLang="zh-CN" sz="24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p:txBody>
      </p:sp>
      <p:pic>
        <p:nvPicPr>
          <p:cNvPr id="6" name="图片 5"/>
          <p:cNvPicPr>
            <a:picLocks noChangeAspect="1"/>
          </p:cNvPicPr>
          <p:nvPr/>
        </p:nvPicPr>
        <p:blipFill rotWithShape="1">
          <a:blip r:embed="rId1"/>
          <a:srcRect t="55122" r="36124"/>
          <a:stretch>
            <a:fillRect/>
          </a:stretch>
        </p:blipFill>
        <p:spPr>
          <a:xfrm>
            <a:off x="6563163" y="2663736"/>
            <a:ext cx="5351746" cy="4095596"/>
          </a:xfrm>
          <a:prstGeom prst="rect">
            <a:avLst/>
          </a:prstGeom>
        </p:spPr>
      </p:pic>
      <p:pic>
        <p:nvPicPr>
          <p:cNvPr id="7" name="图片 6"/>
          <p:cNvPicPr>
            <a:picLocks noChangeAspect="1"/>
          </p:cNvPicPr>
          <p:nvPr/>
        </p:nvPicPr>
        <p:blipFill rotWithShape="1">
          <a:blip r:embed="rId2"/>
          <a:srcRect r="20708" b="44097"/>
          <a:stretch>
            <a:fillRect/>
          </a:stretch>
        </p:blipFill>
        <p:spPr>
          <a:xfrm>
            <a:off x="-12942" y="1872342"/>
            <a:ext cx="6492125" cy="49856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10007991" cy="717596"/>
          </a:xfrm>
        </p:spPr>
        <p:txBody>
          <a:bodyPr>
            <a:normAutofit fontScale="90000"/>
          </a:bodyPr>
          <a:lstStyle/>
          <a:p>
            <a:r>
              <a:rPr lang="en-US" altLang="zh-CN" b="1" dirty="0"/>
              <a:t>3.4 </a:t>
            </a:r>
            <a:r>
              <a:rPr lang="zh-CN" altLang="en-US" b="1" dirty="0"/>
              <a:t>构造哈夫曼树和哈夫曼编码的类的描述</a:t>
            </a:r>
            <a:endParaRPr lang="en-US" altLang="zh-CN" b="1" dirty="0"/>
          </a:p>
        </p:txBody>
      </p:sp>
      <p:pic>
        <p:nvPicPr>
          <p:cNvPr id="4" name="图片 3"/>
          <p:cNvPicPr>
            <a:picLocks noChangeAspect="1"/>
          </p:cNvPicPr>
          <p:nvPr/>
        </p:nvPicPr>
        <p:blipFill rotWithShape="1">
          <a:blip r:embed="rId1"/>
          <a:srcRect l="3749" r="32510"/>
          <a:stretch>
            <a:fillRect/>
          </a:stretch>
        </p:blipFill>
        <p:spPr>
          <a:xfrm>
            <a:off x="609929" y="2764177"/>
            <a:ext cx="9316853" cy="3846319"/>
          </a:xfrm>
          <a:prstGeom prst="rect">
            <a:avLst/>
          </a:prstGeom>
        </p:spPr>
      </p:pic>
      <p:sp>
        <p:nvSpPr>
          <p:cNvPr id="10" name="文本框 9"/>
          <p:cNvSpPr txBox="1"/>
          <p:nvPr/>
        </p:nvSpPr>
        <p:spPr>
          <a:xfrm>
            <a:off x="437190" y="1109174"/>
            <a:ext cx="10810009" cy="1255728"/>
          </a:xfrm>
          <a:prstGeom prst="rect">
            <a:avLst/>
          </a:prstGeom>
          <a:noFill/>
        </p:spPr>
        <p:txBody>
          <a:bodyPr wrap="square">
            <a:spAutoFit/>
          </a:bodyPr>
          <a:lstStyle/>
          <a:p>
            <a:pPr marL="228600" marR="0" lvl="0" indent="0"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算法</a:t>
            </a: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若字符与出现频率对应关系如</a:t>
            </a:r>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下</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[('a',5),('b',2),('c',9),('d',11),('e',8),('f',3),('g',7)]</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求哈夫曼编码。</a:t>
            </a:r>
            <a:endPar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10007991" cy="717596"/>
          </a:xfrm>
        </p:spPr>
        <p:txBody>
          <a:bodyPr>
            <a:normAutofit fontScale="90000"/>
          </a:bodyPr>
          <a:lstStyle/>
          <a:p>
            <a:r>
              <a:rPr lang="en-US" altLang="zh-CN" b="1" dirty="0"/>
              <a:t>3.4 </a:t>
            </a:r>
            <a:r>
              <a:rPr lang="zh-CN" altLang="en-US" b="1" dirty="0"/>
              <a:t>构造哈夫曼树和哈夫曼编码的类的描述</a:t>
            </a:r>
            <a:endParaRPr lang="en-US" altLang="zh-CN" b="1" dirty="0"/>
          </a:p>
        </p:txBody>
      </p:sp>
      <p:pic>
        <p:nvPicPr>
          <p:cNvPr id="5" name="图片 4"/>
          <p:cNvPicPr>
            <a:picLocks noChangeAspect="1"/>
          </p:cNvPicPr>
          <p:nvPr/>
        </p:nvPicPr>
        <p:blipFill>
          <a:blip r:embed="rId1"/>
          <a:stretch>
            <a:fillRect/>
          </a:stretch>
        </p:blipFill>
        <p:spPr>
          <a:xfrm>
            <a:off x="623953" y="2814347"/>
            <a:ext cx="11080720" cy="3357503"/>
          </a:xfrm>
          <a:prstGeom prst="rect">
            <a:avLst/>
          </a:prstGeom>
        </p:spPr>
      </p:pic>
      <p:sp>
        <p:nvSpPr>
          <p:cNvPr id="6" name="文本框 5"/>
          <p:cNvSpPr txBox="1"/>
          <p:nvPr/>
        </p:nvSpPr>
        <p:spPr>
          <a:xfrm>
            <a:off x="437190" y="1109174"/>
            <a:ext cx="10810009" cy="1255728"/>
          </a:xfrm>
          <a:prstGeom prst="rect">
            <a:avLst/>
          </a:prstGeom>
          <a:noFill/>
        </p:spPr>
        <p:txBody>
          <a:bodyPr wrap="square">
            <a:spAutoFit/>
          </a:bodyPr>
          <a:lstStyle/>
          <a:p>
            <a:pPr marL="228600" marR="0" lvl="0" indent="0"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算法</a:t>
            </a: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若字符与出现频率对应关系如</a:t>
            </a:r>
            <a:r>
              <a:rPr lang="zh-CN" altLang="en-US" sz="2800" b="1" kern="100" dirty="0">
                <a:solidFill>
                  <a:srgbClr val="FFC000"/>
                </a:solidFill>
                <a:latin typeface="仿宋" panose="02010609060101010101" pitchFamily="49" charset="-122"/>
                <a:ea typeface="仿宋" panose="02010609060101010101" pitchFamily="49" charset="-122"/>
                <a:cs typeface="Times New Roman" panose="02020603050405020304" pitchFamily="18" charset="0"/>
              </a:rPr>
              <a:t>下</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[('a',5),('b',2),('c',9),('d',11),('e',8),('f',3),('g',7)]</a:t>
            </a:r>
            <a:r>
              <a:rPr kumimoji="0" lang="zh-CN" altLang="en-US"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rPr>
              <a:t>求哈夫曼编码。</a:t>
            </a:r>
            <a:endParaRPr kumimoji="0" lang="en-US" altLang="zh-CN" sz="2800" b="1" i="0" u="none" strike="noStrike" kern="100" cap="none" spc="0" normalizeH="0" baseline="0" noProof="0" dirty="0">
              <a:ln>
                <a:noFill/>
              </a:ln>
              <a:solidFill>
                <a:srgbClr val="FFC000"/>
              </a:solidFill>
              <a:effectLst/>
              <a:uLnTx/>
              <a:uFillTx/>
              <a:latin typeface="仿宋" panose="02010609060101010101" pitchFamily="49" charset="-122"/>
              <a:ea typeface="仿宋"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第四节</a:t>
            </a:r>
            <a:endParaRPr lang="zh-CN" altLang="en-US" dirty="0"/>
          </a:p>
        </p:txBody>
      </p:sp>
      <p:sp>
        <p:nvSpPr>
          <p:cNvPr id="3" name="文本占位符 2"/>
          <p:cNvSpPr>
            <a:spLocks noGrp="1"/>
          </p:cNvSpPr>
          <p:nvPr>
            <p:ph type="body" sz="quarter" idx="11"/>
          </p:nvPr>
        </p:nvSpPr>
        <p:spPr/>
        <p:txBody>
          <a:bodyPr/>
          <a:lstStyle/>
          <a:p>
            <a:r>
              <a:rPr lang="zh-CN" altLang="en-US" dirty="0"/>
              <a:t>树和森林</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1"/>
          <p:cNvSpPr/>
          <p:nvPr/>
        </p:nvSpPr>
        <p:spPr>
          <a:xfrm rot="16200000">
            <a:off x="7225183" y="-1141914"/>
            <a:ext cx="3835430" cy="6093797"/>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标题 1"/>
          <p:cNvSpPr>
            <a:spLocks noGrp="1"/>
          </p:cNvSpPr>
          <p:nvPr>
            <p:ph type="title"/>
          </p:nvPr>
        </p:nvSpPr>
        <p:spPr>
          <a:xfrm>
            <a:off x="838200" y="391578"/>
            <a:ext cx="10007991" cy="717596"/>
          </a:xfrm>
        </p:spPr>
        <p:txBody>
          <a:bodyPr>
            <a:normAutofit/>
          </a:bodyPr>
          <a:lstStyle/>
          <a:p>
            <a:r>
              <a:rPr lang="en-US" altLang="zh-CN" b="1" dirty="0"/>
              <a:t>4.1 </a:t>
            </a:r>
            <a:r>
              <a:rPr lang="zh-CN" altLang="en-US" b="1" dirty="0"/>
              <a:t>树的存储结构</a:t>
            </a:r>
            <a:endParaRPr lang="en-US" altLang="zh-CN" b="1" dirty="0"/>
          </a:p>
        </p:txBody>
      </p:sp>
      <p:sp>
        <p:nvSpPr>
          <p:cNvPr id="3" name="内容占位符 2"/>
          <p:cNvSpPr>
            <a:spLocks noGrp="1"/>
          </p:cNvSpPr>
          <p:nvPr>
            <p:ph idx="1"/>
          </p:nvPr>
        </p:nvSpPr>
        <p:spPr>
          <a:xfrm>
            <a:off x="345830" y="1513484"/>
            <a:ext cx="7357298" cy="4894244"/>
          </a:xfrm>
        </p:spPr>
        <p:txBody>
          <a:bodyPr>
            <a:normAutofit/>
          </a:bodyPr>
          <a:lstStyle/>
          <a:p>
            <a:pPr indent="0" algn="just">
              <a:buNone/>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一棵树包含各结点间的</a:t>
            </a: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层次关系</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和</a:t>
            </a: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兄弟关系</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，两种关系的存储结构不同</a:t>
            </a:r>
            <a:r>
              <a:rPr lang="zh-CN" altLang="en-US"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endPar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树的层次关系必须采用</a:t>
            </a: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链式存储结构存储</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，通过链连接父结点和孩子结点。</a:t>
            </a:r>
            <a:endParaRPr lang="en-US" altLang="zh-CN" sz="2000" dirty="0">
              <a:solidFill>
                <a:srgbClr val="656565"/>
              </a:solidFill>
              <a:latin typeface="Times New Roman" panose="02020603050405020304" pitchFamily="18" charset="0"/>
              <a:ea typeface="宋体" panose="02010600030101010101" pitchFamily="2" charset="-122"/>
              <a:cs typeface="Times New Roman" panose="02020603050405020304" pitchFamily="18" charset="0"/>
            </a:endParaRPr>
          </a:p>
          <a:p>
            <a:pPr indent="0" algn="just">
              <a:buNone/>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一个结点的多个孩子结点</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互称兄弟结点</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之间是线性关系，可以采用</a:t>
            </a:r>
            <a:r>
              <a:rPr lang="zh-CN" altLang="zh-CN" sz="2000" b="1"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顺序存储结构或者链式存储结构</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endPar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en-US" altLang="zh-CN" sz="1600" kern="100" dirty="0">
                <a:solidFill>
                  <a:schemeClr val="accent2"/>
                </a:solidFill>
                <a:ea typeface="汉仪颜楷简" panose="00020600040101010101" charset="-122"/>
                <a:cs typeface="Times New Roman" panose="02020603050405020304" pitchFamily="18" charset="0"/>
              </a:rPr>
              <a:t>a. </a:t>
            </a:r>
            <a:r>
              <a:rPr lang="zh-CN" altLang="zh-CN" sz="1600" kern="100" dirty="0">
                <a:solidFill>
                  <a:schemeClr val="accent2"/>
                </a:solidFill>
                <a:ea typeface="汉仪颜楷简" panose="00020600040101010101" charset="-122"/>
                <a:cs typeface="Times New Roman" panose="02020603050405020304" pitchFamily="18" charset="0"/>
              </a:rPr>
              <a:t>树的父母孩子链表</a:t>
            </a:r>
            <a:endParaRPr lang="zh-CN" altLang="zh-CN" sz="1600" kern="100" dirty="0">
              <a:solidFill>
                <a:schemeClr val="accent2"/>
              </a:solidFill>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树的父母孩子链表采用顺序存储结构存储多个孩子结点，其中</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children</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数组</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存储多个孩子结点，各结点的</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children</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数组元素长度不同，为孩子个数。</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en-US" altLang="zh-CN" sz="1600" kern="100" dirty="0">
                <a:solidFill>
                  <a:schemeClr val="accent2"/>
                </a:solidFill>
                <a:ea typeface="汉仪颜楷简" panose="00020600040101010101" charset="-122"/>
                <a:cs typeface="Times New Roman" panose="02020603050405020304" pitchFamily="18" charset="0"/>
              </a:rPr>
              <a:t>b. </a:t>
            </a:r>
            <a:r>
              <a:rPr lang="zh-CN" altLang="zh-CN" sz="1600" kern="100" dirty="0">
                <a:solidFill>
                  <a:schemeClr val="accent2"/>
                </a:solidFill>
                <a:ea typeface="汉仪颜楷简" panose="00020600040101010101" charset="-122"/>
                <a:cs typeface="Times New Roman" panose="02020603050405020304" pitchFamily="18" charset="0"/>
              </a:rPr>
              <a:t>树的父母孩子兄弟链表</a:t>
            </a:r>
            <a:endParaRPr lang="zh-CN" altLang="zh-CN" sz="1600" kern="100" dirty="0">
              <a:solidFill>
                <a:schemeClr val="accent2"/>
              </a:solidFill>
              <a:ea typeface="汉仪颜楷简" panose="00020600040101010101" charset="-122"/>
              <a:cs typeface="Times New Roman" panose="02020603050405020304" pitchFamily="18" charset="0"/>
            </a:endParaRPr>
          </a:p>
          <a:p>
            <a:pPr indent="0" algn="just">
              <a:buNone/>
            </a:pPr>
            <a:r>
              <a:rPr lang="en-US" altLang="zh-CN" sz="2400"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树的父母孩子兄弟链表采用链式存储结构存储多个孩子结点，结点中</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child</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链指向一个孩子结点，</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sibling</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链指向下一个兄弟结点。</a:t>
            </a:r>
            <a:endParaRPr lang="zh-CN" altLang="zh-CN" sz="24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10007991" cy="717596"/>
          </a:xfrm>
        </p:spPr>
        <p:txBody>
          <a:bodyPr>
            <a:normAutofit/>
          </a:bodyPr>
          <a:lstStyle/>
          <a:p>
            <a:r>
              <a:rPr lang="en-US" altLang="zh-CN" b="1" dirty="0"/>
              <a:t>4.1 </a:t>
            </a:r>
            <a:r>
              <a:rPr lang="zh-CN" altLang="en-US" b="1" dirty="0"/>
              <a:t>树的存储结构</a:t>
            </a:r>
            <a:endParaRPr lang="en-US" altLang="zh-CN" b="1" dirty="0"/>
          </a:p>
        </p:txBody>
      </p:sp>
      <p:sp>
        <p:nvSpPr>
          <p:cNvPr id="3" name="内容占位符 2"/>
          <p:cNvSpPr>
            <a:spLocks noGrp="1"/>
          </p:cNvSpPr>
          <p:nvPr>
            <p:ph idx="1"/>
          </p:nvPr>
        </p:nvSpPr>
        <p:spPr>
          <a:xfrm>
            <a:off x="464126" y="1223889"/>
            <a:ext cx="10992731" cy="2378293"/>
          </a:xfrm>
        </p:spPr>
        <p:txBody>
          <a:bodyPr>
            <a:normAutofit/>
          </a:bodyPr>
          <a:lstStyle/>
          <a:p>
            <a:pPr indent="0" algn="just">
              <a:buNone/>
            </a:pPr>
            <a:r>
              <a:rPr lang="zh-CN" altLang="zh-CN" sz="2400"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rPr>
              <a:t>森林也可以使用父母孩子兄弟链表进行存储，这种存储结构实际上是把一棵树转换成一棵二叉树存储。其存储规则如下</a:t>
            </a:r>
            <a:r>
              <a:rPr lang="zh-CN" altLang="en-US" sz="2400"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rPr>
              <a:t>：</a:t>
            </a:r>
            <a:r>
              <a:rPr lang="zh-CN" altLang="zh-CN" sz="2400" b="1" kern="100" dirty="0">
                <a:solidFill>
                  <a:srgbClr val="FFC000"/>
                </a:solidFill>
                <a:effectLst/>
                <a:latin typeface="Times New Roman" panose="02020603050405020304" pitchFamily="18" charset="0"/>
                <a:ea typeface="等线" panose="02010600030101010101" charset="-122"/>
                <a:cs typeface="Times New Roman" panose="02020603050405020304" pitchFamily="18" charset="0"/>
              </a:rPr>
              <a:t> </a:t>
            </a:r>
            <a:endParaRPr lang="zh-CN" altLang="zh-CN" sz="2400" b="1" dirty="0">
              <a:solidFill>
                <a:srgbClr val="FFC000"/>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）每个结点采用</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child</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链指向其中一个孩子结点，多个孩子结点之间由</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sibling</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链连接起来，组成一条具有兄弟结点关系的单链表。</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）将每棵树采用树的父母孩子兄弟链表存储。</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just">
              <a:buNone/>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3</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）森林中的多棵树之间是兄弟关系，将这些树通过根的</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sibling</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链连接起来。</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grpSp>
        <p:nvGrpSpPr>
          <p:cNvPr id="21" name="组合 20"/>
          <p:cNvGrpSpPr/>
          <p:nvPr/>
        </p:nvGrpSpPr>
        <p:grpSpPr>
          <a:xfrm>
            <a:off x="4017817" y="3602182"/>
            <a:ext cx="3731145" cy="3127824"/>
            <a:chOff x="3752389" y="2907665"/>
            <a:chExt cx="4516120" cy="3785870"/>
          </a:xfrm>
        </p:grpSpPr>
        <p:grpSp>
          <p:nvGrpSpPr>
            <p:cNvPr id="12" name="组合 11"/>
            <p:cNvGrpSpPr/>
            <p:nvPr/>
          </p:nvGrpSpPr>
          <p:grpSpPr>
            <a:xfrm>
              <a:off x="3752389" y="2907665"/>
              <a:ext cx="4516120" cy="3785870"/>
              <a:chOff x="3552668" y="726551"/>
              <a:chExt cx="5148000" cy="4487791"/>
            </a:xfrm>
          </p:grpSpPr>
          <p:sp>
            <p:nvSpPr>
              <p:cNvPr id="13" name="FLYING IMPRESSION FID FEIZHAO    qq:1964271550"/>
              <p:cNvSpPr/>
              <p:nvPr/>
            </p:nvSpPr>
            <p:spPr>
              <a:xfrm>
                <a:off x="3726648" y="4871204"/>
                <a:ext cx="4800040" cy="343138"/>
              </a:xfrm>
              <a:prstGeom prst="ellipse">
                <a:avLst/>
              </a:prstGeom>
              <a:gradFill flip="none" rotWithShape="1">
                <a:gsLst>
                  <a:gs pos="0">
                    <a:schemeClr val="tx1">
                      <a:alpha val="60000"/>
                      <a:lumMod val="85000"/>
                      <a:lumOff val="15000"/>
                    </a:schemeClr>
                  </a:gs>
                  <a:gs pos="100000">
                    <a:srgbClr val="0D0D0D">
                      <a:alpha val="0"/>
                      <a:lumMod val="85000"/>
                      <a:lumOff val="15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4" name="FLYING IMPRESSION FID FEIZHAO    qq:1964271550"/>
              <p:cNvSpPr/>
              <p:nvPr/>
            </p:nvSpPr>
            <p:spPr>
              <a:xfrm>
                <a:off x="3552668" y="726551"/>
                <a:ext cx="5148000" cy="3132000"/>
              </a:xfrm>
              <a:custGeom>
                <a:avLst/>
                <a:gdLst>
                  <a:gd name="connsiteX0" fmla="*/ 216000 w 5148000"/>
                  <a:gd name="connsiteY0" fmla="*/ 216000 h 3132000"/>
                  <a:gd name="connsiteX1" fmla="*/ 216000 w 5148000"/>
                  <a:gd name="connsiteY1" fmla="*/ 2916000 h 3132000"/>
                  <a:gd name="connsiteX2" fmla="*/ 4932000 w 5148000"/>
                  <a:gd name="connsiteY2" fmla="*/ 2916000 h 3132000"/>
                  <a:gd name="connsiteX3" fmla="*/ 4932000 w 5148000"/>
                  <a:gd name="connsiteY3" fmla="*/ 216000 h 3132000"/>
                  <a:gd name="connsiteX4" fmla="*/ 181341 w 5148000"/>
                  <a:gd name="connsiteY4" fmla="*/ 0 h 3132000"/>
                  <a:gd name="connsiteX5" fmla="*/ 4966659 w 5148000"/>
                  <a:gd name="connsiteY5" fmla="*/ 0 h 3132000"/>
                  <a:gd name="connsiteX6" fmla="*/ 5148000 w 5148000"/>
                  <a:gd name="connsiteY6" fmla="*/ 181341 h 3132000"/>
                  <a:gd name="connsiteX7" fmla="*/ 5148000 w 5148000"/>
                  <a:gd name="connsiteY7" fmla="*/ 3132000 h 3132000"/>
                  <a:gd name="connsiteX8" fmla="*/ 0 w 5148000"/>
                  <a:gd name="connsiteY8" fmla="*/ 3132000 h 3132000"/>
                  <a:gd name="connsiteX9" fmla="*/ 0 w 5148000"/>
                  <a:gd name="connsiteY9" fmla="*/ 181341 h 3132000"/>
                  <a:gd name="connsiteX10" fmla="*/ 181341 w 5148000"/>
                  <a:gd name="connsiteY10" fmla="*/ 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48000" h="3132000">
                    <a:moveTo>
                      <a:pt x="216000" y="216000"/>
                    </a:moveTo>
                    <a:lnTo>
                      <a:pt x="216000" y="2916000"/>
                    </a:lnTo>
                    <a:lnTo>
                      <a:pt x="4932000" y="2916000"/>
                    </a:lnTo>
                    <a:lnTo>
                      <a:pt x="4932000" y="216000"/>
                    </a:lnTo>
                    <a:close/>
                    <a:moveTo>
                      <a:pt x="181341" y="0"/>
                    </a:moveTo>
                    <a:lnTo>
                      <a:pt x="4966659" y="0"/>
                    </a:lnTo>
                    <a:cubicBezTo>
                      <a:pt x="5066811" y="0"/>
                      <a:pt x="5148000" y="81189"/>
                      <a:pt x="5148000" y="181341"/>
                    </a:cubicBezTo>
                    <a:lnTo>
                      <a:pt x="5148000" y="3132000"/>
                    </a:lnTo>
                    <a:lnTo>
                      <a:pt x="0" y="3132000"/>
                    </a:lnTo>
                    <a:lnTo>
                      <a:pt x="0" y="181341"/>
                    </a:lnTo>
                    <a:cubicBezTo>
                      <a:pt x="0" y="81189"/>
                      <a:pt x="81189" y="0"/>
                      <a:pt x="18134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5" name="FLYING IMPRESSION FID FEIZHAO    qq:1964271550"/>
              <p:cNvSpPr/>
              <p:nvPr/>
            </p:nvSpPr>
            <p:spPr>
              <a:xfrm>
                <a:off x="3552668" y="3858551"/>
                <a:ext cx="5148000" cy="509665"/>
              </a:xfrm>
              <a:custGeom>
                <a:avLst/>
                <a:gdLst>
                  <a:gd name="connsiteX0" fmla="*/ 0 w 5148000"/>
                  <a:gd name="connsiteY0" fmla="*/ 0 h 509665"/>
                  <a:gd name="connsiteX1" fmla="*/ 5148000 w 5148000"/>
                  <a:gd name="connsiteY1" fmla="*/ 0 h 509665"/>
                  <a:gd name="connsiteX2" fmla="*/ 5148000 w 5148000"/>
                  <a:gd name="connsiteY2" fmla="*/ 328324 h 509665"/>
                  <a:gd name="connsiteX3" fmla="*/ 4966659 w 5148000"/>
                  <a:gd name="connsiteY3" fmla="*/ 509665 h 509665"/>
                  <a:gd name="connsiteX4" fmla="*/ 181341 w 5148000"/>
                  <a:gd name="connsiteY4" fmla="*/ 509665 h 509665"/>
                  <a:gd name="connsiteX5" fmla="*/ 0 w 5148000"/>
                  <a:gd name="connsiteY5" fmla="*/ 328324 h 50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8000" h="509665">
                    <a:moveTo>
                      <a:pt x="0" y="0"/>
                    </a:moveTo>
                    <a:lnTo>
                      <a:pt x="5148000" y="0"/>
                    </a:lnTo>
                    <a:lnTo>
                      <a:pt x="5148000" y="328324"/>
                    </a:lnTo>
                    <a:cubicBezTo>
                      <a:pt x="5148000" y="428476"/>
                      <a:pt x="5066811" y="509665"/>
                      <a:pt x="4966659" y="509665"/>
                    </a:cubicBezTo>
                    <a:lnTo>
                      <a:pt x="181341" y="509665"/>
                    </a:lnTo>
                    <a:cubicBezTo>
                      <a:pt x="81189" y="509665"/>
                      <a:pt x="0" y="428476"/>
                      <a:pt x="0" y="328324"/>
                    </a:cubicBezTo>
                    <a:close/>
                  </a:path>
                </a:pathLst>
              </a:custGeom>
              <a:gradFill>
                <a:gsLst>
                  <a:gs pos="0">
                    <a:srgbClr val="929398"/>
                  </a:gs>
                  <a:gs pos="100000">
                    <a:srgbClr val="D0D2D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 name="FLYING IMPRESSION FID FEIZHAO    qq:1964271550"/>
              <p:cNvSpPr/>
              <p:nvPr/>
            </p:nvSpPr>
            <p:spPr>
              <a:xfrm>
                <a:off x="5126730" y="4368216"/>
                <a:ext cx="1999876" cy="674557"/>
              </a:xfrm>
              <a:custGeom>
                <a:avLst/>
                <a:gdLst>
                  <a:gd name="connsiteX0" fmla="*/ 485189 w 2612038"/>
                  <a:gd name="connsiteY0" fmla="*/ 0 h 1054155"/>
                  <a:gd name="connsiteX1" fmla="*/ 2126847 w 2612038"/>
                  <a:gd name="connsiteY1" fmla="*/ 0 h 1054155"/>
                  <a:gd name="connsiteX2" fmla="*/ 2346146 w 2612038"/>
                  <a:gd name="connsiteY2" fmla="*/ 776937 h 1054155"/>
                  <a:gd name="connsiteX3" fmla="*/ 2612036 w 2612038"/>
                  <a:gd name="connsiteY3" fmla="*/ 974364 h 1054155"/>
                  <a:gd name="connsiteX4" fmla="*/ 2564864 w 2612038"/>
                  <a:gd name="connsiteY4" fmla="*/ 974364 h 1054155"/>
                  <a:gd name="connsiteX5" fmla="*/ 2585504 w 2612038"/>
                  <a:gd name="connsiteY5" fmla="*/ 977608 h 1054155"/>
                  <a:gd name="connsiteX6" fmla="*/ 2612038 w 2612038"/>
                  <a:gd name="connsiteY6" fmla="*/ 990447 h 1054155"/>
                  <a:gd name="connsiteX7" fmla="*/ 1306019 w 2612038"/>
                  <a:gd name="connsiteY7" fmla="*/ 1054155 h 1054155"/>
                  <a:gd name="connsiteX8" fmla="*/ 0 w 2612038"/>
                  <a:gd name="connsiteY8" fmla="*/ 990447 h 1054155"/>
                  <a:gd name="connsiteX9" fmla="*/ 26534 w 2612038"/>
                  <a:gd name="connsiteY9" fmla="*/ 977608 h 1054155"/>
                  <a:gd name="connsiteX10" fmla="*/ 47175 w 2612038"/>
                  <a:gd name="connsiteY10" fmla="*/ 974364 h 1054155"/>
                  <a:gd name="connsiteX11" fmla="*/ 0 w 2612038"/>
                  <a:gd name="connsiteY11" fmla="*/ 974364 h 1054155"/>
                  <a:gd name="connsiteX12" fmla="*/ 265890 w 2612038"/>
                  <a:gd name="connsiteY12" fmla="*/ 776937 h 105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2038" h="1054155">
                    <a:moveTo>
                      <a:pt x="485189" y="0"/>
                    </a:moveTo>
                    <a:lnTo>
                      <a:pt x="2126847" y="0"/>
                    </a:lnTo>
                    <a:lnTo>
                      <a:pt x="2346146" y="776937"/>
                    </a:lnTo>
                    <a:lnTo>
                      <a:pt x="2612036" y="974364"/>
                    </a:lnTo>
                    <a:lnTo>
                      <a:pt x="2564864" y="974364"/>
                    </a:lnTo>
                    <a:lnTo>
                      <a:pt x="2585504" y="977608"/>
                    </a:lnTo>
                    <a:cubicBezTo>
                      <a:pt x="2602902" y="981755"/>
                      <a:pt x="2612038" y="986049"/>
                      <a:pt x="2612038" y="990447"/>
                    </a:cubicBezTo>
                    <a:cubicBezTo>
                      <a:pt x="2612038" y="1025632"/>
                      <a:pt x="2027313" y="1054155"/>
                      <a:pt x="1306019" y="1054155"/>
                    </a:cubicBezTo>
                    <a:cubicBezTo>
                      <a:pt x="584725" y="1054155"/>
                      <a:pt x="0" y="1025632"/>
                      <a:pt x="0" y="990447"/>
                    </a:cubicBezTo>
                    <a:cubicBezTo>
                      <a:pt x="0" y="986049"/>
                      <a:pt x="9136" y="981755"/>
                      <a:pt x="26534" y="977608"/>
                    </a:cubicBezTo>
                    <a:lnTo>
                      <a:pt x="47175" y="974364"/>
                    </a:lnTo>
                    <a:lnTo>
                      <a:pt x="0" y="974364"/>
                    </a:lnTo>
                    <a:lnTo>
                      <a:pt x="265890" y="776937"/>
                    </a:lnTo>
                    <a:close/>
                  </a:path>
                </a:pathLst>
              </a:custGeom>
              <a:gradFill>
                <a:gsLst>
                  <a:gs pos="31000">
                    <a:srgbClr val="F2F2F2"/>
                  </a:gs>
                  <a:gs pos="13000">
                    <a:srgbClr val="929398"/>
                  </a:gs>
                  <a:gs pos="67000">
                    <a:srgbClr val="CCCCCE"/>
                  </a:gs>
                  <a:gs pos="100000">
                    <a:srgbClr val="929398"/>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7" name="FLYING IMPRESSION FID FEIZHAO    qq:1964271550"/>
              <p:cNvSpPr/>
              <p:nvPr/>
            </p:nvSpPr>
            <p:spPr>
              <a:xfrm>
                <a:off x="5126730" y="5006773"/>
                <a:ext cx="1999876" cy="36000"/>
              </a:xfrm>
              <a:prstGeom prst="rect">
                <a:avLst/>
              </a:prstGeom>
              <a:gradFill>
                <a:gsLst>
                  <a:gs pos="0">
                    <a:srgbClr val="262626"/>
                  </a:gs>
                  <a:gs pos="50000">
                    <a:srgbClr val="404040"/>
                  </a:gs>
                  <a:gs pos="100000">
                    <a:srgbClr val="262626"/>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FLYING IMPRESSION FID FEIZHAO    qq:1964271550"/>
              <p:cNvSpPr/>
              <p:nvPr/>
            </p:nvSpPr>
            <p:spPr>
              <a:xfrm>
                <a:off x="6424414" y="726551"/>
                <a:ext cx="2276254" cy="3132000"/>
              </a:xfrm>
              <a:custGeom>
                <a:avLst/>
                <a:gdLst>
                  <a:gd name="connsiteX0" fmla="*/ 0 w 2276254"/>
                  <a:gd name="connsiteY0" fmla="*/ 0 h 3132000"/>
                  <a:gd name="connsiteX1" fmla="*/ 777237 w 2276254"/>
                  <a:gd name="connsiteY1" fmla="*/ 0 h 3132000"/>
                  <a:gd name="connsiteX2" fmla="*/ 1768840 w 2276254"/>
                  <a:gd name="connsiteY2" fmla="*/ 0 h 3132000"/>
                  <a:gd name="connsiteX3" fmla="*/ 2054039 w 2276254"/>
                  <a:gd name="connsiteY3" fmla="*/ 0 h 3132000"/>
                  <a:gd name="connsiteX4" fmla="*/ 2276254 w 2276254"/>
                  <a:gd name="connsiteY4" fmla="*/ 222215 h 3132000"/>
                  <a:gd name="connsiteX5" fmla="*/ 2276254 w 2276254"/>
                  <a:gd name="connsiteY5" fmla="*/ 2909785 h 3132000"/>
                  <a:gd name="connsiteX6" fmla="*/ 2054039 w 2276254"/>
                  <a:gd name="connsiteY6" fmla="*/ 3132000 h 3132000"/>
                  <a:gd name="connsiteX7" fmla="*/ 1326630 w 2276254"/>
                  <a:gd name="connsiteY7" fmla="*/ 3132000 h 3132000"/>
                  <a:gd name="connsiteX8" fmla="*/ 777237 w 2276254"/>
                  <a:gd name="connsiteY8" fmla="*/ 3132000 h 3132000"/>
                  <a:gd name="connsiteX9" fmla="*/ 442210 w 2276254"/>
                  <a:gd name="connsiteY9" fmla="*/ 313200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6254" h="3132000">
                    <a:moveTo>
                      <a:pt x="0" y="0"/>
                    </a:moveTo>
                    <a:lnTo>
                      <a:pt x="777237" y="0"/>
                    </a:lnTo>
                    <a:lnTo>
                      <a:pt x="1768840" y="0"/>
                    </a:lnTo>
                    <a:lnTo>
                      <a:pt x="2054039" y="0"/>
                    </a:lnTo>
                    <a:cubicBezTo>
                      <a:pt x="2176765" y="0"/>
                      <a:pt x="2276254" y="99489"/>
                      <a:pt x="2276254" y="222215"/>
                    </a:cubicBezTo>
                    <a:lnTo>
                      <a:pt x="2276254" y="2909785"/>
                    </a:lnTo>
                    <a:cubicBezTo>
                      <a:pt x="2276254" y="3032511"/>
                      <a:pt x="2176765" y="3132000"/>
                      <a:pt x="2054039" y="3132000"/>
                    </a:cubicBezTo>
                    <a:lnTo>
                      <a:pt x="1326630" y="3132000"/>
                    </a:lnTo>
                    <a:lnTo>
                      <a:pt x="777237" y="3132000"/>
                    </a:lnTo>
                    <a:lnTo>
                      <a:pt x="442210" y="3132000"/>
                    </a:lnTo>
                    <a:close/>
                  </a:path>
                </a:pathLst>
              </a:custGeom>
              <a:gradFill>
                <a:gsLst>
                  <a:gs pos="0">
                    <a:srgbClr val="FFFFFF">
                      <a:alpha val="60000"/>
                    </a:srgbClr>
                  </a:gs>
                  <a:gs pos="67000">
                    <a:srgbClr val="FFFFFF">
                      <a:alpha val="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9" name="FLYING IMPRESSION FID FEIZHAO    qq:1964271550"/>
              <p:cNvPicPr>
                <a:picLocks noChangeAspect="1"/>
              </p:cNvPicPr>
              <p:nvPr/>
            </p:nvPicPr>
            <p:blipFill>
              <a:blip r:embed="rId1" cstate="email"/>
              <a:stretch>
                <a:fillRect/>
              </a:stretch>
            </p:blipFill>
            <p:spPr>
              <a:xfrm>
                <a:off x="6003655" y="3959266"/>
                <a:ext cx="246025" cy="299843"/>
              </a:xfrm>
              <a:prstGeom prst="rect">
                <a:avLst/>
              </a:prstGeom>
            </p:spPr>
          </p:pic>
        </p:grp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rcRect t="10543" b="21086"/>
            <a:stretch>
              <a:fillRect/>
            </a:stretch>
          </p:blipFill>
          <p:spPr>
            <a:xfrm>
              <a:off x="3904789" y="3027045"/>
              <a:ext cx="4211320" cy="240411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1578"/>
            <a:ext cx="10007991" cy="717596"/>
          </a:xfrm>
        </p:spPr>
        <p:txBody>
          <a:bodyPr>
            <a:normAutofit/>
          </a:bodyPr>
          <a:lstStyle/>
          <a:p>
            <a:r>
              <a:rPr lang="en-US" altLang="zh-CN" b="1" dirty="0"/>
              <a:t>4.2 </a:t>
            </a:r>
            <a:r>
              <a:rPr lang="zh-CN" altLang="en-US" b="1" dirty="0"/>
              <a:t>树的遍历规则</a:t>
            </a:r>
            <a:endParaRPr lang="en-US" altLang="zh-CN" b="1" dirty="0"/>
          </a:p>
        </p:txBody>
      </p:sp>
      <p:sp>
        <p:nvSpPr>
          <p:cNvPr id="3" name="内容占位符 2"/>
          <p:cNvSpPr>
            <a:spLocks noGrp="1"/>
          </p:cNvSpPr>
          <p:nvPr>
            <p:ph idx="1"/>
          </p:nvPr>
        </p:nvSpPr>
        <p:spPr>
          <a:xfrm>
            <a:off x="838200" y="1286235"/>
            <a:ext cx="10992731" cy="4470329"/>
          </a:xfrm>
        </p:spPr>
        <p:txBody>
          <a:bodyPr>
            <a:normAutofit/>
          </a:bodyPr>
          <a:lstStyle/>
          <a:p>
            <a:pPr indent="0" algn="just">
              <a:buNone/>
            </a:pPr>
            <a:r>
              <a:rPr lang="zh-CN" altLang="zh-CN" sz="2400" b="1" kern="100" dirty="0">
                <a:solidFill>
                  <a:srgbClr val="FFC000"/>
                </a:solidFill>
                <a:latin typeface="Times New Roman" panose="02020603050405020304" pitchFamily="18" charset="0"/>
                <a:ea typeface="等线" panose="02010600030101010101" charset="-122"/>
                <a:cs typeface="Times New Roman" panose="02020603050405020304" pitchFamily="18" charset="0"/>
              </a:rPr>
              <a:t>树的孩子优先遍历规则主要有两种，即</a:t>
            </a:r>
            <a:r>
              <a:rPr lang="zh-CN" altLang="zh-CN" sz="2400" b="1" dirty="0">
                <a:solidFill>
                  <a:srgbClr val="F88562"/>
                </a:solidFill>
                <a:latin typeface="+mj-lt"/>
                <a:ea typeface="+mj-ea"/>
                <a:cs typeface="+mj-cs"/>
              </a:rPr>
              <a:t>先序遍历</a:t>
            </a:r>
            <a:r>
              <a:rPr lang="zh-CN" altLang="zh-CN" sz="2400" b="1" kern="100" dirty="0">
                <a:solidFill>
                  <a:srgbClr val="FFC000"/>
                </a:solidFill>
                <a:latin typeface="Times New Roman" panose="02020603050405020304" pitchFamily="18" charset="0"/>
                <a:ea typeface="等线" panose="02010600030101010101" charset="-122"/>
                <a:cs typeface="Times New Roman" panose="02020603050405020304" pitchFamily="18" charset="0"/>
              </a:rPr>
              <a:t>和</a:t>
            </a:r>
            <a:r>
              <a:rPr lang="zh-CN" altLang="zh-CN" sz="2400" b="1" dirty="0">
                <a:solidFill>
                  <a:srgbClr val="F88562"/>
                </a:solidFill>
                <a:latin typeface="+mj-lt"/>
                <a:ea typeface="+mj-ea"/>
                <a:cs typeface="+mj-cs"/>
              </a:rPr>
              <a:t>后序遍历</a:t>
            </a:r>
            <a:r>
              <a:rPr lang="zh-CN" altLang="zh-CN" sz="2400" b="1" kern="100" dirty="0">
                <a:solidFill>
                  <a:srgbClr val="FFC000"/>
                </a:solidFill>
                <a:latin typeface="Times New Roman" panose="02020603050405020304" pitchFamily="18" charset="0"/>
                <a:ea typeface="等线" panose="02010600030101010101" charset="-122"/>
                <a:cs typeface="Times New Roman" panose="02020603050405020304" pitchFamily="18" charset="0"/>
              </a:rPr>
              <a:t>。</a:t>
            </a:r>
            <a:endParaRPr lang="en-US" altLang="zh-CN" sz="2400" b="1" kern="100" dirty="0">
              <a:solidFill>
                <a:srgbClr val="FFC000"/>
              </a:solidFill>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zh-CN" altLang="zh-CN" sz="2400" b="1" kern="100" dirty="0">
                <a:solidFill>
                  <a:srgbClr val="FFC000"/>
                </a:solidFill>
                <a:latin typeface="Times New Roman" panose="02020603050405020304" pitchFamily="18" charset="0"/>
                <a:ea typeface="等线" panose="02010600030101010101" charset="-122"/>
                <a:cs typeface="Times New Roman" panose="02020603050405020304" pitchFamily="18" charset="0"/>
              </a:rPr>
              <a:t>树的遍历规则也是递归的。</a:t>
            </a:r>
            <a:endParaRPr lang="en-US" altLang="zh-CN" sz="2400" b="1" kern="100" dirty="0">
              <a:solidFill>
                <a:srgbClr val="FFC000"/>
              </a:solidFill>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zh-CN" altLang="zh-CN" sz="2400" b="1" kern="100" dirty="0">
              <a:solidFill>
                <a:srgbClr val="FFC000"/>
              </a:solidFill>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zh-CN" altLang="zh-CN" sz="2400" b="1" dirty="0">
                <a:solidFill>
                  <a:srgbClr val="FFC000"/>
                </a:solidFill>
              </a:rPr>
              <a:t>（</a:t>
            </a:r>
            <a:r>
              <a:rPr lang="en-US" altLang="zh-CN" sz="2400" b="1" dirty="0">
                <a:solidFill>
                  <a:srgbClr val="FFC000"/>
                </a:solidFill>
              </a:rPr>
              <a:t>1</a:t>
            </a:r>
            <a:r>
              <a:rPr lang="zh-CN" altLang="zh-CN" sz="2400" b="1" dirty="0">
                <a:solidFill>
                  <a:srgbClr val="FFC000"/>
                </a:solidFill>
              </a:rPr>
              <a:t>）树的先序遍历</a:t>
            </a:r>
            <a:r>
              <a:rPr lang="zh-CN" altLang="zh-CN" sz="2000"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 访问根结点； 按从左到右的次序遍历根的每一棵子树。</a:t>
            </a:r>
            <a:endParaRPr lang="zh-CN" altLang="zh-CN" sz="2000" kern="100" dirty="0">
              <a:solidFill>
                <a:srgbClr val="656565"/>
              </a:solidFill>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zh-CN" altLang="zh-CN" sz="2400" b="1" dirty="0">
                <a:solidFill>
                  <a:srgbClr val="FFC000"/>
                </a:solidFill>
              </a:rPr>
              <a:t>（</a:t>
            </a:r>
            <a:r>
              <a:rPr lang="en-US" altLang="zh-CN" sz="2400" b="1" dirty="0">
                <a:solidFill>
                  <a:srgbClr val="FFC000"/>
                </a:solidFill>
              </a:rPr>
              <a:t>2</a:t>
            </a:r>
            <a:r>
              <a:rPr lang="zh-CN" altLang="zh-CN" sz="2400" b="1" dirty="0">
                <a:solidFill>
                  <a:srgbClr val="FFC000"/>
                </a:solidFill>
              </a:rPr>
              <a:t>）树的后序遍历</a:t>
            </a:r>
            <a:r>
              <a:rPr lang="zh-CN" altLang="zh-CN" sz="2000"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 按从左到右的次序遍历根的每一棵子树； 访问根结点。</a:t>
            </a:r>
            <a:endParaRPr lang="zh-CN" altLang="zh-CN" sz="2000" kern="100" dirty="0">
              <a:solidFill>
                <a:srgbClr val="656565"/>
              </a:solidFill>
              <a:latin typeface="Times New Roman" panose="02020603050405020304" pitchFamily="18" charset="0"/>
              <a:ea typeface="等线" panose="02010600030101010101" charset="-122"/>
              <a:cs typeface="Times New Roman" panose="02020603050405020304" pitchFamily="18" charset="0"/>
            </a:endParaRPr>
          </a:p>
          <a:p>
            <a:pPr indent="0" algn="just">
              <a:buNone/>
            </a:pPr>
            <a:endPar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0" algn="just">
              <a:buNone/>
            </a:pPr>
            <a:r>
              <a:rPr lang="zh-CN" altLang="zh-CN" sz="2400" b="1" dirty="0">
                <a:solidFill>
                  <a:srgbClr val="FFC000"/>
                </a:solidFill>
              </a:rPr>
              <a:t>树的层次遍历</a:t>
            </a: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rPr>
              <a:t>规则同二叉树。</a:t>
            </a:r>
            <a:endParaRPr lang="zh-CN" altLang="zh-CN" sz="24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第</a:t>
            </a:r>
            <a:r>
              <a:rPr lang="zh-CN" altLang="en-US" dirty="0"/>
              <a:t>五节</a:t>
            </a:r>
            <a:endParaRPr lang="zh-CN" altLang="en-US" dirty="0"/>
          </a:p>
        </p:txBody>
      </p:sp>
      <p:sp>
        <p:nvSpPr>
          <p:cNvPr id="3" name="文本占位符 2"/>
          <p:cNvSpPr>
            <a:spLocks noGrp="1"/>
          </p:cNvSpPr>
          <p:nvPr>
            <p:ph type="body" sz="quarter" idx="11"/>
          </p:nvPr>
        </p:nvSpPr>
        <p:spPr/>
        <p:txBody>
          <a:bodyPr/>
          <a:lstStyle/>
          <a:p>
            <a:r>
              <a:rPr lang="zh-CN" altLang="en-US" dirty="0"/>
              <a:t>小结</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5" name="de1ffbe9-936a-4bc2-91a5-102e309e1217"/>
          <p:cNvGrpSpPr>
            <a:grpSpLocks noChangeAspect="1"/>
          </p:cNvGrpSpPr>
          <p:nvPr/>
        </p:nvGrpSpPr>
        <p:grpSpPr>
          <a:xfrm>
            <a:off x="2385502" y="1351310"/>
            <a:ext cx="7332342" cy="4560904"/>
            <a:chOff x="1932423" y="2060848"/>
            <a:chExt cx="8298065" cy="4630418"/>
          </a:xfrm>
        </p:grpSpPr>
        <p:sp>
          <p:nvSpPr>
            <p:cNvPr id="7" name="任意多边形: 形状 36"/>
            <p:cNvSpPr/>
            <p:nvPr/>
          </p:nvSpPr>
          <p:spPr>
            <a:xfrm flipV="1">
              <a:off x="1932423" y="3684200"/>
              <a:ext cx="3099661" cy="3007066"/>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8" name="任意多边形: 形状 35"/>
            <p:cNvSpPr/>
            <p:nvPr/>
          </p:nvSpPr>
          <p:spPr>
            <a:xfrm flipH="1">
              <a:off x="7778505" y="2208090"/>
              <a:ext cx="1754659" cy="1234353"/>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2" name="任意多边形: 形状 34"/>
            <p:cNvSpPr/>
            <p:nvPr/>
          </p:nvSpPr>
          <p:spPr>
            <a:xfrm>
              <a:off x="3074714" y="2650121"/>
              <a:ext cx="1334183" cy="792322"/>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13" name="组合 12"/>
            <p:cNvGrpSpPr>
              <a:grpSpLocks noChangeAspect="1"/>
            </p:cNvGrpSpPr>
            <p:nvPr/>
          </p:nvGrpSpPr>
          <p:grpSpPr bwMode="auto">
            <a:xfrm>
              <a:off x="4294837" y="2060848"/>
              <a:ext cx="3609328" cy="3642193"/>
              <a:chOff x="1973" y="280"/>
              <a:chExt cx="3734" cy="3768"/>
            </a:xfrm>
          </p:grpSpPr>
          <p:sp>
            <p:nvSpPr>
              <p:cNvPr id="9" name="任意多边形: 形状 2"/>
              <p:cNvSpPr/>
              <p:nvPr/>
            </p:nvSpPr>
            <p:spPr bwMode="auto">
              <a:xfrm>
                <a:off x="3681" y="280"/>
                <a:ext cx="327" cy="423"/>
              </a:xfrm>
              <a:custGeom>
                <a:avLst/>
                <a:gdLst>
                  <a:gd name="T0" fmla="*/ 105 w 138"/>
                  <a:gd name="T1" fmla="*/ 117 h 179"/>
                  <a:gd name="T2" fmla="*/ 93 w 138"/>
                  <a:gd name="T3" fmla="*/ 117 h 179"/>
                  <a:gd name="T4" fmla="*/ 85 w 138"/>
                  <a:gd name="T5" fmla="*/ 25 h 179"/>
                  <a:gd name="T6" fmla="*/ 67 w 138"/>
                  <a:gd name="T7" fmla="*/ 0 h 179"/>
                  <a:gd name="T8" fmla="*/ 65 w 138"/>
                  <a:gd name="T9" fmla="*/ 0 h 179"/>
                  <a:gd name="T10" fmla="*/ 51 w 138"/>
                  <a:gd name="T11" fmla="*/ 25 h 179"/>
                  <a:gd name="T12" fmla="*/ 43 w 138"/>
                  <a:gd name="T13" fmla="*/ 117 h 179"/>
                  <a:gd name="T14" fmla="*/ 31 w 138"/>
                  <a:gd name="T15" fmla="*/ 117 h 179"/>
                  <a:gd name="T16" fmla="*/ 28 w 138"/>
                  <a:gd name="T17" fmla="*/ 117 h 179"/>
                  <a:gd name="T18" fmla="*/ 1 w 138"/>
                  <a:gd name="T19" fmla="*/ 150 h 179"/>
                  <a:gd name="T20" fmla="*/ 31 w 138"/>
                  <a:gd name="T21" fmla="*/ 179 h 179"/>
                  <a:gd name="T22" fmla="*/ 77 w 138"/>
                  <a:gd name="T23" fmla="*/ 179 h 179"/>
                  <a:gd name="T24" fmla="*/ 77 w 138"/>
                  <a:gd name="T25" fmla="*/ 179 h 179"/>
                  <a:gd name="T26" fmla="*/ 72 w 138"/>
                  <a:gd name="T27" fmla="*/ 172 h 179"/>
                  <a:gd name="T28" fmla="*/ 65 w 138"/>
                  <a:gd name="T29" fmla="*/ 154 h 179"/>
                  <a:gd name="T30" fmla="*/ 72 w 138"/>
                  <a:gd name="T31" fmla="*/ 134 h 179"/>
                  <a:gd name="T32" fmla="*/ 95 w 138"/>
                  <a:gd name="T33" fmla="*/ 124 h 179"/>
                  <a:gd name="T34" fmla="*/ 118 w 138"/>
                  <a:gd name="T35" fmla="*/ 134 h 179"/>
                  <a:gd name="T36" fmla="*/ 124 w 138"/>
                  <a:gd name="T37" fmla="*/ 154 h 179"/>
                  <a:gd name="T38" fmla="*/ 118 w 138"/>
                  <a:gd name="T39" fmla="*/ 171 h 179"/>
                  <a:gd name="T40" fmla="*/ 114 w 138"/>
                  <a:gd name="T41" fmla="*/ 177 h 179"/>
                  <a:gd name="T42" fmla="*/ 114 w 138"/>
                  <a:gd name="T43" fmla="*/ 178 h 179"/>
                  <a:gd name="T44" fmla="*/ 128 w 138"/>
                  <a:gd name="T45" fmla="*/ 171 h 179"/>
                  <a:gd name="T46" fmla="*/ 138 w 138"/>
                  <a:gd name="T47" fmla="*/ 148 h 179"/>
                  <a:gd name="T48" fmla="*/ 128 w 138"/>
                  <a:gd name="T49" fmla="*/ 126 h 179"/>
                  <a:gd name="T50" fmla="*/ 105 w 138"/>
                  <a:gd name="T51" fmla="*/ 11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79">
                    <a:moveTo>
                      <a:pt x="105" y="117"/>
                    </a:moveTo>
                    <a:cubicBezTo>
                      <a:pt x="93" y="117"/>
                      <a:pt x="93" y="117"/>
                      <a:pt x="93" y="117"/>
                    </a:cubicBezTo>
                    <a:cubicBezTo>
                      <a:pt x="85" y="25"/>
                      <a:pt x="85" y="25"/>
                      <a:pt x="85" y="25"/>
                    </a:cubicBezTo>
                    <a:cubicBezTo>
                      <a:pt x="85" y="12"/>
                      <a:pt x="81" y="0"/>
                      <a:pt x="67" y="0"/>
                    </a:cubicBezTo>
                    <a:cubicBezTo>
                      <a:pt x="67" y="0"/>
                      <a:pt x="66" y="0"/>
                      <a:pt x="65" y="0"/>
                    </a:cubicBezTo>
                    <a:cubicBezTo>
                      <a:pt x="53" y="1"/>
                      <a:pt x="51" y="13"/>
                      <a:pt x="51" y="25"/>
                    </a:cubicBezTo>
                    <a:cubicBezTo>
                      <a:pt x="43" y="117"/>
                      <a:pt x="43" y="117"/>
                      <a:pt x="43" y="117"/>
                    </a:cubicBezTo>
                    <a:cubicBezTo>
                      <a:pt x="31" y="117"/>
                      <a:pt x="31" y="117"/>
                      <a:pt x="31" y="117"/>
                    </a:cubicBezTo>
                    <a:cubicBezTo>
                      <a:pt x="30" y="117"/>
                      <a:pt x="29" y="117"/>
                      <a:pt x="28" y="117"/>
                    </a:cubicBezTo>
                    <a:cubicBezTo>
                      <a:pt x="12" y="119"/>
                      <a:pt x="0" y="134"/>
                      <a:pt x="1" y="150"/>
                    </a:cubicBezTo>
                    <a:cubicBezTo>
                      <a:pt x="1" y="165"/>
                      <a:pt x="15" y="179"/>
                      <a:pt x="31" y="179"/>
                    </a:cubicBezTo>
                    <a:cubicBezTo>
                      <a:pt x="77" y="179"/>
                      <a:pt x="77" y="179"/>
                      <a:pt x="77" y="179"/>
                    </a:cubicBezTo>
                    <a:cubicBezTo>
                      <a:pt x="77" y="179"/>
                      <a:pt x="77" y="179"/>
                      <a:pt x="77" y="179"/>
                    </a:cubicBezTo>
                    <a:cubicBezTo>
                      <a:pt x="77" y="177"/>
                      <a:pt x="76" y="177"/>
                      <a:pt x="72" y="172"/>
                    </a:cubicBezTo>
                    <a:cubicBezTo>
                      <a:pt x="69" y="168"/>
                      <a:pt x="65" y="162"/>
                      <a:pt x="65" y="154"/>
                    </a:cubicBezTo>
                    <a:cubicBezTo>
                      <a:pt x="65" y="147"/>
                      <a:pt x="67" y="140"/>
                      <a:pt x="72" y="134"/>
                    </a:cubicBezTo>
                    <a:cubicBezTo>
                      <a:pt x="76" y="128"/>
                      <a:pt x="85" y="124"/>
                      <a:pt x="95" y="124"/>
                    </a:cubicBezTo>
                    <a:cubicBezTo>
                      <a:pt x="104" y="124"/>
                      <a:pt x="113" y="128"/>
                      <a:pt x="118" y="134"/>
                    </a:cubicBezTo>
                    <a:cubicBezTo>
                      <a:pt x="123" y="140"/>
                      <a:pt x="124" y="147"/>
                      <a:pt x="124" y="154"/>
                    </a:cubicBezTo>
                    <a:cubicBezTo>
                      <a:pt x="124" y="162"/>
                      <a:pt x="121" y="168"/>
                      <a:pt x="118" y="171"/>
                    </a:cubicBezTo>
                    <a:cubicBezTo>
                      <a:pt x="114" y="176"/>
                      <a:pt x="114" y="176"/>
                      <a:pt x="114" y="177"/>
                    </a:cubicBezTo>
                    <a:cubicBezTo>
                      <a:pt x="114" y="178"/>
                      <a:pt x="114" y="178"/>
                      <a:pt x="114" y="178"/>
                    </a:cubicBezTo>
                    <a:cubicBezTo>
                      <a:pt x="119" y="177"/>
                      <a:pt x="124" y="175"/>
                      <a:pt x="128" y="171"/>
                    </a:cubicBezTo>
                    <a:cubicBezTo>
                      <a:pt x="135" y="165"/>
                      <a:pt x="138" y="157"/>
                      <a:pt x="138" y="148"/>
                    </a:cubicBezTo>
                    <a:cubicBezTo>
                      <a:pt x="138" y="140"/>
                      <a:pt x="135" y="131"/>
                      <a:pt x="128" y="126"/>
                    </a:cubicBezTo>
                    <a:cubicBezTo>
                      <a:pt x="122" y="120"/>
                      <a:pt x="113" y="117"/>
                      <a:pt x="105" y="117"/>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0" name="任意多边形: 形状 3"/>
              <p:cNvSpPr/>
              <p:nvPr/>
            </p:nvSpPr>
            <p:spPr bwMode="auto">
              <a:xfrm>
                <a:off x="2396" y="701"/>
                <a:ext cx="1274" cy="734"/>
              </a:xfrm>
              <a:custGeom>
                <a:avLst/>
                <a:gdLst>
                  <a:gd name="T0" fmla="*/ 522 w 538"/>
                  <a:gd name="T1" fmla="*/ 0 h 310"/>
                  <a:gd name="T2" fmla="*/ 522 w 538"/>
                  <a:gd name="T3" fmla="*/ 0 h 310"/>
                  <a:gd name="T4" fmla="*/ 521 w 538"/>
                  <a:gd name="T5" fmla="*/ 0 h 310"/>
                  <a:gd name="T6" fmla="*/ 0 w 538"/>
                  <a:gd name="T7" fmla="*/ 267 h 310"/>
                  <a:gd name="T8" fmla="*/ 108 w 538"/>
                  <a:gd name="T9" fmla="*/ 249 h 310"/>
                  <a:gd name="T10" fmla="*/ 141 w 538"/>
                  <a:gd name="T11" fmla="*/ 248 h 310"/>
                  <a:gd name="T12" fmla="*/ 149 w 538"/>
                  <a:gd name="T13" fmla="*/ 249 h 310"/>
                  <a:gd name="T14" fmla="*/ 149 w 538"/>
                  <a:gd name="T15" fmla="*/ 247 h 310"/>
                  <a:gd name="T16" fmla="*/ 147 w 538"/>
                  <a:gd name="T17" fmla="*/ 239 h 310"/>
                  <a:gd name="T18" fmla="*/ 146 w 538"/>
                  <a:gd name="T19" fmla="*/ 219 h 310"/>
                  <a:gd name="T20" fmla="*/ 158 w 538"/>
                  <a:gd name="T21" fmla="*/ 202 h 310"/>
                  <a:gd name="T22" fmla="*/ 182 w 538"/>
                  <a:gd name="T23" fmla="*/ 200 h 310"/>
                  <a:gd name="T24" fmla="*/ 202 w 538"/>
                  <a:gd name="T25" fmla="*/ 216 h 310"/>
                  <a:gd name="T26" fmla="*/ 202 w 538"/>
                  <a:gd name="T27" fmla="*/ 237 h 310"/>
                  <a:gd name="T28" fmla="*/ 190 w 538"/>
                  <a:gd name="T29" fmla="*/ 252 h 310"/>
                  <a:gd name="T30" fmla="*/ 189 w 538"/>
                  <a:gd name="T31" fmla="*/ 253 h 310"/>
                  <a:gd name="T32" fmla="*/ 318 w 538"/>
                  <a:gd name="T33" fmla="*/ 310 h 310"/>
                  <a:gd name="T34" fmla="*/ 385 w 538"/>
                  <a:gd name="T35" fmla="*/ 190 h 310"/>
                  <a:gd name="T36" fmla="*/ 384 w 538"/>
                  <a:gd name="T37" fmla="*/ 189 h 310"/>
                  <a:gd name="T38" fmla="*/ 376 w 538"/>
                  <a:gd name="T39" fmla="*/ 190 h 310"/>
                  <a:gd name="T40" fmla="*/ 357 w 538"/>
                  <a:gd name="T41" fmla="*/ 186 h 310"/>
                  <a:gd name="T42" fmla="*/ 343 w 538"/>
                  <a:gd name="T43" fmla="*/ 170 h 310"/>
                  <a:gd name="T44" fmla="*/ 347 w 538"/>
                  <a:gd name="T45" fmla="*/ 146 h 310"/>
                  <a:gd name="T46" fmla="*/ 368 w 538"/>
                  <a:gd name="T47" fmla="*/ 131 h 310"/>
                  <a:gd name="T48" fmla="*/ 388 w 538"/>
                  <a:gd name="T49" fmla="*/ 136 h 310"/>
                  <a:gd name="T50" fmla="*/ 399 w 538"/>
                  <a:gd name="T51" fmla="*/ 151 h 310"/>
                  <a:gd name="T52" fmla="*/ 403 w 538"/>
                  <a:gd name="T53" fmla="*/ 157 h 310"/>
                  <a:gd name="T54" fmla="*/ 406 w 538"/>
                  <a:gd name="T55" fmla="*/ 159 h 310"/>
                  <a:gd name="T56" fmla="*/ 531 w 538"/>
                  <a:gd name="T57" fmla="*/ 25 h 310"/>
                  <a:gd name="T58" fmla="*/ 536 w 538"/>
                  <a:gd name="T59" fmla="*/ 9 h 310"/>
                  <a:gd name="T60" fmla="*/ 522 w 538"/>
                  <a:gd name="T61"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38" h="310">
                    <a:moveTo>
                      <a:pt x="522" y="0"/>
                    </a:moveTo>
                    <a:cubicBezTo>
                      <a:pt x="522" y="0"/>
                      <a:pt x="522" y="0"/>
                      <a:pt x="522" y="0"/>
                    </a:cubicBezTo>
                    <a:cubicBezTo>
                      <a:pt x="521" y="0"/>
                      <a:pt x="521" y="0"/>
                      <a:pt x="521" y="0"/>
                    </a:cubicBezTo>
                    <a:cubicBezTo>
                      <a:pt x="302" y="23"/>
                      <a:pt x="128" y="131"/>
                      <a:pt x="0" y="267"/>
                    </a:cubicBezTo>
                    <a:cubicBezTo>
                      <a:pt x="35" y="257"/>
                      <a:pt x="71" y="250"/>
                      <a:pt x="108" y="249"/>
                    </a:cubicBezTo>
                    <a:cubicBezTo>
                      <a:pt x="119" y="248"/>
                      <a:pt x="130" y="248"/>
                      <a:pt x="141" y="248"/>
                    </a:cubicBezTo>
                    <a:cubicBezTo>
                      <a:pt x="143" y="248"/>
                      <a:pt x="146" y="248"/>
                      <a:pt x="149" y="249"/>
                    </a:cubicBezTo>
                    <a:cubicBezTo>
                      <a:pt x="149" y="247"/>
                      <a:pt x="149" y="247"/>
                      <a:pt x="149" y="247"/>
                    </a:cubicBezTo>
                    <a:cubicBezTo>
                      <a:pt x="150" y="245"/>
                      <a:pt x="149" y="244"/>
                      <a:pt x="147" y="239"/>
                    </a:cubicBezTo>
                    <a:cubicBezTo>
                      <a:pt x="145" y="234"/>
                      <a:pt x="143" y="227"/>
                      <a:pt x="146" y="219"/>
                    </a:cubicBezTo>
                    <a:cubicBezTo>
                      <a:pt x="148" y="213"/>
                      <a:pt x="151" y="206"/>
                      <a:pt x="158" y="202"/>
                    </a:cubicBezTo>
                    <a:cubicBezTo>
                      <a:pt x="164" y="198"/>
                      <a:pt x="173" y="197"/>
                      <a:pt x="182" y="200"/>
                    </a:cubicBezTo>
                    <a:cubicBezTo>
                      <a:pt x="192" y="202"/>
                      <a:pt x="199" y="209"/>
                      <a:pt x="202" y="216"/>
                    </a:cubicBezTo>
                    <a:cubicBezTo>
                      <a:pt x="205" y="223"/>
                      <a:pt x="204" y="230"/>
                      <a:pt x="202" y="237"/>
                    </a:cubicBezTo>
                    <a:cubicBezTo>
                      <a:pt x="200" y="244"/>
                      <a:pt x="194" y="249"/>
                      <a:pt x="190" y="252"/>
                    </a:cubicBezTo>
                    <a:cubicBezTo>
                      <a:pt x="189" y="252"/>
                      <a:pt x="189" y="253"/>
                      <a:pt x="189" y="253"/>
                    </a:cubicBezTo>
                    <a:cubicBezTo>
                      <a:pt x="236" y="261"/>
                      <a:pt x="281" y="279"/>
                      <a:pt x="318" y="310"/>
                    </a:cubicBezTo>
                    <a:cubicBezTo>
                      <a:pt x="338" y="266"/>
                      <a:pt x="360" y="226"/>
                      <a:pt x="385" y="190"/>
                    </a:cubicBezTo>
                    <a:cubicBezTo>
                      <a:pt x="384" y="189"/>
                      <a:pt x="384" y="189"/>
                      <a:pt x="384" y="189"/>
                    </a:cubicBezTo>
                    <a:cubicBezTo>
                      <a:pt x="383" y="189"/>
                      <a:pt x="382" y="189"/>
                      <a:pt x="376" y="190"/>
                    </a:cubicBezTo>
                    <a:cubicBezTo>
                      <a:pt x="371" y="190"/>
                      <a:pt x="364" y="190"/>
                      <a:pt x="357" y="186"/>
                    </a:cubicBezTo>
                    <a:cubicBezTo>
                      <a:pt x="351" y="183"/>
                      <a:pt x="346" y="178"/>
                      <a:pt x="343" y="170"/>
                    </a:cubicBezTo>
                    <a:cubicBezTo>
                      <a:pt x="341" y="164"/>
                      <a:pt x="342" y="154"/>
                      <a:pt x="347" y="146"/>
                    </a:cubicBezTo>
                    <a:cubicBezTo>
                      <a:pt x="352" y="137"/>
                      <a:pt x="360" y="132"/>
                      <a:pt x="368" y="131"/>
                    </a:cubicBezTo>
                    <a:cubicBezTo>
                      <a:pt x="375" y="130"/>
                      <a:pt x="382" y="133"/>
                      <a:pt x="388" y="136"/>
                    </a:cubicBezTo>
                    <a:cubicBezTo>
                      <a:pt x="395" y="140"/>
                      <a:pt x="398" y="146"/>
                      <a:pt x="399" y="151"/>
                    </a:cubicBezTo>
                    <a:cubicBezTo>
                      <a:pt x="402" y="156"/>
                      <a:pt x="402" y="157"/>
                      <a:pt x="403" y="157"/>
                    </a:cubicBezTo>
                    <a:cubicBezTo>
                      <a:pt x="406" y="159"/>
                      <a:pt x="406" y="159"/>
                      <a:pt x="406" y="159"/>
                    </a:cubicBezTo>
                    <a:cubicBezTo>
                      <a:pt x="443" y="108"/>
                      <a:pt x="485" y="64"/>
                      <a:pt x="531" y="25"/>
                    </a:cubicBezTo>
                    <a:cubicBezTo>
                      <a:pt x="536" y="21"/>
                      <a:pt x="538" y="14"/>
                      <a:pt x="536" y="9"/>
                    </a:cubicBezTo>
                    <a:cubicBezTo>
                      <a:pt x="533" y="3"/>
                      <a:pt x="527" y="0"/>
                      <a:pt x="52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1" name="任意多边形: 形状 4"/>
              <p:cNvSpPr/>
              <p:nvPr/>
            </p:nvSpPr>
            <p:spPr bwMode="auto">
              <a:xfrm>
                <a:off x="1973" y="1198"/>
                <a:ext cx="1152" cy="878"/>
              </a:xfrm>
              <a:custGeom>
                <a:avLst/>
                <a:gdLst>
                  <a:gd name="T0" fmla="*/ 353 w 487"/>
                  <a:gd name="T1" fmla="*/ 43 h 371"/>
                  <a:gd name="T2" fmla="*/ 362 w 487"/>
                  <a:gd name="T3" fmla="*/ 32 h 371"/>
                  <a:gd name="T4" fmla="*/ 370 w 487"/>
                  <a:gd name="T5" fmla="*/ 23 h 371"/>
                  <a:gd name="T6" fmla="*/ 370 w 487"/>
                  <a:gd name="T7" fmla="*/ 10 h 371"/>
                  <a:gd name="T8" fmla="*/ 358 w 487"/>
                  <a:gd name="T9" fmla="*/ 1 h 371"/>
                  <a:gd name="T10" fmla="*/ 351 w 487"/>
                  <a:gd name="T11" fmla="*/ 0 h 371"/>
                  <a:gd name="T12" fmla="*/ 343 w 487"/>
                  <a:gd name="T13" fmla="*/ 2 h 371"/>
                  <a:gd name="T14" fmla="*/ 336 w 487"/>
                  <a:gd name="T15" fmla="*/ 13 h 371"/>
                  <a:gd name="T16" fmla="*/ 337 w 487"/>
                  <a:gd name="T17" fmla="*/ 24 h 371"/>
                  <a:gd name="T18" fmla="*/ 340 w 487"/>
                  <a:gd name="T19" fmla="*/ 39 h 371"/>
                  <a:gd name="T20" fmla="*/ 340 w 487"/>
                  <a:gd name="T21" fmla="*/ 39 h 371"/>
                  <a:gd name="T22" fmla="*/ 332 w 487"/>
                  <a:gd name="T23" fmla="*/ 63 h 371"/>
                  <a:gd name="T24" fmla="*/ 303 w 487"/>
                  <a:gd name="T25" fmla="*/ 62 h 371"/>
                  <a:gd name="T26" fmla="*/ 288 w 487"/>
                  <a:gd name="T27" fmla="*/ 63 h 371"/>
                  <a:gd name="T28" fmla="*/ 147 w 487"/>
                  <a:gd name="T29" fmla="*/ 94 h 371"/>
                  <a:gd name="T30" fmla="*/ 9 w 487"/>
                  <a:gd name="T31" fmla="*/ 303 h 371"/>
                  <a:gd name="T32" fmla="*/ 9 w 487"/>
                  <a:gd name="T33" fmla="*/ 303 h 371"/>
                  <a:gd name="T34" fmla="*/ 18 w 487"/>
                  <a:gd name="T35" fmla="*/ 357 h 371"/>
                  <a:gd name="T36" fmla="*/ 72 w 487"/>
                  <a:gd name="T37" fmla="*/ 354 h 371"/>
                  <a:gd name="T38" fmla="*/ 73 w 487"/>
                  <a:gd name="T39" fmla="*/ 354 h 371"/>
                  <a:gd name="T40" fmla="*/ 73 w 487"/>
                  <a:gd name="T41" fmla="*/ 354 h 371"/>
                  <a:gd name="T42" fmla="*/ 394 w 487"/>
                  <a:gd name="T43" fmla="*/ 361 h 371"/>
                  <a:gd name="T44" fmla="*/ 407 w 487"/>
                  <a:gd name="T45" fmla="*/ 362 h 371"/>
                  <a:gd name="T46" fmla="*/ 416 w 487"/>
                  <a:gd name="T47" fmla="*/ 352 h 371"/>
                  <a:gd name="T48" fmla="*/ 442 w 487"/>
                  <a:gd name="T49" fmla="*/ 251 h 371"/>
                  <a:gd name="T50" fmla="*/ 434 w 487"/>
                  <a:gd name="T51" fmla="*/ 253 h 371"/>
                  <a:gd name="T52" fmla="*/ 415 w 487"/>
                  <a:gd name="T53" fmla="*/ 256 h 371"/>
                  <a:gd name="T54" fmla="*/ 397 w 487"/>
                  <a:gd name="T55" fmla="*/ 245 h 371"/>
                  <a:gd name="T56" fmla="*/ 393 w 487"/>
                  <a:gd name="T57" fmla="*/ 220 h 371"/>
                  <a:gd name="T58" fmla="*/ 408 w 487"/>
                  <a:gd name="T59" fmla="*/ 200 h 371"/>
                  <a:gd name="T60" fmla="*/ 430 w 487"/>
                  <a:gd name="T61" fmla="*/ 199 h 371"/>
                  <a:gd name="T62" fmla="*/ 445 w 487"/>
                  <a:gd name="T63" fmla="*/ 210 h 371"/>
                  <a:gd name="T64" fmla="*/ 450 w 487"/>
                  <a:gd name="T65" fmla="*/ 215 h 371"/>
                  <a:gd name="T66" fmla="*/ 453 w 487"/>
                  <a:gd name="T67" fmla="*/ 215 h 371"/>
                  <a:gd name="T68" fmla="*/ 487 w 487"/>
                  <a:gd name="T69" fmla="*/ 123 h 371"/>
                  <a:gd name="T70" fmla="*/ 346 w 487"/>
                  <a:gd name="T71" fmla="*/ 64 h 371"/>
                  <a:gd name="T72" fmla="*/ 353 w 487"/>
                  <a:gd name="T73" fmla="*/ 43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7" h="371">
                    <a:moveTo>
                      <a:pt x="353" y="43"/>
                    </a:moveTo>
                    <a:cubicBezTo>
                      <a:pt x="355" y="37"/>
                      <a:pt x="359" y="35"/>
                      <a:pt x="362" y="32"/>
                    </a:cubicBezTo>
                    <a:cubicBezTo>
                      <a:pt x="366" y="30"/>
                      <a:pt x="368" y="27"/>
                      <a:pt x="370" y="23"/>
                    </a:cubicBezTo>
                    <a:cubicBezTo>
                      <a:pt x="371" y="19"/>
                      <a:pt x="371" y="14"/>
                      <a:pt x="370" y="10"/>
                    </a:cubicBezTo>
                    <a:cubicBezTo>
                      <a:pt x="368" y="6"/>
                      <a:pt x="365" y="3"/>
                      <a:pt x="358" y="1"/>
                    </a:cubicBezTo>
                    <a:cubicBezTo>
                      <a:pt x="355" y="0"/>
                      <a:pt x="353" y="0"/>
                      <a:pt x="351" y="0"/>
                    </a:cubicBezTo>
                    <a:cubicBezTo>
                      <a:pt x="348" y="0"/>
                      <a:pt x="345" y="0"/>
                      <a:pt x="343" y="2"/>
                    </a:cubicBezTo>
                    <a:cubicBezTo>
                      <a:pt x="340" y="4"/>
                      <a:pt x="337" y="8"/>
                      <a:pt x="336" y="13"/>
                    </a:cubicBezTo>
                    <a:cubicBezTo>
                      <a:pt x="334" y="17"/>
                      <a:pt x="335" y="20"/>
                      <a:pt x="337" y="24"/>
                    </a:cubicBezTo>
                    <a:cubicBezTo>
                      <a:pt x="339" y="29"/>
                      <a:pt x="341" y="33"/>
                      <a:pt x="340" y="39"/>
                    </a:cubicBezTo>
                    <a:cubicBezTo>
                      <a:pt x="340" y="39"/>
                      <a:pt x="340" y="39"/>
                      <a:pt x="340" y="39"/>
                    </a:cubicBezTo>
                    <a:cubicBezTo>
                      <a:pt x="332" y="63"/>
                      <a:pt x="332" y="63"/>
                      <a:pt x="332" y="63"/>
                    </a:cubicBezTo>
                    <a:cubicBezTo>
                      <a:pt x="323" y="62"/>
                      <a:pt x="313" y="62"/>
                      <a:pt x="303" y="62"/>
                    </a:cubicBezTo>
                    <a:cubicBezTo>
                      <a:pt x="298" y="62"/>
                      <a:pt x="293" y="62"/>
                      <a:pt x="288" y="63"/>
                    </a:cubicBezTo>
                    <a:cubicBezTo>
                      <a:pt x="240" y="65"/>
                      <a:pt x="191" y="76"/>
                      <a:pt x="147" y="94"/>
                    </a:cubicBezTo>
                    <a:cubicBezTo>
                      <a:pt x="91" y="160"/>
                      <a:pt x="45" y="232"/>
                      <a:pt x="9" y="303"/>
                    </a:cubicBezTo>
                    <a:cubicBezTo>
                      <a:pt x="9" y="303"/>
                      <a:pt x="9" y="303"/>
                      <a:pt x="9" y="303"/>
                    </a:cubicBezTo>
                    <a:cubicBezTo>
                      <a:pt x="0" y="321"/>
                      <a:pt x="3" y="343"/>
                      <a:pt x="18" y="357"/>
                    </a:cubicBezTo>
                    <a:cubicBezTo>
                      <a:pt x="33" y="371"/>
                      <a:pt x="55" y="365"/>
                      <a:pt x="72" y="354"/>
                    </a:cubicBezTo>
                    <a:cubicBezTo>
                      <a:pt x="73" y="354"/>
                      <a:pt x="73" y="354"/>
                      <a:pt x="73" y="354"/>
                    </a:cubicBezTo>
                    <a:cubicBezTo>
                      <a:pt x="73" y="354"/>
                      <a:pt x="73" y="354"/>
                      <a:pt x="73" y="354"/>
                    </a:cubicBezTo>
                    <a:cubicBezTo>
                      <a:pt x="191" y="283"/>
                      <a:pt x="289" y="293"/>
                      <a:pt x="394" y="361"/>
                    </a:cubicBezTo>
                    <a:cubicBezTo>
                      <a:pt x="398" y="363"/>
                      <a:pt x="403" y="364"/>
                      <a:pt x="407" y="362"/>
                    </a:cubicBezTo>
                    <a:cubicBezTo>
                      <a:pt x="411" y="360"/>
                      <a:pt x="415" y="356"/>
                      <a:pt x="416" y="352"/>
                    </a:cubicBezTo>
                    <a:cubicBezTo>
                      <a:pt x="423" y="317"/>
                      <a:pt x="432" y="283"/>
                      <a:pt x="442" y="251"/>
                    </a:cubicBezTo>
                    <a:cubicBezTo>
                      <a:pt x="440" y="251"/>
                      <a:pt x="439" y="251"/>
                      <a:pt x="434" y="253"/>
                    </a:cubicBezTo>
                    <a:cubicBezTo>
                      <a:pt x="430" y="255"/>
                      <a:pt x="423" y="258"/>
                      <a:pt x="415" y="256"/>
                    </a:cubicBezTo>
                    <a:cubicBezTo>
                      <a:pt x="408" y="254"/>
                      <a:pt x="402" y="251"/>
                      <a:pt x="397" y="245"/>
                    </a:cubicBezTo>
                    <a:cubicBezTo>
                      <a:pt x="393" y="239"/>
                      <a:pt x="391" y="230"/>
                      <a:pt x="393" y="220"/>
                    </a:cubicBezTo>
                    <a:cubicBezTo>
                      <a:pt x="396" y="210"/>
                      <a:pt x="402" y="203"/>
                      <a:pt x="408" y="200"/>
                    </a:cubicBezTo>
                    <a:cubicBezTo>
                      <a:pt x="416" y="197"/>
                      <a:pt x="423" y="197"/>
                      <a:pt x="430" y="199"/>
                    </a:cubicBezTo>
                    <a:cubicBezTo>
                      <a:pt x="437" y="201"/>
                      <a:pt x="442" y="206"/>
                      <a:pt x="445" y="210"/>
                    </a:cubicBezTo>
                    <a:cubicBezTo>
                      <a:pt x="449" y="214"/>
                      <a:pt x="449" y="214"/>
                      <a:pt x="450" y="215"/>
                    </a:cubicBezTo>
                    <a:cubicBezTo>
                      <a:pt x="453" y="215"/>
                      <a:pt x="453" y="215"/>
                      <a:pt x="453" y="215"/>
                    </a:cubicBezTo>
                    <a:cubicBezTo>
                      <a:pt x="463" y="183"/>
                      <a:pt x="475" y="152"/>
                      <a:pt x="487" y="123"/>
                    </a:cubicBezTo>
                    <a:cubicBezTo>
                      <a:pt x="448" y="89"/>
                      <a:pt x="399" y="70"/>
                      <a:pt x="346" y="64"/>
                    </a:cubicBezTo>
                    <a:lnTo>
                      <a:pt x="353" y="4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4" name="任意多边形: 形状 5"/>
              <p:cNvSpPr/>
              <p:nvPr/>
            </p:nvSpPr>
            <p:spPr bwMode="auto">
              <a:xfrm>
                <a:off x="4013" y="701"/>
                <a:ext cx="1270" cy="736"/>
              </a:xfrm>
              <a:custGeom>
                <a:avLst/>
                <a:gdLst>
                  <a:gd name="T0" fmla="*/ 17 w 537"/>
                  <a:gd name="T1" fmla="*/ 0 h 311"/>
                  <a:gd name="T2" fmla="*/ 14 w 537"/>
                  <a:gd name="T3" fmla="*/ 0 h 311"/>
                  <a:gd name="T4" fmla="*/ 2 w 537"/>
                  <a:gd name="T5" fmla="*/ 10 h 311"/>
                  <a:gd name="T6" fmla="*/ 7 w 537"/>
                  <a:gd name="T7" fmla="*/ 25 h 311"/>
                  <a:gd name="T8" fmla="*/ 132 w 537"/>
                  <a:gd name="T9" fmla="*/ 160 h 311"/>
                  <a:gd name="T10" fmla="*/ 136 w 537"/>
                  <a:gd name="T11" fmla="*/ 157 h 311"/>
                  <a:gd name="T12" fmla="*/ 139 w 537"/>
                  <a:gd name="T13" fmla="*/ 151 h 311"/>
                  <a:gd name="T14" fmla="*/ 151 w 537"/>
                  <a:gd name="T15" fmla="*/ 136 h 311"/>
                  <a:gd name="T16" fmla="*/ 171 w 537"/>
                  <a:gd name="T17" fmla="*/ 131 h 311"/>
                  <a:gd name="T18" fmla="*/ 192 w 537"/>
                  <a:gd name="T19" fmla="*/ 146 h 311"/>
                  <a:gd name="T20" fmla="*/ 195 w 537"/>
                  <a:gd name="T21" fmla="*/ 170 h 311"/>
                  <a:gd name="T22" fmla="*/ 182 w 537"/>
                  <a:gd name="T23" fmla="*/ 186 h 311"/>
                  <a:gd name="T24" fmla="*/ 163 w 537"/>
                  <a:gd name="T25" fmla="*/ 190 h 311"/>
                  <a:gd name="T26" fmla="*/ 154 w 537"/>
                  <a:gd name="T27" fmla="*/ 189 h 311"/>
                  <a:gd name="T28" fmla="*/ 153 w 537"/>
                  <a:gd name="T29" fmla="*/ 190 h 311"/>
                  <a:gd name="T30" fmla="*/ 220 w 537"/>
                  <a:gd name="T31" fmla="*/ 311 h 311"/>
                  <a:gd name="T32" fmla="*/ 353 w 537"/>
                  <a:gd name="T33" fmla="*/ 253 h 311"/>
                  <a:gd name="T34" fmla="*/ 351 w 537"/>
                  <a:gd name="T35" fmla="*/ 252 h 311"/>
                  <a:gd name="T36" fmla="*/ 340 w 537"/>
                  <a:gd name="T37" fmla="*/ 237 h 311"/>
                  <a:gd name="T38" fmla="*/ 340 w 537"/>
                  <a:gd name="T39" fmla="*/ 216 h 311"/>
                  <a:gd name="T40" fmla="*/ 359 w 537"/>
                  <a:gd name="T41" fmla="*/ 200 h 311"/>
                  <a:gd name="T42" fmla="*/ 384 w 537"/>
                  <a:gd name="T43" fmla="*/ 202 h 311"/>
                  <a:gd name="T44" fmla="*/ 396 w 537"/>
                  <a:gd name="T45" fmla="*/ 219 h 311"/>
                  <a:gd name="T46" fmla="*/ 395 w 537"/>
                  <a:gd name="T47" fmla="*/ 239 h 311"/>
                  <a:gd name="T48" fmla="*/ 392 w 537"/>
                  <a:gd name="T49" fmla="*/ 247 h 311"/>
                  <a:gd name="T50" fmla="*/ 393 w 537"/>
                  <a:gd name="T51" fmla="*/ 248 h 311"/>
                  <a:gd name="T52" fmla="*/ 398 w 537"/>
                  <a:gd name="T53" fmla="*/ 248 h 311"/>
                  <a:gd name="T54" fmla="*/ 431 w 537"/>
                  <a:gd name="T55" fmla="*/ 249 h 311"/>
                  <a:gd name="T56" fmla="*/ 537 w 537"/>
                  <a:gd name="T57" fmla="*/ 267 h 311"/>
                  <a:gd name="T58" fmla="*/ 17 w 537"/>
                  <a:gd name="T5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7" h="311">
                    <a:moveTo>
                      <a:pt x="17" y="0"/>
                    </a:moveTo>
                    <a:cubicBezTo>
                      <a:pt x="16" y="0"/>
                      <a:pt x="15" y="0"/>
                      <a:pt x="14" y="0"/>
                    </a:cubicBezTo>
                    <a:cubicBezTo>
                      <a:pt x="9" y="0"/>
                      <a:pt x="4" y="4"/>
                      <a:pt x="2" y="10"/>
                    </a:cubicBezTo>
                    <a:cubicBezTo>
                      <a:pt x="0" y="15"/>
                      <a:pt x="2" y="21"/>
                      <a:pt x="7" y="25"/>
                    </a:cubicBezTo>
                    <a:cubicBezTo>
                      <a:pt x="53" y="64"/>
                      <a:pt x="95" y="109"/>
                      <a:pt x="132" y="160"/>
                    </a:cubicBezTo>
                    <a:cubicBezTo>
                      <a:pt x="136" y="157"/>
                      <a:pt x="136" y="157"/>
                      <a:pt x="136" y="157"/>
                    </a:cubicBezTo>
                    <a:cubicBezTo>
                      <a:pt x="137" y="157"/>
                      <a:pt x="137" y="156"/>
                      <a:pt x="139" y="151"/>
                    </a:cubicBezTo>
                    <a:cubicBezTo>
                      <a:pt x="141" y="146"/>
                      <a:pt x="144" y="140"/>
                      <a:pt x="151" y="136"/>
                    </a:cubicBezTo>
                    <a:cubicBezTo>
                      <a:pt x="156" y="133"/>
                      <a:pt x="163" y="130"/>
                      <a:pt x="171" y="131"/>
                    </a:cubicBezTo>
                    <a:cubicBezTo>
                      <a:pt x="178" y="132"/>
                      <a:pt x="187" y="137"/>
                      <a:pt x="192" y="146"/>
                    </a:cubicBezTo>
                    <a:cubicBezTo>
                      <a:pt x="197" y="154"/>
                      <a:pt x="198" y="164"/>
                      <a:pt x="195" y="170"/>
                    </a:cubicBezTo>
                    <a:cubicBezTo>
                      <a:pt x="193" y="178"/>
                      <a:pt x="188" y="183"/>
                      <a:pt x="182" y="186"/>
                    </a:cubicBezTo>
                    <a:cubicBezTo>
                      <a:pt x="175" y="190"/>
                      <a:pt x="168" y="190"/>
                      <a:pt x="163" y="190"/>
                    </a:cubicBezTo>
                    <a:cubicBezTo>
                      <a:pt x="157" y="189"/>
                      <a:pt x="155" y="189"/>
                      <a:pt x="154" y="189"/>
                    </a:cubicBezTo>
                    <a:cubicBezTo>
                      <a:pt x="153" y="190"/>
                      <a:pt x="153" y="190"/>
                      <a:pt x="153" y="190"/>
                    </a:cubicBezTo>
                    <a:cubicBezTo>
                      <a:pt x="178" y="227"/>
                      <a:pt x="200" y="267"/>
                      <a:pt x="220" y="311"/>
                    </a:cubicBezTo>
                    <a:cubicBezTo>
                      <a:pt x="258" y="279"/>
                      <a:pt x="304" y="260"/>
                      <a:pt x="353" y="253"/>
                    </a:cubicBezTo>
                    <a:cubicBezTo>
                      <a:pt x="352" y="252"/>
                      <a:pt x="352" y="252"/>
                      <a:pt x="351" y="252"/>
                    </a:cubicBezTo>
                    <a:cubicBezTo>
                      <a:pt x="348" y="249"/>
                      <a:pt x="342" y="244"/>
                      <a:pt x="340" y="237"/>
                    </a:cubicBezTo>
                    <a:cubicBezTo>
                      <a:pt x="338" y="230"/>
                      <a:pt x="337" y="223"/>
                      <a:pt x="340" y="216"/>
                    </a:cubicBezTo>
                    <a:cubicBezTo>
                      <a:pt x="343" y="209"/>
                      <a:pt x="350" y="202"/>
                      <a:pt x="359" y="200"/>
                    </a:cubicBezTo>
                    <a:cubicBezTo>
                      <a:pt x="369" y="197"/>
                      <a:pt x="378" y="198"/>
                      <a:pt x="384" y="202"/>
                    </a:cubicBezTo>
                    <a:cubicBezTo>
                      <a:pt x="391" y="206"/>
                      <a:pt x="394" y="213"/>
                      <a:pt x="396" y="219"/>
                    </a:cubicBezTo>
                    <a:cubicBezTo>
                      <a:pt x="399" y="227"/>
                      <a:pt x="397" y="234"/>
                      <a:pt x="395" y="239"/>
                    </a:cubicBezTo>
                    <a:cubicBezTo>
                      <a:pt x="393" y="244"/>
                      <a:pt x="392" y="245"/>
                      <a:pt x="392" y="247"/>
                    </a:cubicBezTo>
                    <a:cubicBezTo>
                      <a:pt x="393" y="248"/>
                      <a:pt x="393" y="248"/>
                      <a:pt x="393" y="248"/>
                    </a:cubicBezTo>
                    <a:cubicBezTo>
                      <a:pt x="395" y="248"/>
                      <a:pt x="396" y="248"/>
                      <a:pt x="398" y="248"/>
                    </a:cubicBezTo>
                    <a:cubicBezTo>
                      <a:pt x="409" y="248"/>
                      <a:pt x="420" y="248"/>
                      <a:pt x="431" y="249"/>
                    </a:cubicBezTo>
                    <a:cubicBezTo>
                      <a:pt x="467" y="250"/>
                      <a:pt x="502" y="257"/>
                      <a:pt x="537" y="267"/>
                    </a:cubicBezTo>
                    <a:cubicBezTo>
                      <a:pt x="409" y="130"/>
                      <a:pt x="236" y="23"/>
                      <a:pt x="17" y="0"/>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5" name="任意多边形: 形状 6"/>
              <p:cNvSpPr/>
              <p:nvPr/>
            </p:nvSpPr>
            <p:spPr bwMode="auto">
              <a:xfrm>
                <a:off x="4557" y="1198"/>
                <a:ext cx="1150" cy="876"/>
              </a:xfrm>
              <a:custGeom>
                <a:avLst/>
                <a:gdLst>
                  <a:gd name="T0" fmla="*/ 478 w 486"/>
                  <a:gd name="T1" fmla="*/ 303 h 370"/>
                  <a:gd name="T2" fmla="*/ 339 w 486"/>
                  <a:gd name="T3" fmla="*/ 93 h 370"/>
                  <a:gd name="T4" fmla="*/ 200 w 486"/>
                  <a:gd name="T5" fmla="*/ 63 h 370"/>
                  <a:gd name="T6" fmla="*/ 184 w 486"/>
                  <a:gd name="T7" fmla="*/ 62 h 370"/>
                  <a:gd name="T8" fmla="*/ 158 w 486"/>
                  <a:gd name="T9" fmla="*/ 63 h 370"/>
                  <a:gd name="T10" fmla="*/ 151 w 486"/>
                  <a:gd name="T11" fmla="*/ 39 h 370"/>
                  <a:gd name="T12" fmla="*/ 151 w 486"/>
                  <a:gd name="T13" fmla="*/ 39 h 370"/>
                  <a:gd name="T14" fmla="*/ 154 w 486"/>
                  <a:gd name="T15" fmla="*/ 24 h 370"/>
                  <a:gd name="T16" fmla="*/ 155 w 486"/>
                  <a:gd name="T17" fmla="*/ 13 h 370"/>
                  <a:gd name="T18" fmla="*/ 148 w 486"/>
                  <a:gd name="T19" fmla="*/ 2 h 370"/>
                  <a:gd name="T20" fmla="*/ 140 w 486"/>
                  <a:gd name="T21" fmla="*/ 0 h 370"/>
                  <a:gd name="T22" fmla="*/ 133 w 486"/>
                  <a:gd name="T23" fmla="*/ 1 h 370"/>
                  <a:gd name="T24" fmla="*/ 121 w 486"/>
                  <a:gd name="T25" fmla="*/ 10 h 370"/>
                  <a:gd name="T26" fmla="*/ 121 w 486"/>
                  <a:gd name="T27" fmla="*/ 23 h 370"/>
                  <a:gd name="T28" fmla="*/ 128 w 486"/>
                  <a:gd name="T29" fmla="*/ 32 h 370"/>
                  <a:gd name="T30" fmla="*/ 138 w 486"/>
                  <a:gd name="T31" fmla="*/ 43 h 370"/>
                  <a:gd name="T32" fmla="*/ 145 w 486"/>
                  <a:gd name="T33" fmla="*/ 64 h 370"/>
                  <a:gd name="T34" fmla="*/ 0 w 486"/>
                  <a:gd name="T35" fmla="*/ 124 h 370"/>
                  <a:gd name="T36" fmla="*/ 34 w 486"/>
                  <a:gd name="T37" fmla="*/ 213 h 370"/>
                  <a:gd name="T38" fmla="*/ 37 w 486"/>
                  <a:gd name="T39" fmla="*/ 210 h 370"/>
                  <a:gd name="T40" fmla="*/ 52 w 486"/>
                  <a:gd name="T41" fmla="*/ 199 h 370"/>
                  <a:gd name="T42" fmla="*/ 73 w 486"/>
                  <a:gd name="T43" fmla="*/ 200 h 370"/>
                  <a:gd name="T44" fmla="*/ 88 w 486"/>
                  <a:gd name="T45" fmla="*/ 220 h 370"/>
                  <a:gd name="T46" fmla="*/ 85 w 486"/>
                  <a:gd name="T47" fmla="*/ 245 h 370"/>
                  <a:gd name="T48" fmla="*/ 67 w 486"/>
                  <a:gd name="T49" fmla="*/ 256 h 370"/>
                  <a:gd name="T50" fmla="*/ 47 w 486"/>
                  <a:gd name="T51" fmla="*/ 253 h 370"/>
                  <a:gd name="T52" fmla="*/ 46 w 486"/>
                  <a:gd name="T53" fmla="*/ 253 h 370"/>
                  <a:gd name="T54" fmla="*/ 71 w 486"/>
                  <a:gd name="T55" fmla="*/ 352 h 370"/>
                  <a:gd name="T56" fmla="*/ 91 w 486"/>
                  <a:gd name="T57" fmla="*/ 362 h 370"/>
                  <a:gd name="T58" fmla="*/ 413 w 486"/>
                  <a:gd name="T59" fmla="*/ 353 h 370"/>
                  <a:gd name="T60" fmla="*/ 414 w 486"/>
                  <a:gd name="T61" fmla="*/ 353 h 370"/>
                  <a:gd name="T62" fmla="*/ 467 w 486"/>
                  <a:gd name="T63" fmla="*/ 356 h 370"/>
                  <a:gd name="T64" fmla="*/ 478 w 486"/>
                  <a:gd name="T65" fmla="*/ 304 h 370"/>
                  <a:gd name="T66" fmla="*/ 478 w 486"/>
                  <a:gd name="T67" fmla="*/ 303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6" h="370">
                    <a:moveTo>
                      <a:pt x="478" y="303"/>
                    </a:moveTo>
                    <a:cubicBezTo>
                      <a:pt x="442" y="232"/>
                      <a:pt x="396" y="160"/>
                      <a:pt x="339" y="93"/>
                    </a:cubicBezTo>
                    <a:cubicBezTo>
                      <a:pt x="295" y="76"/>
                      <a:pt x="247" y="65"/>
                      <a:pt x="200" y="63"/>
                    </a:cubicBezTo>
                    <a:cubicBezTo>
                      <a:pt x="195" y="62"/>
                      <a:pt x="190" y="62"/>
                      <a:pt x="184" y="62"/>
                    </a:cubicBezTo>
                    <a:cubicBezTo>
                      <a:pt x="176" y="62"/>
                      <a:pt x="167" y="62"/>
                      <a:pt x="158" y="63"/>
                    </a:cubicBezTo>
                    <a:cubicBezTo>
                      <a:pt x="151" y="39"/>
                      <a:pt x="151" y="39"/>
                      <a:pt x="151" y="39"/>
                    </a:cubicBezTo>
                    <a:cubicBezTo>
                      <a:pt x="151" y="39"/>
                      <a:pt x="151" y="39"/>
                      <a:pt x="151" y="39"/>
                    </a:cubicBezTo>
                    <a:cubicBezTo>
                      <a:pt x="150" y="33"/>
                      <a:pt x="152" y="29"/>
                      <a:pt x="154" y="24"/>
                    </a:cubicBezTo>
                    <a:cubicBezTo>
                      <a:pt x="155" y="20"/>
                      <a:pt x="156" y="17"/>
                      <a:pt x="155" y="13"/>
                    </a:cubicBezTo>
                    <a:cubicBezTo>
                      <a:pt x="154" y="8"/>
                      <a:pt x="151" y="4"/>
                      <a:pt x="148" y="2"/>
                    </a:cubicBezTo>
                    <a:cubicBezTo>
                      <a:pt x="146" y="0"/>
                      <a:pt x="143" y="0"/>
                      <a:pt x="140" y="0"/>
                    </a:cubicBezTo>
                    <a:cubicBezTo>
                      <a:pt x="138" y="0"/>
                      <a:pt x="135" y="0"/>
                      <a:pt x="133" y="1"/>
                    </a:cubicBezTo>
                    <a:cubicBezTo>
                      <a:pt x="125" y="3"/>
                      <a:pt x="122" y="6"/>
                      <a:pt x="121" y="10"/>
                    </a:cubicBezTo>
                    <a:cubicBezTo>
                      <a:pt x="119" y="14"/>
                      <a:pt x="120" y="19"/>
                      <a:pt x="121" y="23"/>
                    </a:cubicBezTo>
                    <a:cubicBezTo>
                      <a:pt x="122" y="27"/>
                      <a:pt x="125" y="30"/>
                      <a:pt x="128" y="32"/>
                    </a:cubicBezTo>
                    <a:cubicBezTo>
                      <a:pt x="132" y="35"/>
                      <a:pt x="136" y="37"/>
                      <a:pt x="138" y="43"/>
                    </a:cubicBezTo>
                    <a:cubicBezTo>
                      <a:pt x="145" y="64"/>
                      <a:pt x="145" y="64"/>
                      <a:pt x="145" y="64"/>
                    </a:cubicBezTo>
                    <a:cubicBezTo>
                      <a:pt x="90" y="69"/>
                      <a:pt x="40" y="88"/>
                      <a:pt x="0" y="124"/>
                    </a:cubicBezTo>
                    <a:cubicBezTo>
                      <a:pt x="12" y="152"/>
                      <a:pt x="23" y="182"/>
                      <a:pt x="34" y="213"/>
                    </a:cubicBezTo>
                    <a:cubicBezTo>
                      <a:pt x="34" y="212"/>
                      <a:pt x="35" y="212"/>
                      <a:pt x="37" y="210"/>
                    </a:cubicBezTo>
                    <a:cubicBezTo>
                      <a:pt x="40" y="206"/>
                      <a:pt x="45" y="201"/>
                      <a:pt x="52" y="199"/>
                    </a:cubicBezTo>
                    <a:cubicBezTo>
                      <a:pt x="59" y="197"/>
                      <a:pt x="66" y="197"/>
                      <a:pt x="73" y="200"/>
                    </a:cubicBezTo>
                    <a:cubicBezTo>
                      <a:pt x="80" y="203"/>
                      <a:pt x="86" y="210"/>
                      <a:pt x="88" y="220"/>
                    </a:cubicBezTo>
                    <a:cubicBezTo>
                      <a:pt x="91" y="230"/>
                      <a:pt x="89" y="239"/>
                      <a:pt x="85" y="245"/>
                    </a:cubicBezTo>
                    <a:cubicBezTo>
                      <a:pt x="80" y="251"/>
                      <a:pt x="73" y="254"/>
                      <a:pt x="67" y="256"/>
                    </a:cubicBezTo>
                    <a:cubicBezTo>
                      <a:pt x="59" y="258"/>
                      <a:pt x="52" y="255"/>
                      <a:pt x="47" y="253"/>
                    </a:cubicBezTo>
                    <a:cubicBezTo>
                      <a:pt x="47" y="253"/>
                      <a:pt x="46" y="253"/>
                      <a:pt x="46" y="253"/>
                    </a:cubicBezTo>
                    <a:cubicBezTo>
                      <a:pt x="55" y="284"/>
                      <a:pt x="64" y="317"/>
                      <a:pt x="71" y="352"/>
                    </a:cubicBezTo>
                    <a:cubicBezTo>
                      <a:pt x="73" y="360"/>
                      <a:pt x="84" y="365"/>
                      <a:pt x="91" y="362"/>
                    </a:cubicBezTo>
                    <a:cubicBezTo>
                      <a:pt x="210" y="301"/>
                      <a:pt x="311" y="287"/>
                      <a:pt x="413" y="353"/>
                    </a:cubicBezTo>
                    <a:cubicBezTo>
                      <a:pt x="414" y="353"/>
                      <a:pt x="414" y="353"/>
                      <a:pt x="414" y="353"/>
                    </a:cubicBezTo>
                    <a:cubicBezTo>
                      <a:pt x="431" y="363"/>
                      <a:pt x="452" y="370"/>
                      <a:pt x="467" y="356"/>
                    </a:cubicBezTo>
                    <a:cubicBezTo>
                      <a:pt x="482" y="343"/>
                      <a:pt x="486" y="322"/>
                      <a:pt x="478" y="304"/>
                    </a:cubicBezTo>
                    <a:cubicBezTo>
                      <a:pt x="478" y="303"/>
                      <a:pt x="478" y="303"/>
                      <a:pt x="478" y="303"/>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6" name="任意多边形: 形状 7"/>
              <p:cNvSpPr/>
              <p:nvPr/>
            </p:nvSpPr>
            <p:spPr bwMode="auto">
              <a:xfrm>
                <a:off x="3719" y="601"/>
                <a:ext cx="758" cy="853"/>
              </a:xfrm>
              <a:custGeom>
                <a:avLst/>
                <a:gdLst>
                  <a:gd name="T0" fmla="*/ 273 w 320"/>
                  <a:gd name="T1" fmla="*/ 221 h 360"/>
                  <a:gd name="T2" fmla="*/ 273 w 320"/>
                  <a:gd name="T3" fmla="*/ 221 h 360"/>
                  <a:gd name="T4" fmla="*/ 288 w 320"/>
                  <a:gd name="T5" fmla="*/ 220 h 360"/>
                  <a:gd name="T6" fmla="*/ 300 w 320"/>
                  <a:gd name="T7" fmla="*/ 218 h 360"/>
                  <a:gd name="T8" fmla="*/ 308 w 320"/>
                  <a:gd name="T9" fmla="*/ 209 h 360"/>
                  <a:gd name="T10" fmla="*/ 306 w 320"/>
                  <a:gd name="T11" fmla="*/ 194 h 360"/>
                  <a:gd name="T12" fmla="*/ 294 w 320"/>
                  <a:gd name="T13" fmla="*/ 185 h 360"/>
                  <a:gd name="T14" fmla="*/ 281 w 320"/>
                  <a:gd name="T15" fmla="*/ 188 h 360"/>
                  <a:gd name="T16" fmla="*/ 274 w 320"/>
                  <a:gd name="T17" fmla="*/ 197 h 360"/>
                  <a:gd name="T18" fmla="*/ 266 w 320"/>
                  <a:gd name="T19" fmla="*/ 209 h 360"/>
                  <a:gd name="T20" fmla="*/ 245 w 320"/>
                  <a:gd name="T21" fmla="*/ 222 h 360"/>
                  <a:gd name="T22" fmla="*/ 86 w 320"/>
                  <a:gd name="T23" fmla="*/ 59 h 360"/>
                  <a:gd name="T24" fmla="*/ 86 w 320"/>
                  <a:gd name="T25" fmla="*/ 41 h 360"/>
                  <a:gd name="T26" fmla="*/ 92 w 320"/>
                  <a:gd name="T27" fmla="*/ 29 h 360"/>
                  <a:gd name="T28" fmla="*/ 96 w 320"/>
                  <a:gd name="T29" fmla="*/ 18 h 360"/>
                  <a:gd name="T30" fmla="*/ 93 w 320"/>
                  <a:gd name="T31" fmla="*/ 5 h 360"/>
                  <a:gd name="T32" fmla="*/ 79 w 320"/>
                  <a:gd name="T33" fmla="*/ 0 h 360"/>
                  <a:gd name="T34" fmla="*/ 65 w 320"/>
                  <a:gd name="T35" fmla="*/ 5 h 360"/>
                  <a:gd name="T36" fmla="*/ 61 w 320"/>
                  <a:gd name="T37" fmla="*/ 18 h 360"/>
                  <a:gd name="T38" fmla="*/ 66 w 320"/>
                  <a:gd name="T39" fmla="*/ 29 h 360"/>
                  <a:gd name="T40" fmla="*/ 73 w 320"/>
                  <a:gd name="T41" fmla="*/ 42 h 360"/>
                  <a:gd name="T42" fmla="*/ 73 w 320"/>
                  <a:gd name="T43" fmla="*/ 42 h 360"/>
                  <a:gd name="T44" fmla="*/ 73 w 320"/>
                  <a:gd name="T45" fmla="*/ 55 h 360"/>
                  <a:gd name="T46" fmla="*/ 62 w 320"/>
                  <a:gd name="T47" fmla="*/ 68 h 360"/>
                  <a:gd name="T48" fmla="*/ 62 w 320"/>
                  <a:gd name="T49" fmla="*/ 219 h 360"/>
                  <a:gd name="T50" fmla="*/ 42 w 320"/>
                  <a:gd name="T51" fmla="*/ 219 h 360"/>
                  <a:gd name="T52" fmla="*/ 29 w 320"/>
                  <a:gd name="T53" fmla="*/ 213 h 360"/>
                  <a:gd name="T54" fmla="*/ 19 w 320"/>
                  <a:gd name="T55" fmla="*/ 209 h 360"/>
                  <a:gd name="T56" fmla="*/ 6 w 320"/>
                  <a:gd name="T57" fmla="*/ 213 h 360"/>
                  <a:gd name="T58" fmla="*/ 1 w 320"/>
                  <a:gd name="T59" fmla="*/ 227 h 360"/>
                  <a:gd name="T60" fmla="*/ 6 w 320"/>
                  <a:gd name="T61" fmla="*/ 241 h 360"/>
                  <a:gd name="T62" fmla="*/ 19 w 320"/>
                  <a:gd name="T63" fmla="*/ 245 h 360"/>
                  <a:gd name="T64" fmla="*/ 30 w 320"/>
                  <a:gd name="T65" fmla="*/ 240 h 360"/>
                  <a:gd name="T66" fmla="*/ 42 w 320"/>
                  <a:gd name="T67" fmla="*/ 233 h 360"/>
                  <a:gd name="T68" fmla="*/ 43 w 320"/>
                  <a:gd name="T69" fmla="*/ 233 h 360"/>
                  <a:gd name="T70" fmla="*/ 62 w 320"/>
                  <a:gd name="T71" fmla="*/ 233 h 360"/>
                  <a:gd name="T72" fmla="*/ 62 w 320"/>
                  <a:gd name="T73" fmla="*/ 360 h 360"/>
                  <a:gd name="T74" fmla="*/ 176 w 320"/>
                  <a:gd name="T75" fmla="*/ 324 h 360"/>
                  <a:gd name="T76" fmla="*/ 177 w 320"/>
                  <a:gd name="T77" fmla="*/ 324 h 360"/>
                  <a:gd name="T78" fmla="*/ 170 w 320"/>
                  <a:gd name="T79" fmla="*/ 309 h 360"/>
                  <a:gd name="T80" fmla="*/ 174 w 320"/>
                  <a:gd name="T81" fmla="*/ 289 h 360"/>
                  <a:gd name="T82" fmla="*/ 196 w 320"/>
                  <a:gd name="T83" fmla="*/ 276 h 360"/>
                  <a:gd name="T84" fmla="*/ 220 w 320"/>
                  <a:gd name="T85" fmla="*/ 283 h 360"/>
                  <a:gd name="T86" fmla="*/ 229 w 320"/>
                  <a:gd name="T87" fmla="*/ 303 h 360"/>
                  <a:gd name="T88" fmla="*/ 224 w 320"/>
                  <a:gd name="T89" fmla="*/ 321 h 360"/>
                  <a:gd name="T90" fmla="*/ 221 w 320"/>
                  <a:gd name="T91" fmla="*/ 326 h 360"/>
                  <a:gd name="T92" fmla="*/ 320 w 320"/>
                  <a:gd name="T93" fmla="*/ 351 h 360"/>
                  <a:gd name="T94" fmla="*/ 253 w 320"/>
                  <a:gd name="T95" fmla="*/ 233 h 360"/>
                  <a:gd name="T96" fmla="*/ 273 w 320"/>
                  <a:gd name="T97" fmla="*/ 221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360">
                    <a:moveTo>
                      <a:pt x="273" y="221"/>
                    </a:moveTo>
                    <a:cubicBezTo>
                      <a:pt x="273" y="221"/>
                      <a:pt x="273" y="221"/>
                      <a:pt x="273" y="221"/>
                    </a:cubicBezTo>
                    <a:cubicBezTo>
                      <a:pt x="279" y="218"/>
                      <a:pt x="284" y="220"/>
                      <a:pt x="288" y="220"/>
                    </a:cubicBezTo>
                    <a:cubicBezTo>
                      <a:pt x="292" y="221"/>
                      <a:pt x="296" y="221"/>
                      <a:pt x="300" y="218"/>
                    </a:cubicBezTo>
                    <a:cubicBezTo>
                      <a:pt x="304" y="216"/>
                      <a:pt x="307" y="213"/>
                      <a:pt x="308" y="209"/>
                    </a:cubicBezTo>
                    <a:cubicBezTo>
                      <a:pt x="310" y="205"/>
                      <a:pt x="310" y="200"/>
                      <a:pt x="306" y="194"/>
                    </a:cubicBezTo>
                    <a:cubicBezTo>
                      <a:pt x="302" y="187"/>
                      <a:pt x="298" y="185"/>
                      <a:pt x="294" y="185"/>
                    </a:cubicBezTo>
                    <a:cubicBezTo>
                      <a:pt x="290" y="184"/>
                      <a:pt x="285" y="186"/>
                      <a:pt x="281" y="188"/>
                    </a:cubicBezTo>
                    <a:cubicBezTo>
                      <a:pt x="277" y="190"/>
                      <a:pt x="276" y="194"/>
                      <a:pt x="274" y="197"/>
                    </a:cubicBezTo>
                    <a:cubicBezTo>
                      <a:pt x="272" y="201"/>
                      <a:pt x="271" y="206"/>
                      <a:pt x="266" y="209"/>
                    </a:cubicBezTo>
                    <a:cubicBezTo>
                      <a:pt x="245" y="222"/>
                      <a:pt x="245" y="222"/>
                      <a:pt x="245" y="222"/>
                    </a:cubicBezTo>
                    <a:cubicBezTo>
                      <a:pt x="200" y="158"/>
                      <a:pt x="147" y="104"/>
                      <a:pt x="86" y="59"/>
                    </a:cubicBezTo>
                    <a:cubicBezTo>
                      <a:pt x="86" y="41"/>
                      <a:pt x="86" y="41"/>
                      <a:pt x="86" y="41"/>
                    </a:cubicBezTo>
                    <a:cubicBezTo>
                      <a:pt x="86" y="36"/>
                      <a:pt x="90" y="32"/>
                      <a:pt x="92" y="29"/>
                    </a:cubicBezTo>
                    <a:cubicBezTo>
                      <a:pt x="95" y="25"/>
                      <a:pt x="96" y="22"/>
                      <a:pt x="96" y="18"/>
                    </a:cubicBezTo>
                    <a:cubicBezTo>
                      <a:pt x="96" y="13"/>
                      <a:pt x="95" y="8"/>
                      <a:pt x="93" y="5"/>
                    </a:cubicBezTo>
                    <a:cubicBezTo>
                      <a:pt x="90" y="2"/>
                      <a:pt x="86" y="0"/>
                      <a:pt x="79" y="0"/>
                    </a:cubicBezTo>
                    <a:cubicBezTo>
                      <a:pt x="71" y="0"/>
                      <a:pt x="67" y="2"/>
                      <a:pt x="65" y="5"/>
                    </a:cubicBezTo>
                    <a:cubicBezTo>
                      <a:pt x="62" y="8"/>
                      <a:pt x="61" y="13"/>
                      <a:pt x="61" y="18"/>
                    </a:cubicBezTo>
                    <a:cubicBezTo>
                      <a:pt x="61" y="22"/>
                      <a:pt x="63" y="25"/>
                      <a:pt x="66" y="29"/>
                    </a:cubicBezTo>
                    <a:cubicBezTo>
                      <a:pt x="68" y="32"/>
                      <a:pt x="72" y="36"/>
                      <a:pt x="73" y="42"/>
                    </a:cubicBezTo>
                    <a:cubicBezTo>
                      <a:pt x="73" y="42"/>
                      <a:pt x="73" y="42"/>
                      <a:pt x="73" y="42"/>
                    </a:cubicBezTo>
                    <a:cubicBezTo>
                      <a:pt x="73" y="55"/>
                      <a:pt x="73" y="55"/>
                      <a:pt x="73" y="55"/>
                    </a:cubicBezTo>
                    <a:cubicBezTo>
                      <a:pt x="67" y="56"/>
                      <a:pt x="62" y="62"/>
                      <a:pt x="62" y="68"/>
                    </a:cubicBezTo>
                    <a:cubicBezTo>
                      <a:pt x="62" y="219"/>
                      <a:pt x="62" y="219"/>
                      <a:pt x="62" y="219"/>
                    </a:cubicBezTo>
                    <a:cubicBezTo>
                      <a:pt x="42" y="219"/>
                      <a:pt x="42" y="219"/>
                      <a:pt x="42" y="219"/>
                    </a:cubicBezTo>
                    <a:cubicBezTo>
                      <a:pt x="36" y="219"/>
                      <a:pt x="33" y="216"/>
                      <a:pt x="29" y="213"/>
                    </a:cubicBezTo>
                    <a:cubicBezTo>
                      <a:pt x="26" y="211"/>
                      <a:pt x="23" y="209"/>
                      <a:pt x="19" y="209"/>
                    </a:cubicBezTo>
                    <a:cubicBezTo>
                      <a:pt x="14" y="209"/>
                      <a:pt x="9" y="210"/>
                      <a:pt x="6" y="213"/>
                    </a:cubicBezTo>
                    <a:cubicBezTo>
                      <a:pt x="3" y="216"/>
                      <a:pt x="0" y="219"/>
                      <a:pt x="1" y="227"/>
                    </a:cubicBezTo>
                    <a:cubicBezTo>
                      <a:pt x="1" y="235"/>
                      <a:pt x="3" y="239"/>
                      <a:pt x="6" y="241"/>
                    </a:cubicBezTo>
                    <a:cubicBezTo>
                      <a:pt x="9" y="244"/>
                      <a:pt x="14" y="245"/>
                      <a:pt x="19" y="245"/>
                    </a:cubicBezTo>
                    <a:cubicBezTo>
                      <a:pt x="23" y="245"/>
                      <a:pt x="26" y="243"/>
                      <a:pt x="30" y="240"/>
                    </a:cubicBezTo>
                    <a:cubicBezTo>
                      <a:pt x="33" y="237"/>
                      <a:pt x="37" y="233"/>
                      <a:pt x="42" y="233"/>
                    </a:cubicBezTo>
                    <a:cubicBezTo>
                      <a:pt x="43" y="233"/>
                      <a:pt x="43" y="233"/>
                      <a:pt x="43" y="233"/>
                    </a:cubicBezTo>
                    <a:cubicBezTo>
                      <a:pt x="62" y="233"/>
                      <a:pt x="62" y="233"/>
                      <a:pt x="62" y="233"/>
                    </a:cubicBezTo>
                    <a:cubicBezTo>
                      <a:pt x="62" y="360"/>
                      <a:pt x="62" y="360"/>
                      <a:pt x="62" y="360"/>
                    </a:cubicBezTo>
                    <a:cubicBezTo>
                      <a:pt x="94" y="337"/>
                      <a:pt x="134" y="326"/>
                      <a:pt x="176" y="324"/>
                    </a:cubicBezTo>
                    <a:cubicBezTo>
                      <a:pt x="176" y="324"/>
                      <a:pt x="177" y="324"/>
                      <a:pt x="177" y="324"/>
                    </a:cubicBezTo>
                    <a:cubicBezTo>
                      <a:pt x="174" y="321"/>
                      <a:pt x="171" y="316"/>
                      <a:pt x="170" y="309"/>
                    </a:cubicBezTo>
                    <a:cubicBezTo>
                      <a:pt x="169" y="303"/>
                      <a:pt x="170" y="295"/>
                      <a:pt x="174" y="289"/>
                    </a:cubicBezTo>
                    <a:cubicBezTo>
                      <a:pt x="178" y="282"/>
                      <a:pt x="187" y="277"/>
                      <a:pt x="196" y="276"/>
                    </a:cubicBezTo>
                    <a:cubicBezTo>
                      <a:pt x="206" y="275"/>
                      <a:pt x="215" y="278"/>
                      <a:pt x="220" y="283"/>
                    </a:cubicBezTo>
                    <a:cubicBezTo>
                      <a:pt x="226" y="289"/>
                      <a:pt x="228" y="296"/>
                      <a:pt x="229" y="303"/>
                    </a:cubicBezTo>
                    <a:cubicBezTo>
                      <a:pt x="230" y="311"/>
                      <a:pt x="226" y="317"/>
                      <a:pt x="224" y="321"/>
                    </a:cubicBezTo>
                    <a:cubicBezTo>
                      <a:pt x="222" y="324"/>
                      <a:pt x="222" y="325"/>
                      <a:pt x="221" y="326"/>
                    </a:cubicBezTo>
                    <a:cubicBezTo>
                      <a:pt x="255" y="329"/>
                      <a:pt x="288" y="338"/>
                      <a:pt x="320" y="351"/>
                    </a:cubicBezTo>
                    <a:cubicBezTo>
                      <a:pt x="300" y="308"/>
                      <a:pt x="277" y="269"/>
                      <a:pt x="253" y="233"/>
                    </a:cubicBezTo>
                    <a:lnTo>
                      <a:pt x="273" y="221"/>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33" name="任意多边形: 形状 8"/>
              <p:cNvSpPr/>
              <p:nvPr/>
            </p:nvSpPr>
            <p:spPr bwMode="auto">
              <a:xfrm>
                <a:off x="3866" y="1283"/>
                <a:ext cx="878" cy="767"/>
              </a:xfrm>
              <a:custGeom>
                <a:avLst/>
                <a:gdLst>
                  <a:gd name="T0" fmla="*/ 360 w 371"/>
                  <a:gd name="T1" fmla="*/ 175 h 324"/>
                  <a:gd name="T2" fmla="*/ 347 w 371"/>
                  <a:gd name="T3" fmla="*/ 174 h 324"/>
                  <a:gd name="T4" fmla="*/ 338 w 371"/>
                  <a:gd name="T5" fmla="*/ 181 h 324"/>
                  <a:gd name="T6" fmla="*/ 327 w 371"/>
                  <a:gd name="T7" fmla="*/ 190 h 324"/>
                  <a:gd name="T8" fmla="*/ 309 w 371"/>
                  <a:gd name="T9" fmla="*/ 195 h 324"/>
                  <a:gd name="T10" fmla="*/ 273 w 371"/>
                  <a:gd name="T11" fmla="*/ 97 h 324"/>
                  <a:gd name="T12" fmla="*/ 148 w 371"/>
                  <a:gd name="T13" fmla="*/ 61 h 324"/>
                  <a:gd name="T14" fmla="*/ 146 w 371"/>
                  <a:gd name="T15" fmla="*/ 41 h 324"/>
                  <a:gd name="T16" fmla="*/ 146 w 371"/>
                  <a:gd name="T17" fmla="*/ 41 h 324"/>
                  <a:gd name="T18" fmla="*/ 152 w 371"/>
                  <a:gd name="T19" fmla="*/ 27 h 324"/>
                  <a:gd name="T20" fmla="*/ 155 w 371"/>
                  <a:gd name="T21" fmla="*/ 16 h 324"/>
                  <a:gd name="T22" fmla="*/ 150 w 371"/>
                  <a:gd name="T23" fmla="*/ 4 h 324"/>
                  <a:gd name="T24" fmla="*/ 138 w 371"/>
                  <a:gd name="T25" fmla="*/ 0 h 324"/>
                  <a:gd name="T26" fmla="*/ 135 w 371"/>
                  <a:gd name="T27" fmla="*/ 0 h 324"/>
                  <a:gd name="T28" fmla="*/ 122 w 371"/>
                  <a:gd name="T29" fmla="*/ 7 h 324"/>
                  <a:gd name="T30" fmla="*/ 120 w 371"/>
                  <a:gd name="T31" fmla="*/ 20 h 324"/>
                  <a:gd name="T32" fmla="*/ 125 w 371"/>
                  <a:gd name="T33" fmla="*/ 30 h 324"/>
                  <a:gd name="T34" fmla="*/ 133 w 371"/>
                  <a:gd name="T35" fmla="*/ 42 h 324"/>
                  <a:gd name="T36" fmla="*/ 135 w 371"/>
                  <a:gd name="T37" fmla="*/ 60 h 324"/>
                  <a:gd name="T38" fmla="*/ 127 w 371"/>
                  <a:gd name="T39" fmla="*/ 60 h 324"/>
                  <a:gd name="T40" fmla="*/ 0 w 371"/>
                  <a:gd name="T41" fmla="*/ 103 h 324"/>
                  <a:gd name="T42" fmla="*/ 0 w 371"/>
                  <a:gd name="T43" fmla="*/ 175 h 324"/>
                  <a:gd name="T44" fmla="*/ 4 w 371"/>
                  <a:gd name="T45" fmla="*/ 172 h 324"/>
                  <a:gd name="T46" fmla="*/ 22 w 371"/>
                  <a:gd name="T47" fmla="*/ 165 h 324"/>
                  <a:gd name="T48" fmla="*/ 42 w 371"/>
                  <a:gd name="T49" fmla="*/ 172 h 324"/>
                  <a:gd name="T50" fmla="*/ 52 w 371"/>
                  <a:gd name="T51" fmla="*/ 195 h 324"/>
                  <a:gd name="T52" fmla="*/ 42 w 371"/>
                  <a:gd name="T53" fmla="*/ 218 h 324"/>
                  <a:gd name="T54" fmla="*/ 22 w 371"/>
                  <a:gd name="T55" fmla="*/ 224 h 324"/>
                  <a:gd name="T56" fmla="*/ 4 w 371"/>
                  <a:gd name="T57" fmla="*/ 217 h 324"/>
                  <a:gd name="T58" fmla="*/ 0 w 371"/>
                  <a:gd name="T59" fmla="*/ 214 h 324"/>
                  <a:gd name="T60" fmla="*/ 0 w 371"/>
                  <a:gd name="T61" fmla="*/ 309 h 324"/>
                  <a:gd name="T62" fmla="*/ 7 w 371"/>
                  <a:gd name="T63" fmla="*/ 321 h 324"/>
                  <a:gd name="T64" fmla="*/ 21 w 371"/>
                  <a:gd name="T65" fmla="*/ 321 h 324"/>
                  <a:gd name="T66" fmla="*/ 317 w 371"/>
                  <a:gd name="T67" fmla="*/ 316 h 324"/>
                  <a:gd name="T68" fmla="*/ 332 w 371"/>
                  <a:gd name="T69" fmla="*/ 314 h 324"/>
                  <a:gd name="T70" fmla="*/ 337 w 371"/>
                  <a:gd name="T71" fmla="*/ 300 h 324"/>
                  <a:gd name="T72" fmla="*/ 313 w 371"/>
                  <a:gd name="T73" fmla="*/ 208 h 324"/>
                  <a:gd name="T74" fmla="*/ 329 w 371"/>
                  <a:gd name="T75" fmla="*/ 203 h 324"/>
                  <a:gd name="T76" fmla="*/ 330 w 371"/>
                  <a:gd name="T77" fmla="*/ 203 h 324"/>
                  <a:gd name="T78" fmla="*/ 344 w 371"/>
                  <a:gd name="T79" fmla="*/ 207 h 324"/>
                  <a:gd name="T80" fmla="*/ 356 w 371"/>
                  <a:gd name="T81" fmla="*/ 209 h 324"/>
                  <a:gd name="T82" fmla="*/ 367 w 371"/>
                  <a:gd name="T83" fmla="*/ 202 h 324"/>
                  <a:gd name="T84" fmla="*/ 369 w 371"/>
                  <a:gd name="T85" fmla="*/ 187 h 324"/>
                  <a:gd name="T86" fmla="*/ 360 w 371"/>
                  <a:gd name="T87" fmla="*/ 175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1" h="324">
                    <a:moveTo>
                      <a:pt x="360" y="175"/>
                    </a:moveTo>
                    <a:cubicBezTo>
                      <a:pt x="357" y="173"/>
                      <a:pt x="352" y="173"/>
                      <a:pt x="347" y="174"/>
                    </a:cubicBezTo>
                    <a:cubicBezTo>
                      <a:pt x="343" y="175"/>
                      <a:pt x="340" y="178"/>
                      <a:pt x="338" y="181"/>
                    </a:cubicBezTo>
                    <a:cubicBezTo>
                      <a:pt x="335" y="184"/>
                      <a:pt x="332" y="189"/>
                      <a:pt x="327" y="190"/>
                    </a:cubicBezTo>
                    <a:cubicBezTo>
                      <a:pt x="309" y="195"/>
                      <a:pt x="309" y="195"/>
                      <a:pt x="309" y="195"/>
                    </a:cubicBezTo>
                    <a:cubicBezTo>
                      <a:pt x="298" y="160"/>
                      <a:pt x="286" y="127"/>
                      <a:pt x="273" y="97"/>
                    </a:cubicBezTo>
                    <a:cubicBezTo>
                      <a:pt x="235" y="77"/>
                      <a:pt x="191" y="64"/>
                      <a:pt x="148" y="61"/>
                    </a:cubicBezTo>
                    <a:cubicBezTo>
                      <a:pt x="146" y="41"/>
                      <a:pt x="146" y="41"/>
                      <a:pt x="146" y="41"/>
                    </a:cubicBezTo>
                    <a:cubicBezTo>
                      <a:pt x="146" y="41"/>
                      <a:pt x="146" y="41"/>
                      <a:pt x="146" y="41"/>
                    </a:cubicBezTo>
                    <a:cubicBezTo>
                      <a:pt x="146" y="35"/>
                      <a:pt x="150" y="31"/>
                      <a:pt x="152" y="27"/>
                    </a:cubicBezTo>
                    <a:cubicBezTo>
                      <a:pt x="154" y="24"/>
                      <a:pt x="156" y="20"/>
                      <a:pt x="155" y="16"/>
                    </a:cubicBezTo>
                    <a:cubicBezTo>
                      <a:pt x="155" y="11"/>
                      <a:pt x="153" y="7"/>
                      <a:pt x="150" y="4"/>
                    </a:cubicBezTo>
                    <a:cubicBezTo>
                      <a:pt x="148" y="1"/>
                      <a:pt x="144" y="0"/>
                      <a:pt x="138" y="0"/>
                    </a:cubicBezTo>
                    <a:cubicBezTo>
                      <a:pt x="137" y="0"/>
                      <a:pt x="136" y="0"/>
                      <a:pt x="135" y="0"/>
                    </a:cubicBezTo>
                    <a:cubicBezTo>
                      <a:pt x="128" y="1"/>
                      <a:pt x="124" y="3"/>
                      <a:pt x="122" y="7"/>
                    </a:cubicBezTo>
                    <a:cubicBezTo>
                      <a:pt x="120" y="10"/>
                      <a:pt x="119" y="15"/>
                      <a:pt x="120" y="20"/>
                    </a:cubicBezTo>
                    <a:cubicBezTo>
                      <a:pt x="120" y="24"/>
                      <a:pt x="123" y="27"/>
                      <a:pt x="125" y="30"/>
                    </a:cubicBezTo>
                    <a:cubicBezTo>
                      <a:pt x="128" y="33"/>
                      <a:pt x="132" y="37"/>
                      <a:pt x="133" y="42"/>
                    </a:cubicBezTo>
                    <a:cubicBezTo>
                      <a:pt x="135" y="60"/>
                      <a:pt x="135" y="60"/>
                      <a:pt x="135" y="60"/>
                    </a:cubicBezTo>
                    <a:cubicBezTo>
                      <a:pt x="132" y="60"/>
                      <a:pt x="130" y="60"/>
                      <a:pt x="127" y="60"/>
                    </a:cubicBezTo>
                    <a:cubicBezTo>
                      <a:pt x="77" y="60"/>
                      <a:pt x="32" y="73"/>
                      <a:pt x="0" y="103"/>
                    </a:cubicBezTo>
                    <a:cubicBezTo>
                      <a:pt x="0" y="175"/>
                      <a:pt x="0" y="175"/>
                      <a:pt x="0" y="175"/>
                    </a:cubicBezTo>
                    <a:cubicBezTo>
                      <a:pt x="1" y="174"/>
                      <a:pt x="2" y="174"/>
                      <a:pt x="4" y="172"/>
                    </a:cubicBezTo>
                    <a:cubicBezTo>
                      <a:pt x="8" y="169"/>
                      <a:pt x="14" y="165"/>
                      <a:pt x="22" y="165"/>
                    </a:cubicBezTo>
                    <a:cubicBezTo>
                      <a:pt x="28" y="165"/>
                      <a:pt x="36" y="167"/>
                      <a:pt x="42" y="172"/>
                    </a:cubicBezTo>
                    <a:cubicBezTo>
                      <a:pt x="48" y="176"/>
                      <a:pt x="52" y="185"/>
                      <a:pt x="52" y="195"/>
                    </a:cubicBezTo>
                    <a:cubicBezTo>
                      <a:pt x="51" y="205"/>
                      <a:pt x="47" y="213"/>
                      <a:pt x="42" y="218"/>
                    </a:cubicBezTo>
                    <a:cubicBezTo>
                      <a:pt x="36" y="223"/>
                      <a:pt x="29" y="224"/>
                      <a:pt x="22" y="224"/>
                    </a:cubicBezTo>
                    <a:cubicBezTo>
                      <a:pt x="14" y="224"/>
                      <a:pt x="8" y="220"/>
                      <a:pt x="4" y="217"/>
                    </a:cubicBezTo>
                    <a:cubicBezTo>
                      <a:pt x="2" y="216"/>
                      <a:pt x="1" y="215"/>
                      <a:pt x="0" y="214"/>
                    </a:cubicBezTo>
                    <a:cubicBezTo>
                      <a:pt x="0" y="309"/>
                      <a:pt x="0" y="309"/>
                      <a:pt x="0" y="309"/>
                    </a:cubicBezTo>
                    <a:cubicBezTo>
                      <a:pt x="0" y="314"/>
                      <a:pt x="3" y="319"/>
                      <a:pt x="7" y="321"/>
                    </a:cubicBezTo>
                    <a:cubicBezTo>
                      <a:pt x="12" y="324"/>
                      <a:pt x="17" y="324"/>
                      <a:pt x="21" y="321"/>
                    </a:cubicBezTo>
                    <a:cubicBezTo>
                      <a:pt x="134" y="253"/>
                      <a:pt x="222" y="264"/>
                      <a:pt x="317" y="316"/>
                    </a:cubicBezTo>
                    <a:cubicBezTo>
                      <a:pt x="322" y="318"/>
                      <a:pt x="328" y="318"/>
                      <a:pt x="332" y="314"/>
                    </a:cubicBezTo>
                    <a:cubicBezTo>
                      <a:pt x="337" y="311"/>
                      <a:pt x="339" y="305"/>
                      <a:pt x="337" y="300"/>
                    </a:cubicBezTo>
                    <a:cubicBezTo>
                      <a:pt x="330" y="268"/>
                      <a:pt x="322" y="237"/>
                      <a:pt x="313" y="208"/>
                    </a:cubicBezTo>
                    <a:cubicBezTo>
                      <a:pt x="329" y="203"/>
                      <a:pt x="329" y="203"/>
                      <a:pt x="329" y="203"/>
                    </a:cubicBezTo>
                    <a:cubicBezTo>
                      <a:pt x="330" y="203"/>
                      <a:pt x="330" y="203"/>
                      <a:pt x="330" y="203"/>
                    </a:cubicBezTo>
                    <a:cubicBezTo>
                      <a:pt x="336" y="202"/>
                      <a:pt x="340" y="205"/>
                      <a:pt x="344" y="207"/>
                    </a:cubicBezTo>
                    <a:cubicBezTo>
                      <a:pt x="348" y="209"/>
                      <a:pt x="352" y="210"/>
                      <a:pt x="356" y="209"/>
                    </a:cubicBezTo>
                    <a:cubicBezTo>
                      <a:pt x="361" y="207"/>
                      <a:pt x="365" y="205"/>
                      <a:pt x="367" y="202"/>
                    </a:cubicBezTo>
                    <a:cubicBezTo>
                      <a:pt x="369" y="199"/>
                      <a:pt x="371" y="194"/>
                      <a:pt x="369" y="187"/>
                    </a:cubicBezTo>
                    <a:cubicBezTo>
                      <a:pt x="367" y="180"/>
                      <a:pt x="364" y="176"/>
                      <a:pt x="360" y="17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7" name="任意多边形: 形状 9"/>
              <p:cNvSpPr/>
              <p:nvPr/>
            </p:nvSpPr>
            <p:spPr bwMode="auto">
              <a:xfrm>
                <a:off x="3211" y="732"/>
                <a:ext cx="605" cy="733"/>
              </a:xfrm>
              <a:custGeom>
                <a:avLst/>
                <a:gdLst>
                  <a:gd name="T0" fmla="*/ 242 w 256"/>
                  <a:gd name="T1" fmla="*/ 0 h 310"/>
                  <a:gd name="T2" fmla="*/ 234 w 256"/>
                  <a:gd name="T3" fmla="*/ 3 h 310"/>
                  <a:gd name="T4" fmla="*/ 73 w 256"/>
                  <a:gd name="T5" fmla="*/ 167 h 310"/>
                  <a:gd name="T6" fmla="*/ 52 w 256"/>
                  <a:gd name="T7" fmla="*/ 154 h 310"/>
                  <a:gd name="T8" fmla="*/ 45 w 256"/>
                  <a:gd name="T9" fmla="*/ 142 h 310"/>
                  <a:gd name="T10" fmla="*/ 38 w 256"/>
                  <a:gd name="T11" fmla="*/ 133 h 310"/>
                  <a:gd name="T12" fmla="*/ 25 w 256"/>
                  <a:gd name="T13" fmla="*/ 130 h 310"/>
                  <a:gd name="T14" fmla="*/ 13 w 256"/>
                  <a:gd name="T15" fmla="*/ 139 h 310"/>
                  <a:gd name="T16" fmla="*/ 10 w 256"/>
                  <a:gd name="T17" fmla="*/ 154 h 310"/>
                  <a:gd name="T18" fmla="*/ 19 w 256"/>
                  <a:gd name="T19" fmla="*/ 163 h 310"/>
                  <a:gd name="T20" fmla="*/ 31 w 256"/>
                  <a:gd name="T21" fmla="*/ 165 h 310"/>
                  <a:gd name="T22" fmla="*/ 46 w 256"/>
                  <a:gd name="T23" fmla="*/ 166 h 310"/>
                  <a:gd name="T24" fmla="*/ 46 w 256"/>
                  <a:gd name="T25" fmla="*/ 166 h 310"/>
                  <a:gd name="T26" fmla="*/ 66 w 256"/>
                  <a:gd name="T27" fmla="*/ 178 h 310"/>
                  <a:gd name="T28" fmla="*/ 0 w 256"/>
                  <a:gd name="T29" fmla="*/ 293 h 310"/>
                  <a:gd name="T30" fmla="*/ 100 w 256"/>
                  <a:gd name="T31" fmla="*/ 270 h 310"/>
                  <a:gd name="T32" fmla="*/ 98 w 256"/>
                  <a:gd name="T33" fmla="*/ 266 h 310"/>
                  <a:gd name="T34" fmla="*/ 93 w 256"/>
                  <a:gd name="T35" fmla="*/ 248 h 310"/>
                  <a:gd name="T36" fmla="*/ 102 w 256"/>
                  <a:gd name="T37" fmla="*/ 228 h 310"/>
                  <a:gd name="T38" fmla="*/ 125 w 256"/>
                  <a:gd name="T39" fmla="*/ 221 h 310"/>
                  <a:gd name="T40" fmla="*/ 148 w 256"/>
                  <a:gd name="T41" fmla="*/ 234 h 310"/>
                  <a:gd name="T42" fmla="*/ 151 w 256"/>
                  <a:gd name="T43" fmla="*/ 254 h 310"/>
                  <a:gd name="T44" fmla="*/ 144 w 256"/>
                  <a:gd name="T45" fmla="*/ 270 h 310"/>
                  <a:gd name="T46" fmla="*/ 256 w 256"/>
                  <a:gd name="T47" fmla="*/ 310 h 310"/>
                  <a:gd name="T48" fmla="*/ 256 w 256"/>
                  <a:gd name="T49" fmla="*/ 191 h 310"/>
                  <a:gd name="T50" fmla="*/ 252 w 256"/>
                  <a:gd name="T51" fmla="*/ 194 h 310"/>
                  <a:gd name="T52" fmla="*/ 234 w 256"/>
                  <a:gd name="T53" fmla="*/ 201 h 310"/>
                  <a:gd name="T54" fmla="*/ 214 w 256"/>
                  <a:gd name="T55" fmla="*/ 195 h 310"/>
                  <a:gd name="T56" fmla="*/ 204 w 256"/>
                  <a:gd name="T57" fmla="*/ 172 h 310"/>
                  <a:gd name="T58" fmla="*/ 214 w 256"/>
                  <a:gd name="T59" fmla="*/ 149 h 310"/>
                  <a:gd name="T60" fmla="*/ 234 w 256"/>
                  <a:gd name="T61" fmla="*/ 142 h 310"/>
                  <a:gd name="T62" fmla="*/ 251 w 256"/>
                  <a:gd name="T63" fmla="*/ 149 h 310"/>
                  <a:gd name="T64" fmla="*/ 256 w 256"/>
                  <a:gd name="T65" fmla="*/ 152 h 310"/>
                  <a:gd name="T66" fmla="*/ 256 w 256"/>
                  <a:gd name="T67" fmla="*/ 14 h 310"/>
                  <a:gd name="T68" fmla="*/ 242 w 256"/>
                  <a:gd name="T69"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310">
                    <a:moveTo>
                      <a:pt x="242" y="0"/>
                    </a:moveTo>
                    <a:cubicBezTo>
                      <a:pt x="239" y="1"/>
                      <a:pt x="236" y="2"/>
                      <a:pt x="234" y="3"/>
                    </a:cubicBezTo>
                    <a:cubicBezTo>
                      <a:pt x="173" y="49"/>
                      <a:pt x="119" y="103"/>
                      <a:pt x="73" y="167"/>
                    </a:cubicBezTo>
                    <a:cubicBezTo>
                      <a:pt x="52" y="154"/>
                      <a:pt x="52" y="154"/>
                      <a:pt x="52" y="154"/>
                    </a:cubicBezTo>
                    <a:cubicBezTo>
                      <a:pt x="47" y="151"/>
                      <a:pt x="46" y="146"/>
                      <a:pt x="45" y="142"/>
                    </a:cubicBezTo>
                    <a:cubicBezTo>
                      <a:pt x="43" y="139"/>
                      <a:pt x="41" y="135"/>
                      <a:pt x="38" y="133"/>
                    </a:cubicBezTo>
                    <a:cubicBezTo>
                      <a:pt x="34" y="131"/>
                      <a:pt x="29" y="129"/>
                      <a:pt x="25" y="130"/>
                    </a:cubicBezTo>
                    <a:cubicBezTo>
                      <a:pt x="21" y="130"/>
                      <a:pt x="17" y="132"/>
                      <a:pt x="13" y="139"/>
                    </a:cubicBezTo>
                    <a:cubicBezTo>
                      <a:pt x="9" y="145"/>
                      <a:pt x="9" y="150"/>
                      <a:pt x="10" y="154"/>
                    </a:cubicBezTo>
                    <a:cubicBezTo>
                      <a:pt x="12" y="158"/>
                      <a:pt x="15" y="161"/>
                      <a:pt x="19" y="163"/>
                    </a:cubicBezTo>
                    <a:cubicBezTo>
                      <a:pt x="23" y="166"/>
                      <a:pt x="26" y="166"/>
                      <a:pt x="31" y="165"/>
                    </a:cubicBezTo>
                    <a:cubicBezTo>
                      <a:pt x="35" y="165"/>
                      <a:pt x="40" y="163"/>
                      <a:pt x="46" y="166"/>
                    </a:cubicBezTo>
                    <a:cubicBezTo>
                      <a:pt x="46" y="166"/>
                      <a:pt x="46" y="166"/>
                      <a:pt x="46" y="166"/>
                    </a:cubicBezTo>
                    <a:cubicBezTo>
                      <a:pt x="66" y="178"/>
                      <a:pt x="66" y="178"/>
                      <a:pt x="66" y="178"/>
                    </a:cubicBezTo>
                    <a:cubicBezTo>
                      <a:pt x="42" y="213"/>
                      <a:pt x="20" y="251"/>
                      <a:pt x="0" y="293"/>
                    </a:cubicBezTo>
                    <a:cubicBezTo>
                      <a:pt x="32" y="281"/>
                      <a:pt x="66" y="273"/>
                      <a:pt x="100" y="270"/>
                    </a:cubicBezTo>
                    <a:cubicBezTo>
                      <a:pt x="100" y="269"/>
                      <a:pt x="99" y="268"/>
                      <a:pt x="98" y="266"/>
                    </a:cubicBezTo>
                    <a:cubicBezTo>
                      <a:pt x="95" y="262"/>
                      <a:pt x="92" y="256"/>
                      <a:pt x="93" y="248"/>
                    </a:cubicBezTo>
                    <a:cubicBezTo>
                      <a:pt x="94" y="241"/>
                      <a:pt x="96" y="234"/>
                      <a:pt x="102" y="228"/>
                    </a:cubicBezTo>
                    <a:cubicBezTo>
                      <a:pt x="107" y="223"/>
                      <a:pt x="116" y="220"/>
                      <a:pt x="125" y="221"/>
                    </a:cubicBezTo>
                    <a:cubicBezTo>
                      <a:pt x="135" y="222"/>
                      <a:pt x="144" y="227"/>
                      <a:pt x="148" y="234"/>
                    </a:cubicBezTo>
                    <a:cubicBezTo>
                      <a:pt x="152" y="240"/>
                      <a:pt x="152" y="248"/>
                      <a:pt x="151" y="254"/>
                    </a:cubicBezTo>
                    <a:cubicBezTo>
                      <a:pt x="151" y="261"/>
                      <a:pt x="147" y="266"/>
                      <a:pt x="144" y="270"/>
                    </a:cubicBezTo>
                    <a:cubicBezTo>
                      <a:pt x="186" y="273"/>
                      <a:pt x="225" y="286"/>
                      <a:pt x="256" y="310"/>
                    </a:cubicBezTo>
                    <a:cubicBezTo>
                      <a:pt x="256" y="191"/>
                      <a:pt x="256" y="191"/>
                      <a:pt x="256" y="191"/>
                    </a:cubicBezTo>
                    <a:cubicBezTo>
                      <a:pt x="255" y="192"/>
                      <a:pt x="254" y="193"/>
                      <a:pt x="252" y="194"/>
                    </a:cubicBezTo>
                    <a:cubicBezTo>
                      <a:pt x="248" y="197"/>
                      <a:pt x="242" y="201"/>
                      <a:pt x="234" y="201"/>
                    </a:cubicBezTo>
                    <a:cubicBezTo>
                      <a:pt x="227" y="201"/>
                      <a:pt x="220" y="200"/>
                      <a:pt x="214" y="195"/>
                    </a:cubicBezTo>
                    <a:cubicBezTo>
                      <a:pt x="208" y="190"/>
                      <a:pt x="204" y="182"/>
                      <a:pt x="204" y="172"/>
                    </a:cubicBezTo>
                    <a:cubicBezTo>
                      <a:pt x="204" y="162"/>
                      <a:pt x="208" y="153"/>
                      <a:pt x="214" y="149"/>
                    </a:cubicBezTo>
                    <a:cubicBezTo>
                      <a:pt x="220" y="144"/>
                      <a:pt x="227" y="142"/>
                      <a:pt x="234" y="142"/>
                    </a:cubicBezTo>
                    <a:cubicBezTo>
                      <a:pt x="241" y="142"/>
                      <a:pt x="247" y="146"/>
                      <a:pt x="251" y="149"/>
                    </a:cubicBezTo>
                    <a:cubicBezTo>
                      <a:pt x="254" y="151"/>
                      <a:pt x="255" y="152"/>
                      <a:pt x="256" y="152"/>
                    </a:cubicBezTo>
                    <a:cubicBezTo>
                      <a:pt x="256" y="14"/>
                      <a:pt x="256" y="14"/>
                      <a:pt x="256" y="14"/>
                    </a:cubicBezTo>
                    <a:cubicBezTo>
                      <a:pt x="256" y="7"/>
                      <a:pt x="249" y="0"/>
                      <a:pt x="24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35" name="任意多边形: 形状 10"/>
              <p:cNvSpPr/>
              <p:nvPr/>
            </p:nvSpPr>
            <p:spPr bwMode="auto">
              <a:xfrm>
                <a:off x="2927" y="1283"/>
                <a:ext cx="1034" cy="767"/>
              </a:xfrm>
              <a:custGeom>
                <a:avLst/>
                <a:gdLst>
                  <a:gd name="T0" fmla="*/ 432 w 437"/>
                  <a:gd name="T1" fmla="*/ 181 h 324"/>
                  <a:gd name="T2" fmla="*/ 419 w 437"/>
                  <a:gd name="T3" fmla="*/ 177 h 324"/>
                  <a:gd name="T4" fmla="*/ 408 w 437"/>
                  <a:gd name="T5" fmla="*/ 181 h 324"/>
                  <a:gd name="T6" fmla="*/ 395 w 437"/>
                  <a:gd name="T7" fmla="*/ 187 h 324"/>
                  <a:gd name="T8" fmla="*/ 376 w 437"/>
                  <a:gd name="T9" fmla="*/ 187 h 324"/>
                  <a:gd name="T10" fmla="*/ 376 w 437"/>
                  <a:gd name="T11" fmla="*/ 110 h 324"/>
                  <a:gd name="T12" fmla="*/ 245 w 437"/>
                  <a:gd name="T13" fmla="*/ 60 h 324"/>
                  <a:gd name="T14" fmla="*/ 247 w 437"/>
                  <a:gd name="T15" fmla="*/ 42 h 324"/>
                  <a:gd name="T16" fmla="*/ 254 w 437"/>
                  <a:gd name="T17" fmla="*/ 30 h 324"/>
                  <a:gd name="T18" fmla="*/ 260 w 437"/>
                  <a:gd name="T19" fmla="*/ 20 h 324"/>
                  <a:gd name="T20" fmla="*/ 258 w 437"/>
                  <a:gd name="T21" fmla="*/ 7 h 324"/>
                  <a:gd name="T22" fmla="*/ 244 w 437"/>
                  <a:gd name="T23" fmla="*/ 0 h 324"/>
                  <a:gd name="T24" fmla="*/ 242 w 437"/>
                  <a:gd name="T25" fmla="*/ 0 h 324"/>
                  <a:gd name="T26" fmla="*/ 230 w 437"/>
                  <a:gd name="T27" fmla="*/ 4 h 324"/>
                  <a:gd name="T28" fmla="*/ 225 w 437"/>
                  <a:gd name="T29" fmla="*/ 16 h 324"/>
                  <a:gd name="T30" fmla="*/ 228 w 437"/>
                  <a:gd name="T31" fmla="*/ 27 h 324"/>
                  <a:gd name="T32" fmla="*/ 234 w 437"/>
                  <a:gd name="T33" fmla="*/ 41 h 324"/>
                  <a:gd name="T34" fmla="*/ 234 w 437"/>
                  <a:gd name="T35" fmla="*/ 41 h 324"/>
                  <a:gd name="T36" fmla="*/ 231 w 437"/>
                  <a:gd name="T37" fmla="*/ 60 h 324"/>
                  <a:gd name="T38" fmla="*/ 230 w 437"/>
                  <a:gd name="T39" fmla="*/ 60 h 324"/>
                  <a:gd name="T40" fmla="*/ 105 w 437"/>
                  <a:gd name="T41" fmla="*/ 93 h 324"/>
                  <a:gd name="T42" fmla="*/ 67 w 437"/>
                  <a:gd name="T43" fmla="*/ 196 h 324"/>
                  <a:gd name="T44" fmla="*/ 44 w 437"/>
                  <a:gd name="T45" fmla="*/ 190 h 324"/>
                  <a:gd name="T46" fmla="*/ 33 w 437"/>
                  <a:gd name="T47" fmla="*/ 181 h 324"/>
                  <a:gd name="T48" fmla="*/ 24 w 437"/>
                  <a:gd name="T49" fmla="*/ 174 h 324"/>
                  <a:gd name="T50" fmla="*/ 10 w 437"/>
                  <a:gd name="T51" fmla="*/ 175 h 324"/>
                  <a:gd name="T52" fmla="*/ 2 w 437"/>
                  <a:gd name="T53" fmla="*/ 187 h 324"/>
                  <a:gd name="T54" fmla="*/ 3 w 437"/>
                  <a:gd name="T55" fmla="*/ 202 h 324"/>
                  <a:gd name="T56" fmla="*/ 15 w 437"/>
                  <a:gd name="T57" fmla="*/ 209 h 324"/>
                  <a:gd name="T58" fmla="*/ 26 w 437"/>
                  <a:gd name="T59" fmla="*/ 207 h 324"/>
                  <a:gd name="T60" fmla="*/ 41 w 437"/>
                  <a:gd name="T61" fmla="*/ 203 h 324"/>
                  <a:gd name="T62" fmla="*/ 41 w 437"/>
                  <a:gd name="T63" fmla="*/ 203 h 324"/>
                  <a:gd name="T64" fmla="*/ 63 w 437"/>
                  <a:gd name="T65" fmla="*/ 209 h 324"/>
                  <a:gd name="T66" fmla="*/ 38 w 437"/>
                  <a:gd name="T67" fmla="*/ 300 h 324"/>
                  <a:gd name="T68" fmla="*/ 43 w 437"/>
                  <a:gd name="T69" fmla="*/ 314 h 324"/>
                  <a:gd name="T70" fmla="*/ 58 w 437"/>
                  <a:gd name="T71" fmla="*/ 315 h 324"/>
                  <a:gd name="T72" fmla="*/ 355 w 437"/>
                  <a:gd name="T73" fmla="*/ 321 h 324"/>
                  <a:gd name="T74" fmla="*/ 369 w 437"/>
                  <a:gd name="T75" fmla="*/ 321 h 324"/>
                  <a:gd name="T76" fmla="*/ 376 w 437"/>
                  <a:gd name="T77" fmla="*/ 309 h 324"/>
                  <a:gd name="T78" fmla="*/ 376 w 437"/>
                  <a:gd name="T79" fmla="*/ 201 h 324"/>
                  <a:gd name="T80" fmla="*/ 395 w 437"/>
                  <a:gd name="T81" fmla="*/ 201 h 324"/>
                  <a:gd name="T82" fmla="*/ 395 w 437"/>
                  <a:gd name="T83" fmla="*/ 201 h 324"/>
                  <a:gd name="T84" fmla="*/ 408 w 437"/>
                  <a:gd name="T85" fmla="*/ 208 h 324"/>
                  <a:gd name="T86" fmla="*/ 419 w 437"/>
                  <a:gd name="T87" fmla="*/ 213 h 324"/>
                  <a:gd name="T88" fmla="*/ 431 w 437"/>
                  <a:gd name="T89" fmla="*/ 209 h 324"/>
                  <a:gd name="T90" fmla="*/ 437 w 437"/>
                  <a:gd name="T91" fmla="*/ 195 h 324"/>
                  <a:gd name="T92" fmla="*/ 432 w 437"/>
                  <a:gd name="T93" fmla="*/ 181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7" h="324">
                    <a:moveTo>
                      <a:pt x="432" y="181"/>
                    </a:moveTo>
                    <a:cubicBezTo>
                      <a:pt x="428" y="178"/>
                      <a:pt x="424" y="177"/>
                      <a:pt x="419" y="177"/>
                    </a:cubicBezTo>
                    <a:cubicBezTo>
                      <a:pt x="415" y="177"/>
                      <a:pt x="411" y="179"/>
                      <a:pt x="408" y="181"/>
                    </a:cubicBezTo>
                    <a:cubicBezTo>
                      <a:pt x="405" y="184"/>
                      <a:pt x="401" y="187"/>
                      <a:pt x="395" y="187"/>
                    </a:cubicBezTo>
                    <a:cubicBezTo>
                      <a:pt x="376" y="187"/>
                      <a:pt x="376" y="187"/>
                      <a:pt x="376" y="187"/>
                    </a:cubicBezTo>
                    <a:cubicBezTo>
                      <a:pt x="376" y="110"/>
                      <a:pt x="376" y="110"/>
                      <a:pt x="376" y="110"/>
                    </a:cubicBezTo>
                    <a:cubicBezTo>
                      <a:pt x="345" y="76"/>
                      <a:pt x="297" y="60"/>
                      <a:pt x="245" y="60"/>
                    </a:cubicBezTo>
                    <a:cubicBezTo>
                      <a:pt x="247" y="42"/>
                      <a:pt x="247" y="42"/>
                      <a:pt x="247" y="42"/>
                    </a:cubicBezTo>
                    <a:cubicBezTo>
                      <a:pt x="248" y="37"/>
                      <a:pt x="252" y="33"/>
                      <a:pt x="254" y="30"/>
                    </a:cubicBezTo>
                    <a:cubicBezTo>
                      <a:pt x="257" y="27"/>
                      <a:pt x="259" y="24"/>
                      <a:pt x="260" y="20"/>
                    </a:cubicBezTo>
                    <a:cubicBezTo>
                      <a:pt x="261" y="15"/>
                      <a:pt x="260" y="10"/>
                      <a:pt x="258" y="7"/>
                    </a:cubicBezTo>
                    <a:cubicBezTo>
                      <a:pt x="255" y="3"/>
                      <a:pt x="252" y="1"/>
                      <a:pt x="244" y="0"/>
                    </a:cubicBezTo>
                    <a:cubicBezTo>
                      <a:pt x="243" y="0"/>
                      <a:pt x="243" y="0"/>
                      <a:pt x="242" y="0"/>
                    </a:cubicBezTo>
                    <a:cubicBezTo>
                      <a:pt x="236" y="0"/>
                      <a:pt x="232" y="1"/>
                      <a:pt x="230" y="4"/>
                    </a:cubicBezTo>
                    <a:cubicBezTo>
                      <a:pt x="227" y="7"/>
                      <a:pt x="225" y="11"/>
                      <a:pt x="225" y="16"/>
                    </a:cubicBezTo>
                    <a:cubicBezTo>
                      <a:pt x="224" y="20"/>
                      <a:pt x="226" y="24"/>
                      <a:pt x="228" y="27"/>
                    </a:cubicBezTo>
                    <a:cubicBezTo>
                      <a:pt x="230" y="31"/>
                      <a:pt x="234" y="35"/>
                      <a:pt x="234" y="41"/>
                    </a:cubicBezTo>
                    <a:cubicBezTo>
                      <a:pt x="234" y="41"/>
                      <a:pt x="234" y="41"/>
                      <a:pt x="234" y="41"/>
                    </a:cubicBezTo>
                    <a:cubicBezTo>
                      <a:pt x="231" y="60"/>
                      <a:pt x="231" y="60"/>
                      <a:pt x="231" y="60"/>
                    </a:cubicBezTo>
                    <a:cubicBezTo>
                      <a:pt x="231" y="60"/>
                      <a:pt x="231" y="60"/>
                      <a:pt x="230" y="60"/>
                    </a:cubicBezTo>
                    <a:cubicBezTo>
                      <a:pt x="188" y="62"/>
                      <a:pt x="144" y="74"/>
                      <a:pt x="105" y="93"/>
                    </a:cubicBezTo>
                    <a:cubicBezTo>
                      <a:pt x="91" y="125"/>
                      <a:pt x="78" y="159"/>
                      <a:pt x="67" y="196"/>
                    </a:cubicBezTo>
                    <a:cubicBezTo>
                      <a:pt x="44" y="190"/>
                      <a:pt x="44" y="190"/>
                      <a:pt x="44" y="190"/>
                    </a:cubicBezTo>
                    <a:cubicBezTo>
                      <a:pt x="38" y="189"/>
                      <a:pt x="36" y="184"/>
                      <a:pt x="33" y="181"/>
                    </a:cubicBezTo>
                    <a:cubicBezTo>
                      <a:pt x="30" y="178"/>
                      <a:pt x="28" y="175"/>
                      <a:pt x="24" y="174"/>
                    </a:cubicBezTo>
                    <a:cubicBezTo>
                      <a:pt x="19" y="173"/>
                      <a:pt x="14" y="173"/>
                      <a:pt x="10" y="175"/>
                    </a:cubicBezTo>
                    <a:cubicBezTo>
                      <a:pt x="7" y="176"/>
                      <a:pt x="3" y="180"/>
                      <a:pt x="2" y="187"/>
                    </a:cubicBezTo>
                    <a:cubicBezTo>
                      <a:pt x="0" y="194"/>
                      <a:pt x="1" y="199"/>
                      <a:pt x="3" y="202"/>
                    </a:cubicBezTo>
                    <a:cubicBezTo>
                      <a:pt x="6" y="205"/>
                      <a:pt x="10" y="207"/>
                      <a:pt x="15" y="209"/>
                    </a:cubicBezTo>
                    <a:cubicBezTo>
                      <a:pt x="19" y="210"/>
                      <a:pt x="22" y="209"/>
                      <a:pt x="26" y="207"/>
                    </a:cubicBezTo>
                    <a:cubicBezTo>
                      <a:pt x="30" y="205"/>
                      <a:pt x="35" y="202"/>
                      <a:pt x="41" y="203"/>
                    </a:cubicBezTo>
                    <a:cubicBezTo>
                      <a:pt x="41" y="203"/>
                      <a:pt x="41" y="203"/>
                      <a:pt x="41" y="203"/>
                    </a:cubicBezTo>
                    <a:cubicBezTo>
                      <a:pt x="63" y="209"/>
                      <a:pt x="63" y="209"/>
                      <a:pt x="63" y="209"/>
                    </a:cubicBezTo>
                    <a:cubicBezTo>
                      <a:pt x="54" y="238"/>
                      <a:pt x="46" y="268"/>
                      <a:pt x="38" y="300"/>
                    </a:cubicBezTo>
                    <a:cubicBezTo>
                      <a:pt x="37" y="305"/>
                      <a:pt x="39" y="311"/>
                      <a:pt x="43" y="314"/>
                    </a:cubicBezTo>
                    <a:cubicBezTo>
                      <a:pt x="48" y="317"/>
                      <a:pt x="54" y="318"/>
                      <a:pt x="58" y="315"/>
                    </a:cubicBezTo>
                    <a:cubicBezTo>
                      <a:pt x="161" y="259"/>
                      <a:pt x="252" y="259"/>
                      <a:pt x="355" y="321"/>
                    </a:cubicBezTo>
                    <a:cubicBezTo>
                      <a:pt x="359" y="324"/>
                      <a:pt x="365" y="324"/>
                      <a:pt x="369" y="321"/>
                    </a:cubicBezTo>
                    <a:cubicBezTo>
                      <a:pt x="373" y="319"/>
                      <a:pt x="376" y="314"/>
                      <a:pt x="376" y="309"/>
                    </a:cubicBezTo>
                    <a:cubicBezTo>
                      <a:pt x="376" y="201"/>
                      <a:pt x="376" y="201"/>
                      <a:pt x="376" y="201"/>
                    </a:cubicBezTo>
                    <a:cubicBezTo>
                      <a:pt x="395" y="201"/>
                      <a:pt x="395" y="201"/>
                      <a:pt x="395" y="201"/>
                    </a:cubicBezTo>
                    <a:cubicBezTo>
                      <a:pt x="395" y="201"/>
                      <a:pt x="395" y="201"/>
                      <a:pt x="395" y="201"/>
                    </a:cubicBezTo>
                    <a:cubicBezTo>
                      <a:pt x="401" y="201"/>
                      <a:pt x="405" y="205"/>
                      <a:pt x="408" y="208"/>
                    </a:cubicBezTo>
                    <a:cubicBezTo>
                      <a:pt x="411" y="211"/>
                      <a:pt x="414" y="213"/>
                      <a:pt x="419" y="213"/>
                    </a:cubicBezTo>
                    <a:cubicBezTo>
                      <a:pt x="424" y="213"/>
                      <a:pt x="428" y="212"/>
                      <a:pt x="431" y="209"/>
                    </a:cubicBezTo>
                    <a:cubicBezTo>
                      <a:pt x="434" y="207"/>
                      <a:pt x="437" y="203"/>
                      <a:pt x="437" y="195"/>
                    </a:cubicBezTo>
                    <a:cubicBezTo>
                      <a:pt x="437" y="187"/>
                      <a:pt x="435" y="184"/>
                      <a:pt x="432" y="181"/>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8" name="任意多边形: 形状 11"/>
              <p:cNvSpPr/>
              <p:nvPr/>
            </p:nvSpPr>
            <p:spPr bwMode="auto">
              <a:xfrm>
                <a:off x="3757" y="2100"/>
                <a:ext cx="168" cy="563"/>
              </a:xfrm>
              <a:custGeom>
                <a:avLst/>
                <a:gdLst>
                  <a:gd name="T0" fmla="*/ 0 w 71"/>
                  <a:gd name="T1" fmla="*/ 238 h 238"/>
                  <a:gd name="T2" fmla="*/ 18 w 71"/>
                  <a:gd name="T3" fmla="*/ 238 h 238"/>
                  <a:gd name="T4" fmla="*/ 18 w 71"/>
                  <a:gd name="T5" fmla="*/ 233 h 238"/>
                  <a:gd name="T6" fmla="*/ 13 w 71"/>
                  <a:gd name="T7" fmla="*/ 226 h 238"/>
                  <a:gd name="T8" fmla="*/ 6 w 71"/>
                  <a:gd name="T9" fmla="*/ 208 h 238"/>
                  <a:gd name="T10" fmla="*/ 12 w 71"/>
                  <a:gd name="T11" fmla="*/ 188 h 238"/>
                  <a:gd name="T12" fmla="*/ 35 w 71"/>
                  <a:gd name="T13" fmla="*/ 178 h 238"/>
                  <a:gd name="T14" fmla="*/ 59 w 71"/>
                  <a:gd name="T15" fmla="*/ 188 h 238"/>
                  <a:gd name="T16" fmla="*/ 65 w 71"/>
                  <a:gd name="T17" fmla="*/ 208 h 238"/>
                  <a:gd name="T18" fmla="*/ 59 w 71"/>
                  <a:gd name="T19" fmla="*/ 225 h 238"/>
                  <a:gd name="T20" fmla="*/ 55 w 71"/>
                  <a:gd name="T21" fmla="*/ 231 h 238"/>
                  <a:gd name="T22" fmla="*/ 55 w 71"/>
                  <a:gd name="T23" fmla="*/ 238 h 238"/>
                  <a:gd name="T24" fmla="*/ 71 w 71"/>
                  <a:gd name="T25" fmla="*/ 238 h 238"/>
                  <a:gd name="T26" fmla="*/ 71 w 71"/>
                  <a:gd name="T27" fmla="*/ 0 h 238"/>
                  <a:gd name="T28" fmla="*/ 0 w 71"/>
                  <a:gd name="T29" fmla="*/ 0 h 238"/>
                  <a:gd name="T30" fmla="*/ 0 w 71"/>
                  <a:gd name="T31"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238">
                    <a:moveTo>
                      <a:pt x="0" y="238"/>
                    </a:moveTo>
                    <a:cubicBezTo>
                      <a:pt x="18" y="238"/>
                      <a:pt x="18" y="238"/>
                      <a:pt x="18" y="238"/>
                    </a:cubicBezTo>
                    <a:cubicBezTo>
                      <a:pt x="18" y="233"/>
                      <a:pt x="18" y="233"/>
                      <a:pt x="18" y="233"/>
                    </a:cubicBezTo>
                    <a:cubicBezTo>
                      <a:pt x="18" y="231"/>
                      <a:pt x="17" y="231"/>
                      <a:pt x="13" y="226"/>
                    </a:cubicBezTo>
                    <a:cubicBezTo>
                      <a:pt x="10" y="222"/>
                      <a:pt x="6" y="216"/>
                      <a:pt x="6" y="208"/>
                    </a:cubicBezTo>
                    <a:cubicBezTo>
                      <a:pt x="6" y="201"/>
                      <a:pt x="8" y="194"/>
                      <a:pt x="12" y="188"/>
                    </a:cubicBezTo>
                    <a:cubicBezTo>
                      <a:pt x="17" y="182"/>
                      <a:pt x="26" y="178"/>
                      <a:pt x="35" y="178"/>
                    </a:cubicBezTo>
                    <a:cubicBezTo>
                      <a:pt x="45" y="178"/>
                      <a:pt x="54" y="182"/>
                      <a:pt x="59" y="188"/>
                    </a:cubicBezTo>
                    <a:cubicBezTo>
                      <a:pt x="64" y="194"/>
                      <a:pt x="65" y="201"/>
                      <a:pt x="65" y="208"/>
                    </a:cubicBezTo>
                    <a:cubicBezTo>
                      <a:pt x="65" y="216"/>
                      <a:pt x="61" y="222"/>
                      <a:pt x="59" y="225"/>
                    </a:cubicBezTo>
                    <a:cubicBezTo>
                      <a:pt x="55" y="230"/>
                      <a:pt x="55" y="230"/>
                      <a:pt x="55" y="231"/>
                    </a:cubicBezTo>
                    <a:cubicBezTo>
                      <a:pt x="55" y="238"/>
                      <a:pt x="55" y="238"/>
                      <a:pt x="55" y="238"/>
                    </a:cubicBezTo>
                    <a:cubicBezTo>
                      <a:pt x="71" y="238"/>
                      <a:pt x="71" y="238"/>
                      <a:pt x="71" y="238"/>
                    </a:cubicBezTo>
                    <a:cubicBezTo>
                      <a:pt x="71" y="0"/>
                      <a:pt x="71" y="0"/>
                      <a:pt x="71" y="0"/>
                    </a:cubicBezTo>
                    <a:cubicBezTo>
                      <a:pt x="0" y="0"/>
                      <a:pt x="0" y="0"/>
                      <a:pt x="0" y="0"/>
                    </a:cubicBezTo>
                    <a:lnTo>
                      <a:pt x="0" y="238"/>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24" name="任意多边形: 形状 12"/>
              <p:cNvSpPr/>
              <p:nvPr/>
            </p:nvSpPr>
            <p:spPr bwMode="auto">
              <a:xfrm>
                <a:off x="3757" y="2549"/>
                <a:ext cx="168" cy="642"/>
              </a:xfrm>
              <a:custGeom>
                <a:avLst/>
                <a:gdLst>
                  <a:gd name="T0" fmla="*/ 71 w 71"/>
                  <a:gd name="T1" fmla="*/ 72 h 271"/>
                  <a:gd name="T2" fmla="*/ 43 w 71"/>
                  <a:gd name="T3" fmla="*/ 72 h 271"/>
                  <a:gd name="T4" fmla="*/ 43 w 71"/>
                  <a:gd name="T5" fmla="*/ 41 h 271"/>
                  <a:gd name="T6" fmla="*/ 49 w 71"/>
                  <a:gd name="T7" fmla="*/ 29 h 271"/>
                  <a:gd name="T8" fmla="*/ 53 w 71"/>
                  <a:gd name="T9" fmla="*/ 18 h 271"/>
                  <a:gd name="T10" fmla="*/ 50 w 71"/>
                  <a:gd name="T11" fmla="*/ 5 h 271"/>
                  <a:gd name="T12" fmla="*/ 36 w 71"/>
                  <a:gd name="T13" fmla="*/ 0 h 271"/>
                  <a:gd name="T14" fmla="*/ 21 w 71"/>
                  <a:gd name="T15" fmla="*/ 5 h 271"/>
                  <a:gd name="T16" fmla="*/ 18 w 71"/>
                  <a:gd name="T17" fmla="*/ 18 h 271"/>
                  <a:gd name="T18" fmla="*/ 22 w 71"/>
                  <a:gd name="T19" fmla="*/ 29 h 271"/>
                  <a:gd name="T20" fmla="*/ 30 w 71"/>
                  <a:gd name="T21" fmla="*/ 42 h 271"/>
                  <a:gd name="T22" fmla="*/ 30 w 71"/>
                  <a:gd name="T23" fmla="*/ 42 h 271"/>
                  <a:gd name="T24" fmla="*/ 30 w 71"/>
                  <a:gd name="T25" fmla="*/ 72 h 271"/>
                  <a:gd name="T26" fmla="*/ 0 w 71"/>
                  <a:gd name="T27" fmla="*/ 72 h 271"/>
                  <a:gd name="T28" fmla="*/ 0 w 71"/>
                  <a:gd name="T29" fmla="*/ 271 h 271"/>
                  <a:gd name="T30" fmla="*/ 71 w 71"/>
                  <a:gd name="T31" fmla="*/ 257 h 271"/>
                  <a:gd name="T32" fmla="*/ 71 w 71"/>
                  <a:gd name="T33" fmla="*/ 7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1" h="271">
                    <a:moveTo>
                      <a:pt x="71" y="72"/>
                    </a:moveTo>
                    <a:cubicBezTo>
                      <a:pt x="43" y="72"/>
                      <a:pt x="43" y="72"/>
                      <a:pt x="43" y="72"/>
                    </a:cubicBezTo>
                    <a:cubicBezTo>
                      <a:pt x="43" y="41"/>
                      <a:pt x="43" y="41"/>
                      <a:pt x="43" y="41"/>
                    </a:cubicBezTo>
                    <a:cubicBezTo>
                      <a:pt x="43" y="36"/>
                      <a:pt x="47" y="32"/>
                      <a:pt x="49" y="29"/>
                    </a:cubicBezTo>
                    <a:cubicBezTo>
                      <a:pt x="52" y="25"/>
                      <a:pt x="53" y="22"/>
                      <a:pt x="53" y="18"/>
                    </a:cubicBezTo>
                    <a:cubicBezTo>
                      <a:pt x="53" y="13"/>
                      <a:pt x="52" y="8"/>
                      <a:pt x="50" y="5"/>
                    </a:cubicBezTo>
                    <a:cubicBezTo>
                      <a:pt x="47" y="2"/>
                      <a:pt x="43" y="0"/>
                      <a:pt x="36" y="0"/>
                    </a:cubicBezTo>
                    <a:cubicBezTo>
                      <a:pt x="28" y="0"/>
                      <a:pt x="24" y="2"/>
                      <a:pt x="21" y="5"/>
                    </a:cubicBezTo>
                    <a:cubicBezTo>
                      <a:pt x="19" y="8"/>
                      <a:pt x="18" y="13"/>
                      <a:pt x="18" y="18"/>
                    </a:cubicBezTo>
                    <a:cubicBezTo>
                      <a:pt x="18" y="22"/>
                      <a:pt x="20" y="25"/>
                      <a:pt x="22" y="29"/>
                    </a:cubicBezTo>
                    <a:cubicBezTo>
                      <a:pt x="25" y="32"/>
                      <a:pt x="29" y="36"/>
                      <a:pt x="30" y="42"/>
                    </a:cubicBezTo>
                    <a:cubicBezTo>
                      <a:pt x="30" y="42"/>
                      <a:pt x="30" y="42"/>
                      <a:pt x="30" y="42"/>
                    </a:cubicBezTo>
                    <a:cubicBezTo>
                      <a:pt x="30" y="72"/>
                      <a:pt x="30" y="72"/>
                      <a:pt x="30" y="72"/>
                    </a:cubicBezTo>
                    <a:cubicBezTo>
                      <a:pt x="0" y="72"/>
                      <a:pt x="0" y="72"/>
                      <a:pt x="0" y="72"/>
                    </a:cubicBezTo>
                    <a:cubicBezTo>
                      <a:pt x="0" y="271"/>
                      <a:pt x="0" y="271"/>
                      <a:pt x="0" y="271"/>
                    </a:cubicBezTo>
                    <a:cubicBezTo>
                      <a:pt x="71" y="257"/>
                      <a:pt x="71" y="257"/>
                      <a:pt x="71" y="257"/>
                    </a:cubicBezTo>
                    <a:lnTo>
                      <a:pt x="71" y="72"/>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38" name="任意多边形: 形状 13"/>
              <p:cNvSpPr/>
              <p:nvPr/>
            </p:nvSpPr>
            <p:spPr bwMode="auto">
              <a:xfrm>
                <a:off x="3842" y="3676"/>
                <a:ext cx="112" cy="163"/>
              </a:xfrm>
              <a:custGeom>
                <a:avLst/>
                <a:gdLst>
                  <a:gd name="T0" fmla="*/ 35 w 47"/>
                  <a:gd name="T1" fmla="*/ 34 h 69"/>
                  <a:gd name="T2" fmla="*/ 24 w 47"/>
                  <a:gd name="T3" fmla="*/ 25 h 69"/>
                  <a:gd name="T4" fmla="*/ 23 w 47"/>
                  <a:gd name="T5" fmla="*/ 25 h 69"/>
                  <a:gd name="T6" fmla="*/ 13 w 47"/>
                  <a:gd name="T7" fmla="*/ 0 h 69"/>
                  <a:gd name="T8" fmla="*/ 0 w 47"/>
                  <a:gd name="T9" fmla="*/ 5 h 69"/>
                  <a:gd name="T10" fmla="*/ 11 w 47"/>
                  <a:gd name="T11" fmla="*/ 31 h 69"/>
                  <a:gd name="T12" fmla="*/ 11 w 47"/>
                  <a:gd name="T13" fmla="*/ 45 h 69"/>
                  <a:gd name="T14" fmla="*/ 11 w 47"/>
                  <a:gd name="T15" fmla="*/ 56 h 69"/>
                  <a:gd name="T16" fmla="*/ 20 w 47"/>
                  <a:gd name="T17" fmla="*/ 67 h 69"/>
                  <a:gd name="T18" fmla="*/ 35 w 47"/>
                  <a:gd name="T19" fmla="*/ 66 h 69"/>
                  <a:gd name="T20" fmla="*/ 46 w 47"/>
                  <a:gd name="T21" fmla="*/ 55 h 69"/>
                  <a:gd name="T22" fmla="*/ 44 w 47"/>
                  <a:gd name="T23" fmla="*/ 42 h 69"/>
                  <a:gd name="T24" fmla="*/ 35 w 47"/>
                  <a:gd name="T25"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69">
                    <a:moveTo>
                      <a:pt x="35" y="34"/>
                    </a:moveTo>
                    <a:cubicBezTo>
                      <a:pt x="32" y="32"/>
                      <a:pt x="26" y="30"/>
                      <a:pt x="24" y="25"/>
                    </a:cubicBezTo>
                    <a:cubicBezTo>
                      <a:pt x="24" y="25"/>
                      <a:pt x="24" y="25"/>
                      <a:pt x="23" y="25"/>
                    </a:cubicBezTo>
                    <a:cubicBezTo>
                      <a:pt x="13" y="0"/>
                      <a:pt x="13" y="0"/>
                      <a:pt x="13" y="0"/>
                    </a:cubicBezTo>
                    <a:cubicBezTo>
                      <a:pt x="0" y="5"/>
                      <a:pt x="0" y="5"/>
                      <a:pt x="0" y="5"/>
                    </a:cubicBezTo>
                    <a:cubicBezTo>
                      <a:pt x="11" y="31"/>
                      <a:pt x="11" y="31"/>
                      <a:pt x="11" y="31"/>
                    </a:cubicBezTo>
                    <a:cubicBezTo>
                      <a:pt x="14" y="36"/>
                      <a:pt x="12" y="41"/>
                      <a:pt x="11" y="45"/>
                    </a:cubicBezTo>
                    <a:cubicBezTo>
                      <a:pt x="10" y="49"/>
                      <a:pt x="10" y="52"/>
                      <a:pt x="11" y="56"/>
                    </a:cubicBezTo>
                    <a:cubicBezTo>
                      <a:pt x="13" y="61"/>
                      <a:pt x="16" y="65"/>
                      <a:pt x="20" y="67"/>
                    </a:cubicBezTo>
                    <a:cubicBezTo>
                      <a:pt x="24" y="69"/>
                      <a:pt x="28" y="69"/>
                      <a:pt x="35" y="66"/>
                    </a:cubicBezTo>
                    <a:cubicBezTo>
                      <a:pt x="42" y="63"/>
                      <a:pt x="45" y="59"/>
                      <a:pt x="46" y="55"/>
                    </a:cubicBezTo>
                    <a:cubicBezTo>
                      <a:pt x="47" y="51"/>
                      <a:pt x="46" y="47"/>
                      <a:pt x="44" y="42"/>
                    </a:cubicBezTo>
                    <a:cubicBezTo>
                      <a:pt x="42" y="38"/>
                      <a:pt x="39" y="36"/>
                      <a:pt x="35" y="34"/>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40" name="任意多边形: 形状 14"/>
              <p:cNvSpPr/>
              <p:nvPr/>
            </p:nvSpPr>
            <p:spPr bwMode="auto">
              <a:xfrm>
                <a:off x="3790" y="3479"/>
                <a:ext cx="795" cy="569"/>
              </a:xfrm>
              <a:custGeom>
                <a:avLst/>
                <a:gdLst>
                  <a:gd name="T0" fmla="*/ 300 w 336"/>
                  <a:gd name="T1" fmla="*/ 0 h 240"/>
                  <a:gd name="T2" fmla="*/ 274 w 336"/>
                  <a:gd name="T3" fmla="*/ 11 h 240"/>
                  <a:gd name="T4" fmla="*/ 264 w 336"/>
                  <a:gd name="T5" fmla="*/ 38 h 240"/>
                  <a:gd name="T6" fmla="*/ 231 w 336"/>
                  <a:gd name="T7" fmla="*/ 143 h 240"/>
                  <a:gd name="T8" fmla="*/ 164 w 336"/>
                  <a:gd name="T9" fmla="*/ 165 h 240"/>
                  <a:gd name="T10" fmla="*/ 70 w 336"/>
                  <a:gd name="T11" fmla="*/ 95 h 240"/>
                  <a:gd name="T12" fmla="*/ 54 w 336"/>
                  <a:gd name="T13" fmla="*/ 99 h 240"/>
                  <a:gd name="T14" fmla="*/ 56 w 336"/>
                  <a:gd name="T15" fmla="*/ 102 h 240"/>
                  <a:gd name="T16" fmla="*/ 63 w 336"/>
                  <a:gd name="T17" fmla="*/ 107 h 240"/>
                  <a:gd name="T18" fmla="*/ 77 w 336"/>
                  <a:gd name="T19" fmla="*/ 120 h 240"/>
                  <a:gd name="T20" fmla="*/ 79 w 336"/>
                  <a:gd name="T21" fmla="*/ 141 h 240"/>
                  <a:gd name="T22" fmla="*/ 62 w 336"/>
                  <a:gd name="T23" fmla="*/ 159 h 240"/>
                  <a:gd name="T24" fmla="*/ 37 w 336"/>
                  <a:gd name="T25" fmla="*/ 160 h 240"/>
                  <a:gd name="T26" fmla="*/ 23 w 336"/>
                  <a:gd name="T27" fmla="*/ 144 h 240"/>
                  <a:gd name="T28" fmla="*/ 22 w 336"/>
                  <a:gd name="T29" fmla="*/ 125 h 240"/>
                  <a:gd name="T30" fmla="*/ 23 w 336"/>
                  <a:gd name="T31" fmla="*/ 118 h 240"/>
                  <a:gd name="T32" fmla="*/ 18 w 336"/>
                  <a:gd name="T33" fmla="*/ 108 h 240"/>
                  <a:gd name="T34" fmla="*/ 0 w 336"/>
                  <a:gd name="T35" fmla="*/ 112 h 240"/>
                  <a:gd name="T36" fmla="*/ 156 w 336"/>
                  <a:gd name="T37" fmla="*/ 235 h 240"/>
                  <a:gd name="T38" fmla="*/ 281 w 336"/>
                  <a:gd name="T39" fmla="*/ 193 h 240"/>
                  <a:gd name="T40" fmla="*/ 335 w 336"/>
                  <a:gd name="T41" fmla="*/ 38 h 240"/>
                  <a:gd name="T42" fmla="*/ 326 w 336"/>
                  <a:gd name="T43" fmla="*/ 11 h 240"/>
                  <a:gd name="T44" fmla="*/ 300 w 336"/>
                  <a:gd name="T45"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6" h="240">
                    <a:moveTo>
                      <a:pt x="300" y="0"/>
                    </a:moveTo>
                    <a:cubicBezTo>
                      <a:pt x="290" y="0"/>
                      <a:pt x="280" y="4"/>
                      <a:pt x="274" y="11"/>
                    </a:cubicBezTo>
                    <a:cubicBezTo>
                      <a:pt x="267" y="18"/>
                      <a:pt x="264" y="28"/>
                      <a:pt x="264" y="38"/>
                    </a:cubicBezTo>
                    <a:cubicBezTo>
                      <a:pt x="264" y="93"/>
                      <a:pt x="249" y="125"/>
                      <a:pt x="231" y="143"/>
                    </a:cubicBezTo>
                    <a:cubicBezTo>
                      <a:pt x="213" y="161"/>
                      <a:pt x="190" y="167"/>
                      <a:pt x="164" y="165"/>
                    </a:cubicBezTo>
                    <a:cubicBezTo>
                      <a:pt x="128" y="161"/>
                      <a:pt x="89" y="136"/>
                      <a:pt x="70" y="95"/>
                    </a:cubicBezTo>
                    <a:cubicBezTo>
                      <a:pt x="54" y="99"/>
                      <a:pt x="54" y="99"/>
                      <a:pt x="54" y="99"/>
                    </a:cubicBezTo>
                    <a:cubicBezTo>
                      <a:pt x="56" y="102"/>
                      <a:pt x="56" y="102"/>
                      <a:pt x="56" y="102"/>
                    </a:cubicBezTo>
                    <a:cubicBezTo>
                      <a:pt x="56" y="104"/>
                      <a:pt x="58" y="104"/>
                      <a:pt x="63" y="107"/>
                    </a:cubicBezTo>
                    <a:cubicBezTo>
                      <a:pt x="67" y="109"/>
                      <a:pt x="74" y="113"/>
                      <a:pt x="77" y="120"/>
                    </a:cubicBezTo>
                    <a:cubicBezTo>
                      <a:pt x="79" y="127"/>
                      <a:pt x="81" y="134"/>
                      <a:pt x="79" y="141"/>
                    </a:cubicBezTo>
                    <a:cubicBezTo>
                      <a:pt x="77" y="148"/>
                      <a:pt x="71" y="155"/>
                      <a:pt x="62" y="159"/>
                    </a:cubicBezTo>
                    <a:cubicBezTo>
                      <a:pt x="53" y="164"/>
                      <a:pt x="43" y="163"/>
                      <a:pt x="37" y="160"/>
                    </a:cubicBezTo>
                    <a:cubicBezTo>
                      <a:pt x="30" y="156"/>
                      <a:pt x="25" y="150"/>
                      <a:pt x="23" y="144"/>
                    </a:cubicBezTo>
                    <a:cubicBezTo>
                      <a:pt x="20" y="137"/>
                      <a:pt x="21" y="130"/>
                      <a:pt x="22" y="125"/>
                    </a:cubicBezTo>
                    <a:cubicBezTo>
                      <a:pt x="23" y="120"/>
                      <a:pt x="23" y="119"/>
                      <a:pt x="23" y="118"/>
                    </a:cubicBezTo>
                    <a:cubicBezTo>
                      <a:pt x="18" y="108"/>
                      <a:pt x="18" y="108"/>
                      <a:pt x="18" y="108"/>
                    </a:cubicBezTo>
                    <a:cubicBezTo>
                      <a:pt x="0" y="112"/>
                      <a:pt x="0" y="112"/>
                      <a:pt x="0" y="112"/>
                    </a:cubicBezTo>
                    <a:cubicBezTo>
                      <a:pt x="27" y="182"/>
                      <a:pt x="90" y="228"/>
                      <a:pt x="156" y="235"/>
                    </a:cubicBezTo>
                    <a:cubicBezTo>
                      <a:pt x="200" y="240"/>
                      <a:pt x="247" y="227"/>
                      <a:pt x="281" y="193"/>
                    </a:cubicBezTo>
                    <a:cubicBezTo>
                      <a:pt x="315" y="159"/>
                      <a:pt x="335" y="106"/>
                      <a:pt x="335" y="38"/>
                    </a:cubicBezTo>
                    <a:cubicBezTo>
                      <a:pt x="336" y="28"/>
                      <a:pt x="332" y="18"/>
                      <a:pt x="326" y="11"/>
                    </a:cubicBezTo>
                    <a:cubicBezTo>
                      <a:pt x="319" y="4"/>
                      <a:pt x="309" y="0"/>
                      <a:pt x="300" y="0"/>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41" name="任意多边形: 形状 15"/>
              <p:cNvSpPr/>
              <p:nvPr/>
            </p:nvSpPr>
            <p:spPr bwMode="auto">
              <a:xfrm>
                <a:off x="3241" y="3027"/>
                <a:ext cx="864" cy="710"/>
              </a:xfrm>
              <a:custGeom>
                <a:avLst/>
                <a:gdLst>
                  <a:gd name="T0" fmla="*/ 300 w 365"/>
                  <a:gd name="T1" fmla="*/ 158 h 300"/>
                  <a:gd name="T2" fmla="*/ 345 w 365"/>
                  <a:gd name="T3" fmla="*/ 147 h 300"/>
                  <a:gd name="T4" fmla="*/ 361 w 365"/>
                  <a:gd name="T5" fmla="*/ 110 h 300"/>
                  <a:gd name="T6" fmla="*/ 343 w 365"/>
                  <a:gd name="T7" fmla="*/ 88 h 300"/>
                  <a:gd name="T8" fmla="*/ 293 w 365"/>
                  <a:gd name="T9" fmla="*/ 100 h 300"/>
                  <a:gd name="T10" fmla="*/ 286 w 365"/>
                  <a:gd name="T11" fmla="*/ 96 h 300"/>
                  <a:gd name="T12" fmla="*/ 290 w 365"/>
                  <a:gd name="T13" fmla="*/ 89 h 300"/>
                  <a:gd name="T14" fmla="*/ 317 w 365"/>
                  <a:gd name="T15" fmla="*/ 80 h 300"/>
                  <a:gd name="T16" fmla="*/ 334 w 365"/>
                  <a:gd name="T17" fmla="*/ 75 h 300"/>
                  <a:gd name="T18" fmla="*/ 353 w 365"/>
                  <a:gd name="T19" fmla="*/ 39 h 300"/>
                  <a:gd name="T20" fmla="*/ 316 w 365"/>
                  <a:gd name="T21" fmla="*/ 19 h 300"/>
                  <a:gd name="T22" fmla="*/ 209 w 365"/>
                  <a:gd name="T23" fmla="*/ 45 h 300"/>
                  <a:gd name="T24" fmla="*/ 201 w 365"/>
                  <a:gd name="T25" fmla="*/ 41 h 300"/>
                  <a:gd name="T26" fmla="*/ 206 w 365"/>
                  <a:gd name="T27" fmla="*/ 34 h 300"/>
                  <a:gd name="T28" fmla="*/ 218 w 365"/>
                  <a:gd name="T29" fmla="*/ 30 h 300"/>
                  <a:gd name="T30" fmla="*/ 218 w 365"/>
                  <a:gd name="T31" fmla="*/ 0 h 300"/>
                  <a:gd name="T32" fmla="*/ 199 w 365"/>
                  <a:gd name="T33" fmla="*/ 0 h 300"/>
                  <a:gd name="T34" fmla="*/ 143 w 365"/>
                  <a:gd name="T35" fmla="*/ 4 h 300"/>
                  <a:gd name="T36" fmla="*/ 68 w 365"/>
                  <a:gd name="T37" fmla="*/ 99 h 300"/>
                  <a:gd name="T38" fmla="*/ 48 w 365"/>
                  <a:gd name="T39" fmla="*/ 114 h 300"/>
                  <a:gd name="T40" fmla="*/ 0 w 365"/>
                  <a:gd name="T41" fmla="*/ 133 h 300"/>
                  <a:gd name="T42" fmla="*/ 41 w 365"/>
                  <a:gd name="T43" fmla="*/ 297 h 300"/>
                  <a:gd name="T44" fmla="*/ 113 w 365"/>
                  <a:gd name="T45" fmla="*/ 282 h 300"/>
                  <a:gd name="T46" fmla="*/ 267 w 365"/>
                  <a:gd name="T47" fmla="*/ 283 h 300"/>
                  <a:gd name="T48" fmla="*/ 267 w 365"/>
                  <a:gd name="T49" fmla="*/ 283 h 300"/>
                  <a:gd name="T50" fmla="*/ 323 w 365"/>
                  <a:gd name="T51" fmla="*/ 268 h 300"/>
                  <a:gd name="T52" fmla="*/ 339 w 365"/>
                  <a:gd name="T53" fmla="*/ 256 h 300"/>
                  <a:gd name="T54" fmla="*/ 341 w 365"/>
                  <a:gd name="T55" fmla="*/ 237 h 300"/>
                  <a:gd name="T56" fmla="*/ 335 w 365"/>
                  <a:gd name="T57" fmla="*/ 226 h 300"/>
                  <a:gd name="T58" fmla="*/ 293 w 365"/>
                  <a:gd name="T59" fmla="*/ 235 h 300"/>
                  <a:gd name="T60" fmla="*/ 286 w 365"/>
                  <a:gd name="T61" fmla="*/ 230 h 300"/>
                  <a:gd name="T62" fmla="*/ 291 w 365"/>
                  <a:gd name="T63" fmla="*/ 223 h 300"/>
                  <a:gd name="T64" fmla="*/ 339 w 365"/>
                  <a:gd name="T65" fmla="*/ 212 h 300"/>
                  <a:gd name="T66" fmla="*/ 357 w 365"/>
                  <a:gd name="T67" fmla="*/ 199 h 300"/>
                  <a:gd name="T68" fmla="*/ 361 w 365"/>
                  <a:gd name="T69" fmla="*/ 177 h 300"/>
                  <a:gd name="T70" fmla="*/ 347 w 365"/>
                  <a:gd name="T71" fmla="*/ 159 h 300"/>
                  <a:gd name="T72" fmla="*/ 344 w 365"/>
                  <a:gd name="T73" fmla="*/ 160 h 300"/>
                  <a:gd name="T74" fmla="*/ 303 w 365"/>
                  <a:gd name="T75" fmla="*/ 169 h 300"/>
                  <a:gd name="T76" fmla="*/ 296 w 365"/>
                  <a:gd name="T77" fmla="*/ 165 h 300"/>
                  <a:gd name="T78" fmla="*/ 300 w 365"/>
                  <a:gd name="T79" fmla="*/ 158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5" h="300">
                    <a:moveTo>
                      <a:pt x="300" y="158"/>
                    </a:moveTo>
                    <a:cubicBezTo>
                      <a:pt x="345" y="147"/>
                      <a:pt x="345" y="147"/>
                      <a:pt x="345" y="147"/>
                    </a:cubicBezTo>
                    <a:cubicBezTo>
                      <a:pt x="359" y="144"/>
                      <a:pt x="365" y="124"/>
                      <a:pt x="361" y="110"/>
                    </a:cubicBezTo>
                    <a:cubicBezTo>
                      <a:pt x="359" y="101"/>
                      <a:pt x="352" y="93"/>
                      <a:pt x="343" y="88"/>
                    </a:cubicBezTo>
                    <a:cubicBezTo>
                      <a:pt x="293" y="100"/>
                      <a:pt x="293" y="100"/>
                      <a:pt x="293" y="100"/>
                    </a:cubicBezTo>
                    <a:cubicBezTo>
                      <a:pt x="290" y="101"/>
                      <a:pt x="287" y="99"/>
                      <a:pt x="286" y="96"/>
                    </a:cubicBezTo>
                    <a:cubicBezTo>
                      <a:pt x="285" y="93"/>
                      <a:pt x="287" y="89"/>
                      <a:pt x="290" y="89"/>
                    </a:cubicBezTo>
                    <a:cubicBezTo>
                      <a:pt x="317" y="80"/>
                      <a:pt x="317" y="80"/>
                      <a:pt x="317" y="80"/>
                    </a:cubicBezTo>
                    <a:cubicBezTo>
                      <a:pt x="334" y="75"/>
                      <a:pt x="334" y="75"/>
                      <a:pt x="334" y="75"/>
                    </a:cubicBezTo>
                    <a:cubicBezTo>
                      <a:pt x="354" y="69"/>
                      <a:pt x="356" y="51"/>
                      <a:pt x="353" y="39"/>
                    </a:cubicBezTo>
                    <a:cubicBezTo>
                      <a:pt x="350" y="25"/>
                      <a:pt x="338" y="13"/>
                      <a:pt x="316" y="19"/>
                    </a:cubicBezTo>
                    <a:cubicBezTo>
                      <a:pt x="237" y="39"/>
                      <a:pt x="288" y="23"/>
                      <a:pt x="209" y="45"/>
                    </a:cubicBezTo>
                    <a:cubicBezTo>
                      <a:pt x="206" y="46"/>
                      <a:pt x="202" y="44"/>
                      <a:pt x="201" y="41"/>
                    </a:cubicBezTo>
                    <a:cubicBezTo>
                      <a:pt x="201" y="38"/>
                      <a:pt x="203" y="35"/>
                      <a:pt x="206" y="34"/>
                    </a:cubicBezTo>
                    <a:cubicBezTo>
                      <a:pt x="218" y="30"/>
                      <a:pt x="218" y="30"/>
                      <a:pt x="218" y="30"/>
                    </a:cubicBezTo>
                    <a:cubicBezTo>
                      <a:pt x="218" y="0"/>
                      <a:pt x="218" y="0"/>
                      <a:pt x="218" y="0"/>
                    </a:cubicBezTo>
                    <a:cubicBezTo>
                      <a:pt x="212" y="0"/>
                      <a:pt x="206" y="0"/>
                      <a:pt x="199" y="0"/>
                    </a:cubicBezTo>
                    <a:cubicBezTo>
                      <a:pt x="173" y="0"/>
                      <a:pt x="148" y="2"/>
                      <a:pt x="143" y="4"/>
                    </a:cubicBezTo>
                    <a:cubicBezTo>
                      <a:pt x="115" y="17"/>
                      <a:pt x="119" y="32"/>
                      <a:pt x="68" y="99"/>
                    </a:cubicBezTo>
                    <a:cubicBezTo>
                      <a:pt x="48" y="114"/>
                      <a:pt x="48" y="114"/>
                      <a:pt x="48" y="114"/>
                    </a:cubicBezTo>
                    <a:cubicBezTo>
                      <a:pt x="0" y="133"/>
                      <a:pt x="0" y="133"/>
                      <a:pt x="0" y="133"/>
                    </a:cubicBezTo>
                    <a:cubicBezTo>
                      <a:pt x="41" y="297"/>
                      <a:pt x="41" y="297"/>
                      <a:pt x="41" y="297"/>
                    </a:cubicBezTo>
                    <a:cubicBezTo>
                      <a:pt x="113" y="282"/>
                      <a:pt x="113" y="282"/>
                      <a:pt x="113" y="282"/>
                    </a:cubicBezTo>
                    <a:cubicBezTo>
                      <a:pt x="176" y="296"/>
                      <a:pt x="203" y="300"/>
                      <a:pt x="267" y="283"/>
                    </a:cubicBezTo>
                    <a:cubicBezTo>
                      <a:pt x="267" y="283"/>
                      <a:pt x="267" y="283"/>
                      <a:pt x="267" y="283"/>
                    </a:cubicBezTo>
                    <a:cubicBezTo>
                      <a:pt x="323" y="268"/>
                      <a:pt x="323" y="268"/>
                      <a:pt x="323" y="268"/>
                    </a:cubicBezTo>
                    <a:cubicBezTo>
                      <a:pt x="330" y="266"/>
                      <a:pt x="335" y="262"/>
                      <a:pt x="339" y="256"/>
                    </a:cubicBezTo>
                    <a:cubicBezTo>
                      <a:pt x="342" y="250"/>
                      <a:pt x="343" y="243"/>
                      <a:pt x="341" y="237"/>
                    </a:cubicBezTo>
                    <a:cubicBezTo>
                      <a:pt x="340" y="233"/>
                      <a:pt x="338" y="229"/>
                      <a:pt x="335" y="226"/>
                    </a:cubicBezTo>
                    <a:cubicBezTo>
                      <a:pt x="293" y="235"/>
                      <a:pt x="293" y="235"/>
                      <a:pt x="293" y="235"/>
                    </a:cubicBezTo>
                    <a:cubicBezTo>
                      <a:pt x="290" y="236"/>
                      <a:pt x="287" y="233"/>
                      <a:pt x="286" y="230"/>
                    </a:cubicBezTo>
                    <a:cubicBezTo>
                      <a:pt x="285" y="227"/>
                      <a:pt x="288" y="224"/>
                      <a:pt x="291" y="223"/>
                    </a:cubicBezTo>
                    <a:cubicBezTo>
                      <a:pt x="307" y="220"/>
                      <a:pt x="322" y="216"/>
                      <a:pt x="339" y="212"/>
                    </a:cubicBezTo>
                    <a:cubicBezTo>
                      <a:pt x="346" y="210"/>
                      <a:pt x="353" y="206"/>
                      <a:pt x="357" y="199"/>
                    </a:cubicBezTo>
                    <a:cubicBezTo>
                      <a:pt x="361" y="193"/>
                      <a:pt x="363" y="185"/>
                      <a:pt x="361" y="177"/>
                    </a:cubicBezTo>
                    <a:cubicBezTo>
                      <a:pt x="359" y="169"/>
                      <a:pt x="354" y="162"/>
                      <a:pt x="347" y="159"/>
                    </a:cubicBezTo>
                    <a:cubicBezTo>
                      <a:pt x="346" y="159"/>
                      <a:pt x="345" y="159"/>
                      <a:pt x="344" y="160"/>
                    </a:cubicBezTo>
                    <a:cubicBezTo>
                      <a:pt x="303" y="169"/>
                      <a:pt x="303" y="169"/>
                      <a:pt x="303" y="169"/>
                    </a:cubicBezTo>
                    <a:cubicBezTo>
                      <a:pt x="300" y="170"/>
                      <a:pt x="296" y="168"/>
                      <a:pt x="296" y="165"/>
                    </a:cubicBezTo>
                    <a:cubicBezTo>
                      <a:pt x="295" y="162"/>
                      <a:pt x="297" y="158"/>
                      <a:pt x="300" y="158"/>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42" name="任意多边形: 形状 16"/>
              <p:cNvSpPr/>
              <p:nvPr/>
            </p:nvSpPr>
            <p:spPr bwMode="auto">
              <a:xfrm>
                <a:off x="2898" y="3283"/>
                <a:ext cx="445" cy="717"/>
              </a:xfrm>
              <a:custGeom>
                <a:avLst/>
                <a:gdLst>
                  <a:gd name="T0" fmla="*/ 125 w 188"/>
                  <a:gd name="T1" fmla="*/ 15 h 303"/>
                  <a:gd name="T2" fmla="*/ 111 w 188"/>
                  <a:gd name="T3" fmla="*/ 1 h 303"/>
                  <a:gd name="T4" fmla="*/ 101 w 188"/>
                  <a:gd name="T5" fmla="*/ 1 h 303"/>
                  <a:gd name="T6" fmla="*/ 17 w 188"/>
                  <a:gd name="T7" fmla="*/ 24 h 303"/>
                  <a:gd name="T8" fmla="*/ 3 w 188"/>
                  <a:gd name="T9" fmla="*/ 49 h 303"/>
                  <a:gd name="T10" fmla="*/ 64 w 188"/>
                  <a:gd name="T11" fmla="*/ 287 h 303"/>
                  <a:gd name="T12" fmla="*/ 89 w 188"/>
                  <a:gd name="T13" fmla="*/ 300 h 303"/>
                  <a:gd name="T14" fmla="*/ 171 w 188"/>
                  <a:gd name="T15" fmla="*/ 273 h 303"/>
                  <a:gd name="T16" fmla="*/ 185 w 188"/>
                  <a:gd name="T17" fmla="*/ 247 h 303"/>
                  <a:gd name="T18" fmla="*/ 125 w 188"/>
                  <a:gd name="T19" fmla="*/ 15 h 303"/>
                  <a:gd name="T20" fmla="*/ 158 w 188"/>
                  <a:gd name="T21" fmla="*/ 240 h 303"/>
                  <a:gd name="T22" fmla="*/ 120 w 188"/>
                  <a:gd name="T23" fmla="*/ 265 h 303"/>
                  <a:gd name="T24" fmla="*/ 94 w 188"/>
                  <a:gd name="T25" fmla="*/ 227 h 303"/>
                  <a:gd name="T26" fmla="*/ 133 w 188"/>
                  <a:gd name="T27" fmla="*/ 202 h 303"/>
                  <a:gd name="T28" fmla="*/ 158 w 188"/>
                  <a:gd name="T29" fmla="*/ 24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8" h="303">
                    <a:moveTo>
                      <a:pt x="125" y="15"/>
                    </a:moveTo>
                    <a:cubicBezTo>
                      <a:pt x="123" y="8"/>
                      <a:pt x="118" y="3"/>
                      <a:pt x="111" y="1"/>
                    </a:cubicBezTo>
                    <a:cubicBezTo>
                      <a:pt x="108" y="0"/>
                      <a:pt x="104" y="0"/>
                      <a:pt x="101" y="1"/>
                    </a:cubicBezTo>
                    <a:cubicBezTo>
                      <a:pt x="17" y="24"/>
                      <a:pt x="17" y="24"/>
                      <a:pt x="17" y="24"/>
                    </a:cubicBezTo>
                    <a:cubicBezTo>
                      <a:pt x="7" y="27"/>
                      <a:pt x="0" y="39"/>
                      <a:pt x="3" y="49"/>
                    </a:cubicBezTo>
                    <a:cubicBezTo>
                      <a:pt x="64" y="287"/>
                      <a:pt x="64" y="287"/>
                      <a:pt x="64" y="287"/>
                    </a:cubicBezTo>
                    <a:cubicBezTo>
                      <a:pt x="67" y="297"/>
                      <a:pt x="79" y="303"/>
                      <a:pt x="89" y="300"/>
                    </a:cubicBezTo>
                    <a:cubicBezTo>
                      <a:pt x="171" y="273"/>
                      <a:pt x="171" y="273"/>
                      <a:pt x="171" y="273"/>
                    </a:cubicBezTo>
                    <a:cubicBezTo>
                      <a:pt x="181" y="269"/>
                      <a:pt x="188" y="257"/>
                      <a:pt x="185" y="247"/>
                    </a:cubicBezTo>
                    <a:lnTo>
                      <a:pt x="125" y="15"/>
                    </a:lnTo>
                    <a:close/>
                    <a:moveTo>
                      <a:pt x="158" y="240"/>
                    </a:moveTo>
                    <a:cubicBezTo>
                      <a:pt x="154" y="258"/>
                      <a:pt x="137" y="269"/>
                      <a:pt x="120" y="265"/>
                    </a:cubicBezTo>
                    <a:cubicBezTo>
                      <a:pt x="102" y="262"/>
                      <a:pt x="91" y="245"/>
                      <a:pt x="94" y="227"/>
                    </a:cubicBezTo>
                    <a:cubicBezTo>
                      <a:pt x="98" y="210"/>
                      <a:pt x="115" y="198"/>
                      <a:pt x="133" y="202"/>
                    </a:cubicBezTo>
                    <a:cubicBezTo>
                      <a:pt x="150" y="205"/>
                      <a:pt x="161" y="222"/>
                      <a:pt x="158" y="240"/>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grpSp>
        <p:sp>
          <p:nvSpPr>
            <p:cNvPr id="43" name="任意多边形: 形状 40"/>
            <p:cNvSpPr/>
            <p:nvPr/>
          </p:nvSpPr>
          <p:spPr>
            <a:xfrm flipH="1" flipV="1">
              <a:off x="6787727" y="3660141"/>
              <a:ext cx="3442761" cy="2842267"/>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sp>
        <p:nvSpPr>
          <p:cNvPr id="1025" name="任意多边形 1024"/>
          <p:cNvSpPr/>
          <p:nvPr/>
        </p:nvSpPr>
        <p:spPr>
          <a:xfrm>
            <a:off x="0" y="0"/>
            <a:ext cx="0" cy="0"/>
          </a:xfrm>
          <a:custGeom>
            <a:avLst/>
            <a:gdLst/>
            <a:ahLst/>
            <a:cxnLst/>
            <a:rect l="0" t="0" r="0" b="0"/>
            <a:pathLst/>
          </a:custGeom>
          <a:noFill/>
          <a:ln w="9525">
            <a:noFill/>
          </a:ln>
        </p:spPr>
      </p:sp>
      <p:sp>
        <p:nvSpPr>
          <p:cNvPr id="1026" name="任意多边形 1025"/>
          <p:cNvSpPr/>
          <p:nvPr/>
        </p:nvSpPr>
        <p:spPr>
          <a:xfrm>
            <a:off x="126999" y="126999"/>
            <a:ext cx="1" cy="1"/>
          </a:xfrm>
          <a:custGeom>
            <a:avLst/>
            <a:gdLst/>
            <a:ahLst/>
            <a:cxnLst/>
            <a:rect l="0" t="0" r="0" b="0"/>
            <a:pathLst/>
          </a:custGeom>
          <a:noFill/>
          <a:ln w="9525">
            <a:noFill/>
          </a:ln>
        </p:spPr>
      </p:sp>
      <p:grpSp>
        <p:nvGrpSpPr>
          <p:cNvPr id="30" name="组合 29"/>
          <p:cNvGrpSpPr/>
          <p:nvPr/>
        </p:nvGrpSpPr>
        <p:grpSpPr>
          <a:xfrm flipV="1">
            <a:off x="259414" y="5972542"/>
            <a:ext cx="4224020" cy="548005"/>
            <a:chOff x="57" y="9944"/>
            <a:chExt cx="12698" cy="863"/>
          </a:xfrm>
        </p:grpSpPr>
        <p:sp>
          <p:nvSpPr>
            <p:cNvPr id="6"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19"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20"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21"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22"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23"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5"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6"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8"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9"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grpSp>
        <p:nvGrpSpPr>
          <p:cNvPr id="31" name="组合 30"/>
          <p:cNvGrpSpPr/>
          <p:nvPr/>
        </p:nvGrpSpPr>
        <p:grpSpPr>
          <a:xfrm flipH="1">
            <a:off x="7632291" y="862184"/>
            <a:ext cx="4168140" cy="548005"/>
            <a:chOff x="57" y="9944"/>
            <a:chExt cx="12698" cy="863"/>
          </a:xfrm>
        </p:grpSpPr>
        <p:sp>
          <p:nvSpPr>
            <p:cNvPr id="32"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34"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36"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37"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39"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44"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5"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6"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7"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8"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grpSp>
        <p:nvGrpSpPr>
          <p:cNvPr id="49" name="组合 48"/>
          <p:cNvGrpSpPr/>
          <p:nvPr/>
        </p:nvGrpSpPr>
        <p:grpSpPr>
          <a:xfrm>
            <a:off x="234185" y="1334933"/>
            <a:ext cx="4326772" cy="548005"/>
            <a:chOff x="57" y="9944"/>
            <a:chExt cx="12698" cy="863"/>
          </a:xfrm>
        </p:grpSpPr>
        <p:sp>
          <p:nvSpPr>
            <p:cNvPr id="50"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51"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52"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53"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54"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55"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6"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7"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8"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9"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grpSp>
        <p:nvGrpSpPr>
          <p:cNvPr id="60" name="组合 59"/>
          <p:cNvGrpSpPr/>
          <p:nvPr/>
        </p:nvGrpSpPr>
        <p:grpSpPr>
          <a:xfrm flipH="1" flipV="1">
            <a:off x="7409882" y="5748408"/>
            <a:ext cx="4593590" cy="548005"/>
            <a:chOff x="57" y="9944"/>
            <a:chExt cx="12698" cy="863"/>
          </a:xfrm>
        </p:grpSpPr>
        <p:sp>
          <p:nvSpPr>
            <p:cNvPr id="61"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62"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63"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64"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65"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66"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67"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68"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69"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70"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sp>
        <p:nvSpPr>
          <p:cNvPr id="80" name="文本框 79"/>
          <p:cNvSpPr txBox="1"/>
          <p:nvPr/>
        </p:nvSpPr>
        <p:spPr>
          <a:xfrm>
            <a:off x="4868222" y="2301809"/>
            <a:ext cx="2454939" cy="1569660"/>
          </a:xfrm>
          <a:prstGeom prst="rect">
            <a:avLst/>
          </a:prstGeom>
          <a:solidFill>
            <a:srgbClr val="F2F2F2">
              <a:alpha val="58824"/>
            </a:srgbClr>
          </a:solidFill>
        </p:spPr>
        <p:txBody>
          <a:bodyPr wrap="square">
            <a:spAutoFit/>
          </a:bodyPr>
          <a:lstStyle/>
          <a:p>
            <a:pPr algn="ctr"/>
            <a:r>
              <a:rPr lang="zh-CN" altLang="en-US" sz="2400" b="1" dirty="0">
                <a:latin typeface="微软雅黑" panose="020B0503020204020204" charset="-122"/>
                <a:ea typeface="微软雅黑" panose="020B0503020204020204" charset="-122"/>
              </a:rPr>
              <a:t>树</a:t>
            </a:r>
            <a:endParaRPr lang="en-US" altLang="zh-CN" sz="2400" b="1" dirty="0">
              <a:latin typeface="微软雅黑" panose="020B0503020204020204" charset="-122"/>
              <a:ea typeface="微软雅黑" panose="020B0503020204020204" charset="-122"/>
            </a:endParaRPr>
          </a:p>
          <a:p>
            <a:pPr algn="ctr"/>
            <a:r>
              <a:rPr lang="zh-CN" altLang="en-US" sz="2400" b="1" dirty="0">
                <a:latin typeface="微软雅黑" panose="020B0503020204020204" charset="-122"/>
                <a:ea typeface="微软雅黑" panose="020B0503020204020204" charset="-122"/>
              </a:rPr>
              <a:t>二叉树</a:t>
            </a:r>
            <a:endParaRPr lang="en-US" altLang="zh-CN" sz="2400" b="1" dirty="0">
              <a:latin typeface="微软雅黑" panose="020B0503020204020204" charset="-122"/>
              <a:ea typeface="微软雅黑" panose="020B0503020204020204" charset="-122"/>
            </a:endParaRPr>
          </a:p>
          <a:p>
            <a:pPr algn="ctr"/>
            <a:r>
              <a:rPr lang="zh-CN" altLang="en-US" sz="2400" b="1" dirty="0">
                <a:latin typeface="微软雅黑" panose="020B0503020204020204" charset="-122"/>
                <a:ea typeface="微软雅黑" panose="020B0503020204020204" charset="-122"/>
              </a:rPr>
              <a:t>哈夫曼树及编码</a:t>
            </a:r>
            <a:endParaRPr lang="en-US" altLang="zh-CN" sz="2400" b="1" dirty="0">
              <a:latin typeface="微软雅黑" panose="020B0503020204020204" charset="-122"/>
              <a:ea typeface="微软雅黑" panose="020B0503020204020204" charset="-122"/>
            </a:endParaRPr>
          </a:p>
          <a:p>
            <a:pPr algn="ctr"/>
            <a:r>
              <a:rPr lang="zh-CN" altLang="en-US" sz="2400" b="1" dirty="0">
                <a:latin typeface="微软雅黑" panose="020B0503020204020204" charset="-122"/>
                <a:ea typeface="微软雅黑" panose="020B0503020204020204" charset="-122"/>
              </a:rPr>
              <a:t>树和森林</a:t>
            </a:r>
            <a:endParaRPr lang="en-US" altLang="zh-CN" sz="2400" b="1" dirty="0">
              <a:latin typeface="微软雅黑" panose="020B0503020204020204" charset="-122"/>
              <a:ea typeface="微软雅黑" panose="020B0503020204020204" charset="-122"/>
            </a:endParaRPr>
          </a:p>
        </p:txBody>
      </p:sp>
      <p:sp>
        <p:nvSpPr>
          <p:cNvPr id="82" name="文本框 81"/>
          <p:cNvSpPr txBox="1"/>
          <p:nvPr/>
        </p:nvSpPr>
        <p:spPr>
          <a:xfrm>
            <a:off x="62861" y="2009303"/>
            <a:ext cx="4434943" cy="3803734"/>
          </a:xfrm>
          <a:prstGeom prst="rect">
            <a:avLst/>
          </a:prstGeom>
          <a:noFill/>
        </p:spPr>
        <p:txBody>
          <a:bodyPr wrap="square">
            <a:spAutoFit/>
          </a:bodyPr>
          <a:lstStyle/>
          <a:p>
            <a:pPr marL="285750" indent="-285750">
              <a:lnSpc>
                <a:spcPct val="170000"/>
              </a:lnSpc>
              <a:buClr>
                <a:schemeClr val="accent2">
                  <a:lumMod val="40000"/>
                  <a:lumOff val="60000"/>
                </a:schemeClr>
              </a:buClr>
              <a:buFont typeface="Wingdings" panose="05000000000000000000" pitchFamily="2" charset="2"/>
              <a:buChar char="Ø"/>
            </a:pPr>
            <a:r>
              <a:rPr lang="zh-CN" altLang="en-US" sz="1600" dirty="0">
                <a:latin typeface="微软雅黑" panose="020B0503020204020204" charset="-122"/>
                <a:ea typeface="微软雅黑" panose="020B0503020204020204" charset="-122"/>
              </a:rPr>
              <a:t> </a:t>
            </a:r>
            <a:r>
              <a:rPr lang="en-US" altLang="zh-CN" sz="1600" dirty="0">
                <a:latin typeface="微软雅黑" panose="020B0503020204020204" charset="-122"/>
                <a:ea typeface="微软雅黑" panose="020B0503020204020204" charset="-122"/>
              </a:rPr>
              <a:t>(1) </a:t>
            </a:r>
            <a:r>
              <a:rPr lang="zh-CN" altLang="en-US" sz="1600" b="1" dirty="0">
                <a:latin typeface="微软雅黑" panose="020B0503020204020204" charset="-122"/>
                <a:ea typeface="微软雅黑" panose="020B0503020204020204" charset="-122"/>
              </a:rPr>
              <a:t>树</a:t>
            </a:r>
            <a:r>
              <a:rPr lang="zh-CN" altLang="en-US" sz="1600" dirty="0">
                <a:latin typeface="微软雅黑" panose="020B0503020204020204" charset="-122"/>
                <a:ea typeface="微软雅黑" panose="020B0503020204020204" charset="-122"/>
              </a:rPr>
              <a:t>是数据元素之间具有层次关系的非线性结构，是由</a:t>
            </a:r>
            <a:r>
              <a:rPr lang="en-US" altLang="zh-CN" sz="1600" dirty="0">
                <a:latin typeface="微软雅黑" panose="020B0503020204020204" charset="-122"/>
                <a:ea typeface="微软雅黑" panose="020B0503020204020204" charset="-122"/>
              </a:rPr>
              <a:t>n</a:t>
            </a:r>
            <a:r>
              <a:rPr lang="zh-CN" altLang="en-US" sz="1600" dirty="0">
                <a:latin typeface="微软雅黑" panose="020B0503020204020204" charset="-122"/>
                <a:ea typeface="微软雅黑" panose="020B0503020204020204" charset="-122"/>
              </a:rPr>
              <a:t>个结点构成的有限集合。与线性结构不同，树中的数据元素具有一对多的逻辑关系。</a:t>
            </a:r>
            <a:endParaRPr lang="zh-CN" altLang="en-US" sz="1600" dirty="0">
              <a:latin typeface="微软雅黑" panose="020B0503020204020204" charset="-122"/>
              <a:ea typeface="微软雅黑" panose="020B0503020204020204" charset="-122"/>
            </a:endParaRPr>
          </a:p>
          <a:p>
            <a:pPr marL="285750" indent="-285750">
              <a:lnSpc>
                <a:spcPct val="170000"/>
              </a:lnSpc>
              <a:buClr>
                <a:schemeClr val="accent2">
                  <a:lumMod val="40000"/>
                  <a:lumOff val="60000"/>
                </a:schemeClr>
              </a:buClr>
              <a:buFont typeface="Wingdings" panose="05000000000000000000" pitchFamily="2" charset="2"/>
              <a:buChar char="Ø"/>
            </a:pPr>
            <a:r>
              <a:rPr lang="en-US" altLang="zh-CN" sz="1600" dirty="0">
                <a:latin typeface="微软雅黑" panose="020B0503020204020204" charset="-122"/>
                <a:ea typeface="微软雅黑" panose="020B0503020204020204" charset="-122"/>
              </a:rPr>
              <a:t>(2) </a:t>
            </a:r>
            <a:r>
              <a:rPr lang="zh-CN" altLang="en-US" sz="1600" b="1" dirty="0">
                <a:latin typeface="微软雅黑" panose="020B0503020204020204" charset="-122"/>
                <a:ea typeface="微软雅黑" panose="020B0503020204020204" charset="-122"/>
              </a:rPr>
              <a:t>二叉树</a:t>
            </a:r>
            <a:r>
              <a:rPr lang="zh-CN" altLang="en-US" sz="1600" dirty="0">
                <a:latin typeface="微软雅黑" panose="020B0503020204020204" charset="-122"/>
                <a:ea typeface="微软雅黑" panose="020B0503020204020204" charset="-122"/>
              </a:rPr>
              <a:t>是特殊的有序树，它也是由</a:t>
            </a:r>
            <a:r>
              <a:rPr lang="en-US" altLang="zh-CN" sz="1600" dirty="0">
                <a:latin typeface="微软雅黑" panose="020B0503020204020204" charset="-122"/>
                <a:ea typeface="微软雅黑" panose="020B0503020204020204" charset="-122"/>
              </a:rPr>
              <a:t>n</a:t>
            </a:r>
            <a:r>
              <a:rPr lang="zh-CN" altLang="en-US" sz="1600" dirty="0">
                <a:latin typeface="微软雅黑" panose="020B0503020204020204" charset="-122"/>
                <a:ea typeface="微软雅黑" panose="020B0503020204020204" charset="-122"/>
              </a:rPr>
              <a:t>个结点构成的有限集合。当</a:t>
            </a:r>
            <a:r>
              <a:rPr lang="en-US" altLang="zh-CN" sz="1600" dirty="0">
                <a:latin typeface="微软雅黑" panose="020B0503020204020204" charset="-122"/>
                <a:ea typeface="微软雅黑" panose="020B0503020204020204" charset="-122"/>
              </a:rPr>
              <a:t>n=0</a:t>
            </a:r>
            <a:r>
              <a:rPr lang="zh-CN" altLang="en-US" sz="1600" dirty="0">
                <a:latin typeface="微软雅黑" panose="020B0503020204020204" charset="-122"/>
                <a:ea typeface="微软雅黑" panose="020B0503020204020204" charset="-122"/>
              </a:rPr>
              <a:t>时称为空二叉树。二叉树的每个结点最多只有两棵子树，子树也为二叉树，互不相交且有左、右之分，分别称为</a:t>
            </a:r>
            <a:r>
              <a:rPr lang="zh-CN" altLang="en-US" sz="1600" b="1" dirty="0">
                <a:latin typeface="微软雅黑" panose="020B0503020204020204" charset="-122"/>
                <a:ea typeface="微软雅黑" panose="020B0503020204020204" charset="-122"/>
              </a:rPr>
              <a:t>左二叉树</a:t>
            </a:r>
            <a:r>
              <a:rPr lang="zh-CN" altLang="en-US" sz="1600" dirty="0">
                <a:latin typeface="微软雅黑" panose="020B0503020204020204" charset="-122"/>
                <a:ea typeface="微软雅黑" panose="020B0503020204020204" charset="-122"/>
              </a:rPr>
              <a:t>和</a:t>
            </a:r>
            <a:r>
              <a:rPr lang="zh-CN" altLang="en-US" sz="1600" b="1" dirty="0">
                <a:latin typeface="微软雅黑" panose="020B0503020204020204" charset="-122"/>
                <a:ea typeface="微软雅黑" panose="020B0503020204020204" charset="-122"/>
              </a:rPr>
              <a:t>右二叉树</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sp>
        <p:nvSpPr>
          <p:cNvPr id="84" name="文本框 83"/>
          <p:cNvSpPr txBox="1"/>
          <p:nvPr/>
        </p:nvSpPr>
        <p:spPr>
          <a:xfrm>
            <a:off x="7859628" y="1685348"/>
            <a:ext cx="3805063" cy="3803734"/>
          </a:xfrm>
          <a:prstGeom prst="rect">
            <a:avLst/>
          </a:prstGeom>
          <a:noFill/>
        </p:spPr>
        <p:txBody>
          <a:bodyPr wrap="square">
            <a:spAutoFit/>
          </a:bodyPr>
          <a:lstStyle/>
          <a:p>
            <a:pPr marL="285750" indent="-285750">
              <a:lnSpc>
                <a:spcPct val="170000"/>
              </a:lnSpc>
              <a:buClr>
                <a:schemeClr val="accent2">
                  <a:lumMod val="40000"/>
                  <a:lumOff val="60000"/>
                </a:schemeClr>
              </a:buClr>
              <a:buFont typeface="Wingdings" panose="05000000000000000000" pitchFamily="2" charset="2"/>
              <a:buChar char="Ø"/>
            </a:pPr>
            <a:r>
              <a:rPr lang="en-US" altLang="zh-CN" sz="1600" dirty="0">
                <a:latin typeface="微软雅黑" panose="020B0503020204020204" charset="-122"/>
                <a:ea typeface="微软雅黑" panose="020B0503020204020204" charset="-122"/>
              </a:rPr>
              <a:t>(3) </a:t>
            </a:r>
            <a:r>
              <a:rPr lang="zh-CN" altLang="en-US" sz="1600" b="1" dirty="0">
                <a:latin typeface="微软雅黑" panose="020B0503020204020204" charset="-122"/>
                <a:ea typeface="微软雅黑" panose="020B0503020204020204" charset="-122"/>
              </a:rPr>
              <a:t>二叉树的存储结构</a:t>
            </a:r>
            <a:r>
              <a:rPr lang="zh-CN" altLang="en-US" sz="1600" dirty="0">
                <a:latin typeface="微软雅黑" panose="020B0503020204020204" charset="-122"/>
                <a:ea typeface="微软雅黑" panose="020B0503020204020204" charset="-122"/>
              </a:rPr>
              <a:t>分为两种，即顺序存储结构和链式存储结构。二叉树的</a:t>
            </a:r>
            <a:r>
              <a:rPr lang="zh-CN" altLang="en-US" sz="1600" b="1" dirty="0">
                <a:latin typeface="微软雅黑" panose="020B0503020204020204" charset="-122"/>
                <a:ea typeface="微软雅黑" panose="020B0503020204020204" charset="-122"/>
              </a:rPr>
              <a:t>顺序存储结构</a:t>
            </a:r>
            <a:r>
              <a:rPr lang="zh-CN" altLang="en-US" sz="1600" dirty="0">
                <a:latin typeface="微软雅黑" panose="020B0503020204020204" charset="-122"/>
                <a:ea typeface="微软雅黑" panose="020B0503020204020204" charset="-122"/>
              </a:rPr>
              <a:t>是指将二叉树的各个结点存放在一组地址连续的存储单元中，所有结点按结点序号进行顺序存储； 二叉树的</a:t>
            </a:r>
            <a:r>
              <a:rPr lang="zh-CN" altLang="en-US" sz="1600" b="1" dirty="0">
                <a:latin typeface="微软雅黑" panose="020B0503020204020204" charset="-122"/>
                <a:ea typeface="微软雅黑" panose="020B0503020204020204" charset="-122"/>
              </a:rPr>
              <a:t>链式存储结构</a:t>
            </a:r>
            <a:r>
              <a:rPr lang="zh-CN" altLang="en-US" sz="1600" dirty="0">
                <a:latin typeface="微软雅黑" panose="020B0503020204020204" charset="-122"/>
                <a:ea typeface="微软雅黑" panose="020B0503020204020204" charset="-122"/>
              </a:rPr>
              <a:t>是指将二叉树的各个结点随机存放在存储空间中，二叉树的各结点间的逻辑关系由指针确定。</a:t>
            </a:r>
            <a:endParaRPr lang="zh-CN" altLang="en-US" sz="1600" dirty="0">
              <a:latin typeface="微软雅黑" panose="020B0503020204020204" charset="-122"/>
              <a:ea typeface="微软雅黑" panose="020B0503020204020204" charset="-122"/>
            </a:endParaRPr>
          </a:p>
        </p:txBody>
      </p:sp>
      <p:sp>
        <p:nvSpPr>
          <p:cNvPr id="76" name="标题 1"/>
          <p:cNvSpPr txBox="1"/>
          <p:nvPr/>
        </p:nvSpPr>
        <p:spPr>
          <a:xfrm>
            <a:off x="838200" y="391578"/>
            <a:ext cx="10007991" cy="717596"/>
          </a:xfrm>
          <a:prstGeom prst="rect">
            <a:avLst/>
          </a:prstGeom>
        </p:spPr>
        <p:txBody>
          <a:bodyPr vert="horz" wrap="square" lIns="91440" tIns="45720" rIns="91440" bIns="45720" rtlCol="0" anchor="ctr">
            <a:no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zh-CN" altLang="en-US"/>
              <a:t>小结</a:t>
            </a:r>
            <a:endParaRPr lang="en-US" altLang="zh-CN" dirty="0"/>
          </a:p>
        </p:txBody>
      </p:sp>
    </p:spTree>
  </p:cSld>
  <p:clrMapOvr>
    <a:masterClrMapping/>
  </p:clrMapOvr>
  <p:transition>
    <p:cover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5" name="de1ffbe9-936a-4bc2-91a5-102e309e1217"/>
          <p:cNvGrpSpPr>
            <a:grpSpLocks noChangeAspect="1"/>
          </p:cNvGrpSpPr>
          <p:nvPr/>
        </p:nvGrpSpPr>
        <p:grpSpPr>
          <a:xfrm>
            <a:off x="2385502" y="1351310"/>
            <a:ext cx="7332341" cy="3625171"/>
            <a:chOff x="1932423" y="2060848"/>
            <a:chExt cx="8298064" cy="3680423"/>
          </a:xfrm>
        </p:grpSpPr>
        <p:sp>
          <p:nvSpPr>
            <p:cNvPr id="7" name="任意多边形: 形状 36"/>
            <p:cNvSpPr/>
            <p:nvPr/>
          </p:nvSpPr>
          <p:spPr>
            <a:xfrm flipV="1">
              <a:off x="1932423" y="3684198"/>
              <a:ext cx="3099661" cy="2057073"/>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8" name="任意多边形: 形状 35"/>
            <p:cNvSpPr/>
            <p:nvPr/>
          </p:nvSpPr>
          <p:spPr>
            <a:xfrm flipH="1">
              <a:off x="7778504" y="3038221"/>
              <a:ext cx="1754659" cy="404222"/>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2" name="任意多边形: 形状 34"/>
            <p:cNvSpPr/>
            <p:nvPr/>
          </p:nvSpPr>
          <p:spPr>
            <a:xfrm>
              <a:off x="3074714" y="2650121"/>
              <a:ext cx="1334183" cy="792322"/>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13" name="组合 12"/>
            <p:cNvGrpSpPr>
              <a:grpSpLocks noChangeAspect="1"/>
            </p:cNvGrpSpPr>
            <p:nvPr/>
          </p:nvGrpSpPr>
          <p:grpSpPr bwMode="auto">
            <a:xfrm>
              <a:off x="4294837" y="2060848"/>
              <a:ext cx="3609328" cy="3642193"/>
              <a:chOff x="1973" y="280"/>
              <a:chExt cx="3734" cy="3768"/>
            </a:xfrm>
          </p:grpSpPr>
          <p:sp>
            <p:nvSpPr>
              <p:cNvPr id="9" name="任意多边形: 形状 2"/>
              <p:cNvSpPr/>
              <p:nvPr/>
            </p:nvSpPr>
            <p:spPr bwMode="auto">
              <a:xfrm>
                <a:off x="3681" y="280"/>
                <a:ext cx="327" cy="423"/>
              </a:xfrm>
              <a:custGeom>
                <a:avLst/>
                <a:gdLst>
                  <a:gd name="T0" fmla="*/ 105 w 138"/>
                  <a:gd name="T1" fmla="*/ 117 h 179"/>
                  <a:gd name="T2" fmla="*/ 93 w 138"/>
                  <a:gd name="T3" fmla="*/ 117 h 179"/>
                  <a:gd name="T4" fmla="*/ 85 w 138"/>
                  <a:gd name="T5" fmla="*/ 25 h 179"/>
                  <a:gd name="T6" fmla="*/ 67 w 138"/>
                  <a:gd name="T7" fmla="*/ 0 h 179"/>
                  <a:gd name="T8" fmla="*/ 65 w 138"/>
                  <a:gd name="T9" fmla="*/ 0 h 179"/>
                  <a:gd name="T10" fmla="*/ 51 w 138"/>
                  <a:gd name="T11" fmla="*/ 25 h 179"/>
                  <a:gd name="T12" fmla="*/ 43 w 138"/>
                  <a:gd name="T13" fmla="*/ 117 h 179"/>
                  <a:gd name="T14" fmla="*/ 31 w 138"/>
                  <a:gd name="T15" fmla="*/ 117 h 179"/>
                  <a:gd name="T16" fmla="*/ 28 w 138"/>
                  <a:gd name="T17" fmla="*/ 117 h 179"/>
                  <a:gd name="T18" fmla="*/ 1 w 138"/>
                  <a:gd name="T19" fmla="*/ 150 h 179"/>
                  <a:gd name="T20" fmla="*/ 31 w 138"/>
                  <a:gd name="T21" fmla="*/ 179 h 179"/>
                  <a:gd name="T22" fmla="*/ 77 w 138"/>
                  <a:gd name="T23" fmla="*/ 179 h 179"/>
                  <a:gd name="T24" fmla="*/ 77 w 138"/>
                  <a:gd name="T25" fmla="*/ 179 h 179"/>
                  <a:gd name="T26" fmla="*/ 72 w 138"/>
                  <a:gd name="T27" fmla="*/ 172 h 179"/>
                  <a:gd name="T28" fmla="*/ 65 w 138"/>
                  <a:gd name="T29" fmla="*/ 154 h 179"/>
                  <a:gd name="T30" fmla="*/ 72 w 138"/>
                  <a:gd name="T31" fmla="*/ 134 h 179"/>
                  <a:gd name="T32" fmla="*/ 95 w 138"/>
                  <a:gd name="T33" fmla="*/ 124 h 179"/>
                  <a:gd name="T34" fmla="*/ 118 w 138"/>
                  <a:gd name="T35" fmla="*/ 134 h 179"/>
                  <a:gd name="T36" fmla="*/ 124 w 138"/>
                  <a:gd name="T37" fmla="*/ 154 h 179"/>
                  <a:gd name="T38" fmla="*/ 118 w 138"/>
                  <a:gd name="T39" fmla="*/ 171 h 179"/>
                  <a:gd name="T40" fmla="*/ 114 w 138"/>
                  <a:gd name="T41" fmla="*/ 177 h 179"/>
                  <a:gd name="T42" fmla="*/ 114 w 138"/>
                  <a:gd name="T43" fmla="*/ 178 h 179"/>
                  <a:gd name="T44" fmla="*/ 128 w 138"/>
                  <a:gd name="T45" fmla="*/ 171 h 179"/>
                  <a:gd name="T46" fmla="*/ 138 w 138"/>
                  <a:gd name="T47" fmla="*/ 148 h 179"/>
                  <a:gd name="T48" fmla="*/ 128 w 138"/>
                  <a:gd name="T49" fmla="*/ 126 h 179"/>
                  <a:gd name="T50" fmla="*/ 105 w 138"/>
                  <a:gd name="T51" fmla="*/ 11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79">
                    <a:moveTo>
                      <a:pt x="105" y="117"/>
                    </a:moveTo>
                    <a:cubicBezTo>
                      <a:pt x="93" y="117"/>
                      <a:pt x="93" y="117"/>
                      <a:pt x="93" y="117"/>
                    </a:cubicBezTo>
                    <a:cubicBezTo>
                      <a:pt x="85" y="25"/>
                      <a:pt x="85" y="25"/>
                      <a:pt x="85" y="25"/>
                    </a:cubicBezTo>
                    <a:cubicBezTo>
                      <a:pt x="85" y="12"/>
                      <a:pt x="81" y="0"/>
                      <a:pt x="67" y="0"/>
                    </a:cubicBezTo>
                    <a:cubicBezTo>
                      <a:pt x="67" y="0"/>
                      <a:pt x="66" y="0"/>
                      <a:pt x="65" y="0"/>
                    </a:cubicBezTo>
                    <a:cubicBezTo>
                      <a:pt x="53" y="1"/>
                      <a:pt x="51" y="13"/>
                      <a:pt x="51" y="25"/>
                    </a:cubicBezTo>
                    <a:cubicBezTo>
                      <a:pt x="43" y="117"/>
                      <a:pt x="43" y="117"/>
                      <a:pt x="43" y="117"/>
                    </a:cubicBezTo>
                    <a:cubicBezTo>
                      <a:pt x="31" y="117"/>
                      <a:pt x="31" y="117"/>
                      <a:pt x="31" y="117"/>
                    </a:cubicBezTo>
                    <a:cubicBezTo>
                      <a:pt x="30" y="117"/>
                      <a:pt x="29" y="117"/>
                      <a:pt x="28" y="117"/>
                    </a:cubicBezTo>
                    <a:cubicBezTo>
                      <a:pt x="12" y="119"/>
                      <a:pt x="0" y="134"/>
                      <a:pt x="1" y="150"/>
                    </a:cubicBezTo>
                    <a:cubicBezTo>
                      <a:pt x="1" y="165"/>
                      <a:pt x="15" y="179"/>
                      <a:pt x="31" y="179"/>
                    </a:cubicBezTo>
                    <a:cubicBezTo>
                      <a:pt x="77" y="179"/>
                      <a:pt x="77" y="179"/>
                      <a:pt x="77" y="179"/>
                    </a:cubicBezTo>
                    <a:cubicBezTo>
                      <a:pt x="77" y="179"/>
                      <a:pt x="77" y="179"/>
                      <a:pt x="77" y="179"/>
                    </a:cubicBezTo>
                    <a:cubicBezTo>
                      <a:pt x="77" y="177"/>
                      <a:pt x="76" y="177"/>
                      <a:pt x="72" y="172"/>
                    </a:cubicBezTo>
                    <a:cubicBezTo>
                      <a:pt x="69" y="168"/>
                      <a:pt x="65" y="162"/>
                      <a:pt x="65" y="154"/>
                    </a:cubicBezTo>
                    <a:cubicBezTo>
                      <a:pt x="65" y="147"/>
                      <a:pt x="67" y="140"/>
                      <a:pt x="72" y="134"/>
                    </a:cubicBezTo>
                    <a:cubicBezTo>
                      <a:pt x="76" y="128"/>
                      <a:pt x="85" y="124"/>
                      <a:pt x="95" y="124"/>
                    </a:cubicBezTo>
                    <a:cubicBezTo>
                      <a:pt x="104" y="124"/>
                      <a:pt x="113" y="128"/>
                      <a:pt x="118" y="134"/>
                    </a:cubicBezTo>
                    <a:cubicBezTo>
                      <a:pt x="123" y="140"/>
                      <a:pt x="124" y="147"/>
                      <a:pt x="124" y="154"/>
                    </a:cubicBezTo>
                    <a:cubicBezTo>
                      <a:pt x="124" y="162"/>
                      <a:pt x="121" y="168"/>
                      <a:pt x="118" y="171"/>
                    </a:cubicBezTo>
                    <a:cubicBezTo>
                      <a:pt x="114" y="176"/>
                      <a:pt x="114" y="176"/>
                      <a:pt x="114" y="177"/>
                    </a:cubicBezTo>
                    <a:cubicBezTo>
                      <a:pt x="114" y="178"/>
                      <a:pt x="114" y="178"/>
                      <a:pt x="114" y="178"/>
                    </a:cubicBezTo>
                    <a:cubicBezTo>
                      <a:pt x="119" y="177"/>
                      <a:pt x="124" y="175"/>
                      <a:pt x="128" y="171"/>
                    </a:cubicBezTo>
                    <a:cubicBezTo>
                      <a:pt x="135" y="165"/>
                      <a:pt x="138" y="157"/>
                      <a:pt x="138" y="148"/>
                    </a:cubicBezTo>
                    <a:cubicBezTo>
                      <a:pt x="138" y="140"/>
                      <a:pt x="135" y="131"/>
                      <a:pt x="128" y="126"/>
                    </a:cubicBezTo>
                    <a:cubicBezTo>
                      <a:pt x="122" y="120"/>
                      <a:pt x="113" y="117"/>
                      <a:pt x="105" y="117"/>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0" name="任意多边形: 形状 3"/>
              <p:cNvSpPr/>
              <p:nvPr/>
            </p:nvSpPr>
            <p:spPr bwMode="auto">
              <a:xfrm>
                <a:off x="2396" y="701"/>
                <a:ext cx="1274" cy="734"/>
              </a:xfrm>
              <a:custGeom>
                <a:avLst/>
                <a:gdLst>
                  <a:gd name="T0" fmla="*/ 522 w 538"/>
                  <a:gd name="T1" fmla="*/ 0 h 310"/>
                  <a:gd name="T2" fmla="*/ 522 w 538"/>
                  <a:gd name="T3" fmla="*/ 0 h 310"/>
                  <a:gd name="T4" fmla="*/ 521 w 538"/>
                  <a:gd name="T5" fmla="*/ 0 h 310"/>
                  <a:gd name="T6" fmla="*/ 0 w 538"/>
                  <a:gd name="T7" fmla="*/ 267 h 310"/>
                  <a:gd name="T8" fmla="*/ 108 w 538"/>
                  <a:gd name="T9" fmla="*/ 249 h 310"/>
                  <a:gd name="T10" fmla="*/ 141 w 538"/>
                  <a:gd name="T11" fmla="*/ 248 h 310"/>
                  <a:gd name="T12" fmla="*/ 149 w 538"/>
                  <a:gd name="T13" fmla="*/ 249 h 310"/>
                  <a:gd name="T14" fmla="*/ 149 w 538"/>
                  <a:gd name="T15" fmla="*/ 247 h 310"/>
                  <a:gd name="T16" fmla="*/ 147 w 538"/>
                  <a:gd name="T17" fmla="*/ 239 h 310"/>
                  <a:gd name="T18" fmla="*/ 146 w 538"/>
                  <a:gd name="T19" fmla="*/ 219 h 310"/>
                  <a:gd name="T20" fmla="*/ 158 w 538"/>
                  <a:gd name="T21" fmla="*/ 202 h 310"/>
                  <a:gd name="T22" fmla="*/ 182 w 538"/>
                  <a:gd name="T23" fmla="*/ 200 h 310"/>
                  <a:gd name="T24" fmla="*/ 202 w 538"/>
                  <a:gd name="T25" fmla="*/ 216 h 310"/>
                  <a:gd name="T26" fmla="*/ 202 w 538"/>
                  <a:gd name="T27" fmla="*/ 237 h 310"/>
                  <a:gd name="T28" fmla="*/ 190 w 538"/>
                  <a:gd name="T29" fmla="*/ 252 h 310"/>
                  <a:gd name="T30" fmla="*/ 189 w 538"/>
                  <a:gd name="T31" fmla="*/ 253 h 310"/>
                  <a:gd name="T32" fmla="*/ 318 w 538"/>
                  <a:gd name="T33" fmla="*/ 310 h 310"/>
                  <a:gd name="T34" fmla="*/ 385 w 538"/>
                  <a:gd name="T35" fmla="*/ 190 h 310"/>
                  <a:gd name="T36" fmla="*/ 384 w 538"/>
                  <a:gd name="T37" fmla="*/ 189 h 310"/>
                  <a:gd name="T38" fmla="*/ 376 w 538"/>
                  <a:gd name="T39" fmla="*/ 190 h 310"/>
                  <a:gd name="T40" fmla="*/ 357 w 538"/>
                  <a:gd name="T41" fmla="*/ 186 h 310"/>
                  <a:gd name="T42" fmla="*/ 343 w 538"/>
                  <a:gd name="T43" fmla="*/ 170 h 310"/>
                  <a:gd name="T44" fmla="*/ 347 w 538"/>
                  <a:gd name="T45" fmla="*/ 146 h 310"/>
                  <a:gd name="T46" fmla="*/ 368 w 538"/>
                  <a:gd name="T47" fmla="*/ 131 h 310"/>
                  <a:gd name="T48" fmla="*/ 388 w 538"/>
                  <a:gd name="T49" fmla="*/ 136 h 310"/>
                  <a:gd name="T50" fmla="*/ 399 w 538"/>
                  <a:gd name="T51" fmla="*/ 151 h 310"/>
                  <a:gd name="T52" fmla="*/ 403 w 538"/>
                  <a:gd name="T53" fmla="*/ 157 h 310"/>
                  <a:gd name="T54" fmla="*/ 406 w 538"/>
                  <a:gd name="T55" fmla="*/ 159 h 310"/>
                  <a:gd name="T56" fmla="*/ 531 w 538"/>
                  <a:gd name="T57" fmla="*/ 25 h 310"/>
                  <a:gd name="T58" fmla="*/ 536 w 538"/>
                  <a:gd name="T59" fmla="*/ 9 h 310"/>
                  <a:gd name="T60" fmla="*/ 522 w 538"/>
                  <a:gd name="T61"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38" h="310">
                    <a:moveTo>
                      <a:pt x="522" y="0"/>
                    </a:moveTo>
                    <a:cubicBezTo>
                      <a:pt x="522" y="0"/>
                      <a:pt x="522" y="0"/>
                      <a:pt x="522" y="0"/>
                    </a:cubicBezTo>
                    <a:cubicBezTo>
                      <a:pt x="521" y="0"/>
                      <a:pt x="521" y="0"/>
                      <a:pt x="521" y="0"/>
                    </a:cubicBezTo>
                    <a:cubicBezTo>
                      <a:pt x="302" y="23"/>
                      <a:pt x="128" y="131"/>
                      <a:pt x="0" y="267"/>
                    </a:cubicBezTo>
                    <a:cubicBezTo>
                      <a:pt x="35" y="257"/>
                      <a:pt x="71" y="250"/>
                      <a:pt x="108" y="249"/>
                    </a:cubicBezTo>
                    <a:cubicBezTo>
                      <a:pt x="119" y="248"/>
                      <a:pt x="130" y="248"/>
                      <a:pt x="141" y="248"/>
                    </a:cubicBezTo>
                    <a:cubicBezTo>
                      <a:pt x="143" y="248"/>
                      <a:pt x="146" y="248"/>
                      <a:pt x="149" y="249"/>
                    </a:cubicBezTo>
                    <a:cubicBezTo>
                      <a:pt x="149" y="247"/>
                      <a:pt x="149" y="247"/>
                      <a:pt x="149" y="247"/>
                    </a:cubicBezTo>
                    <a:cubicBezTo>
                      <a:pt x="150" y="245"/>
                      <a:pt x="149" y="244"/>
                      <a:pt x="147" y="239"/>
                    </a:cubicBezTo>
                    <a:cubicBezTo>
                      <a:pt x="145" y="234"/>
                      <a:pt x="143" y="227"/>
                      <a:pt x="146" y="219"/>
                    </a:cubicBezTo>
                    <a:cubicBezTo>
                      <a:pt x="148" y="213"/>
                      <a:pt x="151" y="206"/>
                      <a:pt x="158" y="202"/>
                    </a:cubicBezTo>
                    <a:cubicBezTo>
                      <a:pt x="164" y="198"/>
                      <a:pt x="173" y="197"/>
                      <a:pt x="182" y="200"/>
                    </a:cubicBezTo>
                    <a:cubicBezTo>
                      <a:pt x="192" y="202"/>
                      <a:pt x="199" y="209"/>
                      <a:pt x="202" y="216"/>
                    </a:cubicBezTo>
                    <a:cubicBezTo>
                      <a:pt x="205" y="223"/>
                      <a:pt x="204" y="230"/>
                      <a:pt x="202" y="237"/>
                    </a:cubicBezTo>
                    <a:cubicBezTo>
                      <a:pt x="200" y="244"/>
                      <a:pt x="194" y="249"/>
                      <a:pt x="190" y="252"/>
                    </a:cubicBezTo>
                    <a:cubicBezTo>
                      <a:pt x="189" y="252"/>
                      <a:pt x="189" y="253"/>
                      <a:pt x="189" y="253"/>
                    </a:cubicBezTo>
                    <a:cubicBezTo>
                      <a:pt x="236" y="261"/>
                      <a:pt x="281" y="279"/>
                      <a:pt x="318" y="310"/>
                    </a:cubicBezTo>
                    <a:cubicBezTo>
                      <a:pt x="338" y="266"/>
                      <a:pt x="360" y="226"/>
                      <a:pt x="385" y="190"/>
                    </a:cubicBezTo>
                    <a:cubicBezTo>
                      <a:pt x="384" y="189"/>
                      <a:pt x="384" y="189"/>
                      <a:pt x="384" y="189"/>
                    </a:cubicBezTo>
                    <a:cubicBezTo>
                      <a:pt x="383" y="189"/>
                      <a:pt x="382" y="189"/>
                      <a:pt x="376" y="190"/>
                    </a:cubicBezTo>
                    <a:cubicBezTo>
                      <a:pt x="371" y="190"/>
                      <a:pt x="364" y="190"/>
                      <a:pt x="357" y="186"/>
                    </a:cubicBezTo>
                    <a:cubicBezTo>
                      <a:pt x="351" y="183"/>
                      <a:pt x="346" y="178"/>
                      <a:pt x="343" y="170"/>
                    </a:cubicBezTo>
                    <a:cubicBezTo>
                      <a:pt x="341" y="164"/>
                      <a:pt x="342" y="154"/>
                      <a:pt x="347" y="146"/>
                    </a:cubicBezTo>
                    <a:cubicBezTo>
                      <a:pt x="352" y="137"/>
                      <a:pt x="360" y="132"/>
                      <a:pt x="368" y="131"/>
                    </a:cubicBezTo>
                    <a:cubicBezTo>
                      <a:pt x="375" y="130"/>
                      <a:pt x="382" y="133"/>
                      <a:pt x="388" y="136"/>
                    </a:cubicBezTo>
                    <a:cubicBezTo>
                      <a:pt x="395" y="140"/>
                      <a:pt x="398" y="146"/>
                      <a:pt x="399" y="151"/>
                    </a:cubicBezTo>
                    <a:cubicBezTo>
                      <a:pt x="402" y="156"/>
                      <a:pt x="402" y="157"/>
                      <a:pt x="403" y="157"/>
                    </a:cubicBezTo>
                    <a:cubicBezTo>
                      <a:pt x="406" y="159"/>
                      <a:pt x="406" y="159"/>
                      <a:pt x="406" y="159"/>
                    </a:cubicBezTo>
                    <a:cubicBezTo>
                      <a:pt x="443" y="108"/>
                      <a:pt x="485" y="64"/>
                      <a:pt x="531" y="25"/>
                    </a:cubicBezTo>
                    <a:cubicBezTo>
                      <a:pt x="536" y="21"/>
                      <a:pt x="538" y="14"/>
                      <a:pt x="536" y="9"/>
                    </a:cubicBezTo>
                    <a:cubicBezTo>
                      <a:pt x="533" y="3"/>
                      <a:pt x="527" y="0"/>
                      <a:pt x="52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1" name="任意多边形: 形状 4"/>
              <p:cNvSpPr/>
              <p:nvPr/>
            </p:nvSpPr>
            <p:spPr bwMode="auto">
              <a:xfrm>
                <a:off x="1973" y="1198"/>
                <a:ext cx="1152" cy="878"/>
              </a:xfrm>
              <a:custGeom>
                <a:avLst/>
                <a:gdLst>
                  <a:gd name="T0" fmla="*/ 353 w 487"/>
                  <a:gd name="T1" fmla="*/ 43 h 371"/>
                  <a:gd name="T2" fmla="*/ 362 w 487"/>
                  <a:gd name="T3" fmla="*/ 32 h 371"/>
                  <a:gd name="T4" fmla="*/ 370 w 487"/>
                  <a:gd name="T5" fmla="*/ 23 h 371"/>
                  <a:gd name="T6" fmla="*/ 370 w 487"/>
                  <a:gd name="T7" fmla="*/ 10 h 371"/>
                  <a:gd name="T8" fmla="*/ 358 w 487"/>
                  <a:gd name="T9" fmla="*/ 1 h 371"/>
                  <a:gd name="T10" fmla="*/ 351 w 487"/>
                  <a:gd name="T11" fmla="*/ 0 h 371"/>
                  <a:gd name="T12" fmla="*/ 343 w 487"/>
                  <a:gd name="T13" fmla="*/ 2 h 371"/>
                  <a:gd name="T14" fmla="*/ 336 w 487"/>
                  <a:gd name="T15" fmla="*/ 13 h 371"/>
                  <a:gd name="T16" fmla="*/ 337 w 487"/>
                  <a:gd name="T17" fmla="*/ 24 h 371"/>
                  <a:gd name="T18" fmla="*/ 340 w 487"/>
                  <a:gd name="T19" fmla="*/ 39 h 371"/>
                  <a:gd name="T20" fmla="*/ 340 w 487"/>
                  <a:gd name="T21" fmla="*/ 39 h 371"/>
                  <a:gd name="T22" fmla="*/ 332 w 487"/>
                  <a:gd name="T23" fmla="*/ 63 h 371"/>
                  <a:gd name="T24" fmla="*/ 303 w 487"/>
                  <a:gd name="T25" fmla="*/ 62 h 371"/>
                  <a:gd name="T26" fmla="*/ 288 w 487"/>
                  <a:gd name="T27" fmla="*/ 63 h 371"/>
                  <a:gd name="T28" fmla="*/ 147 w 487"/>
                  <a:gd name="T29" fmla="*/ 94 h 371"/>
                  <a:gd name="T30" fmla="*/ 9 w 487"/>
                  <a:gd name="T31" fmla="*/ 303 h 371"/>
                  <a:gd name="T32" fmla="*/ 9 w 487"/>
                  <a:gd name="T33" fmla="*/ 303 h 371"/>
                  <a:gd name="T34" fmla="*/ 18 w 487"/>
                  <a:gd name="T35" fmla="*/ 357 h 371"/>
                  <a:gd name="T36" fmla="*/ 72 w 487"/>
                  <a:gd name="T37" fmla="*/ 354 h 371"/>
                  <a:gd name="T38" fmla="*/ 73 w 487"/>
                  <a:gd name="T39" fmla="*/ 354 h 371"/>
                  <a:gd name="T40" fmla="*/ 73 w 487"/>
                  <a:gd name="T41" fmla="*/ 354 h 371"/>
                  <a:gd name="T42" fmla="*/ 394 w 487"/>
                  <a:gd name="T43" fmla="*/ 361 h 371"/>
                  <a:gd name="T44" fmla="*/ 407 w 487"/>
                  <a:gd name="T45" fmla="*/ 362 h 371"/>
                  <a:gd name="T46" fmla="*/ 416 w 487"/>
                  <a:gd name="T47" fmla="*/ 352 h 371"/>
                  <a:gd name="T48" fmla="*/ 442 w 487"/>
                  <a:gd name="T49" fmla="*/ 251 h 371"/>
                  <a:gd name="T50" fmla="*/ 434 w 487"/>
                  <a:gd name="T51" fmla="*/ 253 h 371"/>
                  <a:gd name="T52" fmla="*/ 415 w 487"/>
                  <a:gd name="T53" fmla="*/ 256 h 371"/>
                  <a:gd name="T54" fmla="*/ 397 w 487"/>
                  <a:gd name="T55" fmla="*/ 245 h 371"/>
                  <a:gd name="T56" fmla="*/ 393 w 487"/>
                  <a:gd name="T57" fmla="*/ 220 h 371"/>
                  <a:gd name="T58" fmla="*/ 408 w 487"/>
                  <a:gd name="T59" fmla="*/ 200 h 371"/>
                  <a:gd name="T60" fmla="*/ 430 w 487"/>
                  <a:gd name="T61" fmla="*/ 199 h 371"/>
                  <a:gd name="T62" fmla="*/ 445 w 487"/>
                  <a:gd name="T63" fmla="*/ 210 h 371"/>
                  <a:gd name="T64" fmla="*/ 450 w 487"/>
                  <a:gd name="T65" fmla="*/ 215 h 371"/>
                  <a:gd name="T66" fmla="*/ 453 w 487"/>
                  <a:gd name="T67" fmla="*/ 215 h 371"/>
                  <a:gd name="T68" fmla="*/ 487 w 487"/>
                  <a:gd name="T69" fmla="*/ 123 h 371"/>
                  <a:gd name="T70" fmla="*/ 346 w 487"/>
                  <a:gd name="T71" fmla="*/ 64 h 371"/>
                  <a:gd name="T72" fmla="*/ 353 w 487"/>
                  <a:gd name="T73" fmla="*/ 43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7" h="371">
                    <a:moveTo>
                      <a:pt x="353" y="43"/>
                    </a:moveTo>
                    <a:cubicBezTo>
                      <a:pt x="355" y="37"/>
                      <a:pt x="359" y="35"/>
                      <a:pt x="362" y="32"/>
                    </a:cubicBezTo>
                    <a:cubicBezTo>
                      <a:pt x="366" y="30"/>
                      <a:pt x="368" y="27"/>
                      <a:pt x="370" y="23"/>
                    </a:cubicBezTo>
                    <a:cubicBezTo>
                      <a:pt x="371" y="19"/>
                      <a:pt x="371" y="14"/>
                      <a:pt x="370" y="10"/>
                    </a:cubicBezTo>
                    <a:cubicBezTo>
                      <a:pt x="368" y="6"/>
                      <a:pt x="365" y="3"/>
                      <a:pt x="358" y="1"/>
                    </a:cubicBezTo>
                    <a:cubicBezTo>
                      <a:pt x="355" y="0"/>
                      <a:pt x="353" y="0"/>
                      <a:pt x="351" y="0"/>
                    </a:cubicBezTo>
                    <a:cubicBezTo>
                      <a:pt x="348" y="0"/>
                      <a:pt x="345" y="0"/>
                      <a:pt x="343" y="2"/>
                    </a:cubicBezTo>
                    <a:cubicBezTo>
                      <a:pt x="340" y="4"/>
                      <a:pt x="337" y="8"/>
                      <a:pt x="336" y="13"/>
                    </a:cubicBezTo>
                    <a:cubicBezTo>
                      <a:pt x="334" y="17"/>
                      <a:pt x="335" y="20"/>
                      <a:pt x="337" y="24"/>
                    </a:cubicBezTo>
                    <a:cubicBezTo>
                      <a:pt x="339" y="29"/>
                      <a:pt x="341" y="33"/>
                      <a:pt x="340" y="39"/>
                    </a:cubicBezTo>
                    <a:cubicBezTo>
                      <a:pt x="340" y="39"/>
                      <a:pt x="340" y="39"/>
                      <a:pt x="340" y="39"/>
                    </a:cubicBezTo>
                    <a:cubicBezTo>
                      <a:pt x="332" y="63"/>
                      <a:pt x="332" y="63"/>
                      <a:pt x="332" y="63"/>
                    </a:cubicBezTo>
                    <a:cubicBezTo>
                      <a:pt x="323" y="62"/>
                      <a:pt x="313" y="62"/>
                      <a:pt x="303" y="62"/>
                    </a:cubicBezTo>
                    <a:cubicBezTo>
                      <a:pt x="298" y="62"/>
                      <a:pt x="293" y="62"/>
                      <a:pt x="288" y="63"/>
                    </a:cubicBezTo>
                    <a:cubicBezTo>
                      <a:pt x="240" y="65"/>
                      <a:pt x="191" y="76"/>
                      <a:pt x="147" y="94"/>
                    </a:cubicBezTo>
                    <a:cubicBezTo>
                      <a:pt x="91" y="160"/>
                      <a:pt x="45" y="232"/>
                      <a:pt x="9" y="303"/>
                    </a:cubicBezTo>
                    <a:cubicBezTo>
                      <a:pt x="9" y="303"/>
                      <a:pt x="9" y="303"/>
                      <a:pt x="9" y="303"/>
                    </a:cubicBezTo>
                    <a:cubicBezTo>
                      <a:pt x="0" y="321"/>
                      <a:pt x="3" y="343"/>
                      <a:pt x="18" y="357"/>
                    </a:cubicBezTo>
                    <a:cubicBezTo>
                      <a:pt x="33" y="371"/>
                      <a:pt x="55" y="365"/>
                      <a:pt x="72" y="354"/>
                    </a:cubicBezTo>
                    <a:cubicBezTo>
                      <a:pt x="73" y="354"/>
                      <a:pt x="73" y="354"/>
                      <a:pt x="73" y="354"/>
                    </a:cubicBezTo>
                    <a:cubicBezTo>
                      <a:pt x="73" y="354"/>
                      <a:pt x="73" y="354"/>
                      <a:pt x="73" y="354"/>
                    </a:cubicBezTo>
                    <a:cubicBezTo>
                      <a:pt x="191" y="283"/>
                      <a:pt x="289" y="293"/>
                      <a:pt x="394" y="361"/>
                    </a:cubicBezTo>
                    <a:cubicBezTo>
                      <a:pt x="398" y="363"/>
                      <a:pt x="403" y="364"/>
                      <a:pt x="407" y="362"/>
                    </a:cubicBezTo>
                    <a:cubicBezTo>
                      <a:pt x="411" y="360"/>
                      <a:pt x="415" y="356"/>
                      <a:pt x="416" y="352"/>
                    </a:cubicBezTo>
                    <a:cubicBezTo>
                      <a:pt x="423" y="317"/>
                      <a:pt x="432" y="283"/>
                      <a:pt x="442" y="251"/>
                    </a:cubicBezTo>
                    <a:cubicBezTo>
                      <a:pt x="440" y="251"/>
                      <a:pt x="439" y="251"/>
                      <a:pt x="434" y="253"/>
                    </a:cubicBezTo>
                    <a:cubicBezTo>
                      <a:pt x="430" y="255"/>
                      <a:pt x="423" y="258"/>
                      <a:pt x="415" y="256"/>
                    </a:cubicBezTo>
                    <a:cubicBezTo>
                      <a:pt x="408" y="254"/>
                      <a:pt x="402" y="251"/>
                      <a:pt x="397" y="245"/>
                    </a:cubicBezTo>
                    <a:cubicBezTo>
                      <a:pt x="393" y="239"/>
                      <a:pt x="391" y="230"/>
                      <a:pt x="393" y="220"/>
                    </a:cubicBezTo>
                    <a:cubicBezTo>
                      <a:pt x="396" y="210"/>
                      <a:pt x="402" y="203"/>
                      <a:pt x="408" y="200"/>
                    </a:cubicBezTo>
                    <a:cubicBezTo>
                      <a:pt x="416" y="197"/>
                      <a:pt x="423" y="197"/>
                      <a:pt x="430" y="199"/>
                    </a:cubicBezTo>
                    <a:cubicBezTo>
                      <a:pt x="437" y="201"/>
                      <a:pt x="442" y="206"/>
                      <a:pt x="445" y="210"/>
                    </a:cubicBezTo>
                    <a:cubicBezTo>
                      <a:pt x="449" y="214"/>
                      <a:pt x="449" y="214"/>
                      <a:pt x="450" y="215"/>
                    </a:cubicBezTo>
                    <a:cubicBezTo>
                      <a:pt x="453" y="215"/>
                      <a:pt x="453" y="215"/>
                      <a:pt x="453" y="215"/>
                    </a:cubicBezTo>
                    <a:cubicBezTo>
                      <a:pt x="463" y="183"/>
                      <a:pt x="475" y="152"/>
                      <a:pt x="487" y="123"/>
                    </a:cubicBezTo>
                    <a:cubicBezTo>
                      <a:pt x="448" y="89"/>
                      <a:pt x="399" y="70"/>
                      <a:pt x="346" y="64"/>
                    </a:cubicBezTo>
                    <a:lnTo>
                      <a:pt x="353" y="4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4" name="任意多边形: 形状 5"/>
              <p:cNvSpPr/>
              <p:nvPr/>
            </p:nvSpPr>
            <p:spPr bwMode="auto">
              <a:xfrm>
                <a:off x="4013" y="701"/>
                <a:ext cx="1270" cy="736"/>
              </a:xfrm>
              <a:custGeom>
                <a:avLst/>
                <a:gdLst>
                  <a:gd name="T0" fmla="*/ 17 w 537"/>
                  <a:gd name="T1" fmla="*/ 0 h 311"/>
                  <a:gd name="T2" fmla="*/ 14 w 537"/>
                  <a:gd name="T3" fmla="*/ 0 h 311"/>
                  <a:gd name="T4" fmla="*/ 2 w 537"/>
                  <a:gd name="T5" fmla="*/ 10 h 311"/>
                  <a:gd name="T6" fmla="*/ 7 w 537"/>
                  <a:gd name="T7" fmla="*/ 25 h 311"/>
                  <a:gd name="T8" fmla="*/ 132 w 537"/>
                  <a:gd name="T9" fmla="*/ 160 h 311"/>
                  <a:gd name="T10" fmla="*/ 136 w 537"/>
                  <a:gd name="T11" fmla="*/ 157 h 311"/>
                  <a:gd name="T12" fmla="*/ 139 w 537"/>
                  <a:gd name="T13" fmla="*/ 151 h 311"/>
                  <a:gd name="T14" fmla="*/ 151 w 537"/>
                  <a:gd name="T15" fmla="*/ 136 h 311"/>
                  <a:gd name="T16" fmla="*/ 171 w 537"/>
                  <a:gd name="T17" fmla="*/ 131 h 311"/>
                  <a:gd name="T18" fmla="*/ 192 w 537"/>
                  <a:gd name="T19" fmla="*/ 146 h 311"/>
                  <a:gd name="T20" fmla="*/ 195 w 537"/>
                  <a:gd name="T21" fmla="*/ 170 h 311"/>
                  <a:gd name="T22" fmla="*/ 182 w 537"/>
                  <a:gd name="T23" fmla="*/ 186 h 311"/>
                  <a:gd name="T24" fmla="*/ 163 w 537"/>
                  <a:gd name="T25" fmla="*/ 190 h 311"/>
                  <a:gd name="T26" fmla="*/ 154 w 537"/>
                  <a:gd name="T27" fmla="*/ 189 h 311"/>
                  <a:gd name="T28" fmla="*/ 153 w 537"/>
                  <a:gd name="T29" fmla="*/ 190 h 311"/>
                  <a:gd name="T30" fmla="*/ 220 w 537"/>
                  <a:gd name="T31" fmla="*/ 311 h 311"/>
                  <a:gd name="T32" fmla="*/ 353 w 537"/>
                  <a:gd name="T33" fmla="*/ 253 h 311"/>
                  <a:gd name="T34" fmla="*/ 351 w 537"/>
                  <a:gd name="T35" fmla="*/ 252 h 311"/>
                  <a:gd name="T36" fmla="*/ 340 w 537"/>
                  <a:gd name="T37" fmla="*/ 237 h 311"/>
                  <a:gd name="T38" fmla="*/ 340 w 537"/>
                  <a:gd name="T39" fmla="*/ 216 h 311"/>
                  <a:gd name="T40" fmla="*/ 359 w 537"/>
                  <a:gd name="T41" fmla="*/ 200 h 311"/>
                  <a:gd name="T42" fmla="*/ 384 w 537"/>
                  <a:gd name="T43" fmla="*/ 202 h 311"/>
                  <a:gd name="T44" fmla="*/ 396 w 537"/>
                  <a:gd name="T45" fmla="*/ 219 h 311"/>
                  <a:gd name="T46" fmla="*/ 395 w 537"/>
                  <a:gd name="T47" fmla="*/ 239 h 311"/>
                  <a:gd name="T48" fmla="*/ 392 w 537"/>
                  <a:gd name="T49" fmla="*/ 247 h 311"/>
                  <a:gd name="T50" fmla="*/ 393 w 537"/>
                  <a:gd name="T51" fmla="*/ 248 h 311"/>
                  <a:gd name="T52" fmla="*/ 398 w 537"/>
                  <a:gd name="T53" fmla="*/ 248 h 311"/>
                  <a:gd name="T54" fmla="*/ 431 w 537"/>
                  <a:gd name="T55" fmla="*/ 249 h 311"/>
                  <a:gd name="T56" fmla="*/ 537 w 537"/>
                  <a:gd name="T57" fmla="*/ 267 h 311"/>
                  <a:gd name="T58" fmla="*/ 17 w 537"/>
                  <a:gd name="T5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7" h="311">
                    <a:moveTo>
                      <a:pt x="17" y="0"/>
                    </a:moveTo>
                    <a:cubicBezTo>
                      <a:pt x="16" y="0"/>
                      <a:pt x="15" y="0"/>
                      <a:pt x="14" y="0"/>
                    </a:cubicBezTo>
                    <a:cubicBezTo>
                      <a:pt x="9" y="0"/>
                      <a:pt x="4" y="4"/>
                      <a:pt x="2" y="10"/>
                    </a:cubicBezTo>
                    <a:cubicBezTo>
                      <a:pt x="0" y="15"/>
                      <a:pt x="2" y="21"/>
                      <a:pt x="7" y="25"/>
                    </a:cubicBezTo>
                    <a:cubicBezTo>
                      <a:pt x="53" y="64"/>
                      <a:pt x="95" y="109"/>
                      <a:pt x="132" y="160"/>
                    </a:cubicBezTo>
                    <a:cubicBezTo>
                      <a:pt x="136" y="157"/>
                      <a:pt x="136" y="157"/>
                      <a:pt x="136" y="157"/>
                    </a:cubicBezTo>
                    <a:cubicBezTo>
                      <a:pt x="137" y="157"/>
                      <a:pt x="137" y="156"/>
                      <a:pt x="139" y="151"/>
                    </a:cubicBezTo>
                    <a:cubicBezTo>
                      <a:pt x="141" y="146"/>
                      <a:pt x="144" y="140"/>
                      <a:pt x="151" y="136"/>
                    </a:cubicBezTo>
                    <a:cubicBezTo>
                      <a:pt x="156" y="133"/>
                      <a:pt x="163" y="130"/>
                      <a:pt x="171" y="131"/>
                    </a:cubicBezTo>
                    <a:cubicBezTo>
                      <a:pt x="178" y="132"/>
                      <a:pt x="187" y="137"/>
                      <a:pt x="192" y="146"/>
                    </a:cubicBezTo>
                    <a:cubicBezTo>
                      <a:pt x="197" y="154"/>
                      <a:pt x="198" y="164"/>
                      <a:pt x="195" y="170"/>
                    </a:cubicBezTo>
                    <a:cubicBezTo>
                      <a:pt x="193" y="178"/>
                      <a:pt x="188" y="183"/>
                      <a:pt x="182" y="186"/>
                    </a:cubicBezTo>
                    <a:cubicBezTo>
                      <a:pt x="175" y="190"/>
                      <a:pt x="168" y="190"/>
                      <a:pt x="163" y="190"/>
                    </a:cubicBezTo>
                    <a:cubicBezTo>
                      <a:pt x="157" y="189"/>
                      <a:pt x="155" y="189"/>
                      <a:pt x="154" y="189"/>
                    </a:cubicBezTo>
                    <a:cubicBezTo>
                      <a:pt x="153" y="190"/>
                      <a:pt x="153" y="190"/>
                      <a:pt x="153" y="190"/>
                    </a:cubicBezTo>
                    <a:cubicBezTo>
                      <a:pt x="178" y="227"/>
                      <a:pt x="200" y="267"/>
                      <a:pt x="220" y="311"/>
                    </a:cubicBezTo>
                    <a:cubicBezTo>
                      <a:pt x="258" y="279"/>
                      <a:pt x="304" y="260"/>
                      <a:pt x="353" y="253"/>
                    </a:cubicBezTo>
                    <a:cubicBezTo>
                      <a:pt x="352" y="252"/>
                      <a:pt x="352" y="252"/>
                      <a:pt x="351" y="252"/>
                    </a:cubicBezTo>
                    <a:cubicBezTo>
                      <a:pt x="348" y="249"/>
                      <a:pt x="342" y="244"/>
                      <a:pt x="340" y="237"/>
                    </a:cubicBezTo>
                    <a:cubicBezTo>
                      <a:pt x="338" y="230"/>
                      <a:pt x="337" y="223"/>
                      <a:pt x="340" y="216"/>
                    </a:cubicBezTo>
                    <a:cubicBezTo>
                      <a:pt x="343" y="209"/>
                      <a:pt x="350" y="202"/>
                      <a:pt x="359" y="200"/>
                    </a:cubicBezTo>
                    <a:cubicBezTo>
                      <a:pt x="369" y="197"/>
                      <a:pt x="378" y="198"/>
                      <a:pt x="384" y="202"/>
                    </a:cubicBezTo>
                    <a:cubicBezTo>
                      <a:pt x="391" y="206"/>
                      <a:pt x="394" y="213"/>
                      <a:pt x="396" y="219"/>
                    </a:cubicBezTo>
                    <a:cubicBezTo>
                      <a:pt x="399" y="227"/>
                      <a:pt x="397" y="234"/>
                      <a:pt x="395" y="239"/>
                    </a:cubicBezTo>
                    <a:cubicBezTo>
                      <a:pt x="393" y="244"/>
                      <a:pt x="392" y="245"/>
                      <a:pt x="392" y="247"/>
                    </a:cubicBezTo>
                    <a:cubicBezTo>
                      <a:pt x="393" y="248"/>
                      <a:pt x="393" y="248"/>
                      <a:pt x="393" y="248"/>
                    </a:cubicBezTo>
                    <a:cubicBezTo>
                      <a:pt x="395" y="248"/>
                      <a:pt x="396" y="248"/>
                      <a:pt x="398" y="248"/>
                    </a:cubicBezTo>
                    <a:cubicBezTo>
                      <a:pt x="409" y="248"/>
                      <a:pt x="420" y="248"/>
                      <a:pt x="431" y="249"/>
                    </a:cubicBezTo>
                    <a:cubicBezTo>
                      <a:pt x="467" y="250"/>
                      <a:pt x="502" y="257"/>
                      <a:pt x="537" y="267"/>
                    </a:cubicBezTo>
                    <a:cubicBezTo>
                      <a:pt x="409" y="130"/>
                      <a:pt x="236" y="23"/>
                      <a:pt x="17" y="0"/>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5" name="任意多边形: 形状 6"/>
              <p:cNvSpPr/>
              <p:nvPr/>
            </p:nvSpPr>
            <p:spPr bwMode="auto">
              <a:xfrm>
                <a:off x="4557" y="1198"/>
                <a:ext cx="1150" cy="876"/>
              </a:xfrm>
              <a:custGeom>
                <a:avLst/>
                <a:gdLst>
                  <a:gd name="T0" fmla="*/ 478 w 486"/>
                  <a:gd name="T1" fmla="*/ 303 h 370"/>
                  <a:gd name="T2" fmla="*/ 339 w 486"/>
                  <a:gd name="T3" fmla="*/ 93 h 370"/>
                  <a:gd name="T4" fmla="*/ 200 w 486"/>
                  <a:gd name="T5" fmla="*/ 63 h 370"/>
                  <a:gd name="T6" fmla="*/ 184 w 486"/>
                  <a:gd name="T7" fmla="*/ 62 h 370"/>
                  <a:gd name="T8" fmla="*/ 158 w 486"/>
                  <a:gd name="T9" fmla="*/ 63 h 370"/>
                  <a:gd name="T10" fmla="*/ 151 w 486"/>
                  <a:gd name="T11" fmla="*/ 39 h 370"/>
                  <a:gd name="T12" fmla="*/ 151 w 486"/>
                  <a:gd name="T13" fmla="*/ 39 h 370"/>
                  <a:gd name="T14" fmla="*/ 154 w 486"/>
                  <a:gd name="T15" fmla="*/ 24 h 370"/>
                  <a:gd name="T16" fmla="*/ 155 w 486"/>
                  <a:gd name="T17" fmla="*/ 13 h 370"/>
                  <a:gd name="T18" fmla="*/ 148 w 486"/>
                  <a:gd name="T19" fmla="*/ 2 h 370"/>
                  <a:gd name="T20" fmla="*/ 140 w 486"/>
                  <a:gd name="T21" fmla="*/ 0 h 370"/>
                  <a:gd name="T22" fmla="*/ 133 w 486"/>
                  <a:gd name="T23" fmla="*/ 1 h 370"/>
                  <a:gd name="T24" fmla="*/ 121 w 486"/>
                  <a:gd name="T25" fmla="*/ 10 h 370"/>
                  <a:gd name="T26" fmla="*/ 121 w 486"/>
                  <a:gd name="T27" fmla="*/ 23 h 370"/>
                  <a:gd name="T28" fmla="*/ 128 w 486"/>
                  <a:gd name="T29" fmla="*/ 32 h 370"/>
                  <a:gd name="T30" fmla="*/ 138 w 486"/>
                  <a:gd name="T31" fmla="*/ 43 h 370"/>
                  <a:gd name="T32" fmla="*/ 145 w 486"/>
                  <a:gd name="T33" fmla="*/ 64 h 370"/>
                  <a:gd name="T34" fmla="*/ 0 w 486"/>
                  <a:gd name="T35" fmla="*/ 124 h 370"/>
                  <a:gd name="T36" fmla="*/ 34 w 486"/>
                  <a:gd name="T37" fmla="*/ 213 h 370"/>
                  <a:gd name="T38" fmla="*/ 37 w 486"/>
                  <a:gd name="T39" fmla="*/ 210 h 370"/>
                  <a:gd name="T40" fmla="*/ 52 w 486"/>
                  <a:gd name="T41" fmla="*/ 199 h 370"/>
                  <a:gd name="T42" fmla="*/ 73 w 486"/>
                  <a:gd name="T43" fmla="*/ 200 h 370"/>
                  <a:gd name="T44" fmla="*/ 88 w 486"/>
                  <a:gd name="T45" fmla="*/ 220 h 370"/>
                  <a:gd name="T46" fmla="*/ 85 w 486"/>
                  <a:gd name="T47" fmla="*/ 245 h 370"/>
                  <a:gd name="T48" fmla="*/ 67 w 486"/>
                  <a:gd name="T49" fmla="*/ 256 h 370"/>
                  <a:gd name="T50" fmla="*/ 47 w 486"/>
                  <a:gd name="T51" fmla="*/ 253 h 370"/>
                  <a:gd name="T52" fmla="*/ 46 w 486"/>
                  <a:gd name="T53" fmla="*/ 253 h 370"/>
                  <a:gd name="T54" fmla="*/ 71 w 486"/>
                  <a:gd name="T55" fmla="*/ 352 h 370"/>
                  <a:gd name="T56" fmla="*/ 91 w 486"/>
                  <a:gd name="T57" fmla="*/ 362 h 370"/>
                  <a:gd name="T58" fmla="*/ 413 w 486"/>
                  <a:gd name="T59" fmla="*/ 353 h 370"/>
                  <a:gd name="T60" fmla="*/ 414 w 486"/>
                  <a:gd name="T61" fmla="*/ 353 h 370"/>
                  <a:gd name="T62" fmla="*/ 467 w 486"/>
                  <a:gd name="T63" fmla="*/ 356 h 370"/>
                  <a:gd name="T64" fmla="*/ 478 w 486"/>
                  <a:gd name="T65" fmla="*/ 304 h 370"/>
                  <a:gd name="T66" fmla="*/ 478 w 486"/>
                  <a:gd name="T67" fmla="*/ 303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6" h="370">
                    <a:moveTo>
                      <a:pt x="478" y="303"/>
                    </a:moveTo>
                    <a:cubicBezTo>
                      <a:pt x="442" y="232"/>
                      <a:pt x="396" y="160"/>
                      <a:pt x="339" y="93"/>
                    </a:cubicBezTo>
                    <a:cubicBezTo>
                      <a:pt x="295" y="76"/>
                      <a:pt x="247" y="65"/>
                      <a:pt x="200" y="63"/>
                    </a:cubicBezTo>
                    <a:cubicBezTo>
                      <a:pt x="195" y="62"/>
                      <a:pt x="190" y="62"/>
                      <a:pt x="184" y="62"/>
                    </a:cubicBezTo>
                    <a:cubicBezTo>
                      <a:pt x="176" y="62"/>
                      <a:pt x="167" y="62"/>
                      <a:pt x="158" y="63"/>
                    </a:cubicBezTo>
                    <a:cubicBezTo>
                      <a:pt x="151" y="39"/>
                      <a:pt x="151" y="39"/>
                      <a:pt x="151" y="39"/>
                    </a:cubicBezTo>
                    <a:cubicBezTo>
                      <a:pt x="151" y="39"/>
                      <a:pt x="151" y="39"/>
                      <a:pt x="151" y="39"/>
                    </a:cubicBezTo>
                    <a:cubicBezTo>
                      <a:pt x="150" y="33"/>
                      <a:pt x="152" y="29"/>
                      <a:pt x="154" y="24"/>
                    </a:cubicBezTo>
                    <a:cubicBezTo>
                      <a:pt x="155" y="20"/>
                      <a:pt x="156" y="17"/>
                      <a:pt x="155" y="13"/>
                    </a:cubicBezTo>
                    <a:cubicBezTo>
                      <a:pt x="154" y="8"/>
                      <a:pt x="151" y="4"/>
                      <a:pt x="148" y="2"/>
                    </a:cubicBezTo>
                    <a:cubicBezTo>
                      <a:pt x="146" y="0"/>
                      <a:pt x="143" y="0"/>
                      <a:pt x="140" y="0"/>
                    </a:cubicBezTo>
                    <a:cubicBezTo>
                      <a:pt x="138" y="0"/>
                      <a:pt x="135" y="0"/>
                      <a:pt x="133" y="1"/>
                    </a:cubicBezTo>
                    <a:cubicBezTo>
                      <a:pt x="125" y="3"/>
                      <a:pt x="122" y="6"/>
                      <a:pt x="121" y="10"/>
                    </a:cubicBezTo>
                    <a:cubicBezTo>
                      <a:pt x="119" y="14"/>
                      <a:pt x="120" y="19"/>
                      <a:pt x="121" y="23"/>
                    </a:cubicBezTo>
                    <a:cubicBezTo>
                      <a:pt x="122" y="27"/>
                      <a:pt x="125" y="30"/>
                      <a:pt x="128" y="32"/>
                    </a:cubicBezTo>
                    <a:cubicBezTo>
                      <a:pt x="132" y="35"/>
                      <a:pt x="136" y="37"/>
                      <a:pt x="138" y="43"/>
                    </a:cubicBezTo>
                    <a:cubicBezTo>
                      <a:pt x="145" y="64"/>
                      <a:pt x="145" y="64"/>
                      <a:pt x="145" y="64"/>
                    </a:cubicBezTo>
                    <a:cubicBezTo>
                      <a:pt x="90" y="69"/>
                      <a:pt x="40" y="88"/>
                      <a:pt x="0" y="124"/>
                    </a:cubicBezTo>
                    <a:cubicBezTo>
                      <a:pt x="12" y="152"/>
                      <a:pt x="23" y="182"/>
                      <a:pt x="34" y="213"/>
                    </a:cubicBezTo>
                    <a:cubicBezTo>
                      <a:pt x="34" y="212"/>
                      <a:pt x="35" y="212"/>
                      <a:pt x="37" y="210"/>
                    </a:cubicBezTo>
                    <a:cubicBezTo>
                      <a:pt x="40" y="206"/>
                      <a:pt x="45" y="201"/>
                      <a:pt x="52" y="199"/>
                    </a:cubicBezTo>
                    <a:cubicBezTo>
                      <a:pt x="59" y="197"/>
                      <a:pt x="66" y="197"/>
                      <a:pt x="73" y="200"/>
                    </a:cubicBezTo>
                    <a:cubicBezTo>
                      <a:pt x="80" y="203"/>
                      <a:pt x="86" y="210"/>
                      <a:pt x="88" y="220"/>
                    </a:cubicBezTo>
                    <a:cubicBezTo>
                      <a:pt x="91" y="230"/>
                      <a:pt x="89" y="239"/>
                      <a:pt x="85" y="245"/>
                    </a:cubicBezTo>
                    <a:cubicBezTo>
                      <a:pt x="80" y="251"/>
                      <a:pt x="73" y="254"/>
                      <a:pt x="67" y="256"/>
                    </a:cubicBezTo>
                    <a:cubicBezTo>
                      <a:pt x="59" y="258"/>
                      <a:pt x="52" y="255"/>
                      <a:pt x="47" y="253"/>
                    </a:cubicBezTo>
                    <a:cubicBezTo>
                      <a:pt x="47" y="253"/>
                      <a:pt x="46" y="253"/>
                      <a:pt x="46" y="253"/>
                    </a:cubicBezTo>
                    <a:cubicBezTo>
                      <a:pt x="55" y="284"/>
                      <a:pt x="64" y="317"/>
                      <a:pt x="71" y="352"/>
                    </a:cubicBezTo>
                    <a:cubicBezTo>
                      <a:pt x="73" y="360"/>
                      <a:pt x="84" y="365"/>
                      <a:pt x="91" y="362"/>
                    </a:cubicBezTo>
                    <a:cubicBezTo>
                      <a:pt x="210" y="301"/>
                      <a:pt x="311" y="287"/>
                      <a:pt x="413" y="353"/>
                    </a:cubicBezTo>
                    <a:cubicBezTo>
                      <a:pt x="414" y="353"/>
                      <a:pt x="414" y="353"/>
                      <a:pt x="414" y="353"/>
                    </a:cubicBezTo>
                    <a:cubicBezTo>
                      <a:pt x="431" y="363"/>
                      <a:pt x="452" y="370"/>
                      <a:pt x="467" y="356"/>
                    </a:cubicBezTo>
                    <a:cubicBezTo>
                      <a:pt x="482" y="343"/>
                      <a:pt x="486" y="322"/>
                      <a:pt x="478" y="304"/>
                    </a:cubicBezTo>
                    <a:cubicBezTo>
                      <a:pt x="478" y="303"/>
                      <a:pt x="478" y="303"/>
                      <a:pt x="478" y="303"/>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6" name="任意多边形: 形状 7"/>
              <p:cNvSpPr/>
              <p:nvPr/>
            </p:nvSpPr>
            <p:spPr bwMode="auto">
              <a:xfrm>
                <a:off x="3719" y="601"/>
                <a:ext cx="758" cy="853"/>
              </a:xfrm>
              <a:custGeom>
                <a:avLst/>
                <a:gdLst>
                  <a:gd name="T0" fmla="*/ 273 w 320"/>
                  <a:gd name="T1" fmla="*/ 221 h 360"/>
                  <a:gd name="T2" fmla="*/ 273 w 320"/>
                  <a:gd name="T3" fmla="*/ 221 h 360"/>
                  <a:gd name="T4" fmla="*/ 288 w 320"/>
                  <a:gd name="T5" fmla="*/ 220 h 360"/>
                  <a:gd name="T6" fmla="*/ 300 w 320"/>
                  <a:gd name="T7" fmla="*/ 218 h 360"/>
                  <a:gd name="T8" fmla="*/ 308 w 320"/>
                  <a:gd name="T9" fmla="*/ 209 h 360"/>
                  <a:gd name="T10" fmla="*/ 306 w 320"/>
                  <a:gd name="T11" fmla="*/ 194 h 360"/>
                  <a:gd name="T12" fmla="*/ 294 w 320"/>
                  <a:gd name="T13" fmla="*/ 185 h 360"/>
                  <a:gd name="T14" fmla="*/ 281 w 320"/>
                  <a:gd name="T15" fmla="*/ 188 h 360"/>
                  <a:gd name="T16" fmla="*/ 274 w 320"/>
                  <a:gd name="T17" fmla="*/ 197 h 360"/>
                  <a:gd name="T18" fmla="*/ 266 w 320"/>
                  <a:gd name="T19" fmla="*/ 209 h 360"/>
                  <a:gd name="T20" fmla="*/ 245 w 320"/>
                  <a:gd name="T21" fmla="*/ 222 h 360"/>
                  <a:gd name="T22" fmla="*/ 86 w 320"/>
                  <a:gd name="T23" fmla="*/ 59 h 360"/>
                  <a:gd name="T24" fmla="*/ 86 w 320"/>
                  <a:gd name="T25" fmla="*/ 41 h 360"/>
                  <a:gd name="T26" fmla="*/ 92 w 320"/>
                  <a:gd name="T27" fmla="*/ 29 h 360"/>
                  <a:gd name="T28" fmla="*/ 96 w 320"/>
                  <a:gd name="T29" fmla="*/ 18 h 360"/>
                  <a:gd name="T30" fmla="*/ 93 w 320"/>
                  <a:gd name="T31" fmla="*/ 5 h 360"/>
                  <a:gd name="T32" fmla="*/ 79 w 320"/>
                  <a:gd name="T33" fmla="*/ 0 h 360"/>
                  <a:gd name="T34" fmla="*/ 65 w 320"/>
                  <a:gd name="T35" fmla="*/ 5 h 360"/>
                  <a:gd name="T36" fmla="*/ 61 w 320"/>
                  <a:gd name="T37" fmla="*/ 18 h 360"/>
                  <a:gd name="T38" fmla="*/ 66 w 320"/>
                  <a:gd name="T39" fmla="*/ 29 h 360"/>
                  <a:gd name="T40" fmla="*/ 73 w 320"/>
                  <a:gd name="T41" fmla="*/ 42 h 360"/>
                  <a:gd name="T42" fmla="*/ 73 w 320"/>
                  <a:gd name="T43" fmla="*/ 42 h 360"/>
                  <a:gd name="T44" fmla="*/ 73 w 320"/>
                  <a:gd name="T45" fmla="*/ 55 h 360"/>
                  <a:gd name="T46" fmla="*/ 62 w 320"/>
                  <a:gd name="T47" fmla="*/ 68 h 360"/>
                  <a:gd name="T48" fmla="*/ 62 w 320"/>
                  <a:gd name="T49" fmla="*/ 219 h 360"/>
                  <a:gd name="T50" fmla="*/ 42 w 320"/>
                  <a:gd name="T51" fmla="*/ 219 h 360"/>
                  <a:gd name="T52" fmla="*/ 29 w 320"/>
                  <a:gd name="T53" fmla="*/ 213 h 360"/>
                  <a:gd name="T54" fmla="*/ 19 w 320"/>
                  <a:gd name="T55" fmla="*/ 209 h 360"/>
                  <a:gd name="T56" fmla="*/ 6 w 320"/>
                  <a:gd name="T57" fmla="*/ 213 h 360"/>
                  <a:gd name="T58" fmla="*/ 1 w 320"/>
                  <a:gd name="T59" fmla="*/ 227 h 360"/>
                  <a:gd name="T60" fmla="*/ 6 w 320"/>
                  <a:gd name="T61" fmla="*/ 241 h 360"/>
                  <a:gd name="T62" fmla="*/ 19 w 320"/>
                  <a:gd name="T63" fmla="*/ 245 h 360"/>
                  <a:gd name="T64" fmla="*/ 30 w 320"/>
                  <a:gd name="T65" fmla="*/ 240 h 360"/>
                  <a:gd name="T66" fmla="*/ 42 w 320"/>
                  <a:gd name="T67" fmla="*/ 233 h 360"/>
                  <a:gd name="T68" fmla="*/ 43 w 320"/>
                  <a:gd name="T69" fmla="*/ 233 h 360"/>
                  <a:gd name="T70" fmla="*/ 62 w 320"/>
                  <a:gd name="T71" fmla="*/ 233 h 360"/>
                  <a:gd name="T72" fmla="*/ 62 w 320"/>
                  <a:gd name="T73" fmla="*/ 360 h 360"/>
                  <a:gd name="T74" fmla="*/ 176 w 320"/>
                  <a:gd name="T75" fmla="*/ 324 h 360"/>
                  <a:gd name="T76" fmla="*/ 177 w 320"/>
                  <a:gd name="T77" fmla="*/ 324 h 360"/>
                  <a:gd name="T78" fmla="*/ 170 w 320"/>
                  <a:gd name="T79" fmla="*/ 309 h 360"/>
                  <a:gd name="T80" fmla="*/ 174 w 320"/>
                  <a:gd name="T81" fmla="*/ 289 h 360"/>
                  <a:gd name="T82" fmla="*/ 196 w 320"/>
                  <a:gd name="T83" fmla="*/ 276 h 360"/>
                  <a:gd name="T84" fmla="*/ 220 w 320"/>
                  <a:gd name="T85" fmla="*/ 283 h 360"/>
                  <a:gd name="T86" fmla="*/ 229 w 320"/>
                  <a:gd name="T87" fmla="*/ 303 h 360"/>
                  <a:gd name="T88" fmla="*/ 224 w 320"/>
                  <a:gd name="T89" fmla="*/ 321 h 360"/>
                  <a:gd name="T90" fmla="*/ 221 w 320"/>
                  <a:gd name="T91" fmla="*/ 326 h 360"/>
                  <a:gd name="T92" fmla="*/ 320 w 320"/>
                  <a:gd name="T93" fmla="*/ 351 h 360"/>
                  <a:gd name="T94" fmla="*/ 253 w 320"/>
                  <a:gd name="T95" fmla="*/ 233 h 360"/>
                  <a:gd name="T96" fmla="*/ 273 w 320"/>
                  <a:gd name="T97" fmla="*/ 221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360">
                    <a:moveTo>
                      <a:pt x="273" y="221"/>
                    </a:moveTo>
                    <a:cubicBezTo>
                      <a:pt x="273" y="221"/>
                      <a:pt x="273" y="221"/>
                      <a:pt x="273" y="221"/>
                    </a:cubicBezTo>
                    <a:cubicBezTo>
                      <a:pt x="279" y="218"/>
                      <a:pt x="284" y="220"/>
                      <a:pt x="288" y="220"/>
                    </a:cubicBezTo>
                    <a:cubicBezTo>
                      <a:pt x="292" y="221"/>
                      <a:pt x="296" y="221"/>
                      <a:pt x="300" y="218"/>
                    </a:cubicBezTo>
                    <a:cubicBezTo>
                      <a:pt x="304" y="216"/>
                      <a:pt x="307" y="213"/>
                      <a:pt x="308" y="209"/>
                    </a:cubicBezTo>
                    <a:cubicBezTo>
                      <a:pt x="310" y="205"/>
                      <a:pt x="310" y="200"/>
                      <a:pt x="306" y="194"/>
                    </a:cubicBezTo>
                    <a:cubicBezTo>
                      <a:pt x="302" y="187"/>
                      <a:pt x="298" y="185"/>
                      <a:pt x="294" y="185"/>
                    </a:cubicBezTo>
                    <a:cubicBezTo>
                      <a:pt x="290" y="184"/>
                      <a:pt x="285" y="186"/>
                      <a:pt x="281" y="188"/>
                    </a:cubicBezTo>
                    <a:cubicBezTo>
                      <a:pt x="277" y="190"/>
                      <a:pt x="276" y="194"/>
                      <a:pt x="274" y="197"/>
                    </a:cubicBezTo>
                    <a:cubicBezTo>
                      <a:pt x="272" y="201"/>
                      <a:pt x="271" y="206"/>
                      <a:pt x="266" y="209"/>
                    </a:cubicBezTo>
                    <a:cubicBezTo>
                      <a:pt x="245" y="222"/>
                      <a:pt x="245" y="222"/>
                      <a:pt x="245" y="222"/>
                    </a:cubicBezTo>
                    <a:cubicBezTo>
                      <a:pt x="200" y="158"/>
                      <a:pt x="147" y="104"/>
                      <a:pt x="86" y="59"/>
                    </a:cubicBezTo>
                    <a:cubicBezTo>
                      <a:pt x="86" y="41"/>
                      <a:pt x="86" y="41"/>
                      <a:pt x="86" y="41"/>
                    </a:cubicBezTo>
                    <a:cubicBezTo>
                      <a:pt x="86" y="36"/>
                      <a:pt x="90" y="32"/>
                      <a:pt x="92" y="29"/>
                    </a:cubicBezTo>
                    <a:cubicBezTo>
                      <a:pt x="95" y="25"/>
                      <a:pt x="96" y="22"/>
                      <a:pt x="96" y="18"/>
                    </a:cubicBezTo>
                    <a:cubicBezTo>
                      <a:pt x="96" y="13"/>
                      <a:pt x="95" y="8"/>
                      <a:pt x="93" y="5"/>
                    </a:cubicBezTo>
                    <a:cubicBezTo>
                      <a:pt x="90" y="2"/>
                      <a:pt x="86" y="0"/>
                      <a:pt x="79" y="0"/>
                    </a:cubicBezTo>
                    <a:cubicBezTo>
                      <a:pt x="71" y="0"/>
                      <a:pt x="67" y="2"/>
                      <a:pt x="65" y="5"/>
                    </a:cubicBezTo>
                    <a:cubicBezTo>
                      <a:pt x="62" y="8"/>
                      <a:pt x="61" y="13"/>
                      <a:pt x="61" y="18"/>
                    </a:cubicBezTo>
                    <a:cubicBezTo>
                      <a:pt x="61" y="22"/>
                      <a:pt x="63" y="25"/>
                      <a:pt x="66" y="29"/>
                    </a:cubicBezTo>
                    <a:cubicBezTo>
                      <a:pt x="68" y="32"/>
                      <a:pt x="72" y="36"/>
                      <a:pt x="73" y="42"/>
                    </a:cubicBezTo>
                    <a:cubicBezTo>
                      <a:pt x="73" y="42"/>
                      <a:pt x="73" y="42"/>
                      <a:pt x="73" y="42"/>
                    </a:cubicBezTo>
                    <a:cubicBezTo>
                      <a:pt x="73" y="55"/>
                      <a:pt x="73" y="55"/>
                      <a:pt x="73" y="55"/>
                    </a:cubicBezTo>
                    <a:cubicBezTo>
                      <a:pt x="67" y="56"/>
                      <a:pt x="62" y="62"/>
                      <a:pt x="62" y="68"/>
                    </a:cubicBezTo>
                    <a:cubicBezTo>
                      <a:pt x="62" y="219"/>
                      <a:pt x="62" y="219"/>
                      <a:pt x="62" y="219"/>
                    </a:cubicBezTo>
                    <a:cubicBezTo>
                      <a:pt x="42" y="219"/>
                      <a:pt x="42" y="219"/>
                      <a:pt x="42" y="219"/>
                    </a:cubicBezTo>
                    <a:cubicBezTo>
                      <a:pt x="36" y="219"/>
                      <a:pt x="33" y="216"/>
                      <a:pt x="29" y="213"/>
                    </a:cubicBezTo>
                    <a:cubicBezTo>
                      <a:pt x="26" y="211"/>
                      <a:pt x="23" y="209"/>
                      <a:pt x="19" y="209"/>
                    </a:cubicBezTo>
                    <a:cubicBezTo>
                      <a:pt x="14" y="209"/>
                      <a:pt x="9" y="210"/>
                      <a:pt x="6" y="213"/>
                    </a:cubicBezTo>
                    <a:cubicBezTo>
                      <a:pt x="3" y="216"/>
                      <a:pt x="0" y="219"/>
                      <a:pt x="1" y="227"/>
                    </a:cubicBezTo>
                    <a:cubicBezTo>
                      <a:pt x="1" y="235"/>
                      <a:pt x="3" y="239"/>
                      <a:pt x="6" y="241"/>
                    </a:cubicBezTo>
                    <a:cubicBezTo>
                      <a:pt x="9" y="244"/>
                      <a:pt x="14" y="245"/>
                      <a:pt x="19" y="245"/>
                    </a:cubicBezTo>
                    <a:cubicBezTo>
                      <a:pt x="23" y="245"/>
                      <a:pt x="26" y="243"/>
                      <a:pt x="30" y="240"/>
                    </a:cubicBezTo>
                    <a:cubicBezTo>
                      <a:pt x="33" y="237"/>
                      <a:pt x="37" y="233"/>
                      <a:pt x="42" y="233"/>
                    </a:cubicBezTo>
                    <a:cubicBezTo>
                      <a:pt x="43" y="233"/>
                      <a:pt x="43" y="233"/>
                      <a:pt x="43" y="233"/>
                    </a:cubicBezTo>
                    <a:cubicBezTo>
                      <a:pt x="62" y="233"/>
                      <a:pt x="62" y="233"/>
                      <a:pt x="62" y="233"/>
                    </a:cubicBezTo>
                    <a:cubicBezTo>
                      <a:pt x="62" y="360"/>
                      <a:pt x="62" y="360"/>
                      <a:pt x="62" y="360"/>
                    </a:cubicBezTo>
                    <a:cubicBezTo>
                      <a:pt x="94" y="337"/>
                      <a:pt x="134" y="326"/>
                      <a:pt x="176" y="324"/>
                    </a:cubicBezTo>
                    <a:cubicBezTo>
                      <a:pt x="176" y="324"/>
                      <a:pt x="177" y="324"/>
                      <a:pt x="177" y="324"/>
                    </a:cubicBezTo>
                    <a:cubicBezTo>
                      <a:pt x="174" y="321"/>
                      <a:pt x="171" y="316"/>
                      <a:pt x="170" y="309"/>
                    </a:cubicBezTo>
                    <a:cubicBezTo>
                      <a:pt x="169" y="303"/>
                      <a:pt x="170" y="295"/>
                      <a:pt x="174" y="289"/>
                    </a:cubicBezTo>
                    <a:cubicBezTo>
                      <a:pt x="178" y="282"/>
                      <a:pt x="187" y="277"/>
                      <a:pt x="196" y="276"/>
                    </a:cubicBezTo>
                    <a:cubicBezTo>
                      <a:pt x="206" y="275"/>
                      <a:pt x="215" y="278"/>
                      <a:pt x="220" y="283"/>
                    </a:cubicBezTo>
                    <a:cubicBezTo>
                      <a:pt x="226" y="289"/>
                      <a:pt x="228" y="296"/>
                      <a:pt x="229" y="303"/>
                    </a:cubicBezTo>
                    <a:cubicBezTo>
                      <a:pt x="230" y="311"/>
                      <a:pt x="226" y="317"/>
                      <a:pt x="224" y="321"/>
                    </a:cubicBezTo>
                    <a:cubicBezTo>
                      <a:pt x="222" y="324"/>
                      <a:pt x="222" y="325"/>
                      <a:pt x="221" y="326"/>
                    </a:cubicBezTo>
                    <a:cubicBezTo>
                      <a:pt x="255" y="329"/>
                      <a:pt x="288" y="338"/>
                      <a:pt x="320" y="351"/>
                    </a:cubicBezTo>
                    <a:cubicBezTo>
                      <a:pt x="300" y="308"/>
                      <a:pt x="277" y="269"/>
                      <a:pt x="253" y="233"/>
                    </a:cubicBezTo>
                    <a:lnTo>
                      <a:pt x="273" y="221"/>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33" name="任意多边形: 形状 8"/>
              <p:cNvSpPr/>
              <p:nvPr/>
            </p:nvSpPr>
            <p:spPr bwMode="auto">
              <a:xfrm>
                <a:off x="3866" y="1283"/>
                <a:ext cx="878" cy="767"/>
              </a:xfrm>
              <a:custGeom>
                <a:avLst/>
                <a:gdLst>
                  <a:gd name="T0" fmla="*/ 360 w 371"/>
                  <a:gd name="T1" fmla="*/ 175 h 324"/>
                  <a:gd name="T2" fmla="*/ 347 w 371"/>
                  <a:gd name="T3" fmla="*/ 174 h 324"/>
                  <a:gd name="T4" fmla="*/ 338 w 371"/>
                  <a:gd name="T5" fmla="*/ 181 h 324"/>
                  <a:gd name="T6" fmla="*/ 327 w 371"/>
                  <a:gd name="T7" fmla="*/ 190 h 324"/>
                  <a:gd name="T8" fmla="*/ 309 w 371"/>
                  <a:gd name="T9" fmla="*/ 195 h 324"/>
                  <a:gd name="T10" fmla="*/ 273 w 371"/>
                  <a:gd name="T11" fmla="*/ 97 h 324"/>
                  <a:gd name="T12" fmla="*/ 148 w 371"/>
                  <a:gd name="T13" fmla="*/ 61 h 324"/>
                  <a:gd name="T14" fmla="*/ 146 w 371"/>
                  <a:gd name="T15" fmla="*/ 41 h 324"/>
                  <a:gd name="T16" fmla="*/ 146 w 371"/>
                  <a:gd name="T17" fmla="*/ 41 h 324"/>
                  <a:gd name="T18" fmla="*/ 152 w 371"/>
                  <a:gd name="T19" fmla="*/ 27 h 324"/>
                  <a:gd name="T20" fmla="*/ 155 w 371"/>
                  <a:gd name="T21" fmla="*/ 16 h 324"/>
                  <a:gd name="T22" fmla="*/ 150 w 371"/>
                  <a:gd name="T23" fmla="*/ 4 h 324"/>
                  <a:gd name="T24" fmla="*/ 138 w 371"/>
                  <a:gd name="T25" fmla="*/ 0 h 324"/>
                  <a:gd name="T26" fmla="*/ 135 w 371"/>
                  <a:gd name="T27" fmla="*/ 0 h 324"/>
                  <a:gd name="T28" fmla="*/ 122 w 371"/>
                  <a:gd name="T29" fmla="*/ 7 h 324"/>
                  <a:gd name="T30" fmla="*/ 120 w 371"/>
                  <a:gd name="T31" fmla="*/ 20 h 324"/>
                  <a:gd name="T32" fmla="*/ 125 w 371"/>
                  <a:gd name="T33" fmla="*/ 30 h 324"/>
                  <a:gd name="T34" fmla="*/ 133 w 371"/>
                  <a:gd name="T35" fmla="*/ 42 h 324"/>
                  <a:gd name="T36" fmla="*/ 135 w 371"/>
                  <a:gd name="T37" fmla="*/ 60 h 324"/>
                  <a:gd name="T38" fmla="*/ 127 w 371"/>
                  <a:gd name="T39" fmla="*/ 60 h 324"/>
                  <a:gd name="T40" fmla="*/ 0 w 371"/>
                  <a:gd name="T41" fmla="*/ 103 h 324"/>
                  <a:gd name="T42" fmla="*/ 0 w 371"/>
                  <a:gd name="T43" fmla="*/ 175 h 324"/>
                  <a:gd name="T44" fmla="*/ 4 w 371"/>
                  <a:gd name="T45" fmla="*/ 172 h 324"/>
                  <a:gd name="T46" fmla="*/ 22 w 371"/>
                  <a:gd name="T47" fmla="*/ 165 h 324"/>
                  <a:gd name="T48" fmla="*/ 42 w 371"/>
                  <a:gd name="T49" fmla="*/ 172 h 324"/>
                  <a:gd name="T50" fmla="*/ 52 w 371"/>
                  <a:gd name="T51" fmla="*/ 195 h 324"/>
                  <a:gd name="T52" fmla="*/ 42 w 371"/>
                  <a:gd name="T53" fmla="*/ 218 h 324"/>
                  <a:gd name="T54" fmla="*/ 22 w 371"/>
                  <a:gd name="T55" fmla="*/ 224 h 324"/>
                  <a:gd name="T56" fmla="*/ 4 w 371"/>
                  <a:gd name="T57" fmla="*/ 217 h 324"/>
                  <a:gd name="T58" fmla="*/ 0 w 371"/>
                  <a:gd name="T59" fmla="*/ 214 h 324"/>
                  <a:gd name="T60" fmla="*/ 0 w 371"/>
                  <a:gd name="T61" fmla="*/ 309 h 324"/>
                  <a:gd name="T62" fmla="*/ 7 w 371"/>
                  <a:gd name="T63" fmla="*/ 321 h 324"/>
                  <a:gd name="T64" fmla="*/ 21 w 371"/>
                  <a:gd name="T65" fmla="*/ 321 h 324"/>
                  <a:gd name="T66" fmla="*/ 317 w 371"/>
                  <a:gd name="T67" fmla="*/ 316 h 324"/>
                  <a:gd name="T68" fmla="*/ 332 w 371"/>
                  <a:gd name="T69" fmla="*/ 314 h 324"/>
                  <a:gd name="T70" fmla="*/ 337 w 371"/>
                  <a:gd name="T71" fmla="*/ 300 h 324"/>
                  <a:gd name="T72" fmla="*/ 313 w 371"/>
                  <a:gd name="T73" fmla="*/ 208 h 324"/>
                  <a:gd name="T74" fmla="*/ 329 w 371"/>
                  <a:gd name="T75" fmla="*/ 203 h 324"/>
                  <a:gd name="T76" fmla="*/ 330 w 371"/>
                  <a:gd name="T77" fmla="*/ 203 h 324"/>
                  <a:gd name="T78" fmla="*/ 344 w 371"/>
                  <a:gd name="T79" fmla="*/ 207 h 324"/>
                  <a:gd name="T80" fmla="*/ 356 w 371"/>
                  <a:gd name="T81" fmla="*/ 209 h 324"/>
                  <a:gd name="T82" fmla="*/ 367 w 371"/>
                  <a:gd name="T83" fmla="*/ 202 h 324"/>
                  <a:gd name="T84" fmla="*/ 369 w 371"/>
                  <a:gd name="T85" fmla="*/ 187 h 324"/>
                  <a:gd name="T86" fmla="*/ 360 w 371"/>
                  <a:gd name="T87" fmla="*/ 175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1" h="324">
                    <a:moveTo>
                      <a:pt x="360" y="175"/>
                    </a:moveTo>
                    <a:cubicBezTo>
                      <a:pt x="357" y="173"/>
                      <a:pt x="352" y="173"/>
                      <a:pt x="347" y="174"/>
                    </a:cubicBezTo>
                    <a:cubicBezTo>
                      <a:pt x="343" y="175"/>
                      <a:pt x="340" y="178"/>
                      <a:pt x="338" y="181"/>
                    </a:cubicBezTo>
                    <a:cubicBezTo>
                      <a:pt x="335" y="184"/>
                      <a:pt x="332" y="189"/>
                      <a:pt x="327" y="190"/>
                    </a:cubicBezTo>
                    <a:cubicBezTo>
                      <a:pt x="309" y="195"/>
                      <a:pt x="309" y="195"/>
                      <a:pt x="309" y="195"/>
                    </a:cubicBezTo>
                    <a:cubicBezTo>
                      <a:pt x="298" y="160"/>
                      <a:pt x="286" y="127"/>
                      <a:pt x="273" y="97"/>
                    </a:cubicBezTo>
                    <a:cubicBezTo>
                      <a:pt x="235" y="77"/>
                      <a:pt x="191" y="64"/>
                      <a:pt x="148" y="61"/>
                    </a:cubicBezTo>
                    <a:cubicBezTo>
                      <a:pt x="146" y="41"/>
                      <a:pt x="146" y="41"/>
                      <a:pt x="146" y="41"/>
                    </a:cubicBezTo>
                    <a:cubicBezTo>
                      <a:pt x="146" y="41"/>
                      <a:pt x="146" y="41"/>
                      <a:pt x="146" y="41"/>
                    </a:cubicBezTo>
                    <a:cubicBezTo>
                      <a:pt x="146" y="35"/>
                      <a:pt x="150" y="31"/>
                      <a:pt x="152" y="27"/>
                    </a:cubicBezTo>
                    <a:cubicBezTo>
                      <a:pt x="154" y="24"/>
                      <a:pt x="156" y="20"/>
                      <a:pt x="155" y="16"/>
                    </a:cubicBezTo>
                    <a:cubicBezTo>
                      <a:pt x="155" y="11"/>
                      <a:pt x="153" y="7"/>
                      <a:pt x="150" y="4"/>
                    </a:cubicBezTo>
                    <a:cubicBezTo>
                      <a:pt x="148" y="1"/>
                      <a:pt x="144" y="0"/>
                      <a:pt x="138" y="0"/>
                    </a:cubicBezTo>
                    <a:cubicBezTo>
                      <a:pt x="137" y="0"/>
                      <a:pt x="136" y="0"/>
                      <a:pt x="135" y="0"/>
                    </a:cubicBezTo>
                    <a:cubicBezTo>
                      <a:pt x="128" y="1"/>
                      <a:pt x="124" y="3"/>
                      <a:pt x="122" y="7"/>
                    </a:cubicBezTo>
                    <a:cubicBezTo>
                      <a:pt x="120" y="10"/>
                      <a:pt x="119" y="15"/>
                      <a:pt x="120" y="20"/>
                    </a:cubicBezTo>
                    <a:cubicBezTo>
                      <a:pt x="120" y="24"/>
                      <a:pt x="123" y="27"/>
                      <a:pt x="125" y="30"/>
                    </a:cubicBezTo>
                    <a:cubicBezTo>
                      <a:pt x="128" y="33"/>
                      <a:pt x="132" y="37"/>
                      <a:pt x="133" y="42"/>
                    </a:cubicBezTo>
                    <a:cubicBezTo>
                      <a:pt x="135" y="60"/>
                      <a:pt x="135" y="60"/>
                      <a:pt x="135" y="60"/>
                    </a:cubicBezTo>
                    <a:cubicBezTo>
                      <a:pt x="132" y="60"/>
                      <a:pt x="130" y="60"/>
                      <a:pt x="127" y="60"/>
                    </a:cubicBezTo>
                    <a:cubicBezTo>
                      <a:pt x="77" y="60"/>
                      <a:pt x="32" y="73"/>
                      <a:pt x="0" y="103"/>
                    </a:cubicBezTo>
                    <a:cubicBezTo>
                      <a:pt x="0" y="175"/>
                      <a:pt x="0" y="175"/>
                      <a:pt x="0" y="175"/>
                    </a:cubicBezTo>
                    <a:cubicBezTo>
                      <a:pt x="1" y="174"/>
                      <a:pt x="2" y="174"/>
                      <a:pt x="4" y="172"/>
                    </a:cubicBezTo>
                    <a:cubicBezTo>
                      <a:pt x="8" y="169"/>
                      <a:pt x="14" y="165"/>
                      <a:pt x="22" y="165"/>
                    </a:cubicBezTo>
                    <a:cubicBezTo>
                      <a:pt x="28" y="165"/>
                      <a:pt x="36" y="167"/>
                      <a:pt x="42" y="172"/>
                    </a:cubicBezTo>
                    <a:cubicBezTo>
                      <a:pt x="48" y="176"/>
                      <a:pt x="52" y="185"/>
                      <a:pt x="52" y="195"/>
                    </a:cubicBezTo>
                    <a:cubicBezTo>
                      <a:pt x="51" y="205"/>
                      <a:pt x="47" y="213"/>
                      <a:pt x="42" y="218"/>
                    </a:cubicBezTo>
                    <a:cubicBezTo>
                      <a:pt x="36" y="223"/>
                      <a:pt x="29" y="224"/>
                      <a:pt x="22" y="224"/>
                    </a:cubicBezTo>
                    <a:cubicBezTo>
                      <a:pt x="14" y="224"/>
                      <a:pt x="8" y="220"/>
                      <a:pt x="4" y="217"/>
                    </a:cubicBezTo>
                    <a:cubicBezTo>
                      <a:pt x="2" y="216"/>
                      <a:pt x="1" y="215"/>
                      <a:pt x="0" y="214"/>
                    </a:cubicBezTo>
                    <a:cubicBezTo>
                      <a:pt x="0" y="309"/>
                      <a:pt x="0" y="309"/>
                      <a:pt x="0" y="309"/>
                    </a:cubicBezTo>
                    <a:cubicBezTo>
                      <a:pt x="0" y="314"/>
                      <a:pt x="3" y="319"/>
                      <a:pt x="7" y="321"/>
                    </a:cubicBezTo>
                    <a:cubicBezTo>
                      <a:pt x="12" y="324"/>
                      <a:pt x="17" y="324"/>
                      <a:pt x="21" y="321"/>
                    </a:cubicBezTo>
                    <a:cubicBezTo>
                      <a:pt x="134" y="253"/>
                      <a:pt x="222" y="264"/>
                      <a:pt x="317" y="316"/>
                    </a:cubicBezTo>
                    <a:cubicBezTo>
                      <a:pt x="322" y="318"/>
                      <a:pt x="328" y="318"/>
                      <a:pt x="332" y="314"/>
                    </a:cubicBezTo>
                    <a:cubicBezTo>
                      <a:pt x="337" y="311"/>
                      <a:pt x="339" y="305"/>
                      <a:pt x="337" y="300"/>
                    </a:cubicBezTo>
                    <a:cubicBezTo>
                      <a:pt x="330" y="268"/>
                      <a:pt x="322" y="237"/>
                      <a:pt x="313" y="208"/>
                    </a:cubicBezTo>
                    <a:cubicBezTo>
                      <a:pt x="329" y="203"/>
                      <a:pt x="329" y="203"/>
                      <a:pt x="329" y="203"/>
                    </a:cubicBezTo>
                    <a:cubicBezTo>
                      <a:pt x="330" y="203"/>
                      <a:pt x="330" y="203"/>
                      <a:pt x="330" y="203"/>
                    </a:cubicBezTo>
                    <a:cubicBezTo>
                      <a:pt x="336" y="202"/>
                      <a:pt x="340" y="205"/>
                      <a:pt x="344" y="207"/>
                    </a:cubicBezTo>
                    <a:cubicBezTo>
                      <a:pt x="348" y="209"/>
                      <a:pt x="352" y="210"/>
                      <a:pt x="356" y="209"/>
                    </a:cubicBezTo>
                    <a:cubicBezTo>
                      <a:pt x="361" y="207"/>
                      <a:pt x="365" y="205"/>
                      <a:pt x="367" y="202"/>
                    </a:cubicBezTo>
                    <a:cubicBezTo>
                      <a:pt x="369" y="199"/>
                      <a:pt x="371" y="194"/>
                      <a:pt x="369" y="187"/>
                    </a:cubicBezTo>
                    <a:cubicBezTo>
                      <a:pt x="367" y="180"/>
                      <a:pt x="364" y="176"/>
                      <a:pt x="360" y="17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7" name="任意多边形: 形状 9"/>
              <p:cNvSpPr/>
              <p:nvPr/>
            </p:nvSpPr>
            <p:spPr bwMode="auto">
              <a:xfrm>
                <a:off x="3211" y="732"/>
                <a:ext cx="605" cy="733"/>
              </a:xfrm>
              <a:custGeom>
                <a:avLst/>
                <a:gdLst>
                  <a:gd name="T0" fmla="*/ 242 w 256"/>
                  <a:gd name="T1" fmla="*/ 0 h 310"/>
                  <a:gd name="T2" fmla="*/ 234 w 256"/>
                  <a:gd name="T3" fmla="*/ 3 h 310"/>
                  <a:gd name="T4" fmla="*/ 73 w 256"/>
                  <a:gd name="T5" fmla="*/ 167 h 310"/>
                  <a:gd name="T6" fmla="*/ 52 w 256"/>
                  <a:gd name="T7" fmla="*/ 154 h 310"/>
                  <a:gd name="T8" fmla="*/ 45 w 256"/>
                  <a:gd name="T9" fmla="*/ 142 h 310"/>
                  <a:gd name="T10" fmla="*/ 38 w 256"/>
                  <a:gd name="T11" fmla="*/ 133 h 310"/>
                  <a:gd name="T12" fmla="*/ 25 w 256"/>
                  <a:gd name="T13" fmla="*/ 130 h 310"/>
                  <a:gd name="T14" fmla="*/ 13 w 256"/>
                  <a:gd name="T15" fmla="*/ 139 h 310"/>
                  <a:gd name="T16" fmla="*/ 10 w 256"/>
                  <a:gd name="T17" fmla="*/ 154 h 310"/>
                  <a:gd name="T18" fmla="*/ 19 w 256"/>
                  <a:gd name="T19" fmla="*/ 163 h 310"/>
                  <a:gd name="T20" fmla="*/ 31 w 256"/>
                  <a:gd name="T21" fmla="*/ 165 h 310"/>
                  <a:gd name="T22" fmla="*/ 46 w 256"/>
                  <a:gd name="T23" fmla="*/ 166 h 310"/>
                  <a:gd name="T24" fmla="*/ 46 w 256"/>
                  <a:gd name="T25" fmla="*/ 166 h 310"/>
                  <a:gd name="T26" fmla="*/ 66 w 256"/>
                  <a:gd name="T27" fmla="*/ 178 h 310"/>
                  <a:gd name="T28" fmla="*/ 0 w 256"/>
                  <a:gd name="T29" fmla="*/ 293 h 310"/>
                  <a:gd name="T30" fmla="*/ 100 w 256"/>
                  <a:gd name="T31" fmla="*/ 270 h 310"/>
                  <a:gd name="T32" fmla="*/ 98 w 256"/>
                  <a:gd name="T33" fmla="*/ 266 h 310"/>
                  <a:gd name="T34" fmla="*/ 93 w 256"/>
                  <a:gd name="T35" fmla="*/ 248 h 310"/>
                  <a:gd name="T36" fmla="*/ 102 w 256"/>
                  <a:gd name="T37" fmla="*/ 228 h 310"/>
                  <a:gd name="T38" fmla="*/ 125 w 256"/>
                  <a:gd name="T39" fmla="*/ 221 h 310"/>
                  <a:gd name="T40" fmla="*/ 148 w 256"/>
                  <a:gd name="T41" fmla="*/ 234 h 310"/>
                  <a:gd name="T42" fmla="*/ 151 w 256"/>
                  <a:gd name="T43" fmla="*/ 254 h 310"/>
                  <a:gd name="T44" fmla="*/ 144 w 256"/>
                  <a:gd name="T45" fmla="*/ 270 h 310"/>
                  <a:gd name="T46" fmla="*/ 256 w 256"/>
                  <a:gd name="T47" fmla="*/ 310 h 310"/>
                  <a:gd name="T48" fmla="*/ 256 w 256"/>
                  <a:gd name="T49" fmla="*/ 191 h 310"/>
                  <a:gd name="T50" fmla="*/ 252 w 256"/>
                  <a:gd name="T51" fmla="*/ 194 h 310"/>
                  <a:gd name="T52" fmla="*/ 234 w 256"/>
                  <a:gd name="T53" fmla="*/ 201 h 310"/>
                  <a:gd name="T54" fmla="*/ 214 w 256"/>
                  <a:gd name="T55" fmla="*/ 195 h 310"/>
                  <a:gd name="T56" fmla="*/ 204 w 256"/>
                  <a:gd name="T57" fmla="*/ 172 h 310"/>
                  <a:gd name="T58" fmla="*/ 214 w 256"/>
                  <a:gd name="T59" fmla="*/ 149 h 310"/>
                  <a:gd name="T60" fmla="*/ 234 w 256"/>
                  <a:gd name="T61" fmla="*/ 142 h 310"/>
                  <a:gd name="T62" fmla="*/ 251 w 256"/>
                  <a:gd name="T63" fmla="*/ 149 h 310"/>
                  <a:gd name="T64" fmla="*/ 256 w 256"/>
                  <a:gd name="T65" fmla="*/ 152 h 310"/>
                  <a:gd name="T66" fmla="*/ 256 w 256"/>
                  <a:gd name="T67" fmla="*/ 14 h 310"/>
                  <a:gd name="T68" fmla="*/ 242 w 256"/>
                  <a:gd name="T69"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310">
                    <a:moveTo>
                      <a:pt x="242" y="0"/>
                    </a:moveTo>
                    <a:cubicBezTo>
                      <a:pt x="239" y="1"/>
                      <a:pt x="236" y="2"/>
                      <a:pt x="234" y="3"/>
                    </a:cubicBezTo>
                    <a:cubicBezTo>
                      <a:pt x="173" y="49"/>
                      <a:pt x="119" y="103"/>
                      <a:pt x="73" y="167"/>
                    </a:cubicBezTo>
                    <a:cubicBezTo>
                      <a:pt x="52" y="154"/>
                      <a:pt x="52" y="154"/>
                      <a:pt x="52" y="154"/>
                    </a:cubicBezTo>
                    <a:cubicBezTo>
                      <a:pt x="47" y="151"/>
                      <a:pt x="46" y="146"/>
                      <a:pt x="45" y="142"/>
                    </a:cubicBezTo>
                    <a:cubicBezTo>
                      <a:pt x="43" y="139"/>
                      <a:pt x="41" y="135"/>
                      <a:pt x="38" y="133"/>
                    </a:cubicBezTo>
                    <a:cubicBezTo>
                      <a:pt x="34" y="131"/>
                      <a:pt x="29" y="129"/>
                      <a:pt x="25" y="130"/>
                    </a:cubicBezTo>
                    <a:cubicBezTo>
                      <a:pt x="21" y="130"/>
                      <a:pt x="17" y="132"/>
                      <a:pt x="13" y="139"/>
                    </a:cubicBezTo>
                    <a:cubicBezTo>
                      <a:pt x="9" y="145"/>
                      <a:pt x="9" y="150"/>
                      <a:pt x="10" y="154"/>
                    </a:cubicBezTo>
                    <a:cubicBezTo>
                      <a:pt x="12" y="158"/>
                      <a:pt x="15" y="161"/>
                      <a:pt x="19" y="163"/>
                    </a:cubicBezTo>
                    <a:cubicBezTo>
                      <a:pt x="23" y="166"/>
                      <a:pt x="26" y="166"/>
                      <a:pt x="31" y="165"/>
                    </a:cubicBezTo>
                    <a:cubicBezTo>
                      <a:pt x="35" y="165"/>
                      <a:pt x="40" y="163"/>
                      <a:pt x="46" y="166"/>
                    </a:cubicBezTo>
                    <a:cubicBezTo>
                      <a:pt x="46" y="166"/>
                      <a:pt x="46" y="166"/>
                      <a:pt x="46" y="166"/>
                    </a:cubicBezTo>
                    <a:cubicBezTo>
                      <a:pt x="66" y="178"/>
                      <a:pt x="66" y="178"/>
                      <a:pt x="66" y="178"/>
                    </a:cubicBezTo>
                    <a:cubicBezTo>
                      <a:pt x="42" y="213"/>
                      <a:pt x="20" y="251"/>
                      <a:pt x="0" y="293"/>
                    </a:cubicBezTo>
                    <a:cubicBezTo>
                      <a:pt x="32" y="281"/>
                      <a:pt x="66" y="273"/>
                      <a:pt x="100" y="270"/>
                    </a:cubicBezTo>
                    <a:cubicBezTo>
                      <a:pt x="100" y="269"/>
                      <a:pt x="99" y="268"/>
                      <a:pt x="98" y="266"/>
                    </a:cubicBezTo>
                    <a:cubicBezTo>
                      <a:pt x="95" y="262"/>
                      <a:pt x="92" y="256"/>
                      <a:pt x="93" y="248"/>
                    </a:cubicBezTo>
                    <a:cubicBezTo>
                      <a:pt x="94" y="241"/>
                      <a:pt x="96" y="234"/>
                      <a:pt x="102" y="228"/>
                    </a:cubicBezTo>
                    <a:cubicBezTo>
                      <a:pt x="107" y="223"/>
                      <a:pt x="116" y="220"/>
                      <a:pt x="125" y="221"/>
                    </a:cubicBezTo>
                    <a:cubicBezTo>
                      <a:pt x="135" y="222"/>
                      <a:pt x="144" y="227"/>
                      <a:pt x="148" y="234"/>
                    </a:cubicBezTo>
                    <a:cubicBezTo>
                      <a:pt x="152" y="240"/>
                      <a:pt x="152" y="248"/>
                      <a:pt x="151" y="254"/>
                    </a:cubicBezTo>
                    <a:cubicBezTo>
                      <a:pt x="151" y="261"/>
                      <a:pt x="147" y="266"/>
                      <a:pt x="144" y="270"/>
                    </a:cubicBezTo>
                    <a:cubicBezTo>
                      <a:pt x="186" y="273"/>
                      <a:pt x="225" y="286"/>
                      <a:pt x="256" y="310"/>
                    </a:cubicBezTo>
                    <a:cubicBezTo>
                      <a:pt x="256" y="191"/>
                      <a:pt x="256" y="191"/>
                      <a:pt x="256" y="191"/>
                    </a:cubicBezTo>
                    <a:cubicBezTo>
                      <a:pt x="255" y="192"/>
                      <a:pt x="254" y="193"/>
                      <a:pt x="252" y="194"/>
                    </a:cubicBezTo>
                    <a:cubicBezTo>
                      <a:pt x="248" y="197"/>
                      <a:pt x="242" y="201"/>
                      <a:pt x="234" y="201"/>
                    </a:cubicBezTo>
                    <a:cubicBezTo>
                      <a:pt x="227" y="201"/>
                      <a:pt x="220" y="200"/>
                      <a:pt x="214" y="195"/>
                    </a:cubicBezTo>
                    <a:cubicBezTo>
                      <a:pt x="208" y="190"/>
                      <a:pt x="204" y="182"/>
                      <a:pt x="204" y="172"/>
                    </a:cubicBezTo>
                    <a:cubicBezTo>
                      <a:pt x="204" y="162"/>
                      <a:pt x="208" y="153"/>
                      <a:pt x="214" y="149"/>
                    </a:cubicBezTo>
                    <a:cubicBezTo>
                      <a:pt x="220" y="144"/>
                      <a:pt x="227" y="142"/>
                      <a:pt x="234" y="142"/>
                    </a:cubicBezTo>
                    <a:cubicBezTo>
                      <a:pt x="241" y="142"/>
                      <a:pt x="247" y="146"/>
                      <a:pt x="251" y="149"/>
                    </a:cubicBezTo>
                    <a:cubicBezTo>
                      <a:pt x="254" y="151"/>
                      <a:pt x="255" y="152"/>
                      <a:pt x="256" y="152"/>
                    </a:cubicBezTo>
                    <a:cubicBezTo>
                      <a:pt x="256" y="14"/>
                      <a:pt x="256" y="14"/>
                      <a:pt x="256" y="14"/>
                    </a:cubicBezTo>
                    <a:cubicBezTo>
                      <a:pt x="256" y="7"/>
                      <a:pt x="249" y="0"/>
                      <a:pt x="24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35" name="任意多边形: 形状 10"/>
              <p:cNvSpPr/>
              <p:nvPr/>
            </p:nvSpPr>
            <p:spPr bwMode="auto">
              <a:xfrm>
                <a:off x="2927" y="1283"/>
                <a:ext cx="1034" cy="767"/>
              </a:xfrm>
              <a:custGeom>
                <a:avLst/>
                <a:gdLst>
                  <a:gd name="T0" fmla="*/ 432 w 437"/>
                  <a:gd name="T1" fmla="*/ 181 h 324"/>
                  <a:gd name="T2" fmla="*/ 419 w 437"/>
                  <a:gd name="T3" fmla="*/ 177 h 324"/>
                  <a:gd name="T4" fmla="*/ 408 w 437"/>
                  <a:gd name="T5" fmla="*/ 181 h 324"/>
                  <a:gd name="T6" fmla="*/ 395 w 437"/>
                  <a:gd name="T7" fmla="*/ 187 h 324"/>
                  <a:gd name="T8" fmla="*/ 376 w 437"/>
                  <a:gd name="T9" fmla="*/ 187 h 324"/>
                  <a:gd name="T10" fmla="*/ 376 w 437"/>
                  <a:gd name="T11" fmla="*/ 110 h 324"/>
                  <a:gd name="T12" fmla="*/ 245 w 437"/>
                  <a:gd name="T13" fmla="*/ 60 h 324"/>
                  <a:gd name="T14" fmla="*/ 247 w 437"/>
                  <a:gd name="T15" fmla="*/ 42 h 324"/>
                  <a:gd name="T16" fmla="*/ 254 w 437"/>
                  <a:gd name="T17" fmla="*/ 30 h 324"/>
                  <a:gd name="T18" fmla="*/ 260 w 437"/>
                  <a:gd name="T19" fmla="*/ 20 h 324"/>
                  <a:gd name="T20" fmla="*/ 258 w 437"/>
                  <a:gd name="T21" fmla="*/ 7 h 324"/>
                  <a:gd name="T22" fmla="*/ 244 w 437"/>
                  <a:gd name="T23" fmla="*/ 0 h 324"/>
                  <a:gd name="T24" fmla="*/ 242 w 437"/>
                  <a:gd name="T25" fmla="*/ 0 h 324"/>
                  <a:gd name="T26" fmla="*/ 230 w 437"/>
                  <a:gd name="T27" fmla="*/ 4 h 324"/>
                  <a:gd name="T28" fmla="*/ 225 w 437"/>
                  <a:gd name="T29" fmla="*/ 16 h 324"/>
                  <a:gd name="T30" fmla="*/ 228 w 437"/>
                  <a:gd name="T31" fmla="*/ 27 h 324"/>
                  <a:gd name="T32" fmla="*/ 234 w 437"/>
                  <a:gd name="T33" fmla="*/ 41 h 324"/>
                  <a:gd name="T34" fmla="*/ 234 w 437"/>
                  <a:gd name="T35" fmla="*/ 41 h 324"/>
                  <a:gd name="T36" fmla="*/ 231 w 437"/>
                  <a:gd name="T37" fmla="*/ 60 h 324"/>
                  <a:gd name="T38" fmla="*/ 230 w 437"/>
                  <a:gd name="T39" fmla="*/ 60 h 324"/>
                  <a:gd name="T40" fmla="*/ 105 w 437"/>
                  <a:gd name="T41" fmla="*/ 93 h 324"/>
                  <a:gd name="T42" fmla="*/ 67 w 437"/>
                  <a:gd name="T43" fmla="*/ 196 h 324"/>
                  <a:gd name="T44" fmla="*/ 44 w 437"/>
                  <a:gd name="T45" fmla="*/ 190 h 324"/>
                  <a:gd name="T46" fmla="*/ 33 w 437"/>
                  <a:gd name="T47" fmla="*/ 181 h 324"/>
                  <a:gd name="T48" fmla="*/ 24 w 437"/>
                  <a:gd name="T49" fmla="*/ 174 h 324"/>
                  <a:gd name="T50" fmla="*/ 10 w 437"/>
                  <a:gd name="T51" fmla="*/ 175 h 324"/>
                  <a:gd name="T52" fmla="*/ 2 w 437"/>
                  <a:gd name="T53" fmla="*/ 187 h 324"/>
                  <a:gd name="T54" fmla="*/ 3 w 437"/>
                  <a:gd name="T55" fmla="*/ 202 h 324"/>
                  <a:gd name="T56" fmla="*/ 15 w 437"/>
                  <a:gd name="T57" fmla="*/ 209 h 324"/>
                  <a:gd name="T58" fmla="*/ 26 w 437"/>
                  <a:gd name="T59" fmla="*/ 207 h 324"/>
                  <a:gd name="T60" fmla="*/ 41 w 437"/>
                  <a:gd name="T61" fmla="*/ 203 h 324"/>
                  <a:gd name="T62" fmla="*/ 41 w 437"/>
                  <a:gd name="T63" fmla="*/ 203 h 324"/>
                  <a:gd name="T64" fmla="*/ 63 w 437"/>
                  <a:gd name="T65" fmla="*/ 209 h 324"/>
                  <a:gd name="T66" fmla="*/ 38 w 437"/>
                  <a:gd name="T67" fmla="*/ 300 h 324"/>
                  <a:gd name="T68" fmla="*/ 43 w 437"/>
                  <a:gd name="T69" fmla="*/ 314 h 324"/>
                  <a:gd name="T70" fmla="*/ 58 w 437"/>
                  <a:gd name="T71" fmla="*/ 315 h 324"/>
                  <a:gd name="T72" fmla="*/ 355 w 437"/>
                  <a:gd name="T73" fmla="*/ 321 h 324"/>
                  <a:gd name="T74" fmla="*/ 369 w 437"/>
                  <a:gd name="T75" fmla="*/ 321 h 324"/>
                  <a:gd name="T76" fmla="*/ 376 w 437"/>
                  <a:gd name="T77" fmla="*/ 309 h 324"/>
                  <a:gd name="T78" fmla="*/ 376 w 437"/>
                  <a:gd name="T79" fmla="*/ 201 h 324"/>
                  <a:gd name="T80" fmla="*/ 395 w 437"/>
                  <a:gd name="T81" fmla="*/ 201 h 324"/>
                  <a:gd name="T82" fmla="*/ 395 w 437"/>
                  <a:gd name="T83" fmla="*/ 201 h 324"/>
                  <a:gd name="T84" fmla="*/ 408 w 437"/>
                  <a:gd name="T85" fmla="*/ 208 h 324"/>
                  <a:gd name="T86" fmla="*/ 419 w 437"/>
                  <a:gd name="T87" fmla="*/ 213 h 324"/>
                  <a:gd name="T88" fmla="*/ 431 w 437"/>
                  <a:gd name="T89" fmla="*/ 209 h 324"/>
                  <a:gd name="T90" fmla="*/ 437 w 437"/>
                  <a:gd name="T91" fmla="*/ 195 h 324"/>
                  <a:gd name="T92" fmla="*/ 432 w 437"/>
                  <a:gd name="T93" fmla="*/ 181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7" h="324">
                    <a:moveTo>
                      <a:pt x="432" y="181"/>
                    </a:moveTo>
                    <a:cubicBezTo>
                      <a:pt x="428" y="178"/>
                      <a:pt x="424" y="177"/>
                      <a:pt x="419" y="177"/>
                    </a:cubicBezTo>
                    <a:cubicBezTo>
                      <a:pt x="415" y="177"/>
                      <a:pt x="411" y="179"/>
                      <a:pt x="408" y="181"/>
                    </a:cubicBezTo>
                    <a:cubicBezTo>
                      <a:pt x="405" y="184"/>
                      <a:pt x="401" y="187"/>
                      <a:pt x="395" y="187"/>
                    </a:cubicBezTo>
                    <a:cubicBezTo>
                      <a:pt x="376" y="187"/>
                      <a:pt x="376" y="187"/>
                      <a:pt x="376" y="187"/>
                    </a:cubicBezTo>
                    <a:cubicBezTo>
                      <a:pt x="376" y="110"/>
                      <a:pt x="376" y="110"/>
                      <a:pt x="376" y="110"/>
                    </a:cubicBezTo>
                    <a:cubicBezTo>
                      <a:pt x="345" y="76"/>
                      <a:pt x="297" y="60"/>
                      <a:pt x="245" y="60"/>
                    </a:cubicBezTo>
                    <a:cubicBezTo>
                      <a:pt x="247" y="42"/>
                      <a:pt x="247" y="42"/>
                      <a:pt x="247" y="42"/>
                    </a:cubicBezTo>
                    <a:cubicBezTo>
                      <a:pt x="248" y="37"/>
                      <a:pt x="252" y="33"/>
                      <a:pt x="254" y="30"/>
                    </a:cubicBezTo>
                    <a:cubicBezTo>
                      <a:pt x="257" y="27"/>
                      <a:pt x="259" y="24"/>
                      <a:pt x="260" y="20"/>
                    </a:cubicBezTo>
                    <a:cubicBezTo>
                      <a:pt x="261" y="15"/>
                      <a:pt x="260" y="10"/>
                      <a:pt x="258" y="7"/>
                    </a:cubicBezTo>
                    <a:cubicBezTo>
                      <a:pt x="255" y="3"/>
                      <a:pt x="252" y="1"/>
                      <a:pt x="244" y="0"/>
                    </a:cubicBezTo>
                    <a:cubicBezTo>
                      <a:pt x="243" y="0"/>
                      <a:pt x="243" y="0"/>
                      <a:pt x="242" y="0"/>
                    </a:cubicBezTo>
                    <a:cubicBezTo>
                      <a:pt x="236" y="0"/>
                      <a:pt x="232" y="1"/>
                      <a:pt x="230" y="4"/>
                    </a:cubicBezTo>
                    <a:cubicBezTo>
                      <a:pt x="227" y="7"/>
                      <a:pt x="225" y="11"/>
                      <a:pt x="225" y="16"/>
                    </a:cubicBezTo>
                    <a:cubicBezTo>
                      <a:pt x="224" y="20"/>
                      <a:pt x="226" y="24"/>
                      <a:pt x="228" y="27"/>
                    </a:cubicBezTo>
                    <a:cubicBezTo>
                      <a:pt x="230" y="31"/>
                      <a:pt x="234" y="35"/>
                      <a:pt x="234" y="41"/>
                    </a:cubicBezTo>
                    <a:cubicBezTo>
                      <a:pt x="234" y="41"/>
                      <a:pt x="234" y="41"/>
                      <a:pt x="234" y="41"/>
                    </a:cubicBezTo>
                    <a:cubicBezTo>
                      <a:pt x="231" y="60"/>
                      <a:pt x="231" y="60"/>
                      <a:pt x="231" y="60"/>
                    </a:cubicBezTo>
                    <a:cubicBezTo>
                      <a:pt x="231" y="60"/>
                      <a:pt x="231" y="60"/>
                      <a:pt x="230" y="60"/>
                    </a:cubicBezTo>
                    <a:cubicBezTo>
                      <a:pt x="188" y="62"/>
                      <a:pt x="144" y="74"/>
                      <a:pt x="105" y="93"/>
                    </a:cubicBezTo>
                    <a:cubicBezTo>
                      <a:pt x="91" y="125"/>
                      <a:pt x="78" y="159"/>
                      <a:pt x="67" y="196"/>
                    </a:cubicBezTo>
                    <a:cubicBezTo>
                      <a:pt x="44" y="190"/>
                      <a:pt x="44" y="190"/>
                      <a:pt x="44" y="190"/>
                    </a:cubicBezTo>
                    <a:cubicBezTo>
                      <a:pt x="38" y="189"/>
                      <a:pt x="36" y="184"/>
                      <a:pt x="33" y="181"/>
                    </a:cubicBezTo>
                    <a:cubicBezTo>
                      <a:pt x="30" y="178"/>
                      <a:pt x="28" y="175"/>
                      <a:pt x="24" y="174"/>
                    </a:cubicBezTo>
                    <a:cubicBezTo>
                      <a:pt x="19" y="173"/>
                      <a:pt x="14" y="173"/>
                      <a:pt x="10" y="175"/>
                    </a:cubicBezTo>
                    <a:cubicBezTo>
                      <a:pt x="7" y="176"/>
                      <a:pt x="3" y="180"/>
                      <a:pt x="2" y="187"/>
                    </a:cubicBezTo>
                    <a:cubicBezTo>
                      <a:pt x="0" y="194"/>
                      <a:pt x="1" y="199"/>
                      <a:pt x="3" y="202"/>
                    </a:cubicBezTo>
                    <a:cubicBezTo>
                      <a:pt x="6" y="205"/>
                      <a:pt x="10" y="207"/>
                      <a:pt x="15" y="209"/>
                    </a:cubicBezTo>
                    <a:cubicBezTo>
                      <a:pt x="19" y="210"/>
                      <a:pt x="22" y="209"/>
                      <a:pt x="26" y="207"/>
                    </a:cubicBezTo>
                    <a:cubicBezTo>
                      <a:pt x="30" y="205"/>
                      <a:pt x="35" y="202"/>
                      <a:pt x="41" y="203"/>
                    </a:cubicBezTo>
                    <a:cubicBezTo>
                      <a:pt x="41" y="203"/>
                      <a:pt x="41" y="203"/>
                      <a:pt x="41" y="203"/>
                    </a:cubicBezTo>
                    <a:cubicBezTo>
                      <a:pt x="63" y="209"/>
                      <a:pt x="63" y="209"/>
                      <a:pt x="63" y="209"/>
                    </a:cubicBezTo>
                    <a:cubicBezTo>
                      <a:pt x="54" y="238"/>
                      <a:pt x="46" y="268"/>
                      <a:pt x="38" y="300"/>
                    </a:cubicBezTo>
                    <a:cubicBezTo>
                      <a:pt x="37" y="305"/>
                      <a:pt x="39" y="311"/>
                      <a:pt x="43" y="314"/>
                    </a:cubicBezTo>
                    <a:cubicBezTo>
                      <a:pt x="48" y="317"/>
                      <a:pt x="54" y="318"/>
                      <a:pt x="58" y="315"/>
                    </a:cubicBezTo>
                    <a:cubicBezTo>
                      <a:pt x="161" y="259"/>
                      <a:pt x="252" y="259"/>
                      <a:pt x="355" y="321"/>
                    </a:cubicBezTo>
                    <a:cubicBezTo>
                      <a:pt x="359" y="324"/>
                      <a:pt x="365" y="324"/>
                      <a:pt x="369" y="321"/>
                    </a:cubicBezTo>
                    <a:cubicBezTo>
                      <a:pt x="373" y="319"/>
                      <a:pt x="376" y="314"/>
                      <a:pt x="376" y="309"/>
                    </a:cubicBezTo>
                    <a:cubicBezTo>
                      <a:pt x="376" y="201"/>
                      <a:pt x="376" y="201"/>
                      <a:pt x="376" y="201"/>
                    </a:cubicBezTo>
                    <a:cubicBezTo>
                      <a:pt x="395" y="201"/>
                      <a:pt x="395" y="201"/>
                      <a:pt x="395" y="201"/>
                    </a:cubicBezTo>
                    <a:cubicBezTo>
                      <a:pt x="395" y="201"/>
                      <a:pt x="395" y="201"/>
                      <a:pt x="395" y="201"/>
                    </a:cubicBezTo>
                    <a:cubicBezTo>
                      <a:pt x="401" y="201"/>
                      <a:pt x="405" y="205"/>
                      <a:pt x="408" y="208"/>
                    </a:cubicBezTo>
                    <a:cubicBezTo>
                      <a:pt x="411" y="211"/>
                      <a:pt x="414" y="213"/>
                      <a:pt x="419" y="213"/>
                    </a:cubicBezTo>
                    <a:cubicBezTo>
                      <a:pt x="424" y="213"/>
                      <a:pt x="428" y="212"/>
                      <a:pt x="431" y="209"/>
                    </a:cubicBezTo>
                    <a:cubicBezTo>
                      <a:pt x="434" y="207"/>
                      <a:pt x="437" y="203"/>
                      <a:pt x="437" y="195"/>
                    </a:cubicBezTo>
                    <a:cubicBezTo>
                      <a:pt x="437" y="187"/>
                      <a:pt x="435" y="184"/>
                      <a:pt x="432" y="181"/>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18" name="任意多边形: 形状 11"/>
              <p:cNvSpPr/>
              <p:nvPr/>
            </p:nvSpPr>
            <p:spPr bwMode="auto">
              <a:xfrm>
                <a:off x="3757" y="2100"/>
                <a:ext cx="168" cy="563"/>
              </a:xfrm>
              <a:custGeom>
                <a:avLst/>
                <a:gdLst>
                  <a:gd name="T0" fmla="*/ 0 w 71"/>
                  <a:gd name="T1" fmla="*/ 238 h 238"/>
                  <a:gd name="T2" fmla="*/ 18 w 71"/>
                  <a:gd name="T3" fmla="*/ 238 h 238"/>
                  <a:gd name="T4" fmla="*/ 18 w 71"/>
                  <a:gd name="T5" fmla="*/ 233 h 238"/>
                  <a:gd name="T6" fmla="*/ 13 w 71"/>
                  <a:gd name="T7" fmla="*/ 226 h 238"/>
                  <a:gd name="T8" fmla="*/ 6 w 71"/>
                  <a:gd name="T9" fmla="*/ 208 h 238"/>
                  <a:gd name="T10" fmla="*/ 12 w 71"/>
                  <a:gd name="T11" fmla="*/ 188 h 238"/>
                  <a:gd name="T12" fmla="*/ 35 w 71"/>
                  <a:gd name="T13" fmla="*/ 178 h 238"/>
                  <a:gd name="T14" fmla="*/ 59 w 71"/>
                  <a:gd name="T15" fmla="*/ 188 h 238"/>
                  <a:gd name="T16" fmla="*/ 65 w 71"/>
                  <a:gd name="T17" fmla="*/ 208 h 238"/>
                  <a:gd name="T18" fmla="*/ 59 w 71"/>
                  <a:gd name="T19" fmla="*/ 225 h 238"/>
                  <a:gd name="T20" fmla="*/ 55 w 71"/>
                  <a:gd name="T21" fmla="*/ 231 h 238"/>
                  <a:gd name="T22" fmla="*/ 55 w 71"/>
                  <a:gd name="T23" fmla="*/ 238 h 238"/>
                  <a:gd name="T24" fmla="*/ 71 w 71"/>
                  <a:gd name="T25" fmla="*/ 238 h 238"/>
                  <a:gd name="T26" fmla="*/ 71 w 71"/>
                  <a:gd name="T27" fmla="*/ 0 h 238"/>
                  <a:gd name="T28" fmla="*/ 0 w 71"/>
                  <a:gd name="T29" fmla="*/ 0 h 238"/>
                  <a:gd name="T30" fmla="*/ 0 w 71"/>
                  <a:gd name="T31"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238">
                    <a:moveTo>
                      <a:pt x="0" y="238"/>
                    </a:moveTo>
                    <a:cubicBezTo>
                      <a:pt x="18" y="238"/>
                      <a:pt x="18" y="238"/>
                      <a:pt x="18" y="238"/>
                    </a:cubicBezTo>
                    <a:cubicBezTo>
                      <a:pt x="18" y="233"/>
                      <a:pt x="18" y="233"/>
                      <a:pt x="18" y="233"/>
                    </a:cubicBezTo>
                    <a:cubicBezTo>
                      <a:pt x="18" y="231"/>
                      <a:pt x="17" y="231"/>
                      <a:pt x="13" y="226"/>
                    </a:cubicBezTo>
                    <a:cubicBezTo>
                      <a:pt x="10" y="222"/>
                      <a:pt x="6" y="216"/>
                      <a:pt x="6" y="208"/>
                    </a:cubicBezTo>
                    <a:cubicBezTo>
                      <a:pt x="6" y="201"/>
                      <a:pt x="8" y="194"/>
                      <a:pt x="12" y="188"/>
                    </a:cubicBezTo>
                    <a:cubicBezTo>
                      <a:pt x="17" y="182"/>
                      <a:pt x="26" y="178"/>
                      <a:pt x="35" y="178"/>
                    </a:cubicBezTo>
                    <a:cubicBezTo>
                      <a:pt x="45" y="178"/>
                      <a:pt x="54" y="182"/>
                      <a:pt x="59" y="188"/>
                    </a:cubicBezTo>
                    <a:cubicBezTo>
                      <a:pt x="64" y="194"/>
                      <a:pt x="65" y="201"/>
                      <a:pt x="65" y="208"/>
                    </a:cubicBezTo>
                    <a:cubicBezTo>
                      <a:pt x="65" y="216"/>
                      <a:pt x="61" y="222"/>
                      <a:pt x="59" y="225"/>
                    </a:cubicBezTo>
                    <a:cubicBezTo>
                      <a:pt x="55" y="230"/>
                      <a:pt x="55" y="230"/>
                      <a:pt x="55" y="231"/>
                    </a:cubicBezTo>
                    <a:cubicBezTo>
                      <a:pt x="55" y="238"/>
                      <a:pt x="55" y="238"/>
                      <a:pt x="55" y="238"/>
                    </a:cubicBezTo>
                    <a:cubicBezTo>
                      <a:pt x="71" y="238"/>
                      <a:pt x="71" y="238"/>
                      <a:pt x="71" y="238"/>
                    </a:cubicBezTo>
                    <a:cubicBezTo>
                      <a:pt x="71" y="0"/>
                      <a:pt x="71" y="0"/>
                      <a:pt x="71" y="0"/>
                    </a:cubicBezTo>
                    <a:cubicBezTo>
                      <a:pt x="0" y="0"/>
                      <a:pt x="0" y="0"/>
                      <a:pt x="0" y="0"/>
                    </a:cubicBezTo>
                    <a:lnTo>
                      <a:pt x="0" y="238"/>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24" name="任意多边形: 形状 12"/>
              <p:cNvSpPr/>
              <p:nvPr/>
            </p:nvSpPr>
            <p:spPr bwMode="auto">
              <a:xfrm>
                <a:off x="3757" y="2549"/>
                <a:ext cx="168" cy="642"/>
              </a:xfrm>
              <a:custGeom>
                <a:avLst/>
                <a:gdLst>
                  <a:gd name="T0" fmla="*/ 71 w 71"/>
                  <a:gd name="T1" fmla="*/ 72 h 271"/>
                  <a:gd name="T2" fmla="*/ 43 w 71"/>
                  <a:gd name="T3" fmla="*/ 72 h 271"/>
                  <a:gd name="T4" fmla="*/ 43 w 71"/>
                  <a:gd name="T5" fmla="*/ 41 h 271"/>
                  <a:gd name="T6" fmla="*/ 49 w 71"/>
                  <a:gd name="T7" fmla="*/ 29 h 271"/>
                  <a:gd name="T8" fmla="*/ 53 w 71"/>
                  <a:gd name="T9" fmla="*/ 18 h 271"/>
                  <a:gd name="T10" fmla="*/ 50 w 71"/>
                  <a:gd name="T11" fmla="*/ 5 h 271"/>
                  <a:gd name="T12" fmla="*/ 36 w 71"/>
                  <a:gd name="T13" fmla="*/ 0 h 271"/>
                  <a:gd name="T14" fmla="*/ 21 w 71"/>
                  <a:gd name="T15" fmla="*/ 5 h 271"/>
                  <a:gd name="T16" fmla="*/ 18 w 71"/>
                  <a:gd name="T17" fmla="*/ 18 h 271"/>
                  <a:gd name="T18" fmla="*/ 22 w 71"/>
                  <a:gd name="T19" fmla="*/ 29 h 271"/>
                  <a:gd name="T20" fmla="*/ 30 w 71"/>
                  <a:gd name="T21" fmla="*/ 42 h 271"/>
                  <a:gd name="T22" fmla="*/ 30 w 71"/>
                  <a:gd name="T23" fmla="*/ 42 h 271"/>
                  <a:gd name="T24" fmla="*/ 30 w 71"/>
                  <a:gd name="T25" fmla="*/ 72 h 271"/>
                  <a:gd name="T26" fmla="*/ 0 w 71"/>
                  <a:gd name="T27" fmla="*/ 72 h 271"/>
                  <a:gd name="T28" fmla="*/ 0 w 71"/>
                  <a:gd name="T29" fmla="*/ 271 h 271"/>
                  <a:gd name="T30" fmla="*/ 71 w 71"/>
                  <a:gd name="T31" fmla="*/ 257 h 271"/>
                  <a:gd name="T32" fmla="*/ 71 w 71"/>
                  <a:gd name="T33" fmla="*/ 7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1" h="271">
                    <a:moveTo>
                      <a:pt x="71" y="72"/>
                    </a:moveTo>
                    <a:cubicBezTo>
                      <a:pt x="43" y="72"/>
                      <a:pt x="43" y="72"/>
                      <a:pt x="43" y="72"/>
                    </a:cubicBezTo>
                    <a:cubicBezTo>
                      <a:pt x="43" y="41"/>
                      <a:pt x="43" y="41"/>
                      <a:pt x="43" y="41"/>
                    </a:cubicBezTo>
                    <a:cubicBezTo>
                      <a:pt x="43" y="36"/>
                      <a:pt x="47" y="32"/>
                      <a:pt x="49" y="29"/>
                    </a:cubicBezTo>
                    <a:cubicBezTo>
                      <a:pt x="52" y="25"/>
                      <a:pt x="53" y="22"/>
                      <a:pt x="53" y="18"/>
                    </a:cubicBezTo>
                    <a:cubicBezTo>
                      <a:pt x="53" y="13"/>
                      <a:pt x="52" y="8"/>
                      <a:pt x="50" y="5"/>
                    </a:cubicBezTo>
                    <a:cubicBezTo>
                      <a:pt x="47" y="2"/>
                      <a:pt x="43" y="0"/>
                      <a:pt x="36" y="0"/>
                    </a:cubicBezTo>
                    <a:cubicBezTo>
                      <a:pt x="28" y="0"/>
                      <a:pt x="24" y="2"/>
                      <a:pt x="21" y="5"/>
                    </a:cubicBezTo>
                    <a:cubicBezTo>
                      <a:pt x="19" y="8"/>
                      <a:pt x="18" y="13"/>
                      <a:pt x="18" y="18"/>
                    </a:cubicBezTo>
                    <a:cubicBezTo>
                      <a:pt x="18" y="22"/>
                      <a:pt x="20" y="25"/>
                      <a:pt x="22" y="29"/>
                    </a:cubicBezTo>
                    <a:cubicBezTo>
                      <a:pt x="25" y="32"/>
                      <a:pt x="29" y="36"/>
                      <a:pt x="30" y="42"/>
                    </a:cubicBezTo>
                    <a:cubicBezTo>
                      <a:pt x="30" y="42"/>
                      <a:pt x="30" y="42"/>
                      <a:pt x="30" y="42"/>
                    </a:cubicBezTo>
                    <a:cubicBezTo>
                      <a:pt x="30" y="72"/>
                      <a:pt x="30" y="72"/>
                      <a:pt x="30" y="72"/>
                    </a:cubicBezTo>
                    <a:cubicBezTo>
                      <a:pt x="0" y="72"/>
                      <a:pt x="0" y="72"/>
                      <a:pt x="0" y="72"/>
                    </a:cubicBezTo>
                    <a:cubicBezTo>
                      <a:pt x="0" y="271"/>
                      <a:pt x="0" y="271"/>
                      <a:pt x="0" y="271"/>
                    </a:cubicBezTo>
                    <a:cubicBezTo>
                      <a:pt x="71" y="257"/>
                      <a:pt x="71" y="257"/>
                      <a:pt x="71" y="257"/>
                    </a:cubicBezTo>
                    <a:lnTo>
                      <a:pt x="71" y="72"/>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38" name="任意多边形: 形状 13"/>
              <p:cNvSpPr/>
              <p:nvPr/>
            </p:nvSpPr>
            <p:spPr bwMode="auto">
              <a:xfrm>
                <a:off x="3842" y="3676"/>
                <a:ext cx="112" cy="163"/>
              </a:xfrm>
              <a:custGeom>
                <a:avLst/>
                <a:gdLst>
                  <a:gd name="T0" fmla="*/ 35 w 47"/>
                  <a:gd name="T1" fmla="*/ 34 h 69"/>
                  <a:gd name="T2" fmla="*/ 24 w 47"/>
                  <a:gd name="T3" fmla="*/ 25 h 69"/>
                  <a:gd name="T4" fmla="*/ 23 w 47"/>
                  <a:gd name="T5" fmla="*/ 25 h 69"/>
                  <a:gd name="T6" fmla="*/ 13 w 47"/>
                  <a:gd name="T7" fmla="*/ 0 h 69"/>
                  <a:gd name="T8" fmla="*/ 0 w 47"/>
                  <a:gd name="T9" fmla="*/ 5 h 69"/>
                  <a:gd name="T10" fmla="*/ 11 w 47"/>
                  <a:gd name="T11" fmla="*/ 31 h 69"/>
                  <a:gd name="T12" fmla="*/ 11 w 47"/>
                  <a:gd name="T13" fmla="*/ 45 h 69"/>
                  <a:gd name="T14" fmla="*/ 11 w 47"/>
                  <a:gd name="T15" fmla="*/ 56 h 69"/>
                  <a:gd name="T16" fmla="*/ 20 w 47"/>
                  <a:gd name="T17" fmla="*/ 67 h 69"/>
                  <a:gd name="T18" fmla="*/ 35 w 47"/>
                  <a:gd name="T19" fmla="*/ 66 h 69"/>
                  <a:gd name="T20" fmla="*/ 46 w 47"/>
                  <a:gd name="T21" fmla="*/ 55 h 69"/>
                  <a:gd name="T22" fmla="*/ 44 w 47"/>
                  <a:gd name="T23" fmla="*/ 42 h 69"/>
                  <a:gd name="T24" fmla="*/ 35 w 47"/>
                  <a:gd name="T25"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69">
                    <a:moveTo>
                      <a:pt x="35" y="34"/>
                    </a:moveTo>
                    <a:cubicBezTo>
                      <a:pt x="32" y="32"/>
                      <a:pt x="26" y="30"/>
                      <a:pt x="24" y="25"/>
                    </a:cubicBezTo>
                    <a:cubicBezTo>
                      <a:pt x="24" y="25"/>
                      <a:pt x="24" y="25"/>
                      <a:pt x="23" y="25"/>
                    </a:cubicBezTo>
                    <a:cubicBezTo>
                      <a:pt x="13" y="0"/>
                      <a:pt x="13" y="0"/>
                      <a:pt x="13" y="0"/>
                    </a:cubicBezTo>
                    <a:cubicBezTo>
                      <a:pt x="0" y="5"/>
                      <a:pt x="0" y="5"/>
                      <a:pt x="0" y="5"/>
                    </a:cubicBezTo>
                    <a:cubicBezTo>
                      <a:pt x="11" y="31"/>
                      <a:pt x="11" y="31"/>
                      <a:pt x="11" y="31"/>
                    </a:cubicBezTo>
                    <a:cubicBezTo>
                      <a:pt x="14" y="36"/>
                      <a:pt x="12" y="41"/>
                      <a:pt x="11" y="45"/>
                    </a:cubicBezTo>
                    <a:cubicBezTo>
                      <a:pt x="10" y="49"/>
                      <a:pt x="10" y="52"/>
                      <a:pt x="11" y="56"/>
                    </a:cubicBezTo>
                    <a:cubicBezTo>
                      <a:pt x="13" y="61"/>
                      <a:pt x="16" y="65"/>
                      <a:pt x="20" y="67"/>
                    </a:cubicBezTo>
                    <a:cubicBezTo>
                      <a:pt x="24" y="69"/>
                      <a:pt x="28" y="69"/>
                      <a:pt x="35" y="66"/>
                    </a:cubicBezTo>
                    <a:cubicBezTo>
                      <a:pt x="42" y="63"/>
                      <a:pt x="45" y="59"/>
                      <a:pt x="46" y="55"/>
                    </a:cubicBezTo>
                    <a:cubicBezTo>
                      <a:pt x="47" y="51"/>
                      <a:pt x="46" y="47"/>
                      <a:pt x="44" y="42"/>
                    </a:cubicBezTo>
                    <a:cubicBezTo>
                      <a:pt x="42" y="38"/>
                      <a:pt x="39" y="36"/>
                      <a:pt x="35" y="34"/>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40" name="任意多边形: 形状 14"/>
              <p:cNvSpPr/>
              <p:nvPr/>
            </p:nvSpPr>
            <p:spPr bwMode="auto">
              <a:xfrm>
                <a:off x="3790" y="3479"/>
                <a:ext cx="795" cy="569"/>
              </a:xfrm>
              <a:custGeom>
                <a:avLst/>
                <a:gdLst>
                  <a:gd name="T0" fmla="*/ 300 w 336"/>
                  <a:gd name="T1" fmla="*/ 0 h 240"/>
                  <a:gd name="T2" fmla="*/ 274 w 336"/>
                  <a:gd name="T3" fmla="*/ 11 h 240"/>
                  <a:gd name="T4" fmla="*/ 264 w 336"/>
                  <a:gd name="T5" fmla="*/ 38 h 240"/>
                  <a:gd name="T6" fmla="*/ 231 w 336"/>
                  <a:gd name="T7" fmla="*/ 143 h 240"/>
                  <a:gd name="T8" fmla="*/ 164 w 336"/>
                  <a:gd name="T9" fmla="*/ 165 h 240"/>
                  <a:gd name="T10" fmla="*/ 70 w 336"/>
                  <a:gd name="T11" fmla="*/ 95 h 240"/>
                  <a:gd name="T12" fmla="*/ 54 w 336"/>
                  <a:gd name="T13" fmla="*/ 99 h 240"/>
                  <a:gd name="T14" fmla="*/ 56 w 336"/>
                  <a:gd name="T15" fmla="*/ 102 h 240"/>
                  <a:gd name="T16" fmla="*/ 63 w 336"/>
                  <a:gd name="T17" fmla="*/ 107 h 240"/>
                  <a:gd name="T18" fmla="*/ 77 w 336"/>
                  <a:gd name="T19" fmla="*/ 120 h 240"/>
                  <a:gd name="T20" fmla="*/ 79 w 336"/>
                  <a:gd name="T21" fmla="*/ 141 h 240"/>
                  <a:gd name="T22" fmla="*/ 62 w 336"/>
                  <a:gd name="T23" fmla="*/ 159 h 240"/>
                  <a:gd name="T24" fmla="*/ 37 w 336"/>
                  <a:gd name="T25" fmla="*/ 160 h 240"/>
                  <a:gd name="T26" fmla="*/ 23 w 336"/>
                  <a:gd name="T27" fmla="*/ 144 h 240"/>
                  <a:gd name="T28" fmla="*/ 22 w 336"/>
                  <a:gd name="T29" fmla="*/ 125 h 240"/>
                  <a:gd name="T30" fmla="*/ 23 w 336"/>
                  <a:gd name="T31" fmla="*/ 118 h 240"/>
                  <a:gd name="T32" fmla="*/ 18 w 336"/>
                  <a:gd name="T33" fmla="*/ 108 h 240"/>
                  <a:gd name="T34" fmla="*/ 0 w 336"/>
                  <a:gd name="T35" fmla="*/ 112 h 240"/>
                  <a:gd name="T36" fmla="*/ 156 w 336"/>
                  <a:gd name="T37" fmla="*/ 235 h 240"/>
                  <a:gd name="T38" fmla="*/ 281 w 336"/>
                  <a:gd name="T39" fmla="*/ 193 h 240"/>
                  <a:gd name="T40" fmla="*/ 335 w 336"/>
                  <a:gd name="T41" fmla="*/ 38 h 240"/>
                  <a:gd name="T42" fmla="*/ 326 w 336"/>
                  <a:gd name="T43" fmla="*/ 11 h 240"/>
                  <a:gd name="T44" fmla="*/ 300 w 336"/>
                  <a:gd name="T45"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6" h="240">
                    <a:moveTo>
                      <a:pt x="300" y="0"/>
                    </a:moveTo>
                    <a:cubicBezTo>
                      <a:pt x="290" y="0"/>
                      <a:pt x="280" y="4"/>
                      <a:pt x="274" y="11"/>
                    </a:cubicBezTo>
                    <a:cubicBezTo>
                      <a:pt x="267" y="18"/>
                      <a:pt x="264" y="28"/>
                      <a:pt x="264" y="38"/>
                    </a:cubicBezTo>
                    <a:cubicBezTo>
                      <a:pt x="264" y="93"/>
                      <a:pt x="249" y="125"/>
                      <a:pt x="231" y="143"/>
                    </a:cubicBezTo>
                    <a:cubicBezTo>
                      <a:pt x="213" y="161"/>
                      <a:pt x="190" y="167"/>
                      <a:pt x="164" y="165"/>
                    </a:cubicBezTo>
                    <a:cubicBezTo>
                      <a:pt x="128" y="161"/>
                      <a:pt x="89" y="136"/>
                      <a:pt x="70" y="95"/>
                    </a:cubicBezTo>
                    <a:cubicBezTo>
                      <a:pt x="54" y="99"/>
                      <a:pt x="54" y="99"/>
                      <a:pt x="54" y="99"/>
                    </a:cubicBezTo>
                    <a:cubicBezTo>
                      <a:pt x="56" y="102"/>
                      <a:pt x="56" y="102"/>
                      <a:pt x="56" y="102"/>
                    </a:cubicBezTo>
                    <a:cubicBezTo>
                      <a:pt x="56" y="104"/>
                      <a:pt x="58" y="104"/>
                      <a:pt x="63" y="107"/>
                    </a:cubicBezTo>
                    <a:cubicBezTo>
                      <a:pt x="67" y="109"/>
                      <a:pt x="74" y="113"/>
                      <a:pt x="77" y="120"/>
                    </a:cubicBezTo>
                    <a:cubicBezTo>
                      <a:pt x="79" y="127"/>
                      <a:pt x="81" y="134"/>
                      <a:pt x="79" y="141"/>
                    </a:cubicBezTo>
                    <a:cubicBezTo>
                      <a:pt x="77" y="148"/>
                      <a:pt x="71" y="155"/>
                      <a:pt x="62" y="159"/>
                    </a:cubicBezTo>
                    <a:cubicBezTo>
                      <a:pt x="53" y="164"/>
                      <a:pt x="43" y="163"/>
                      <a:pt x="37" y="160"/>
                    </a:cubicBezTo>
                    <a:cubicBezTo>
                      <a:pt x="30" y="156"/>
                      <a:pt x="25" y="150"/>
                      <a:pt x="23" y="144"/>
                    </a:cubicBezTo>
                    <a:cubicBezTo>
                      <a:pt x="20" y="137"/>
                      <a:pt x="21" y="130"/>
                      <a:pt x="22" y="125"/>
                    </a:cubicBezTo>
                    <a:cubicBezTo>
                      <a:pt x="23" y="120"/>
                      <a:pt x="23" y="119"/>
                      <a:pt x="23" y="118"/>
                    </a:cubicBezTo>
                    <a:cubicBezTo>
                      <a:pt x="18" y="108"/>
                      <a:pt x="18" y="108"/>
                      <a:pt x="18" y="108"/>
                    </a:cubicBezTo>
                    <a:cubicBezTo>
                      <a:pt x="0" y="112"/>
                      <a:pt x="0" y="112"/>
                      <a:pt x="0" y="112"/>
                    </a:cubicBezTo>
                    <a:cubicBezTo>
                      <a:pt x="27" y="182"/>
                      <a:pt x="90" y="228"/>
                      <a:pt x="156" y="235"/>
                    </a:cubicBezTo>
                    <a:cubicBezTo>
                      <a:pt x="200" y="240"/>
                      <a:pt x="247" y="227"/>
                      <a:pt x="281" y="193"/>
                    </a:cubicBezTo>
                    <a:cubicBezTo>
                      <a:pt x="315" y="159"/>
                      <a:pt x="335" y="106"/>
                      <a:pt x="335" y="38"/>
                    </a:cubicBezTo>
                    <a:cubicBezTo>
                      <a:pt x="336" y="28"/>
                      <a:pt x="332" y="18"/>
                      <a:pt x="326" y="11"/>
                    </a:cubicBezTo>
                    <a:cubicBezTo>
                      <a:pt x="319" y="4"/>
                      <a:pt x="309" y="0"/>
                      <a:pt x="300" y="0"/>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41" name="任意多边形: 形状 15"/>
              <p:cNvSpPr/>
              <p:nvPr/>
            </p:nvSpPr>
            <p:spPr bwMode="auto">
              <a:xfrm>
                <a:off x="3241" y="3027"/>
                <a:ext cx="864" cy="710"/>
              </a:xfrm>
              <a:custGeom>
                <a:avLst/>
                <a:gdLst>
                  <a:gd name="T0" fmla="*/ 300 w 365"/>
                  <a:gd name="T1" fmla="*/ 158 h 300"/>
                  <a:gd name="T2" fmla="*/ 345 w 365"/>
                  <a:gd name="T3" fmla="*/ 147 h 300"/>
                  <a:gd name="T4" fmla="*/ 361 w 365"/>
                  <a:gd name="T5" fmla="*/ 110 h 300"/>
                  <a:gd name="T6" fmla="*/ 343 w 365"/>
                  <a:gd name="T7" fmla="*/ 88 h 300"/>
                  <a:gd name="T8" fmla="*/ 293 w 365"/>
                  <a:gd name="T9" fmla="*/ 100 h 300"/>
                  <a:gd name="T10" fmla="*/ 286 w 365"/>
                  <a:gd name="T11" fmla="*/ 96 h 300"/>
                  <a:gd name="T12" fmla="*/ 290 w 365"/>
                  <a:gd name="T13" fmla="*/ 89 h 300"/>
                  <a:gd name="T14" fmla="*/ 317 w 365"/>
                  <a:gd name="T15" fmla="*/ 80 h 300"/>
                  <a:gd name="T16" fmla="*/ 334 w 365"/>
                  <a:gd name="T17" fmla="*/ 75 h 300"/>
                  <a:gd name="T18" fmla="*/ 353 w 365"/>
                  <a:gd name="T19" fmla="*/ 39 h 300"/>
                  <a:gd name="T20" fmla="*/ 316 w 365"/>
                  <a:gd name="T21" fmla="*/ 19 h 300"/>
                  <a:gd name="T22" fmla="*/ 209 w 365"/>
                  <a:gd name="T23" fmla="*/ 45 h 300"/>
                  <a:gd name="T24" fmla="*/ 201 w 365"/>
                  <a:gd name="T25" fmla="*/ 41 h 300"/>
                  <a:gd name="T26" fmla="*/ 206 w 365"/>
                  <a:gd name="T27" fmla="*/ 34 h 300"/>
                  <a:gd name="T28" fmla="*/ 218 w 365"/>
                  <a:gd name="T29" fmla="*/ 30 h 300"/>
                  <a:gd name="T30" fmla="*/ 218 w 365"/>
                  <a:gd name="T31" fmla="*/ 0 h 300"/>
                  <a:gd name="T32" fmla="*/ 199 w 365"/>
                  <a:gd name="T33" fmla="*/ 0 h 300"/>
                  <a:gd name="T34" fmla="*/ 143 w 365"/>
                  <a:gd name="T35" fmla="*/ 4 h 300"/>
                  <a:gd name="T36" fmla="*/ 68 w 365"/>
                  <a:gd name="T37" fmla="*/ 99 h 300"/>
                  <a:gd name="T38" fmla="*/ 48 w 365"/>
                  <a:gd name="T39" fmla="*/ 114 h 300"/>
                  <a:gd name="T40" fmla="*/ 0 w 365"/>
                  <a:gd name="T41" fmla="*/ 133 h 300"/>
                  <a:gd name="T42" fmla="*/ 41 w 365"/>
                  <a:gd name="T43" fmla="*/ 297 h 300"/>
                  <a:gd name="T44" fmla="*/ 113 w 365"/>
                  <a:gd name="T45" fmla="*/ 282 h 300"/>
                  <a:gd name="T46" fmla="*/ 267 w 365"/>
                  <a:gd name="T47" fmla="*/ 283 h 300"/>
                  <a:gd name="T48" fmla="*/ 267 w 365"/>
                  <a:gd name="T49" fmla="*/ 283 h 300"/>
                  <a:gd name="T50" fmla="*/ 323 w 365"/>
                  <a:gd name="T51" fmla="*/ 268 h 300"/>
                  <a:gd name="T52" fmla="*/ 339 w 365"/>
                  <a:gd name="T53" fmla="*/ 256 h 300"/>
                  <a:gd name="T54" fmla="*/ 341 w 365"/>
                  <a:gd name="T55" fmla="*/ 237 h 300"/>
                  <a:gd name="T56" fmla="*/ 335 w 365"/>
                  <a:gd name="T57" fmla="*/ 226 h 300"/>
                  <a:gd name="T58" fmla="*/ 293 w 365"/>
                  <a:gd name="T59" fmla="*/ 235 h 300"/>
                  <a:gd name="T60" fmla="*/ 286 w 365"/>
                  <a:gd name="T61" fmla="*/ 230 h 300"/>
                  <a:gd name="T62" fmla="*/ 291 w 365"/>
                  <a:gd name="T63" fmla="*/ 223 h 300"/>
                  <a:gd name="T64" fmla="*/ 339 w 365"/>
                  <a:gd name="T65" fmla="*/ 212 h 300"/>
                  <a:gd name="T66" fmla="*/ 357 w 365"/>
                  <a:gd name="T67" fmla="*/ 199 h 300"/>
                  <a:gd name="T68" fmla="*/ 361 w 365"/>
                  <a:gd name="T69" fmla="*/ 177 h 300"/>
                  <a:gd name="T70" fmla="*/ 347 w 365"/>
                  <a:gd name="T71" fmla="*/ 159 h 300"/>
                  <a:gd name="T72" fmla="*/ 344 w 365"/>
                  <a:gd name="T73" fmla="*/ 160 h 300"/>
                  <a:gd name="T74" fmla="*/ 303 w 365"/>
                  <a:gd name="T75" fmla="*/ 169 h 300"/>
                  <a:gd name="T76" fmla="*/ 296 w 365"/>
                  <a:gd name="T77" fmla="*/ 165 h 300"/>
                  <a:gd name="T78" fmla="*/ 300 w 365"/>
                  <a:gd name="T79" fmla="*/ 158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5" h="300">
                    <a:moveTo>
                      <a:pt x="300" y="158"/>
                    </a:moveTo>
                    <a:cubicBezTo>
                      <a:pt x="345" y="147"/>
                      <a:pt x="345" y="147"/>
                      <a:pt x="345" y="147"/>
                    </a:cubicBezTo>
                    <a:cubicBezTo>
                      <a:pt x="359" y="144"/>
                      <a:pt x="365" y="124"/>
                      <a:pt x="361" y="110"/>
                    </a:cubicBezTo>
                    <a:cubicBezTo>
                      <a:pt x="359" y="101"/>
                      <a:pt x="352" y="93"/>
                      <a:pt x="343" y="88"/>
                    </a:cubicBezTo>
                    <a:cubicBezTo>
                      <a:pt x="293" y="100"/>
                      <a:pt x="293" y="100"/>
                      <a:pt x="293" y="100"/>
                    </a:cubicBezTo>
                    <a:cubicBezTo>
                      <a:pt x="290" y="101"/>
                      <a:pt x="287" y="99"/>
                      <a:pt x="286" y="96"/>
                    </a:cubicBezTo>
                    <a:cubicBezTo>
                      <a:pt x="285" y="93"/>
                      <a:pt x="287" y="89"/>
                      <a:pt x="290" y="89"/>
                    </a:cubicBezTo>
                    <a:cubicBezTo>
                      <a:pt x="317" y="80"/>
                      <a:pt x="317" y="80"/>
                      <a:pt x="317" y="80"/>
                    </a:cubicBezTo>
                    <a:cubicBezTo>
                      <a:pt x="334" y="75"/>
                      <a:pt x="334" y="75"/>
                      <a:pt x="334" y="75"/>
                    </a:cubicBezTo>
                    <a:cubicBezTo>
                      <a:pt x="354" y="69"/>
                      <a:pt x="356" y="51"/>
                      <a:pt x="353" y="39"/>
                    </a:cubicBezTo>
                    <a:cubicBezTo>
                      <a:pt x="350" y="25"/>
                      <a:pt x="338" y="13"/>
                      <a:pt x="316" y="19"/>
                    </a:cubicBezTo>
                    <a:cubicBezTo>
                      <a:pt x="237" y="39"/>
                      <a:pt x="288" y="23"/>
                      <a:pt x="209" y="45"/>
                    </a:cubicBezTo>
                    <a:cubicBezTo>
                      <a:pt x="206" y="46"/>
                      <a:pt x="202" y="44"/>
                      <a:pt x="201" y="41"/>
                    </a:cubicBezTo>
                    <a:cubicBezTo>
                      <a:pt x="201" y="38"/>
                      <a:pt x="203" y="35"/>
                      <a:pt x="206" y="34"/>
                    </a:cubicBezTo>
                    <a:cubicBezTo>
                      <a:pt x="218" y="30"/>
                      <a:pt x="218" y="30"/>
                      <a:pt x="218" y="30"/>
                    </a:cubicBezTo>
                    <a:cubicBezTo>
                      <a:pt x="218" y="0"/>
                      <a:pt x="218" y="0"/>
                      <a:pt x="218" y="0"/>
                    </a:cubicBezTo>
                    <a:cubicBezTo>
                      <a:pt x="212" y="0"/>
                      <a:pt x="206" y="0"/>
                      <a:pt x="199" y="0"/>
                    </a:cubicBezTo>
                    <a:cubicBezTo>
                      <a:pt x="173" y="0"/>
                      <a:pt x="148" y="2"/>
                      <a:pt x="143" y="4"/>
                    </a:cubicBezTo>
                    <a:cubicBezTo>
                      <a:pt x="115" y="17"/>
                      <a:pt x="119" y="32"/>
                      <a:pt x="68" y="99"/>
                    </a:cubicBezTo>
                    <a:cubicBezTo>
                      <a:pt x="48" y="114"/>
                      <a:pt x="48" y="114"/>
                      <a:pt x="48" y="114"/>
                    </a:cubicBezTo>
                    <a:cubicBezTo>
                      <a:pt x="0" y="133"/>
                      <a:pt x="0" y="133"/>
                      <a:pt x="0" y="133"/>
                    </a:cubicBezTo>
                    <a:cubicBezTo>
                      <a:pt x="41" y="297"/>
                      <a:pt x="41" y="297"/>
                      <a:pt x="41" y="297"/>
                    </a:cubicBezTo>
                    <a:cubicBezTo>
                      <a:pt x="113" y="282"/>
                      <a:pt x="113" y="282"/>
                      <a:pt x="113" y="282"/>
                    </a:cubicBezTo>
                    <a:cubicBezTo>
                      <a:pt x="176" y="296"/>
                      <a:pt x="203" y="300"/>
                      <a:pt x="267" y="283"/>
                    </a:cubicBezTo>
                    <a:cubicBezTo>
                      <a:pt x="267" y="283"/>
                      <a:pt x="267" y="283"/>
                      <a:pt x="267" y="283"/>
                    </a:cubicBezTo>
                    <a:cubicBezTo>
                      <a:pt x="323" y="268"/>
                      <a:pt x="323" y="268"/>
                      <a:pt x="323" y="268"/>
                    </a:cubicBezTo>
                    <a:cubicBezTo>
                      <a:pt x="330" y="266"/>
                      <a:pt x="335" y="262"/>
                      <a:pt x="339" y="256"/>
                    </a:cubicBezTo>
                    <a:cubicBezTo>
                      <a:pt x="342" y="250"/>
                      <a:pt x="343" y="243"/>
                      <a:pt x="341" y="237"/>
                    </a:cubicBezTo>
                    <a:cubicBezTo>
                      <a:pt x="340" y="233"/>
                      <a:pt x="338" y="229"/>
                      <a:pt x="335" y="226"/>
                    </a:cubicBezTo>
                    <a:cubicBezTo>
                      <a:pt x="293" y="235"/>
                      <a:pt x="293" y="235"/>
                      <a:pt x="293" y="235"/>
                    </a:cubicBezTo>
                    <a:cubicBezTo>
                      <a:pt x="290" y="236"/>
                      <a:pt x="287" y="233"/>
                      <a:pt x="286" y="230"/>
                    </a:cubicBezTo>
                    <a:cubicBezTo>
                      <a:pt x="285" y="227"/>
                      <a:pt x="288" y="224"/>
                      <a:pt x="291" y="223"/>
                    </a:cubicBezTo>
                    <a:cubicBezTo>
                      <a:pt x="307" y="220"/>
                      <a:pt x="322" y="216"/>
                      <a:pt x="339" y="212"/>
                    </a:cubicBezTo>
                    <a:cubicBezTo>
                      <a:pt x="346" y="210"/>
                      <a:pt x="353" y="206"/>
                      <a:pt x="357" y="199"/>
                    </a:cubicBezTo>
                    <a:cubicBezTo>
                      <a:pt x="361" y="193"/>
                      <a:pt x="363" y="185"/>
                      <a:pt x="361" y="177"/>
                    </a:cubicBezTo>
                    <a:cubicBezTo>
                      <a:pt x="359" y="169"/>
                      <a:pt x="354" y="162"/>
                      <a:pt x="347" y="159"/>
                    </a:cubicBezTo>
                    <a:cubicBezTo>
                      <a:pt x="346" y="159"/>
                      <a:pt x="345" y="159"/>
                      <a:pt x="344" y="160"/>
                    </a:cubicBezTo>
                    <a:cubicBezTo>
                      <a:pt x="303" y="169"/>
                      <a:pt x="303" y="169"/>
                      <a:pt x="303" y="169"/>
                    </a:cubicBezTo>
                    <a:cubicBezTo>
                      <a:pt x="300" y="170"/>
                      <a:pt x="296" y="168"/>
                      <a:pt x="296" y="165"/>
                    </a:cubicBezTo>
                    <a:cubicBezTo>
                      <a:pt x="295" y="162"/>
                      <a:pt x="297" y="158"/>
                      <a:pt x="300" y="158"/>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42" name="任意多边形: 形状 16"/>
              <p:cNvSpPr/>
              <p:nvPr/>
            </p:nvSpPr>
            <p:spPr bwMode="auto">
              <a:xfrm>
                <a:off x="2898" y="3283"/>
                <a:ext cx="445" cy="717"/>
              </a:xfrm>
              <a:custGeom>
                <a:avLst/>
                <a:gdLst>
                  <a:gd name="T0" fmla="*/ 125 w 188"/>
                  <a:gd name="T1" fmla="*/ 15 h 303"/>
                  <a:gd name="T2" fmla="*/ 111 w 188"/>
                  <a:gd name="T3" fmla="*/ 1 h 303"/>
                  <a:gd name="T4" fmla="*/ 101 w 188"/>
                  <a:gd name="T5" fmla="*/ 1 h 303"/>
                  <a:gd name="T6" fmla="*/ 17 w 188"/>
                  <a:gd name="T7" fmla="*/ 24 h 303"/>
                  <a:gd name="T8" fmla="*/ 3 w 188"/>
                  <a:gd name="T9" fmla="*/ 49 h 303"/>
                  <a:gd name="T10" fmla="*/ 64 w 188"/>
                  <a:gd name="T11" fmla="*/ 287 h 303"/>
                  <a:gd name="T12" fmla="*/ 89 w 188"/>
                  <a:gd name="T13" fmla="*/ 300 h 303"/>
                  <a:gd name="T14" fmla="*/ 171 w 188"/>
                  <a:gd name="T15" fmla="*/ 273 h 303"/>
                  <a:gd name="T16" fmla="*/ 185 w 188"/>
                  <a:gd name="T17" fmla="*/ 247 h 303"/>
                  <a:gd name="T18" fmla="*/ 125 w 188"/>
                  <a:gd name="T19" fmla="*/ 15 h 303"/>
                  <a:gd name="T20" fmla="*/ 158 w 188"/>
                  <a:gd name="T21" fmla="*/ 240 h 303"/>
                  <a:gd name="T22" fmla="*/ 120 w 188"/>
                  <a:gd name="T23" fmla="*/ 265 h 303"/>
                  <a:gd name="T24" fmla="*/ 94 w 188"/>
                  <a:gd name="T25" fmla="*/ 227 h 303"/>
                  <a:gd name="T26" fmla="*/ 133 w 188"/>
                  <a:gd name="T27" fmla="*/ 202 h 303"/>
                  <a:gd name="T28" fmla="*/ 158 w 188"/>
                  <a:gd name="T29" fmla="*/ 24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8" h="303">
                    <a:moveTo>
                      <a:pt x="125" y="15"/>
                    </a:moveTo>
                    <a:cubicBezTo>
                      <a:pt x="123" y="8"/>
                      <a:pt x="118" y="3"/>
                      <a:pt x="111" y="1"/>
                    </a:cubicBezTo>
                    <a:cubicBezTo>
                      <a:pt x="108" y="0"/>
                      <a:pt x="104" y="0"/>
                      <a:pt x="101" y="1"/>
                    </a:cubicBezTo>
                    <a:cubicBezTo>
                      <a:pt x="17" y="24"/>
                      <a:pt x="17" y="24"/>
                      <a:pt x="17" y="24"/>
                    </a:cubicBezTo>
                    <a:cubicBezTo>
                      <a:pt x="7" y="27"/>
                      <a:pt x="0" y="39"/>
                      <a:pt x="3" y="49"/>
                    </a:cubicBezTo>
                    <a:cubicBezTo>
                      <a:pt x="64" y="287"/>
                      <a:pt x="64" y="287"/>
                      <a:pt x="64" y="287"/>
                    </a:cubicBezTo>
                    <a:cubicBezTo>
                      <a:pt x="67" y="297"/>
                      <a:pt x="79" y="303"/>
                      <a:pt x="89" y="300"/>
                    </a:cubicBezTo>
                    <a:cubicBezTo>
                      <a:pt x="171" y="273"/>
                      <a:pt x="171" y="273"/>
                      <a:pt x="171" y="273"/>
                    </a:cubicBezTo>
                    <a:cubicBezTo>
                      <a:pt x="181" y="269"/>
                      <a:pt x="188" y="257"/>
                      <a:pt x="185" y="247"/>
                    </a:cubicBezTo>
                    <a:lnTo>
                      <a:pt x="125" y="15"/>
                    </a:lnTo>
                    <a:close/>
                    <a:moveTo>
                      <a:pt x="158" y="240"/>
                    </a:moveTo>
                    <a:cubicBezTo>
                      <a:pt x="154" y="258"/>
                      <a:pt x="137" y="269"/>
                      <a:pt x="120" y="265"/>
                    </a:cubicBezTo>
                    <a:cubicBezTo>
                      <a:pt x="102" y="262"/>
                      <a:pt x="91" y="245"/>
                      <a:pt x="94" y="227"/>
                    </a:cubicBezTo>
                    <a:cubicBezTo>
                      <a:pt x="98" y="210"/>
                      <a:pt x="115" y="198"/>
                      <a:pt x="133" y="202"/>
                    </a:cubicBezTo>
                    <a:cubicBezTo>
                      <a:pt x="150" y="205"/>
                      <a:pt x="161" y="222"/>
                      <a:pt x="158" y="240"/>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grpSp>
        <p:sp>
          <p:nvSpPr>
            <p:cNvPr id="43" name="任意多边形: 形状 40"/>
            <p:cNvSpPr/>
            <p:nvPr/>
          </p:nvSpPr>
          <p:spPr>
            <a:xfrm flipH="1" flipV="1">
              <a:off x="6787726" y="3660140"/>
              <a:ext cx="3442761" cy="1515385"/>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sp>
        <p:nvSpPr>
          <p:cNvPr id="1025" name="任意多边形 1024"/>
          <p:cNvSpPr/>
          <p:nvPr/>
        </p:nvSpPr>
        <p:spPr>
          <a:xfrm>
            <a:off x="0" y="0"/>
            <a:ext cx="0" cy="0"/>
          </a:xfrm>
          <a:custGeom>
            <a:avLst/>
            <a:gdLst/>
            <a:ahLst/>
            <a:cxnLst/>
            <a:rect l="0" t="0" r="0" b="0"/>
            <a:pathLst/>
          </a:custGeom>
          <a:noFill/>
          <a:ln w="9525">
            <a:noFill/>
          </a:ln>
        </p:spPr>
      </p:sp>
      <p:sp>
        <p:nvSpPr>
          <p:cNvPr id="1026" name="任意多边形 1025"/>
          <p:cNvSpPr/>
          <p:nvPr/>
        </p:nvSpPr>
        <p:spPr>
          <a:xfrm>
            <a:off x="126999" y="126999"/>
            <a:ext cx="1" cy="1"/>
          </a:xfrm>
          <a:custGeom>
            <a:avLst/>
            <a:gdLst/>
            <a:ahLst/>
            <a:cxnLst/>
            <a:rect l="0" t="0" r="0" b="0"/>
            <a:pathLst/>
          </a:custGeom>
          <a:noFill/>
          <a:ln w="9525">
            <a:noFill/>
          </a:ln>
        </p:spPr>
      </p:sp>
      <p:grpSp>
        <p:nvGrpSpPr>
          <p:cNvPr id="30" name="组合 29"/>
          <p:cNvGrpSpPr/>
          <p:nvPr/>
        </p:nvGrpSpPr>
        <p:grpSpPr>
          <a:xfrm flipV="1">
            <a:off x="314766" y="5095231"/>
            <a:ext cx="4224020" cy="548005"/>
            <a:chOff x="57" y="9944"/>
            <a:chExt cx="12698" cy="863"/>
          </a:xfrm>
        </p:grpSpPr>
        <p:sp>
          <p:nvSpPr>
            <p:cNvPr id="6"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19"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20"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21"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22"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23"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5"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6"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8"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29"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grpSp>
        <p:nvGrpSpPr>
          <p:cNvPr id="31" name="组合 30"/>
          <p:cNvGrpSpPr/>
          <p:nvPr/>
        </p:nvGrpSpPr>
        <p:grpSpPr>
          <a:xfrm flipH="1">
            <a:off x="7809165" y="1695476"/>
            <a:ext cx="4168140" cy="548005"/>
            <a:chOff x="57" y="9944"/>
            <a:chExt cx="12698" cy="863"/>
          </a:xfrm>
        </p:grpSpPr>
        <p:sp>
          <p:nvSpPr>
            <p:cNvPr id="32"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34"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36"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37"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39"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44"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5"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6"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7"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48"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grpSp>
        <p:nvGrpSpPr>
          <p:cNvPr id="49" name="组合 48"/>
          <p:cNvGrpSpPr/>
          <p:nvPr/>
        </p:nvGrpSpPr>
        <p:grpSpPr>
          <a:xfrm>
            <a:off x="234185" y="1334933"/>
            <a:ext cx="4326772" cy="548005"/>
            <a:chOff x="57" y="9944"/>
            <a:chExt cx="12698" cy="863"/>
          </a:xfrm>
        </p:grpSpPr>
        <p:sp>
          <p:nvSpPr>
            <p:cNvPr id="50"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51"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52"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53"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54"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55"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6"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7"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8"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59"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grpSp>
        <p:nvGrpSpPr>
          <p:cNvPr id="60" name="组合 59"/>
          <p:cNvGrpSpPr/>
          <p:nvPr/>
        </p:nvGrpSpPr>
        <p:grpSpPr>
          <a:xfrm flipH="1" flipV="1">
            <a:off x="7419610" y="4510361"/>
            <a:ext cx="4593590" cy="548005"/>
            <a:chOff x="57" y="9944"/>
            <a:chExt cx="12698" cy="863"/>
          </a:xfrm>
        </p:grpSpPr>
        <p:sp>
          <p:nvSpPr>
            <p:cNvPr id="61" name="Freeform: Shape 40"/>
            <p:cNvSpPr/>
            <p:nvPr/>
          </p:nvSpPr>
          <p:spPr bwMode="auto">
            <a:xfrm>
              <a:off x="6950" y="10257"/>
              <a:ext cx="2266" cy="549"/>
            </a:xfrm>
            <a:custGeom>
              <a:avLst/>
              <a:gdLst/>
              <a:ahLst/>
              <a:cxnLst>
                <a:cxn ang="0">
                  <a:pos x="435" y="127"/>
                </a:cxn>
                <a:cxn ang="0">
                  <a:pos x="380" y="108"/>
                </a:cxn>
                <a:cxn ang="0">
                  <a:pos x="314" y="67"/>
                </a:cxn>
                <a:cxn ang="0">
                  <a:pos x="248" y="0"/>
                </a:cxn>
                <a:cxn ang="0">
                  <a:pos x="118" y="75"/>
                </a:cxn>
                <a:cxn ang="0">
                  <a:pos x="54" y="47"/>
                </a:cxn>
                <a:cxn ang="0">
                  <a:pos x="0" y="60"/>
                </a:cxn>
                <a:cxn ang="0">
                  <a:pos x="0" y="228"/>
                </a:cxn>
                <a:cxn ang="0">
                  <a:pos x="435" y="228"/>
                </a:cxn>
                <a:cxn ang="0">
                  <a:pos x="435" y="127"/>
                </a:cxn>
              </a:cxnLst>
              <a:rect l="0" t="0" r="r" b="b"/>
              <a:pathLst>
                <a:path w="435" h="228">
                  <a:moveTo>
                    <a:pt x="435" y="127"/>
                  </a:moveTo>
                  <a:lnTo>
                    <a:pt x="380" y="108"/>
                  </a:lnTo>
                  <a:lnTo>
                    <a:pt x="314" y="67"/>
                  </a:lnTo>
                  <a:lnTo>
                    <a:pt x="248" y="0"/>
                  </a:lnTo>
                  <a:lnTo>
                    <a:pt x="118" y="75"/>
                  </a:lnTo>
                  <a:lnTo>
                    <a:pt x="54" y="47"/>
                  </a:lnTo>
                  <a:lnTo>
                    <a:pt x="0" y="60"/>
                  </a:lnTo>
                  <a:lnTo>
                    <a:pt x="0" y="228"/>
                  </a:lnTo>
                  <a:lnTo>
                    <a:pt x="435" y="228"/>
                  </a:lnTo>
                  <a:lnTo>
                    <a:pt x="435" y="127"/>
                  </a:lnTo>
                  <a:close/>
                </a:path>
              </a:pathLst>
            </a:custGeom>
            <a:solidFill>
              <a:schemeClr val="accent4"/>
            </a:solidFill>
            <a:ln w="9525">
              <a:noFill/>
              <a:round/>
            </a:ln>
          </p:spPr>
          <p:txBody>
            <a:bodyPr anchor="ctr"/>
            <a:lstStyle/>
            <a:p>
              <a:pPr algn="ctr"/>
            </a:p>
          </p:txBody>
        </p:sp>
        <p:sp>
          <p:nvSpPr>
            <p:cNvPr id="62" name="Freeform: Shape 41"/>
            <p:cNvSpPr/>
            <p:nvPr/>
          </p:nvSpPr>
          <p:spPr bwMode="auto">
            <a:xfrm>
              <a:off x="9217" y="9944"/>
              <a:ext cx="3538" cy="862"/>
            </a:xfrm>
            <a:custGeom>
              <a:avLst/>
              <a:gdLst/>
              <a:ahLst/>
              <a:cxnLst>
                <a:cxn ang="0">
                  <a:pos x="679" y="87"/>
                </a:cxn>
                <a:cxn ang="0">
                  <a:pos x="603" y="17"/>
                </a:cxn>
                <a:cxn ang="0">
                  <a:pos x="516" y="73"/>
                </a:cxn>
                <a:cxn ang="0">
                  <a:pos x="435" y="135"/>
                </a:cxn>
                <a:cxn ang="0">
                  <a:pos x="347" y="0"/>
                </a:cxn>
                <a:cxn ang="0">
                  <a:pos x="268" y="106"/>
                </a:cxn>
                <a:cxn ang="0">
                  <a:pos x="182" y="208"/>
                </a:cxn>
                <a:cxn ang="0">
                  <a:pos x="97" y="227"/>
                </a:cxn>
                <a:cxn ang="0">
                  <a:pos x="11" y="262"/>
                </a:cxn>
                <a:cxn ang="0">
                  <a:pos x="0" y="258"/>
                </a:cxn>
                <a:cxn ang="0">
                  <a:pos x="0" y="358"/>
                </a:cxn>
                <a:cxn ang="0">
                  <a:pos x="679" y="358"/>
                </a:cxn>
                <a:cxn ang="0">
                  <a:pos x="679" y="87"/>
                </a:cxn>
              </a:cxnLst>
              <a:rect l="0" t="0" r="r" b="b"/>
              <a:pathLst>
                <a:path w="679" h="358">
                  <a:moveTo>
                    <a:pt x="679" y="87"/>
                  </a:moveTo>
                  <a:lnTo>
                    <a:pt x="603" y="17"/>
                  </a:lnTo>
                  <a:lnTo>
                    <a:pt x="516" y="73"/>
                  </a:lnTo>
                  <a:lnTo>
                    <a:pt x="435" y="135"/>
                  </a:lnTo>
                  <a:lnTo>
                    <a:pt x="347" y="0"/>
                  </a:lnTo>
                  <a:lnTo>
                    <a:pt x="268" y="106"/>
                  </a:lnTo>
                  <a:lnTo>
                    <a:pt x="182" y="208"/>
                  </a:lnTo>
                  <a:lnTo>
                    <a:pt x="97" y="227"/>
                  </a:lnTo>
                  <a:lnTo>
                    <a:pt x="11" y="262"/>
                  </a:lnTo>
                  <a:lnTo>
                    <a:pt x="0" y="258"/>
                  </a:lnTo>
                  <a:lnTo>
                    <a:pt x="0" y="358"/>
                  </a:lnTo>
                  <a:lnTo>
                    <a:pt x="679" y="358"/>
                  </a:lnTo>
                  <a:lnTo>
                    <a:pt x="679" y="87"/>
                  </a:lnTo>
                  <a:close/>
                </a:path>
              </a:pathLst>
            </a:custGeom>
            <a:solidFill>
              <a:schemeClr val="accent5"/>
            </a:solidFill>
            <a:ln w="9525">
              <a:noFill/>
              <a:round/>
            </a:ln>
          </p:spPr>
          <p:txBody>
            <a:bodyPr anchor="ctr"/>
            <a:lstStyle/>
            <a:p>
              <a:pPr algn="ctr"/>
            </a:p>
          </p:txBody>
        </p:sp>
        <p:sp>
          <p:nvSpPr>
            <p:cNvPr id="63" name="Freeform: Shape 42"/>
            <p:cNvSpPr/>
            <p:nvPr/>
          </p:nvSpPr>
          <p:spPr bwMode="auto">
            <a:xfrm>
              <a:off x="5820" y="10231"/>
              <a:ext cx="1151" cy="575"/>
            </a:xfrm>
            <a:custGeom>
              <a:avLst/>
              <a:gdLst/>
              <a:ahLst/>
              <a:cxnLst>
                <a:cxn ang="0">
                  <a:pos x="0" y="239"/>
                </a:cxn>
                <a:cxn ang="0">
                  <a:pos x="221" y="239"/>
                </a:cxn>
                <a:cxn ang="0">
                  <a:pos x="217" y="71"/>
                </a:cxn>
                <a:cxn ang="0">
                  <a:pos x="164" y="28"/>
                </a:cxn>
                <a:cxn ang="0">
                  <a:pos x="108" y="10"/>
                </a:cxn>
                <a:cxn ang="0">
                  <a:pos x="45" y="0"/>
                </a:cxn>
                <a:cxn ang="0">
                  <a:pos x="0" y="33"/>
                </a:cxn>
                <a:cxn ang="0">
                  <a:pos x="0" y="239"/>
                </a:cxn>
              </a:cxnLst>
              <a:rect l="0" t="0" r="r" b="b"/>
              <a:pathLst>
                <a:path w="221" h="239">
                  <a:moveTo>
                    <a:pt x="0" y="239"/>
                  </a:moveTo>
                  <a:lnTo>
                    <a:pt x="221" y="239"/>
                  </a:lnTo>
                  <a:lnTo>
                    <a:pt x="217" y="71"/>
                  </a:lnTo>
                  <a:lnTo>
                    <a:pt x="164" y="28"/>
                  </a:lnTo>
                  <a:lnTo>
                    <a:pt x="108" y="10"/>
                  </a:lnTo>
                  <a:lnTo>
                    <a:pt x="45" y="0"/>
                  </a:lnTo>
                  <a:lnTo>
                    <a:pt x="0" y="33"/>
                  </a:lnTo>
                  <a:lnTo>
                    <a:pt x="0" y="239"/>
                  </a:lnTo>
                  <a:close/>
                </a:path>
              </a:pathLst>
            </a:custGeom>
            <a:solidFill>
              <a:schemeClr val="accent3"/>
            </a:solidFill>
            <a:ln w="9525">
              <a:noFill/>
              <a:round/>
            </a:ln>
          </p:spPr>
          <p:txBody>
            <a:bodyPr anchor="ctr"/>
            <a:lstStyle/>
            <a:p>
              <a:pPr algn="ctr"/>
            </a:p>
          </p:txBody>
        </p:sp>
        <p:sp>
          <p:nvSpPr>
            <p:cNvPr id="64" name="Freeform: Shape 43"/>
            <p:cNvSpPr/>
            <p:nvPr/>
          </p:nvSpPr>
          <p:spPr bwMode="auto">
            <a:xfrm>
              <a:off x="3579" y="10199"/>
              <a:ext cx="2240" cy="607"/>
            </a:xfrm>
            <a:custGeom>
              <a:avLst/>
              <a:gdLst/>
              <a:ahLst/>
              <a:cxnLst>
                <a:cxn ang="0">
                  <a:pos x="430" y="47"/>
                </a:cxn>
                <a:cxn ang="0">
                  <a:pos x="421" y="54"/>
                </a:cxn>
                <a:cxn ang="0">
                  <a:pos x="373" y="0"/>
                </a:cxn>
                <a:cxn ang="0">
                  <a:pos x="320" y="42"/>
                </a:cxn>
                <a:cxn ang="0">
                  <a:pos x="272" y="53"/>
                </a:cxn>
                <a:cxn ang="0">
                  <a:pos x="221" y="99"/>
                </a:cxn>
                <a:cxn ang="0">
                  <a:pos x="173" y="101"/>
                </a:cxn>
                <a:cxn ang="0">
                  <a:pos x="123" y="141"/>
                </a:cxn>
                <a:cxn ang="0">
                  <a:pos x="71" y="102"/>
                </a:cxn>
                <a:cxn ang="0">
                  <a:pos x="21" y="180"/>
                </a:cxn>
                <a:cxn ang="0">
                  <a:pos x="0" y="162"/>
                </a:cxn>
                <a:cxn ang="0">
                  <a:pos x="0" y="252"/>
                </a:cxn>
                <a:cxn ang="0">
                  <a:pos x="430" y="252"/>
                </a:cxn>
                <a:cxn ang="0">
                  <a:pos x="430" y="47"/>
                </a:cxn>
              </a:cxnLst>
              <a:rect l="0" t="0" r="r" b="b"/>
              <a:pathLst>
                <a:path w="430" h="252">
                  <a:moveTo>
                    <a:pt x="430" y="47"/>
                  </a:moveTo>
                  <a:lnTo>
                    <a:pt x="421" y="54"/>
                  </a:lnTo>
                  <a:lnTo>
                    <a:pt x="373" y="0"/>
                  </a:lnTo>
                  <a:lnTo>
                    <a:pt x="320" y="42"/>
                  </a:lnTo>
                  <a:lnTo>
                    <a:pt x="272" y="53"/>
                  </a:lnTo>
                  <a:lnTo>
                    <a:pt x="221" y="99"/>
                  </a:lnTo>
                  <a:lnTo>
                    <a:pt x="173" y="101"/>
                  </a:lnTo>
                  <a:lnTo>
                    <a:pt x="123" y="141"/>
                  </a:lnTo>
                  <a:lnTo>
                    <a:pt x="71" y="102"/>
                  </a:lnTo>
                  <a:lnTo>
                    <a:pt x="21" y="180"/>
                  </a:lnTo>
                  <a:lnTo>
                    <a:pt x="0" y="162"/>
                  </a:lnTo>
                  <a:lnTo>
                    <a:pt x="0" y="252"/>
                  </a:lnTo>
                  <a:lnTo>
                    <a:pt x="430" y="252"/>
                  </a:lnTo>
                  <a:lnTo>
                    <a:pt x="430" y="47"/>
                  </a:lnTo>
                  <a:close/>
                </a:path>
              </a:pathLst>
            </a:custGeom>
            <a:solidFill>
              <a:schemeClr val="accent2"/>
            </a:solidFill>
            <a:ln w="9525">
              <a:noFill/>
              <a:round/>
            </a:ln>
          </p:spPr>
          <p:txBody>
            <a:bodyPr anchor="ctr"/>
            <a:lstStyle/>
            <a:p>
              <a:pPr algn="ctr"/>
            </a:p>
          </p:txBody>
        </p:sp>
        <p:sp>
          <p:nvSpPr>
            <p:cNvPr id="65" name="Freeform: Shape 44"/>
            <p:cNvSpPr/>
            <p:nvPr/>
          </p:nvSpPr>
          <p:spPr bwMode="auto">
            <a:xfrm>
              <a:off x="57" y="10399"/>
              <a:ext cx="3538" cy="409"/>
            </a:xfrm>
            <a:custGeom>
              <a:avLst/>
              <a:gdLst/>
              <a:ahLst/>
              <a:cxnLst>
                <a:cxn ang="0">
                  <a:pos x="679" y="78"/>
                </a:cxn>
                <a:cxn ang="0">
                  <a:pos x="652" y="81"/>
                </a:cxn>
                <a:cxn ang="0">
                  <a:pos x="602" y="50"/>
                </a:cxn>
                <a:cxn ang="0">
                  <a:pos x="552" y="0"/>
                </a:cxn>
                <a:cxn ang="0">
                  <a:pos x="452" y="56"/>
                </a:cxn>
                <a:cxn ang="0">
                  <a:pos x="404" y="15"/>
                </a:cxn>
                <a:cxn ang="0">
                  <a:pos x="299" y="91"/>
                </a:cxn>
                <a:cxn ang="0">
                  <a:pos x="250" y="85"/>
                </a:cxn>
                <a:cxn ang="0">
                  <a:pos x="202" y="94"/>
                </a:cxn>
                <a:cxn ang="0">
                  <a:pos x="151" y="74"/>
                </a:cxn>
                <a:cxn ang="0">
                  <a:pos x="104" y="83"/>
                </a:cxn>
                <a:cxn ang="0">
                  <a:pos x="52" y="119"/>
                </a:cxn>
                <a:cxn ang="0">
                  <a:pos x="0" y="138"/>
                </a:cxn>
                <a:cxn ang="0">
                  <a:pos x="0" y="170"/>
                </a:cxn>
                <a:cxn ang="0">
                  <a:pos x="679" y="169"/>
                </a:cxn>
                <a:cxn ang="0">
                  <a:pos x="679" y="78"/>
                </a:cxn>
              </a:cxnLst>
              <a:rect l="0" t="0" r="r" b="b"/>
              <a:pathLst>
                <a:path w="679" h="170">
                  <a:moveTo>
                    <a:pt x="679" y="78"/>
                  </a:moveTo>
                  <a:lnTo>
                    <a:pt x="652" y="81"/>
                  </a:lnTo>
                  <a:lnTo>
                    <a:pt x="602" y="50"/>
                  </a:lnTo>
                  <a:lnTo>
                    <a:pt x="552" y="0"/>
                  </a:lnTo>
                  <a:lnTo>
                    <a:pt x="452" y="56"/>
                  </a:lnTo>
                  <a:lnTo>
                    <a:pt x="404" y="15"/>
                  </a:lnTo>
                  <a:lnTo>
                    <a:pt x="299" y="91"/>
                  </a:lnTo>
                  <a:lnTo>
                    <a:pt x="250" y="85"/>
                  </a:lnTo>
                  <a:lnTo>
                    <a:pt x="202" y="94"/>
                  </a:lnTo>
                  <a:lnTo>
                    <a:pt x="151" y="74"/>
                  </a:lnTo>
                  <a:lnTo>
                    <a:pt x="104" y="83"/>
                  </a:lnTo>
                  <a:lnTo>
                    <a:pt x="52" y="119"/>
                  </a:lnTo>
                  <a:lnTo>
                    <a:pt x="0" y="138"/>
                  </a:lnTo>
                  <a:lnTo>
                    <a:pt x="0" y="170"/>
                  </a:lnTo>
                  <a:lnTo>
                    <a:pt x="679" y="169"/>
                  </a:lnTo>
                  <a:lnTo>
                    <a:pt x="679" y="78"/>
                  </a:lnTo>
                  <a:close/>
                </a:path>
              </a:pathLst>
            </a:custGeom>
            <a:solidFill>
              <a:schemeClr val="accent1"/>
            </a:solidFill>
            <a:ln w="9525">
              <a:noFill/>
              <a:round/>
            </a:ln>
          </p:spPr>
          <p:txBody>
            <a:bodyPr anchor="ctr"/>
            <a:lstStyle/>
            <a:p>
              <a:pPr algn="ctr"/>
            </a:p>
          </p:txBody>
        </p:sp>
        <p:sp>
          <p:nvSpPr>
            <p:cNvPr id="66" name="Oval 59"/>
            <p:cNvSpPr/>
            <p:nvPr/>
          </p:nvSpPr>
          <p:spPr bwMode="auto">
            <a:xfrm>
              <a:off x="4517"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67" name="Oval 63"/>
            <p:cNvSpPr/>
            <p:nvPr/>
          </p:nvSpPr>
          <p:spPr bwMode="auto">
            <a:xfrm>
              <a:off x="6365"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68" name="Oval 83"/>
            <p:cNvSpPr/>
            <p:nvPr/>
          </p:nvSpPr>
          <p:spPr bwMode="auto">
            <a:xfrm>
              <a:off x="2088" y="10577"/>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69" name="Oval 92"/>
            <p:cNvSpPr/>
            <p:nvPr/>
          </p:nvSpPr>
          <p:spPr bwMode="auto">
            <a:xfrm>
              <a:off x="8164"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sp>
          <p:nvSpPr>
            <p:cNvPr id="70" name="Oval 99"/>
            <p:cNvSpPr/>
            <p:nvPr/>
          </p:nvSpPr>
          <p:spPr bwMode="auto">
            <a:xfrm>
              <a:off x="10979" y="10580"/>
              <a:ext cx="141" cy="130"/>
            </a:xfrm>
            <a:prstGeom prst="ellipse">
              <a:avLst/>
            </a:prstGeom>
            <a:solidFill>
              <a:schemeClr val="bg1">
                <a:lumMod val="50000"/>
              </a:schemeClr>
            </a:solidFill>
            <a:ln w="19050" cap="flat">
              <a:solidFill>
                <a:schemeClr val="bg1"/>
              </a:solidFill>
              <a:prstDash val="solid"/>
              <a:miter lim="800000"/>
            </a:ln>
          </p:spPr>
          <p:txBody>
            <a:bodyPr anchor="ctr"/>
            <a:lstStyle/>
            <a:p>
              <a:pPr algn="ctr"/>
            </a:p>
          </p:txBody>
        </p:sp>
      </p:grpSp>
      <p:sp>
        <p:nvSpPr>
          <p:cNvPr id="80" name="文本框 79"/>
          <p:cNvSpPr txBox="1"/>
          <p:nvPr/>
        </p:nvSpPr>
        <p:spPr>
          <a:xfrm>
            <a:off x="4868222" y="2301809"/>
            <a:ext cx="2454939" cy="1569660"/>
          </a:xfrm>
          <a:prstGeom prst="rect">
            <a:avLst/>
          </a:prstGeom>
          <a:solidFill>
            <a:srgbClr val="F2F2F2">
              <a:alpha val="58824"/>
            </a:srgbClr>
          </a:solidFill>
        </p:spPr>
        <p:txBody>
          <a:bodyPr wrap="square">
            <a:spAutoFit/>
          </a:bodyPr>
          <a:lstStyle/>
          <a:p>
            <a:pPr algn="ctr"/>
            <a:r>
              <a:rPr lang="zh-CN" altLang="en-US" sz="2400" b="1" dirty="0">
                <a:latin typeface="微软雅黑" panose="020B0503020204020204" charset="-122"/>
                <a:ea typeface="微软雅黑" panose="020B0503020204020204" charset="-122"/>
              </a:rPr>
              <a:t>树</a:t>
            </a:r>
            <a:endParaRPr lang="en-US" altLang="zh-CN" sz="2400" b="1" dirty="0">
              <a:latin typeface="微软雅黑" panose="020B0503020204020204" charset="-122"/>
              <a:ea typeface="微软雅黑" panose="020B0503020204020204" charset="-122"/>
            </a:endParaRPr>
          </a:p>
          <a:p>
            <a:pPr algn="ctr"/>
            <a:r>
              <a:rPr lang="zh-CN" altLang="en-US" sz="2400" b="1" dirty="0">
                <a:latin typeface="微软雅黑" panose="020B0503020204020204" charset="-122"/>
                <a:ea typeface="微软雅黑" panose="020B0503020204020204" charset="-122"/>
              </a:rPr>
              <a:t>二叉树</a:t>
            </a:r>
            <a:endParaRPr lang="en-US" altLang="zh-CN" sz="2400" b="1" dirty="0">
              <a:latin typeface="微软雅黑" panose="020B0503020204020204" charset="-122"/>
              <a:ea typeface="微软雅黑" panose="020B0503020204020204" charset="-122"/>
            </a:endParaRPr>
          </a:p>
          <a:p>
            <a:pPr algn="ctr"/>
            <a:r>
              <a:rPr lang="zh-CN" altLang="en-US" sz="2400" b="1" dirty="0">
                <a:latin typeface="微软雅黑" panose="020B0503020204020204" charset="-122"/>
                <a:ea typeface="微软雅黑" panose="020B0503020204020204" charset="-122"/>
              </a:rPr>
              <a:t>哈夫曼树及编码</a:t>
            </a:r>
            <a:endParaRPr lang="en-US" altLang="zh-CN" sz="2400" b="1" dirty="0">
              <a:latin typeface="微软雅黑" panose="020B0503020204020204" charset="-122"/>
              <a:ea typeface="微软雅黑" panose="020B0503020204020204" charset="-122"/>
            </a:endParaRPr>
          </a:p>
          <a:p>
            <a:pPr algn="ctr"/>
            <a:r>
              <a:rPr lang="zh-CN" altLang="en-US" sz="2400" b="1" dirty="0">
                <a:latin typeface="微软雅黑" panose="020B0503020204020204" charset="-122"/>
                <a:ea typeface="微软雅黑" panose="020B0503020204020204" charset="-122"/>
              </a:rPr>
              <a:t>树和森林</a:t>
            </a:r>
            <a:endParaRPr lang="en-US" altLang="zh-CN" sz="2400" b="1" dirty="0">
              <a:latin typeface="微软雅黑" panose="020B0503020204020204" charset="-122"/>
              <a:ea typeface="微软雅黑" panose="020B0503020204020204" charset="-122"/>
            </a:endParaRPr>
          </a:p>
        </p:txBody>
      </p:sp>
      <p:sp>
        <p:nvSpPr>
          <p:cNvPr id="82" name="文本框 81"/>
          <p:cNvSpPr txBox="1"/>
          <p:nvPr/>
        </p:nvSpPr>
        <p:spPr>
          <a:xfrm>
            <a:off x="110280" y="2299293"/>
            <a:ext cx="4434943" cy="2129429"/>
          </a:xfrm>
          <a:prstGeom prst="rect">
            <a:avLst/>
          </a:prstGeom>
          <a:noFill/>
        </p:spPr>
        <p:txBody>
          <a:bodyPr wrap="square">
            <a:spAutoFit/>
          </a:bodyPr>
          <a:lstStyle/>
          <a:p>
            <a:pPr marL="285750" indent="-285750">
              <a:lnSpc>
                <a:spcPct val="170000"/>
              </a:lnSpc>
              <a:buClr>
                <a:schemeClr val="accent2">
                  <a:lumMod val="40000"/>
                  <a:lumOff val="60000"/>
                </a:schemeClr>
              </a:buClr>
              <a:buFont typeface="Wingdings" panose="05000000000000000000" pitchFamily="2" charset="2"/>
              <a:buChar char="Ø"/>
            </a:pPr>
            <a:r>
              <a:rPr lang="en-US" altLang="zh-CN" sz="1600" dirty="0">
                <a:latin typeface="微软雅黑" panose="020B0503020204020204" charset="-122"/>
                <a:ea typeface="微软雅黑" panose="020B0503020204020204" charset="-122"/>
              </a:rPr>
              <a:t>(4) </a:t>
            </a:r>
            <a:r>
              <a:rPr lang="zh-CN" altLang="en-US" sz="1600" dirty="0">
                <a:latin typeface="微软雅黑" panose="020B0503020204020204" charset="-122"/>
                <a:ea typeface="微软雅黑" panose="020B0503020204020204" charset="-122"/>
              </a:rPr>
              <a:t>二叉树具有</a:t>
            </a:r>
            <a:r>
              <a:rPr lang="zh-CN" altLang="en-US" sz="1600" b="1" dirty="0">
                <a:latin typeface="微软雅黑" panose="020B0503020204020204" charset="-122"/>
                <a:ea typeface="微软雅黑" panose="020B0503020204020204" charset="-122"/>
              </a:rPr>
              <a:t>先序遍历</a:t>
            </a:r>
            <a:r>
              <a:rPr lang="zh-CN" altLang="en-US" sz="1600" dirty="0">
                <a:latin typeface="微软雅黑" panose="020B0503020204020204" charset="-122"/>
                <a:ea typeface="微软雅黑" panose="020B0503020204020204" charset="-122"/>
              </a:rPr>
              <a:t>、</a:t>
            </a:r>
            <a:r>
              <a:rPr lang="zh-CN" altLang="en-US" sz="1600" b="1" dirty="0">
                <a:latin typeface="微软雅黑" panose="020B0503020204020204" charset="-122"/>
                <a:ea typeface="微软雅黑" panose="020B0503020204020204" charset="-122"/>
              </a:rPr>
              <a:t>中序遍历</a:t>
            </a:r>
            <a:r>
              <a:rPr lang="zh-CN" altLang="en-US" sz="1600" dirty="0">
                <a:latin typeface="微软雅黑" panose="020B0503020204020204" charset="-122"/>
                <a:ea typeface="微软雅黑" panose="020B0503020204020204" charset="-122"/>
              </a:rPr>
              <a:t>、</a:t>
            </a:r>
            <a:r>
              <a:rPr lang="zh-CN" altLang="en-US" sz="1600" b="1" dirty="0">
                <a:latin typeface="微软雅黑" panose="020B0503020204020204" charset="-122"/>
                <a:ea typeface="微软雅黑" panose="020B0503020204020204" charset="-122"/>
              </a:rPr>
              <a:t>后序遍历</a:t>
            </a:r>
            <a:r>
              <a:rPr lang="zh-CN" altLang="en-US" sz="1600" dirty="0">
                <a:latin typeface="微软雅黑" panose="020B0503020204020204" charset="-122"/>
                <a:ea typeface="微软雅黑" panose="020B0503020204020204" charset="-122"/>
              </a:rPr>
              <a:t>和</a:t>
            </a:r>
            <a:r>
              <a:rPr lang="zh-CN" altLang="en-US" sz="1600" b="1" dirty="0">
                <a:latin typeface="微软雅黑" panose="020B0503020204020204" charset="-122"/>
                <a:ea typeface="微软雅黑" panose="020B0503020204020204" charset="-122"/>
              </a:rPr>
              <a:t>层次遍历</a:t>
            </a:r>
            <a:r>
              <a:rPr lang="en-US" altLang="zh-CN" sz="1600" dirty="0">
                <a:latin typeface="微软雅黑" panose="020B0503020204020204" charset="-122"/>
                <a:ea typeface="微软雅黑" panose="020B0503020204020204" charset="-122"/>
              </a:rPr>
              <a:t>4</a:t>
            </a:r>
            <a:r>
              <a:rPr lang="zh-CN" altLang="en-US" sz="1600" dirty="0">
                <a:latin typeface="微软雅黑" panose="020B0503020204020204" charset="-122"/>
                <a:ea typeface="微软雅黑" panose="020B0503020204020204" charset="-122"/>
              </a:rPr>
              <a:t>种遍历方式。</a:t>
            </a:r>
            <a:endParaRPr lang="zh-CN" altLang="en-US" sz="1600" dirty="0">
              <a:latin typeface="微软雅黑" panose="020B0503020204020204" charset="-122"/>
              <a:ea typeface="微软雅黑" panose="020B0503020204020204" charset="-122"/>
            </a:endParaRPr>
          </a:p>
          <a:p>
            <a:pPr marL="285750" indent="-285750">
              <a:lnSpc>
                <a:spcPct val="170000"/>
              </a:lnSpc>
              <a:buClr>
                <a:schemeClr val="accent2">
                  <a:lumMod val="40000"/>
                  <a:lumOff val="60000"/>
                </a:schemeClr>
              </a:buClr>
              <a:buFont typeface="Wingdings" panose="05000000000000000000" pitchFamily="2" charset="2"/>
              <a:buChar char="Ø"/>
            </a:pPr>
            <a:r>
              <a:rPr lang="en-US" altLang="zh-CN" sz="1600" dirty="0">
                <a:latin typeface="微软雅黑" panose="020B0503020204020204" charset="-122"/>
                <a:ea typeface="微软雅黑" panose="020B0503020204020204" charset="-122"/>
              </a:rPr>
              <a:t>(5) </a:t>
            </a:r>
            <a:r>
              <a:rPr lang="zh-CN" altLang="en-US" sz="1600" dirty="0">
                <a:latin typeface="微软雅黑" panose="020B0503020204020204" charset="-122"/>
                <a:ea typeface="微软雅黑" panose="020B0503020204020204" charset="-122"/>
              </a:rPr>
              <a:t>最优二叉树是指给定</a:t>
            </a:r>
            <a:r>
              <a:rPr lang="en-US" altLang="zh-CN" sz="1600" dirty="0">
                <a:latin typeface="微软雅黑" panose="020B0503020204020204" charset="-122"/>
                <a:ea typeface="微软雅黑" panose="020B0503020204020204" charset="-122"/>
              </a:rPr>
              <a:t>n</a:t>
            </a:r>
            <a:r>
              <a:rPr lang="zh-CN" altLang="en-US" sz="1600" dirty="0">
                <a:latin typeface="微软雅黑" panose="020B0503020204020204" charset="-122"/>
                <a:ea typeface="微软雅黑" panose="020B0503020204020204" charset="-122"/>
              </a:rPr>
              <a:t>个带有权值的结点作为叶结点构造出的具有最小带权路径长度的二叉树，也叫</a:t>
            </a:r>
            <a:r>
              <a:rPr lang="zh-CN" altLang="en-US" sz="1600" b="1" dirty="0">
                <a:latin typeface="微软雅黑" panose="020B0503020204020204" charset="-122"/>
                <a:ea typeface="微软雅黑" panose="020B0503020204020204" charset="-122"/>
              </a:rPr>
              <a:t>哈夫曼树</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sp>
        <p:nvSpPr>
          <p:cNvPr id="84" name="文本框 83"/>
          <p:cNvSpPr txBox="1"/>
          <p:nvPr/>
        </p:nvSpPr>
        <p:spPr>
          <a:xfrm>
            <a:off x="7956063" y="2717870"/>
            <a:ext cx="3805063" cy="1292277"/>
          </a:xfrm>
          <a:prstGeom prst="rect">
            <a:avLst/>
          </a:prstGeom>
          <a:noFill/>
        </p:spPr>
        <p:txBody>
          <a:bodyPr wrap="square">
            <a:spAutoFit/>
          </a:bodyPr>
          <a:lstStyle/>
          <a:p>
            <a:pPr marL="285750" indent="-285750">
              <a:lnSpc>
                <a:spcPct val="170000"/>
              </a:lnSpc>
              <a:buClr>
                <a:schemeClr val="accent2">
                  <a:lumMod val="40000"/>
                  <a:lumOff val="60000"/>
                </a:schemeClr>
              </a:buClr>
              <a:buFont typeface="Wingdings" panose="05000000000000000000" pitchFamily="2" charset="2"/>
              <a:buChar char="Ø"/>
            </a:pPr>
            <a:r>
              <a:rPr lang="en-US" altLang="zh-CN" sz="1600" dirty="0">
                <a:latin typeface="微软雅黑" panose="020B0503020204020204" charset="-122"/>
                <a:ea typeface="微软雅黑" panose="020B0503020204020204" charset="-122"/>
              </a:rPr>
              <a:t>(6</a:t>
            </a: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哈夫曼编码</a:t>
            </a:r>
            <a:r>
              <a:rPr lang="zh-CN" altLang="en-US" sz="1600" dirty="0">
                <a:latin typeface="微软雅黑" panose="020B0503020204020204" charset="-122"/>
                <a:ea typeface="微软雅黑" panose="020B0503020204020204" charset="-122"/>
              </a:rPr>
              <a:t>是数据压缩技术中的无损压缩技术，是一种变长的编码方案，使所有数据的编码总长度最短。</a:t>
            </a:r>
            <a:endParaRPr lang="zh-CN" altLang="en-US" sz="1600" dirty="0">
              <a:latin typeface="微软雅黑" panose="020B0503020204020204" charset="-122"/>
              <a:ea typeface="微软雅黑" panose="020B0503020204020204" charset="-122"/>
            </a:endParaRPr>
          </a:p>
        </p:txBody>
      </p:sp>
      <p:sp>
        <p:nvSpPr>
          <p:cNvPr id="76" name="标题 1"/>
          <p:cNvSpPr txBox="1"/>
          <p:nvPr/>
        </p:nvSpPr>
        <p:spPr>
          <a:xfrm>
            <a:off x="838200" y="391578"/>
            <a:ext cx="10007991" cy="717596"/>
          </a:xfrm>
          <a:prstGeom prst="rect">
            <a:avLst/>
          </a:prstGeom>
        </p:spPr>
        <p:txBody>
          <a:bodyPr vert="horz" wrap="square" lIns="91440" tIns="45720" rIns="91440" bIns="45720" rtlCol="0" anchor="ctr">
            <a:no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zh-CN" altLang="en-US"/>
              <a:t>小结</a:t>
            </a:r>
            <a:endParaRPr lang="en-US" altLang="zh-CN" dirty="0"/>
          </a:p>
        </p:txBody>
      </p:sp>
    </p:spTree>
  </p:cSld>
  <p:clrMapOvr>
    <a:masterClrMapping/>
  </p:clrMapOvr>
  <p:transition>
    <p:cover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The End</a:t>
            </a:r>
            <a:endParaRPr lang="zh-CN" altLang="en-US" dirty="0"/>
          </a:p>
        </p:txBody>
      </p:sp>
      <p:sp>
        <p:nvSpPr>
          <p:cNvPr id="3" name="文本占位符 2"/>
          <p:cNvSpPr>
            <a:spLocks noGrp="1"/>
          </p:cNvSpPr>
          <p:nvPr>
            <p:ph type="body" sz="quarter" idx="11"/>
          </p:nvPr>
        </p:nvSpPr>
        <p:spPr/>
        <p:txBody>
          <a:bodyPr/>
          <a:lstStyle/>
          <a:p>
            <a:r>
              <a:rPr lang="zh-CN" altLang="en-US" dirty="0"/>
              <a:t>谢谢观看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9195</Words>
  <Application>WPS 演示</Application>
  <PresentationFormat>宽屏</PresentationFormat>
  <Paragraphs>605</Paragraphs>
  <Slides>53</Slides>
  <Notes>3</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53</vt:i4>
      </vt:variant>
    </vt:vector>
  </HeadingPairs>
  <TitlesOfParts>
    <vt:vector size="72" baseType="lpstr">
      <vt:lpstr>Arial</vt:lpstr>
      <vt:lpstr>宋体</vt:lpstr>
      <vt:lpstr>Wingdings</vt:lpstr>
      <vt:lpstr>Arial</vt:lpstr>
      <vt:lpstr>黑体</vt:lpstr>
      <vt:lpstr>微软雅黑</vt:lpstr>
      <vt:lpstr>Times New Roman</vt:lpstr>
      <vt:lpstr>等线</vt:lpstr>
      <vt:lpstr>Arial Unicode MS</vt:lpstr>
      <vt:lpstr>仿宋</vt:lpstr>
      <vt:lpstr>华光楷体_CNKI</vt:lpstr>
      <vt:lpstr>Cambria Math</vt:lpstr>
      <vt:lpstr>Adobe 黑体 Std R</vt:lpstr>
      <vt:lpstr>Calibri</vt:lpstr>
      <vt:lpstr>汉仪颜楷简</vt:lpstr>
      <vt:lpstr>汉仪雅酷黑简</vt:lpstr>
      <vt:lpstr>功能页</vt:lpstr>
      <vt:lpstr>内容样式</vt:lpstr>
      <vt:lpstr>1_内容样式</vt:lpstr>
      <vt:lpstr>第5章 树形结构</vt:lpstr>
      <vt:lpstr>目录</vt:lpstr>
      <vt:lpstr>PowerPoint 演示文稿</vt:lpstr>
      <vt:lpstr>1.1 树的基本概念</vt:lpstr>
      <vt:lpstr>1.2 树的术语</vt:lpstr>
      <vt:lpstr>1.2 树的术语</vt:lpstr>
      <vt:lpstr>1.2 树的术语</vt:lpstr>
      <vt:lpstr>1.2 树的术语</vt:lpstr>
      <vt:lpstr>PowerPoint 演示文稿</vt:lpstr>
      <vt:lpstr>2.1 二叉树的基本概念</vt:lpstr>
      <vt:lpstr>2.2 二叉树的性质</vt:lpstr>
      <vt:lpstr>2.2 二叉树的性质</vt:lpstr>
      <vt:lpstr>2.2 二叉树的性质——例题</vt:lpstr>
      <vt:lpstr>2.2 二叉树的性质——例题</vt:lpstr>
      <vt:lpstr>2.3 二叉树的存储结构</vt:lpstr>
      <vt:lpstr>2.3 二叉树的存储结构</vt:lpstr>
      <vt:lpstr>2.3 二叉树的存储结构</vt:lpstr>
      <vt:lpstr>2.3 二叉树的存储结构</vt:lpstr>
      <vt:lpstr>2.3 二叉树的存储结构</vt:lpstr>
      <vt:lpstr>PowerPoint 演示文稿</vt:lpstr>
      <vt:lpstr>2.4 二叉树的遍历</vt:lpstr>
      <vt:lpstr>2.4 二叉树的遍历</vt:lpstr>
      <vt:lpstr>2.4 二叉树的遍历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2.6 二叉树的建立</vt:lpstr>
      <vt:lpstr>2.6 二叉树的建立</vt:lpstr>
      <vt:lpstr>PowerPoint 演示文稿</vt:lpstr>
      <vt:lpstr>2.6 二叉树的建立——例题</vt:lpstr>
      <vt:lpstr>PowerPoint 演示文稿</vt:lpstr>
      <vt:lpstr>3.1 哈夫曼树的基本概念</vt:lpstr>
      <vt:lpstr>3.2 哈夫曼树的构造</vt:lpstr>
      <vt:lpstr>3.2 哈夫曼树的构造</vt:lpstr>
      <vt:lpstr>3.3 哈夫曼编码</vt:lpstr>
      <vt:lpstr>3.3 哈夫曼编码</vt:lpstr>
      <vt:lpstr>3.4 构造哈夫曼树和哈夫曼编码的类的描述</vt:lpstr>
      <vt:lpstr>3.4 构造哈夫曼树和哈夫曼编码的类的描述</vt:lpstr>
      <vt:lpstr>3.4 构造哈夫曼树和哈夫曼编码的类的描述</vt:lpstr>
      <vt:lpstr>3.4 构造哈夫曼树和哈夫曼编码的类的描述</vt:lpstr>
      <vt:lpstr>PowerPoint 演示文稿</vt:lpstr>
      <vt:lpstr>4.1 树的存储结构</vt:lpstr>
      <vt:lpstr>4.1 树的存储结构</vt:lpstr>
      <vt:lpstr>4.2 树的遍历规则</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王渌汀</dc:creator>
  <cp:lastModifiedBy>邝昊鹏</cp:lastModifiedBy>
  <cp:revision>110</cp:revision>
  <dcterms:created xsi:type="dcterms:W3CDTF">2021-03-21T07:29:00Z</dcterms:created>
  <dcterms:modified xsi:type="dcterms:W3CDTF">2025-11-06T02:16:17Z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B73DFBA699AC4405B39764B5288B7B78</vt:lpwstr>
  </property>
  <property fmtid="{D5CDD505-2E9C-101B-9397-08002B2CF9AE}" pid="3" name="KSOProductBuildVer">
    <vt:lpwstr>2052-12.1.0.23542</vt:lpwstr>
  </property>
</Properties>
</file>